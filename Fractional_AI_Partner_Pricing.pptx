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Pricing" id="{23d2a00a-bdeb-54ee-c81f-1a5a3e932345}">
          <p14:sldIdLst>
            <p14:sldId id="256"/>
          </p14:sldIdLst>
        </p14:section>
        <p14:section name="Process" id="{5f7ae856-db16-bab3-b5b2-a1f0cded2b59}">
          <p14:sldIdLst>
            <p14:sldId id="25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320040"/>
            <a:ext cx="8229600" cy="2286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000" b="1" spc="200" kern="0" dirty="0">
                <a:solidFill>
                  <a:schemeClr val="accent1"/>
                </a:solidFill>
              </a:defRPr>
            </a:lvl1pPr>
          </a:lstStyle>
          <a:p>
            <a:pPr indent="0" marL="0">
              <a:buNone/>
            </a:pPr>
            <a:endParaRPr lang="en-US" sz="10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548640"/>
            <a:ext cx="8229600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4" name="Text 0"/>
          <p:cNvSpPr/>
          <p:nvPr/>
        </p:nvSpPr>
        <p:spPr>
          <a:xfrm>
            <a:off x="457200" y="480060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chemeClr val="accent3"/>
                </a:solidFill>
              </a:rPr>
              <a:t>FRACTIONAL AI PARTNER  ·  OUTSOURCING ANGEL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36576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36576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32004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chemeClr val="accent1"/>
                </a:solidFill>
              </a:rPr>
              <a:t>INVESTMENT</a:t>
            </a:r>
            <a:endParaRPr lang="en-US" sz="10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5486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price for your whole team</a:t>
            </a:r>
            <a:endParaRPr lang="en-US" sz="3000" dirty="0"/>
          </a:p>
        </p:txBody>
      </p:sp>
      <p:sp>
        <p:nvSpPr>
          <p:cNvPr id="4" name="Price panel"/>
          <p:cNvSpPr/>
          <p:nvPr/>
        </p:nvSpPr>
        <p:spPr>
          <a:xfrm>
            <a:off x="457200" y="1280160"/>
            <a:ext cx="3291840" cy="2926080"/>
          </a:xfrm>
          <a:prstGeom prst="roundRect">
            <a:avLst>
              <a:gd name="adj" fmla="val 250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50876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chemeClr val="accent4"/>
                </a:solidFill>
              </a:rPr>
              <a:t>MONTHLY INVESTMENT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1828800"/>
            <a:ext cx="2926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$9,000</a:t>
            </a:r>
            <a:pPr indent="0" marL="0">
              <a:buNone/>
            </a:pPr>
            <a:r>
              <a:rPr lang="en-US" sz="1800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a month</a:t>
            </a:r>
            <a:endParaRPr lang="en-US" sz="50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6974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plus GST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324612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accent4"/>
                </a:solidFill>
              </a:rPr>
              <a:t>Billed monthly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accent4"/>
                </a:solidFill>
              </a:rPr>
              <a:t>Month by month, no lock-in</a:t>
            </a:r>
            <a:endParaRPr lang="en-US" sz="1400" dirty="0"/>
          </a:p>
        </p:txBody>
      </p:sp>
      <p:sp>
        <p:nvSpPr>
          <p:cNvPr id="9" name="Computation card"/>
          <p:cNvSpPr/>
          <p:nvPr/>
        </p:nvSpPr>
        <p:spPr>
          <a:xfrm>
            <a:off x="3977640" y="1280160"/>
            <a:ext cx="4709160" cy="2926080"/>
          </a:xfrm>
          <a:prstGeom prst="roundRect">
            <a:avLst>
              <a:gd name="adj" fmla="val 2500"/>
            </a:avLst>
          </a:prstGeom>
          <a:solidFill>
            <a:schemeClr val="bg1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251960" y="1463040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chemeClr val="accent1"/>
                </a:solidFill>
              </a:rPr>
              <a:t>THE FULL COMPUTATION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251960" y="1783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Monthly fee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6903720" y="178308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$9,000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4251960" y="207568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GST (10%)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6903720" y="2075688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$900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251960" y="2395728"/>
            <a:ext cx="4160520" cy="0"/>
          </a:xfrm>
          <a:prstGeom prst="line">
            <a:avLst/>
          </a:prstGeom>
          <a:noFill/>
          <a:ln w="9525">
            <a:solidFill>
              <a:schemeClr val="accent4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251960" y="24688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Total per month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6903720" y="246888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$9,900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4251960" y="2898648"/>
            <a:ext cx="4206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chemeClr val="accent3"/>
                </a:solidFill>
              </a:rPr>
              <a:t>RECOMMENDED 3-MONTH ROLLOUT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4251960" y="312724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3 months x $9,000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6903720" y="3127248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$27,000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4251960" y="341985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GST (10%)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6903720" y="3419856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$2,700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4251960" y="3739896"/>
            <a:ext cx="4160520" cy="0"/>
          </a:xfrm>
          <a:prstGeom prst="line">
            <a:avLst/>
          </a:prstGeom>
          <a:noFill/>
          <a:ln w="9525">
            <a:solidFill>
              <a:schemeClr val="accent4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4251960" y="381304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Total for 3 months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6903720" y="3813048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$29,700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457200" y="4315968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Covers your whole team of about 30: </a:t>
            </a:r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kickoff, group training, a one-on-one setup for every person, the automations and ongoing support. Your software subscriptions are paid directly by you.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36576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32004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chemeClr val="accent1"/>
                </a:solidFill>
              </a:rPr>
              <a:t>HOW IT WORKS</a:t>
            </a:r>
            <a:endParaRPr lang="en-US" sz="10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5486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happens once you start</a:t>
            </a:r>
            <a:endParaRPr lang="en-US" sz="3000" dirty="0"/>
          </a:p>
        </p:txBody>
      </p:sp>
      <p:sp>
        <p:nvSpPr>
          <p:cNvPr id="4" name="Step 1"/>
          <p:cNvSpPr/>
          <p:nvPr/>
        </p:nvSpPr>
        <p:spPr>
          <a:xfrm>
            <a:off x="457200" y="1325880"/>
            <a:ext cx="1536192" cy="2057400"/>
          </a:xfrm>
          <a:prstGeom prst="roundRect">
            <a:avLst>
              <a:gd name="adj" fmla="val 4762"/>
            </a:avLst>
          </a:prstGeom>
          <a:solidFill>
            <a:schemeClr val="bg1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5" name="Step 1 badge"/>
          <p:cNvSpPr/>
          <p:nvPr/>
        </p:nvSpPr>
        <p:spPr>
          <a:xfrm>
            <a:off x="621792" y="1508760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21792" y="15087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621792" y="2011680"/>
            <a:ext cx="1261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Deep dive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621792" y="2331720"/>
            <a:ext cx="126187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Kickoff with the whole team. We map every tool, system and process you use today.</a:t>
            </a:r>
            <a:endParaRPr lang="en-US" sz="1100" dirty="0"/>
          </a:p>
        </p:txBody>
      </p:sp>
      <p:sp>
        <p:nvSpPr>
          <p:cNvPr id="9" name="Step 2"/>
          <p:cNvSpPr/>
          <p:nvPr/>
        </p:nvSpPr>
        <p:spPr>
          <a:xfrm>
            <a:off x="2130552" y="1325880"/>
            <a:ext cx="1536192" cy="2057400"/>
          </a:xfrm>
          <a:prstGeom prst="roundRect">
            <a:avLst>
              <a:gd name="adj" fmla="val 4762"/>
            </a:avLst>
          </a:prstGeom>
          <a:solidFill>
            <a:schemeClr val="bg1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0" name="Step 2 badge"/>
          <p:cNvSpPr/>
          <p:nvPr/>
        </p:nvSpPr>
        <p:spPr>
          <a:xfrm>
            <a:off x="2295144" y="1508760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295144" y="15087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2295144" y="2011680"/>
            <a:ext cx="1261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Plan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2295144" y="2331720"/>
            <a:ext cx="126187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We rank departments by return and agree the first priority together.</a:t>
            </a:r>
            <a:endParaRPr lang="en-US" sz="1100" dirty="0"/>
          </a:p>
        </p:txBody>
      </p:sp>
      <p:sp>
        <p:nvSpPr>
          <p:cNvPr id="14" name="Step 3"/>
          <p:cNvSpPr/>
          <p:nvPr/>
        </p:nvSpPr>
        <p:spPr>
          <a:xfrm>
            <a:off x="3803904" y="1325880"/>
            <a:ext cx="1536192" cy="2057400"/>
          </a:xfrm>
          <a:prstGeom prst="roundRect">
            <a:avLst>
              <a:gd name="adj" fmla="val 4762"/>
            </a:avLst>
          </a:prstGeom>
          <a:solidFill>
            <a:schemeClr val="bg1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5" name="Step 3 badge"/>
          <p:cNvSpPr/>
          <p:nvPr/>
        </p:nvSpPr>
        <p:spPr>
          <a:xfrm>
            <a:off x="3968496" y="1508760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3968496" y="15087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3968496" y="2011680"/>
            <a:ext cx="1261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Set up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3968496" y="2331720"/>
            <a:ext cx="126187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Group training in 4 to 5 teams, a 2-hour one-on-one for each person, and your developers enabled.</a:t>
            </a:r>
            <a:endParaRPr lang="en-US" sz="1100" dirty="0"/>
          </a:p>
        </p:txBody>
      </p:sp>
      <p:sp>
        <p:nvSpPr>
          <p:cNvPr id="19" name="Step 4"/>
          <p:cNvSpPr/>
          <p:nvPr/>
        </p:nvSpPr>
        <p:spPr>
          <a:xfrm>
            <a:off x="5477256" y="1325880"/>
            <a:ext cx="1536192" cy="2057400"/>
          </a:xfrm>
          <a:prstGeom prst="roundRect">
            <a:avLst>
              <a:gd name="adj" fmla="val 4762"/>
            </a:avLst>
          </a:prstGeom>
          <a:solidFill>
            <a:schemeClr val="bg1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20" name="Step 4 badge"/>
          <p:cNvSpPr/>
          <p:nvPr/>
        </p:nvSpPr>
        <p:spPr>
          <a:xfrm>
            <a:off x="5641848" y="1508760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641848" y="15087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5641848" y="2011680"/>
            <a:ext cx="1261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Build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5641848" y="2331720"/>
            <a:ext cx="126187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Automations for the jobs that take the most time, like progress payments.</a:t>
            </a:r>
            <a:endParaRPr lang="en-US" sz="1100" dirty="0"/>
          </a:p>
        </p:txBody>
      </p:sp>
      <p:sp>
        <p:nvSpPr>
          <p:cNvPr id="24" name="Step 5"/>
          <p:cNvSpPr/>
          <p:nvPr/>
        </p:nvSpPr>
        <p:spPr>
          <a:xfrm>
            <a:off x="7150608" y="1325880"/>
            <a:ext cx="1536192" cy="2057400"/>
          </a:xfrm>
          <a:prstGeom prst="roundRect">
            <a:avLst>
              <a:gd name="adj" fmla="val 4762"/>
            </a:avLst>
          </a:prstGeom>
          <a:solidFill>
            <a:schemeClr val="bg1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25" name="Step 5 badge"/>
          <p:cNvSpPr/>
          <p:nvPr/>
        </p:nvSpPr>
        <p:spPr>
          <a:xfrm>
            <a:off x="7315200" y="1508760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315200" y="15087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7315200" y="2011680"/>
            <a:ext cx="1261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Support</a:t>
            </a:r>
            <a:endParaRPr lang="en-US" sz="1500" dirty="0"/>
          </a:p>
        </p:txBody>
      </p:sp>
      <p:sp>
        <p:nvSpPr>
          <p:cNvPr id="28" name="Text 26"/>
          <p:cNvSpPr txBox="1"/>
          <p:nvPr/>
        </p:nvSpPr>
        <p:spPr>
          <a:xfrm>
            <a:off x="7315200" y="2331720"/>
            <a:ext cx="126187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We keep improving what is built, then move you to a lighter support plan.</a:t>
            </a:r>
            <a:endParaRPr lang="en-US" sz="1100" dirty="0"/>
          </a:p>
        </p:txBody>
      </p:sp>
      <p:sp>
        <p:nvSpPr>
          <p:cNvPr id="29" name="MONTH 1"/>
          <p:cNvSpPr/>
          <p:nvPr/>
        </p:nvSpPr>
        <p:spPr>
          <a:xfrm>
            <a:off x="457200" y="3566160"/>
            <a:ext cx="4882896" cy="621792"/>
          </a:xfrm>
          <a:prstGeom prst="roundRect">
            <a:avLst>
              <a:gd name="adj" fmla="val 8824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594360" y="3566160"/>
            <a:ext cx="465429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chemeClr val="bg1"/>
                </a:solidFill>
              </a:rPr>
              <a:t>MONTH 1</a:t>
            </a:r>
            <a:endParaRPr lang="en-US" sz="900" dirty="0"/>
          </a:p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Kick off, plan and set everyone up</a:t>
            </a:r>
            <a:endParaRPr lang="en-US" sz="900" dirty="0"/>
          </a:p>
        </p:txBody>
      </p:sp>
      <p:sp>
        <p:nvSpPr>
          <p:cNvPr id="31" name="MONTHS 2 TO 3"/>
          <p:cNvSpPr/>
          <p:nvPr/>
        </p:nvSpPr>
        <p:spPr>
          <a:xfrm>
            <a:off x="5477256" y="3566160"/>
            <a:ext cx="1536192" cy="621792"/>
          </a:xfrm>
          <a:prstGeom prst="roundRect">
            <a:avLst>
              <a:gd name="adj" fmla="val 8824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5614416" y="3566160"/>
            <a:ext cx="13075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chemeClr val="bg1"/>
                </a:solidFill>
              </a:rPr>
              <a:t>MONTHS 2 TO 3</a:t>
            </a:r>
            <a:endParaRPr lang="en-US" sz="900" dirty="0"/>
          </a:p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Build and embed</a:t>
            </a:r>
            <a:endParaRPr lang="en-US" sz="900" dirty="0"/>
          </a:p>
        </p:txBody>
      </p:sp>
      <p:sp>
        <p:nvSpPr>
          <p:cNvPr id="33" name="AFTER THAT"/>
          <p:cNvSpPr/>
          <p:nvPr/>
        </p:nvSpPr>
        <p:spPr>
          <a:xfrm>
            <a:off x="7150608" y="3566160"/>
            <a:ext cx="1536192" cy="621792"/>
          </a:xfrm>
          <a:prstGeom prst="roundRect">
            <a:avLst>
              <a:gd name="adj" fmla="val 8824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7287768" y="3566160"/>
            <a:ext cx="13075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chemeClr val="bg1"/>
                </a:solidFill>
              </a:rPr>
              <a:t>AFTER THAT</a:t>
            </a:r>
            <a:endParaRPr lang="en-US" sz="900" dirty="0"/>
          </a:p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Ongoing support</a:t>
            </a:r>
            <a:endParaRPr lang="en-US" sz="900" dirty="0"/>
          </a:p>
        </p:txBody>
      </p:sp>
      <p:sp>
        <p:nvSpPr>
          <p:cNvPr id="35" name="Text 33"/>
          <p:cNvSpPr txBox="1"/>
          <p:nvPr/>
        </p:nvSpPr>
        <p:spPr>
          <a:xfrm>
            <a:off x="457200" y="434340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One point of contact: </a:t>
            </a:r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Outsourcing Angel manages the engagement and invoices you monthly. Rob Lee and his team deliver the work.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36576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ractional AI Partner">
  <a:themeElements>
    <a:clrScheme name="Fractional AI Partner">
      <a:dk1>
        <a:srgbClr val="1F2D2E"/>
      </a:dk1>
      <a:lt1>
        <a:srgbClr val="FFFFFF"/>
      </a:lt1>
      <a:dk2>
        <a:srgbClr val="13585C"/>
      </a:dk2>
      <a:lt2>
        <a:srgbClr val="F4F8F8"/>
      </a:lt2>
      <a:accent1>
        <a:srgbClr val="0E7C86"/>
      </a:accent1>
      <a:accent2>
        <a:srgbClr val="E6F0F0"/>
      </a:accent2>
      <a:accent3>
        <a:srgbClr val="5B6B6C"/>
      </a:accent3>
      <a:accent4>
        <a:srgbClr val="BFD8D9"/>
      </a:accent4>
      <a:accent5>
        <a:srgbClr val="2E9AA3"/>
      </a:accent5>
      <a:accent6>
        <a:srgbClr val="D9E8E8"/>
      </a:accent6>
      <a:hlink>
        <a:srgbClr val="0E7C86"/>
      </a:hlink>
      <a:folHlink>
        <a:srgbClr val="13585C"/>
      </a:folHlink>
    </a:clrScheme>
    <a:fontScheme name="Fractional AI Partner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Fractional AI Partner: Pricing and Process</dc:title>
  <dc:subject>PptxGenJS Presentation</dc:subject>
  <dc:creator>Outsourcing Angel</dc:creator>
  <cp:lastModifiedBy>Outsourcing Angel</cp:lastModifiedBy>
  <cp:revision>1</cp:revision>
  <dcterms:created xsi:type="dcterms:W3CDTF">2026-10-13T22:24:31Z</dcterms:created>
  <dcterms:modified xsi:type="dcterms:W3CDTF">2026-10-13T22:24:31Z</dcterms:modified>
</cp:coreProperties>
</file>