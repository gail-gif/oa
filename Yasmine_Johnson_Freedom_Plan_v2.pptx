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17e0172-c641-9f94-7c44-aaac5bea8d6c}">
          <p14:sldIdLst>
            <p14:sldId id="256"/>
          </p14:sldIdLst>
        </p14:section>
        <p14:section name="Getting oriented" id="{fb90ef12-b11e-0163-bfcc-ebd09ec4c9f1}">
          <p14:sldIdLst>
            <p14:sldId id="257"/>
          </p14:sldIdLst>
        </p14:section>
        <p14:section name="Part A: Our Recommendation" id="{44ac627f-39ca-05da-1752-eb783245ef15}">
          <p14:sldIdLst>
            <p14:sldId id="258"/>
            <p14:sldId id="259"/>
            <p14:sldId id="260"/>
            <p14:sldId id="261"/>
            <p14:sldId id="262"/>
            <p14:sldId id="263"/>
            <p14:sldId id="264"/>
            <p14:sldId id="265"/>
            <p14:sldId id="266"/>
          </p14:sldIdLst>
        </p14:section>
        <p14:section name="Part B: Your Freedom Playbook" id="{ed8888ad-7452-6a93-a7f1-06a5ab604da6}">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2 of Yasmine's Freedom Plan, restructured into Part A (recommendation) and Part B (a living playbook used for the whole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‘user manual’ for working with Yasmine. The first column is pre-filled from the Freedom Audit; the rest is completed together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P 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P Divider">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rgbClr val="AEB9BD"/>
                </a:solidFill>
              </a:rPr>
              <a:t>OUTSOURCING ANGEL  ·  THE FREEDOM PLAN™</a:t>
            </a:r>
            <a:endParaRPr lang="en-US" sz="800" dirty="0"/>
          </a:p>
        </p:txBody>
      </p:sp>
      <p:sp>
        <p:nvSpPr>
          <p:cNvPr id="3" name="Text 1"/>
          <p:cNvSpPr/>
          <p:nvPr>
            <p:ph idx="101" type="body" hasCustomPrompt="1"/>
          </p:nvPr>
        </p:nvSpPr>
        <p:spPr>
          <a:xfrm>
            <a:off x="630936" y="2148840"/>
            <a:ext cx="8229600" cy="320040"/>
          </a:xfrm>
          <a:prstGeom prst="rect">
            <a:avLst/>
          </a:prstGeom>
          <a:noFill/>
          <a:ln/>
        </p:spPr>
        <p:txBody>
          <a:bodyPr wrap="square" rtlCol="0"/>
          <a:lstStyle>
            <a:lvl1pPr indent="0" marL="0">
              <a:buNone/>
              <a:defRPr lang="en-US" sz="1200" b="1" spc="300" kern="0" dirty="0">
                <a:solidFill>
                  <a:srgbClr val="7FE0C2"/>
                </a:solidFill>
              </a:defRPr>
            </a:lvl1pPr>
          </a:lstStyle>
          <a:p>
            <a:pPr indent="0" marL="0">
              <a:buNone/>
            </a:pPr>
            <a:endParaRPr lang="en-US" sz="1200" dirty="0"/>
          </a:p>
        </p:txBody>
      </p:sp>
      <p:sp>
        <p:nvSpPr>
          <p:cNvPr id="4" name="Text 1"/>
          <p:cNvSpPr/>
          <p:nvPr>
            <p:ph idx="102" type="title" hasCustomPrompt="1"/>
          </p:nvPr>
        </p:nvSpPr>
        <p:spPr>
          <a:xfrm>
            <a:off x="630936" y="2560320"/>
            <a:ext cx="914400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1"/>
          <p:cNvSpPr/>
          <p:nvPr>
            <p:ph idx="103" type="body" hasCustomPrompt="1"/>
          </p:nvPr>
        </p:nvSpPr>
        <p:spPr>
          <a:xfrm>
            <a:off x="630936" y="3611880"/>
            <a:ext cx="7863840" cy="1005840"/>
          </a:xfrm>
          <a:prstGeom prst="rect">
            <a:avLst/>
          </a:prstGeom>
          <a:noFill/>
          <a:ln/>
        </p:spPr>
        <p:txBody>
          <a:bodyPr wrap="square" rtlCol="0"/>
          <a:lstStyle>
            <a:lvl1pPr indent="0" marL="0">
              <a:buNone/>
              <a:defRPr lang="en-US" sz="1500" dirty="0">
                <a:solidFill>
                  <a:srgbClr val="DBE3E6"/>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P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chemeClr val="accent3"/>
                </a:solidFill>
              </a:rPr>
              <a:t>OUTSOURCING ANGEL  ·  THE FREEDOM PLAN™</a:t>
            </a:r>
            <a:endParaRPr lang="en-US" sz="800" dirty="0"/>
          </a:p>
        </p:txBody>
      </p:sp>
      <p:sp>
        <p:nvSpPr>
          <p:cNvPr id="3" name="Text 1"/>
          <p:cNvSpPr/>
          <p:nvPr>
            <p:ph idx="101" type="body" hasCustomPrompt="1"/>
          </p:nvPr>
        </p:nvSpPr>
        <p:spPr>
          <a:xfrm>
            <a:off x="630936" y="411480"/>
            <a:ext cx="100584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630936" y="731520"/>
            <a:ext cx="10515600" cy="5943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google.com/presentation/d/1QjPemebEbEt-0dANgke9KAWzDJhRe3IR93F9Jq7HrgU/edit?usp=drive_link" TargetMode="External"/><Relationship Id="rId2" Type="http://schemas.openxmlformats.org/officeDocument/2006/relationships/hyperlink" Target="https://docs.google.com/presentation/d/1VwaoQYOxnqcVLdbTgBRed7TeTP04yQx06C-O_nTSKS0/edit?usp=drive_link" TargetMode="External"/><Relationship Id="rId3" Type="http://schemas.openxmlformats.org/officeDocument/2006/relationships/hyperlink" Target="https://docs.google.com/presentation/d/1jRkfWGcxzPkHROfQ1YEMGu16ulEcDoyK_odE2UHolPk/edit?usp=drive_link" TargetMode="External"/><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circle top"/>
          <p:cNvSpPr/>
          <p:nvPr/>
        </p:nvSpPr>
        <p:spPr>
          <a:xfrm>
            <a:off x="9966960" y="-1463040"/>
            <a:ext cx="4023360" cy="4023360"/>
          </a:xfrm>
          <a:prstGeom prst="ellipse">
            <a:avLst/>
          </a:prstGeom>
          <a:solidFill>
            <a:srgbClr val="263240"/>
          </a:solidFill>
          <a:ln/>
        </p:spPr>
      </p:sp>
      <p:sp>
        <p:nvSpPr>
          <p:cNvPr id="3" name="cover circle"/>
          <p:cNvSpPr/>
          <p:nvPr/>
        </p:nvSpPr>
        <p:spPr>
          <a:xfrm>
            <a:off x="-1280160" y="4937760"/>
            <a:ext cx="3291840" cy="3291840"/>
          </a:xfrm>
          <a:prstGeom prst="ellipse">
            <a:avLst/>
          </a:prstGeom>
          <a:solidFill>
            <a:srgbClr val="263240"/>
          </a:solidFill>
          <a:ln/>
        </p:spPr>
      </p:sp>
      <p:sp>
        <p:nvSpPr>
          <p:cNvPr id="4" name="logo plate"/>
          <p:cNvSpPr/>
          <p:nvPr/>
        </p:nvSpPr>
        <p:spPr>
          <a:xfrm>
            <a:off x="630936" y="566928"/>
            <a:ext cx="2468880" cy="502920"/>
          </a:xfrm>
          <a:prstGeom prst="roundRect">
            <a:avLst>
              <a:gd name="adj" fmla="val 14545"/>
            </a:avLst>
          </a:prstGeom>
          <a:solidFill>
            <a:schemeClr val="bg1"/>
          </a:solidFill>
          <a:ln/>
        </p:spPr>
      </p:sp>
      <p:sp>
        <p:nvSpPr>
          <p:cNvPr id="5" name="Text 3"/>
          <p:cNvSpPr txBox="1"/>
          <p:nvPr/>
        </p:nvSpPr>
        <p:spPr>
          <a:xfrm>
            <a:off x="630936" y="566928"/>
            <a:ext cx="2468880" cy="502920"/>
          </a:xfrm>
          <a:prstGeom prst="rect">
            <a:avLst/>
          </a:prstGeom>
          <a:noFill/>
          <a:ln/>
        </p:spPr>
        <p:txBody>
          <a:bodyPr wrap="square" lIns="0" tIns="0" rIns="0" bIns="0" rtlCol="0" anchor="ctr"/>
          <a:lstStyle/>
          <a:p>
            <a:pPr algn="ctr" indent="0" marL="0">
              <a:buNone/>
            </a:pPr>
            <a:r>
              <a:rPr lang="en-US" sz="1300" b="1" dirty="0">
                <a:solidFill>
                  <a:schemeClr val="accent1"/>
                </a:solidFill>
              </a:rPr>
              <a:t>OUTSOURCING</a:t>
            </a:r>
            <a:pPr algn="ctr" indent="0" marL="0">
              <a:buNone/>
            </a:pPr>
            <a:r>
              <a:rPr lang="en-US" sz="1300" b="1" dirty="0">
                <a:solidFill>
                  <a:schemeClr val="tx1"/>
                </a:solidFill>
              </a:rPr>
              <a:t>ANGEL</a:t>
            </a:r>
            <a:endParaRPr lang="en-US" sz="1300" dirty="0"/>
          </a:p>
        </p:txBody>
      </p:sp>
      <p:sp>
        <p:nvSpPr>
          <p:cNvPr id="6" name="Text 4"/>
          <p:cNvSpPr txBox="1"/>
          <p:nvPr/>
        </p:nvSpPr>
        <p:spPr>
          <a:xfrm>
            <a:off x="630936" y="1417320"/>
            <a:ext cx="7315200" cy="274320"/>
          </a:xfrm>
          <a:prstGeom prst="rect">
            <a:avLst/>
          </a:prstGeom>
          <a:noFill/>
          <a:ln/>
        </p:spPr>
        <p:txBody>
          <a:bodyPr wrap="square" lIns="0" tIns="0" rIns="0" bIns="0" rtlCol="0" anchor="ctr"/>
          <a:lstStyle/>
          <a:p>
            <a:pPr indent="0" marL="0">
              <a:buNone/>
            </a:pPr>
            <a:r>
              <a:rPr lang="en-US" sz="1200" b="1" spc="300" kern="0" dirty="0">
                <a:solidFill>
                  <a:srgbClr val="7FE0C2"/>
                </a:solidFill>
              </a:rPr>
              <a:t>A LIVING DOCUMENT  ·  VERSION 2</a:t>
            </a:r>
            <a:endParaRPr lang="en-US" sz="1200" dirty="0"/>
          </a:p>
        </p:txBody>
      </p:sp>
      <p:sp>
        <p:nvSpPr>
          <p:cNvPr id="7" name="Text 5"/>
          <p:cNvSpPr txBox="1"/>
          <p:nvPr/>
        </p:nvSpPr>
        <p:spPr>
          <a:xfrm>
            <a:off x="630936" y="1783080"/>
            <a:ext cx="7315200" cy="141732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THE FREEDOM</a:t>
            </a:r>
            <a:endParaRPr lang="en-US" sz="4800" dirty="0"/>
          </a:p>
          <a:p>
            <a:pPr indent="0" marL="0">
              <a:buNone/>
            </a:pPr>
            <a:r>
              <a:rPr lang="en-US" sz="4800" b="1" dirty="0">
                <a:solidFill>
                  <a:schemeClr val="accent2"/>
                </a:solidFill>
                <a:latin typeface="Cambria" pitchFamily="34" charset="0"/>
                <a:ea typeface="Cambria" pitchFamily="34" charset="-122"/>
                <a:cs typeface="Cambria" pitchFamily="34" charset="-120"/>
              </a:rPr>
              <a:t>PLAN™</a:t>
            </a:r>
            <a:endParaRPr lang="en-US" sz="4800" dirty="0"/>
          </a:p>
        </p:txBody>
      </p:sp>
      <p:sp>
        <p:nvSpPr>
          <p:cNvPr id="8" name="Text 6"/>
          <p:cNvSpPr txBox="1"/>
          <p:nvPr/>
        </p:nvSpPr>
        <p:spPr>
          <a:xfrm>
            <a:off x="630936" y="3383280"/>
            <a:ext cx="8229600" cy="365760"/>
          </a:xfrm>
          <a:prstGeom prst="rect">
            <a:avLst/>
          </a:prstGeom>
          <a:noFill/>
          <a:ln/>
        </p:spPr>
        <p:txBody>
          <a:bodyPr wrap="square" lIns="0" tIns="0" rIns="0" bIns="0" rtlCol="0" anchor="ctr"/>
          <a:lstStyle/>
          <a:p>
            <a:pPr indent="0" marL="0">
              <a:buNone/>
            </a:pPr>
            <a:r>
              <a:rPr lang="en-US" sz="1700" dirty="0">
                <a:solidFill>
                  <a:schemeClr val="bg1"/>
                </a:solidFill>
              </a:rPr>
              <a:t>Prepared for </a:t>
            </a:r>
            <a:pPr indent="0" marL="0">
              <a:buNone/>
            </a:pPr>
            <a:r>
              <a:rPr lang="en-US" sz="1700" b="1" dirty="0">
                <a:solidFill>
                  <a:schemeClr val="bg1"/>
                </a:solidFill>
              </a:rPr>
              <a:t>Yasmine</a:t>
            </a:r>
            <a:pPr indent="0" marL="0">
              <a:buNone/>
            </a:pPr>
            <a:r>
              <a:rPr lang="en-US" sz="1700" dirty="0">
                <a:solidFill>
                  <a:schemeClr val="bg1"/>
                </a:solidFill>
              </a:rPr>
              <a:t>  |  </a:t>
            </a:r>
            <a:pPr indent="0" marL="0">
              <a:buNone/>
            </a:pPr>
            <a:r>
              <a:rPr lang="en-US" sz="1700" b="1" dirty="0">
                <a:solidFill>
                  <a:schemeClr val="bg1"/>
                </a:solidFill>
              </a:rPr>
              <a:t>EGM Search &amp; Recruit</a:t>
            </a:r>
            <a:endParaRPr lang="en-US" sz="1700" dirty="0"/>
          </a:p>
        </p:txBody>
      </p:sp>
      <p:sp>
        <p:nvSpPr>
          <p:cNvPr id="9" name="Text 7"/>
          <p:cNvSpPr txBox="1"/>
          <p:nvPr/>
        </p:nvSpPr>
        <p:spPr>
          <a:xfrm>
            <a:off x="630936" y="3931920"/>
            <a:ext cx="7589520" cy="914400"/>
          </a:xfrm>
          <a:prstGeom prst="rect">
            <a:avLst/>
          </a:prstGeom>
          <a:noFill/>
          <a:ln/>
        </p:spPr>
        <p:txBody>
          <a:bodyPr wrap="square" lIns="0" tIns="0" rIns="0" bIns="0" rtlCol="0" anchor="t"/>
          <a:lstStyle/>
          <a:p>
            <a:pPr indent="0" marL="0">
              <a:buNone/>
            </a:pPr>
            <a:r>
              <a:rPr lang="en-US" sz="1300" dirty="0">
                <a:solidFill>
                  <a:srgbClr val="AEB9BD"/>
                </a:solidFill>
              </a:rPr>
              <a:t>Your plan for building a trusted Executive Assistant &amp; Coordination Associate through Outsourcing Angel’s 5D Freedom Staffing System™. Part A is our recommendation. Part B is your Freedom Playbook: the part you, your Associate and our team keep using for the whole relationship.</a:t>
            </a:r>
            <a:endParaRPr lang="en-US" sz="1300" dirty="0"/>
          </a:p>
        </p:txBody>
      </p:sp>
      <p:sp>
        <p:nvSpPr>
          <p:cNvPr id="10" name="Text 8"/>
          <p:cNvSpPr txBox="1"/>
          <p:nvPr/>
        </p:nvSpPr>
        <p:spPr>
          <a:xfrm>
            <a:off x="630936" y="6263640"/>
            <a:ext cx="8229600" cy="274320"/>
          </a:xfrm>
          <a:prstGeom prst="rect">
            <a:avLst/>
          </a:prstGeom>
          <a:noFill/>
          <a:ln/>
        </p:spPr>
        <p:txBody>
          <a:bodyPr wrap="square" lIns="0" tIns="0" rIns="0" bIns="0" rtlCol="0" anchor="ctr"/>
          <a:lstStyle/>
          <a:p>
            <a:pPr indent="0" marL="0">
              <a:buNone/>
            </a:pPr>
            <a:r>
              <a:rPr lang="en-US" sz="1000" dirty="0">
                <a:solidFill>
                  <a:srgbClr val="AEB9BD"/>
                </a:solidFill>
              </a:rPr>
              <a:t>Version 2  ·  October 2026  ·  Prepared by Gail Galima-Mendoza, Outsourcing Angel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GETTING ORIENTED</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use your Freedom Plan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Built from your Freedom Audit: your time, your bottlenecks and your goals. It has two parts, and one of them grows with you.</a:t>
            </a:r>
            <a:endParaRPr lang="en-US" sz="1300" dirty="0"/>
          </a:p>
        </p:txBody>
      </p:sp>
      <p:sp>
        <p:nvSpPr>
          <p:cNvPr id="5" name="card"/>
          <p:cNvSpPr/>
          <p:nvPr/>
        </p:nvSpPr>
        <p:spPr>
          <a:xfrm>
            <a:off x="630936" y="1965960"/>
            <a:ext cx="5327752" cy="1965960"/>
          </a:xfrm>
          <a:prstGeom prst="roundRect">
            <a:avLst>
              <a:gd name="adj" fmla="val 3721"/>
            </a:avLst>
          </a:prstGeom>
          <a:solidFill>
            <a:schemeClr val="bg1"/>
          </a:solidFill>
          <a:ln w="12700">
            <a:solidFill>
              <a:schemeClr val="accent5"/>
            </a:solidFill>
            <a:prstDash val="solid"/>
          </a:ln>
        </p:spPr>
      </p:sp>
      <p:sp>
        <p:nvSpPr>
          <p:cNvPr id="6" name="Text 4"/>
          <p:cNvSpPr txBox="1"/>
          <p:nvPr/>
        </p:nvSpPr>
        <p:spPr>
          <a:xfrm>
            <a:off x="950976"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A</a:t>
            </a:r>
            <a:endParaRPr lang="en-US" sz="1050" dirty="0"/>
          </a:p>
        </p:txBody>
      </p:sp>
      <p:sp>
        <p:nvSpPr>
          <p:cNvPr id="7" name="Text 5"/>
          <p:cNvSpPr txBox="1"/>
          <p:nvPr/>
        </p:nvSpPr>
        <p:spPr>
          <a:xfrm>
            <a:off x="950976"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Our Recommendation</a:t>
            </a:r>
            <a:endParaRPr lang="en-US" sz="2000" dirty="0"/>
          </a:p>
        </p:txBody>
      </p:sp>
      <p:sp>
        <p:nvSpPr>
          <p:cNvPr id="8" name="Text 6"/>
          <p:cNvSpPr txBox="1"/>
          <p:nvPr/>
        </p:nvSpPr>
        <p:spPr>
          <a:xfrm>
            <a:off x="950976"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What we heard, the role we recommend, your candidates and investment. Read it once, use it to decide.</a:t>
            </a:r>
            <a:endParaRPr lang="en-US" sz="1250" dirty="0"/>
          </a:p>
        </p:txBody>
      </p:sp>
      <p:sp>
        <p:nvSpPr>
          <p:cNvPr id="9" name="Text 7"/>
          <p:cNvSpPr txBox="1"/>
          <p:nvPr/>
        </p:nvSpPr>
        <p:spPr>
          <a:xfrm>
            <a:off x="950976"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once, before you hire</a:t>
            </a:r>
            <a:endParaRPr lang="en-US" sz="1150" dirty="0"/>
          </a:p>
        </p:txBody>
      </p:sp>
      <p:sp>
        <p:nvSpPr>
          <p:cNvPr id="10" name="card"/>
          <p:cNvSpPr/>
          <p:nvPr/>
        </p:nvSpPr>
        <p:spPr>
          <a:xfrm>
            <a:off x="6233008" y="1965960"/>
            <a:ext cx="5327752" cy="1965960"/>
          </a:xfrm>
          <a:prstGeom prst="roundRect">
            <a:avLst>
              <a:gd name="adj" fmla="val 3721"/>
            </a:avLst>
          </a:prstGeom>
          <a:solidFill>
            <a:schemeClr val="accent4"/>
          </a:solidFill>
          <a:ln/>
        </p:spPr>
      </p:sp>
      <p:sp>
        <p:nvSpPr>
          <p:cNvPr id="11" name="Text 9"/>
          <p:cNvSpPr txBox="1"/>
          <p:nvPr/>
        </p:nvSpPr>
        <p:spPr>
          <a:xfrm>
            <a:off x="6553048"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B</a:t>
            </a:r>
            <a:endParaRPr lang="en-US" sz="1050" dirty="0"/>
          </a:p>
        </p:txBody>
      </p:sp>
      <p:sp>
        <p:nvSpPr>
          <p:cNvPr id="12" name="Text 10"/>
          <p:cNvSpPr txBox="1"/>
          <p:nvPr/>
        </p:nvSpPr>
        <p:spPr>
          <a:xfrm>
            <a:off x="6553048"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Your Freedom Playbook</a:t>
            </a:r>
            <a:endParaRPr lang="en-US" sz="2000" dirty="0"/>
          </a:p>
        </p:txBody>
      </p:sp>
      <p:sp>
        <p:nvSpPr>
          <p:cNvPr id="13" name="Text 11"/>
          <p:cNvSpPr txBox="1"/>
          <p:nvPr/>
        </p:nvSpPr>
        <p:spPr>
          <a:xfrm>
            <a:off x="6553048"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A first-time starter pack, your 12-month journey, scorecard, KPIs, delegation list, SOP library and wins.</a:t>
            </a:r>
            <a:endParaRPr lang="en-US" sz="1250" dirty="0"/>
          </a:p>
        </p:txBody>
      </p:sp>
      <p:sp>
        <p:nvSpPr>
          <p:cNvPr id="14" name="Text 12"/>
          <p:cNvSpPr txBox="1"/>
          <p:nvPr/>
        </p:nvSpPr>
        <p:spPr>
          <a:xfrm>
            <a:off x="6553048"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for the whole relationship</a:t>
            </a:r>
            <a:endParaRPr lang="en-US" sz="1150" dirty="0"/>
          </a:p>
        </p:txBody>
      </p:sp>
      <p:sp>
        <p:nvSpPr>
          <p:cNvPr id="15" name="Text 13"/>
          <p:cNvSpPr txBox="1"/>
          <p:nvPr/>
        </p:nvSpPr>
        <p:spPr>
          <a:xfrm>
            <a:off x="630936" y="420624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WHO KEEPS IT ALIVE</a:t>
            </a:r>
            <a:endParaRPr lang="en-US" sz="1050" dirty="0"/>
          </a:p>
        </p:txBody>
      </p:sp>
      <p:sp>
        <p:nvSpPr>
          <p:cNvPr id="16" name="who 1 circle"/>
          <p:cNvSpPr/>
          <p:nvPr/>
        </p:nvSpPr>
        <p:spPr>
          <a:xfrm>
            <a:off x="630936" y="4572000"/>
            <a:ext cx="457200" cy="457200"/>
          </a:xfrm>
          <a:prstGeom prst="ellipse">
            <a:avLst/>
          </a:prstGeom>
          <a:solidFill>
            <a:schemeClr val="accent1"/>
          </a:solidFill>
          <a:ln/>
        </p:spPr>
      </p:sp>
      <p:pic>
        <p:nvPicPr>
          <p:cNvPr id="17" name="who 1" descr="who 1">    </p:cNvPr>
          <p:cNvPicPr>
            <a:picLocks noChangeAspect="1"/>
          </p:cNvPicPr>
          <p:nvPr/>
        </p:nvPicPr>
        <p:blipFill>
          <a:blip r:embed="rId1"/>
          <a:stretch>
            <a:fillRect/>
          </a:stretch>
        </p:blipFill>
        <p:spPr>
          <a:xfrm>
            <a:off x="745236" y="4686300"/>
            <a:ext cx="228600" cy="228600"/>
          </a:xfrm>
          <a:prstGeom prst="rect">
            <a:avLst/>
          </a:prstGeom>
        </p:spPr>
      </p:pic>
      <p:sp>
        <p:nvSpPr>
          <p:cNvPr id="18" name="Text 15"/>
          <p:cNvSpPr txBox="1"/>
          <p:nvPr/>
        </p:nvSpPr>
        <p:spPr>
          <a:xfrm>
            <a:off x="1225296"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Yasmine</a:t>
            </a:r>
            <a:endParaRPr lang="en-US" sz="1300" dirty="0"/>
          </a:p>
        </p:txBody>
      </p:sp>
      <p:sp>
        <p:nvSpPr>
          <p:cNvPr id="19" name="Text 16"/>
          <p:cNvSpPr txBox="1"/>
          <p:nvPr/>
        </p:nvSpPr>
        <p:spPr>
          <a:xfrm>
            <a:off x="1225296"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Brings it to every check-in and adds to the “Next to delegate” list</a:t>
            </a:r>
            <a:endParaRPr lang="en-US" sz="1150" dirty="0"/>
          </a:p>
        </p:txBody>
      </p:sp>
      <p:sp>
        <p:nvSpPr>
          <p:cNvPr id="20" name="who 2 circle"/>
          <p:cNvSpPr/>
          <p:nvPr/>
        </p:nvSpPr>
        <p:spPr>
          <a:xfrm>
            <a:off x="4319930" y="4572000"/>
            <a:ext cx="457200" cy="457200"/>
          </a:xfrm>
          <a:prstGeom prst="ellipse">
            <a:avLst/>
          </a:prstGeom>
          <a:solidFill>
            <a:schemeClr val="accent1"/>
          </a:solidFill>
          <a:ln/>
        </p:spPr>
      </p:sp>
      <p:pic>
        <p:nvPicPr>
          <p:cNvPr id="21" name="who 2" descr="who 2">    </p:cNvPr>
          <p:cNvPicPr>
            <a:picLocks noChangeAspect="1"/>
          </p:cNvPicPr>
          <p:nvPr/>
        </p:nvPicPr>
        <p:blipFill>
          <a:blip r:embed="rId2"/>
          <a:stretch>
            <a:fillRect/>
          </a:stretch>
        </p:blipFill>
        <p:spPr>
          <a:xfrm>
            <a:off x="4434230" y="4686300"/>
            <a:ext cx="228600" cy="228600"/>
          </a:xfrm>
          <a:prstGeom prst="rect">
            <a:avLst/>
          </a:prstGeom>
        </p:spPr>
      </p:pic>
      <p:sp>
        <p:nvSpPr>
          <p:cNvPr id="22" name="Text 18"/>
          <p:cNvSpPr txBox="1"/>
          <p:nvPr/>
        </p:nvSpPr>
        <p:spPr>
          <a:xfrm>
            <a:off x="4914290"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Your Associate</a:t>
            </a:r>
            <a:endParaRPr lang="en-US" sz="1300" dirty="0"/>
          </a:p>
        </p:txBody>
      </p:sp>
      <p:sp>
        <p:nvSpPr>
          <p:cNvPr id="23" name="Text 19"/>
          <p:cNvSpPr txBox="1"/>
          <p:nvPr/>
        </p:nvSpPr>
        <p:spPr>
          <a:xfrm>
            <a:off x="4914290"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Updates the SOP library and wins log, and self-assesses at each review</a:t>
            </a:r>
            <a:endParaRPr lang="en-US" sz="1150" dirty="0"/>
          </a:p>
        </p:txBody>
      </p:sp>
      <p:sp>
        <p:nvSpPr>
          <p:cNvPr id="24" name="who 3 circle"/>
          <p:cNvSpPr/>
          <p:nvPr/>
        </p:nvSpPr>
        <p:spPr>
          <a:xfrm>
            <a:off x="8008925" y="4572000"/>
            <a:ext cx="457200" cy="457200"/>
          </a:xfrm>
          <a:prstGeom prst="ellipse">
            <a:avLst/>
          </a:prstGeom>
          <a:solidFill>
            <a:schemeClr val="accent1"/>
          </a:solidFill>
          <a:ln/>
        </p:spPr>
      </p:sp>
      <p:pic>
        <p:nvPicPr>
          <p:cNvPr id="25" name="who 3" descr="who 3">    </p:cNvPr>
          <p:cNvPicPr>
            <a:picLocks noChangeAspect="1"/>
          </p:cNvPicPr>
          <p:nvPr/>
        </p:nvPicPr>
        <p:blipFill>
          <a:blip r:embed="rId3"/>
          <a:stretch>
            <a:fillRect/>
          </a:stretch>
        </p:blipFill>
        <p:spPr>
          <a:xfrm>
            <a:off x="8123225" y="4686300"/>
            <a:ext cx="228600" cy="228600"/>
          </a:xfrm>
          <a:prstGeom prst="rect">
            <a:avLst/>
          </a:prstGeom>
        </p:spPr>
      </p:pic>
      <p:sp>
        <p:nvSpPr>
          <p:cNvPr id="26" name="Text 21"/>
          <p:cNvSpPr txBox="1"/>
          <p:nvPr/>
        </p:nvSpPr>
        <p:spPr>
          <a:xfrm>
            <a:off x="8603285"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Outsourcing Angel</a:t>
            </a:r>
            <a:endParaRPr lang="en-US" sz="1300" dirty="0"/>
          </a:p>
        </p:txBody>
      </p:sp>
      <p:sp>
        <p:nvSpPr>
          <p:cNvPr id="27" name="Text 22"/>
          <p:cNvSpPr txBox="1"/>
          <p:nvPr/>
        </p:nvSpPr>
        <p:spPr>
          <a:xfrm>
            <a:off x="8603285"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Leads the Day 30, Day 90, Month 6 and Month 12 reviews and updates the scorecard</a:t>
            </a:r>
            <a:endParaRPr lang="en-US" sz="1150" dirty="0"/>
          </a:p>
        </p:txBody>
      </p:sp>
      <p:sp>
        <p:nvSpPr>
          <p:cNvPr id="28" name="callout"/>
          <p:cNvSpPr/>
          <p:nvPr/>
        </p:nvSpPr>
        <p:spPr>
          <a:xfrm>
            <a:off x="630936" y="5669280"/>
            <a:ext cx="10929823" cy="502920"/>
          </a:xfrm>
          <a:prstGeom prst="roundRect">
            <a:avLst>
              <a:gd name="adj" fmla="val 14545"/>
            </a:avLst>
          </a:prstGeom>
          <a:solidFill>
            <a:schemeClr val="accent4"/>
          </a:solidFill>
          <a:ln/>
        </p:spPr>
      </p:sp>
      <p:sp>
        <p:nvSpPr>
          <p:cNvPr id="29" name="Text 24"/>
          <p:cNvSpPr txBox="1"/>
          <p:nvPr/>
        </p:nvSpPr>
        <p:spPr>
          <a:xfrm>
            <a:off x="859536" y="5669280"/>
            <a:ext cx="10472623" cy="502920"/>
          </a:xfrm>
          <a:prstGeom prst="rect">
            <a:avLst/>
          </a:prstGeom>
          <a:noFill/>
          <a:ln/>
        </p:spPr>
        <p:txBody>
          <a:bodyPr wrap="square" lIns="0" tIns="0" rIns="0" bIns="0" rtlCol="0" anchor="ctr"/>
          <a:lstStyle/>
          <a:p>
            <a:pPr indent="0" marL="0">
              <a:buNone/>
            </a:pPr>
            <a:r>
              <a:rPr lang="en-US" sz="1250" b="1" dirty="0">
                <a:solidFill>
                  <a:schemeClr val="accent1"/>
                </a:solidFill>
              </a:rPr>
              <a:t>Your live copy sits in a shared folder that you, your Associate and your Outsourcing Angel team can all open and update.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A</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Our Recommendation</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What we heard in your Freedom Audit, the role we recommend, and how we’ll find the right person. Use this part to decide.</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Key Observations</a:t>
            </a:r>
            <a:endParaRPr lang="en-US" sz="3000" dirty="0"/>
          </a:p>
        </p:txBody>
      </p:sp>
      <p:sp>
        <p:nvSpPr>
          <p:cNvPr id="4" name="Text 2"/>
          <p:cNvSpPr txBox="1"/>
          <p:nvPr/>
        </p:nvSpPr>
        <p:spPr>
          <a:xfrm>
            <a:off x="630936" y="1417320"/>
            <a:ext cx="10929823" cy="960120"/>
          </a:xfrm>
          <a:prstGeom prst="rect">
            <a:avLst/>
          </a:prstGeom>
          <a:noFill/>
          <a:ln/>
        </p:spPr>
        <p:txBody>
          <a:bodyPr wrap="square" lIns="0" tIns="0" rIns="0" bIns="0" rtlCol="0" anchor="t"/>
          <a:lstStyle/>
          <a:p>
            <a:pPr indent="0" marL="0">
              <a:buNone/>
            </a:pPr>
            <a:r>
              <a:rPr lang="en-US" sz="1350" dirty="0">
                <a:solidFill>
                  <a:schemeClr val="accent3"/>
                </a:solidFill>
              </a:rPr>
              <a:t>Yasmine has grown EGM Search &amp; Recruit into a 22-person specialist recruitment team over 10 years, but she still runs the everyday admin herself: diary, inbox, CRM notes, proposals and candidate reports. There’s no dedicated support, and it’s costing her real time, including a standing 5am admin hour. With an advisory board launching and an 18-event membership program to coordinate, the gap is growing.</a:t>
            </a:r>
            <a:endParaRPr lang="en-US" sz="1350" dirty="0"/>
          </a:p>
        </p:txBody>
      </p:sp>
      <p:sp>
        <p:nvSpPr>
          <p:cNvPr id="5" name="card"/>
          <p:cNvSpPr/>
          <p:nvPr/>
        </p:nvSpPr>
        <p:spPr>
          <a:xfrm>
            <a:off x="630936" y="2560320"/>
            <a:ext cx="5327752" cy="2057400"/>
          </a:xfrm>
          <a:prstGeom prst="roundRect">
            <a:avLst>
              <a:gd name="adj" fmla="val 3556"/>
            </a:avLst>
          </a:prstGeom>
          <a:solidFill>
            <a:schemeClr val="bg1"/>
          </a:solidFill>
          <a:ln w="12700">
            <a:solidFill>
              <a:schemeClr val="accent5"/>
            </a:solidFill>
            <a:prstDash val="solid"/>
          </a:ln>
        </p:spPr>
      </p:sp>
      <p:sp>
        <p:nvSpPr>
          <p:cNvPr id="6" name="Text 4"/>
          <p:cNvSpPr txBox="1"/>
          <p:nvPr/>
        </p:nvSpPr>
        <p:spPr>
          <a:xfrm>
            <a:off x="905256"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HOW TIME IS SPENT</a:t>
            </a:r>
            <a:endParaRPr lang="en-US" sz="1050" dirty="0"/>
          </a:p>
        </p:txBody>
      </p:sp>
      <p:sp>
        <p:nvSpPr>
          <p:cNvPr id="7" name="Text 5"/>
          <p:cNvSpPr txBox="1"/>
          <p:nvPr/>
        </p:nvSpPr>
        <p:spPr>
          <a:xfrm>
            <a:off x="905256"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Up at 5am most days on admin and email · back-to-back candidate and client meetings · diary, CRM notes, proposals and suitability reports all done personally · an 18-event, 35-member networking program run largely ad hoc.</a:t>
            </a:r>
            <a:endParaRPr lang="en-US" sz="1250" dirty="0"/>
          </a:p>
        </p:txBody>
      </p:sp>
      <p:sp>
        <p:nvSpPr>
          <p:cNvPr id="8" name="card"/>
          <p:cNvSpPr/>
          <p:nvPr/>
        </p:nvSpPr>
        <p:spPr>
          <a:xfrm>
            <a:off x="6233008" y="2560320"/>
            <a:ext cx="5327752" cy="2057400"/>
          </a:xfrm>
          <a:prstGeom prst="roundRect">
            <a:avLst>
              <a:gd name="adj" fmla="val 3556"/>
            </a:avLst>
          </a:prstGeom>
          <a:solidFill>
            <a:schemeClr val="bg1"/>
          </a:solidFill>
          <a:ln w="12700">
            <a:solidFill>
              <a:schemeClr val="accent5"/>
            </a:solidFill>
            <a:prstDash val="solid"/>
          </a:ln>
        </p:spPr>
      </p:sp>
      <p:sp>
        <p:nvSpPr>
          <p:cNvPr id="9" name="Text 7"/>
          <p:cNvSpPr txBox="1"/>
          <p:nvPr/>
        </p:nvSpPr>
        <p:spPr>
          <a:xfrm>
            <a:off x="6507328"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HIRING INSIGHT</a:t>
            </a:r>
            <a:endParaRPr lang="en-US" sz="1050" dirty="0"/>
          </a:p>
        </p:txBody>
      </p:sp>
      <p:sp>
        <p:nvSpPr>
          <p:cNvPr id="10" name="Text 8"/>
          <p:cNvSpPr txBox="1"/>
          <p:nvPr/>
        </p:nvSpPr>
        <p:spPr>
          <a:xfrm>
            <a:off x="6507328"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Referred to Outsourcing Angel and considering an EA for a long time, so this is a considered decision. She wants someone to start on email, then move to phone contact with candidates and clients once confident. Ad hoc personal tasks are welcome too.</a:t>
            </a:r>
            <a:endParaRPr lang="en-US" sz="1250" dirty="0"/>
          </a:p>
        </p:txBody>
      </p:sp>
      <p:sp>
        <p:nvSpPr>
          <p:cNvPr id="11" name="callout"/>
          <p:cNvSpPr/>
          <p:nvPr/>
        </p:nvSpPr>
        <p:spPr>
          <a:xfrm>
            <a:off x="630936" y="4846320"/>
            <a:ext cx="10929823" cy="868680"/>
          </a:xfrm>
          <a:prstGeom prst="roundRect">
            <a:avLst>
              <a:gd name="adj" fmla="val 8421"/>
            </a:avLst>
          </a:prstGeom>
          <a:solidFill>
            <a:schemeClr val="accent4"/>
          </a:solidFill>
          <a:ln/>
        </p:spPr>
      </p:sp>
      <p:sp>
        <p:nvSpPr>
          <p:cNvPr id="12" name="Text 10"/>
          <p:cNvSpPr txBox="1"/>
          <p:nvPr/>
        </p:nvSpPr>
        <p:spPr>
          <a:xfrm>
            <a:off x="859536" y="484632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Our recommendation: a dedicated Executive Assistant &amp; Coordination Associate who owns the diary, inbox, CRM, reporting, advisory board support and events, so Yasmine can focus on strategy, clients and winning new business.</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Leverage Gap Analysis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Yasmine’s biggest leverage point: getting everyday admin and coordination off her plate. This is work that needs her time, not her.</a:t>
            </a:r>
            <a:endParaRPr lang="en-US" sz="1300" dirty="0"/>
          </a:p>
        </p:txBody>
      </p:sp>
      <p:sp>
        <p:nvSpPr>
          <p:cNvPr id="5" name="card"/>
          <p:cNvSpPr/>
          <p:nvPr/>
        </p:nvSpPr>
        <p:spPr>
          <a:xfrm>
            <a:off x="630936" y="2011680"/>
            <a:ext cx="5327752" cy="3566160"/>
          </a:xfrm>
          <a:prstGeom prst="roundRect">
            <a:avLst>
              <a:gd name="adj" fmla="val 2051"/>
            </a:avLst>
          </a:prstGeom>
          <a:solidFill>
            <a:schemeClr val="bg1"/>
          </a:solidFill>
          <a:ln w="12700">
            <a:solidFill>
              <a:schemeClr val="accent5"/>
            </a:solidFill>
            <a:prstDash val="solid"/>
          </a:ln>
        </p:spPr>
      </p:sp>
      <p:sp>
        <p:nvSpPr>
          <p:cNvPr id="6" name="Text 4"/>
          <p:cNvSpPr txBox="1"/>
          <p:nvPr/>
        </p:nvSpPr>
        <p:spPr>
          <a:xfrm>
            <a:off x="950976"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TODAY</a:t>
            </a:r>
            <a:endParaRPr lang="en-US" sz="1050" dirty="0"/>
          </a:p>
        </p:txBody>
      </p:sp>
      <p:sp>
        <p:nvSpPr>
          <p:cNvPr id="7" name="Text 5"/>
          <p:cNvSpPr txBox="1"/>
          <p:nvPr/>
        </p:nvSpPr>
        <p:spPr>
          <a:xfrm>
            <a:off x="950976"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accent3"/>
                </a:solidFill>
              </a:rPr>
              <a:t>Diary, inbox and CRM notes all managed personally, with no delegation</a:t>
            </a:r>
            <a:endParaRPr lang="en-US" sz="1350" dirty="0"/>
          </a:p>
          <a:p>
            <a:pPr marL="203200" indent="-203200">
              <a:spcAft>
                <a:spcPts val="1400"/>
              </a:spcAft>
              <a:buSzPct val="100000"/>
              <a:buChar char="•"/>
            </a:pPr>
            <a:r>
              <a:rPr lang="en-US" sz="1350" dirty="0">
                <a:solidFill>
                  <a:schemeClr val="accent3"/>
                </a:solidFill>
              </a:rPr>
              <a:t>5am admin sessions, and email can slip for days when things get busy</a:t>
            </a:r>
            <a:endParaRPr lang="en-US" sz="1350" dirty="0"/>
          </a:p>
          <a:p>
            <a:pPr marL="203200" indent="-203200">
              <a:spcAft>
                <a:spcPts val="1400"/>
              </a:spcAft>
              <a:buSzPct val="100000"/>
              <a:buChar char="•"/>
            </a:pPr>
            <a:r>
              <a:rPr lang="en-US" sz="1350" dirty="0">
                <a:solidFill>
                  <a:schemeClr val="accent3"/>
                </a:solidFill>
              </a:rPr>
              <a:t>Advisory board and 18-event program coordinated ad hoc</a:t>
            </a:r>
            <a:endParaRPr lang="en-US" sz="1350" dirty="0"/>
          </a:p>
        </p:txBody>
      </p:sp>
      <p:sp>
        <p:nvSpPr>
          <p:cNvPr id="8" name="card"/>
          <p:cNvSpPr/>
          <p:nvPr/>
        </p:nvSpPr>
        <p:spPr>
          <a:xfrm>
            <a:off x="6233008" y="2011680"/>
            <a:ext cx="5327752" cy="3566160"/>
          </a:xfrm>
          <a:prstGeom prst="roundRect">
            <a:avLst>
              <a:gd name="adj" fmla="val 2051"/>
            </a:avLst>
          </a:prstGeom>
          <a:solidFill>
            <a:schemeClr val="accent4"/>
          </a:solidFill>
          <a:ln/>
        </p:spPr>
      </p:sp>
      <p:sp>
        <p:nvSpPr>
          <p:cNvPr id="9" name="Text 7"/>
          <p:cNvSpPr txBox="1"/>
          <p:nvPr/>
        </p:nvSpPr>
        <p:spPr>
          <a:xfrm>
            <a:off x="6553048"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WHERE WE’RE GOING</a:t>
            </a:r>
            <a:endParaRPr lang="en-US" sz="1050" dirty="0"/>
          </a:p>
        </p:txBody>
      </p:sp>
      <p:sp>
        <p:nvSpPr>
          <p:cNvPr id="10" name="Text 8"/>
          <p:cNvSpPr txBox="1"/>
          <p:nvPr/>
        </p:nvSpPr>
        <p:spPr>
          <a:xfrm>
            <a:off x="6553048"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tx1"/>
                </a:solidFill>
              </a:rPr>
              <a:t>Diary and inbox run day to day by a dedicated Associate, CRM notes logged the same day</a:t>
            </a:r>
            <a:endParaRPr lang="en-US" sz="1350" dirty="0"/>
          </a:p>
          <a:p>
            <a:pPr marL="203200" indent="-203200">
              <a:spcAft>
                <a:spcPts val="1400"/>
              </a:spcAft>
              <a:buSzPct val="100000"/>
              <a:buChar char="•"/>
            </a:pPr>
            <a:r>
              <a:rPr lang="en-US" sz="1350" dirty="0">
                <a:solidFill>
                  <a:schemeClr val="tx1"/>
                </a:solidFill>
              </a:rPr>
              <a:t>Candidate reports and proposals drafted for Yasmine’s review, not written from scratch</a:t>
            </a:r>
            <a:endParaRPr lang="en-US" sz="1350" dirty="0"/>
          </a:p>
          <a:p>
            <a:pPr marL="203200" indent="-203200">
              <a:spcAft>
                <a:spcPts val="1400"/>
              </a:spcAft>
              <a:buSzPct val="100000"/>
              <a:buChar char="•"/>
            </a:pPr>
            <a:r>
              <a:rPr lang="en-US" sz="1350" dirty="0">
                <a:solidFill>
                  <a:schemeClr val="tx1"/>
                </a:solidFill>
              </a:rPr>
              <a:t>Board papers prepped and events coordinated end to end, with 20+ hours a week back</a:t>
            </a:r>
            <a:endParaRPr lang="en-US" sz="13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Freedom Stage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Where the business is today, and the path this plan takes. We revisit this at every review in Part B.</a:t>
            </a:r>
            <a:endParaRPr lang="en-US" sz="1300" dirty="0"/>
          </a:p>
        </p:txBody>
      </p:sp>
      <p:sp>
        <p:nvSpPr>
          <p:cNvPr id="5" name="stage line"/>
          <p:cNvSpPr/>
          <p:nvPr/>
        </p:nvSpPr>
        <p:spPr>
          <a:xfrm>
            <a:off x="1088136" y="3063240"/>
            <a:ext cx="10015423" cy="0"/>
          </a:xfrm>
          <a:prstGeom prst="line">
            <a:avLst/>
          </a:prstGeom>
          <a:noFill/>
          <a:ln w="38100">
            <a:solidFill>
              <a:schemeClr val="accent5"/>
            </a:solidFill>
            <a:prstDash val="solid"/>
          </a:ln>
        </p:spPr>
      </p:sp>
      <p:sp>
        <p:nvSpPr>
          <p:cNvPr id="6" name="stage 1"/>
          <p:cNvSpPr/>
          <p:nvPr/>
        </p:nvSpPr>
        <p:spPr>
          <a:xfrm>
            <a:off x="768096" y="2743200"/>
            <a:ext cx="640080" cy="640080"/>
          </a:xfrm>
          <a:prstGeom prst="ellipse">
            <a:avLst/>
          </a:prstGeom>
          <a:solidFill>
            <a:schemeClr val="tx1"/>
          </a:solidFill>
          <a:ln w="25400">
            <a:solidFill>
              <a:schemeClr val="tx1"/>
            </a:solidFill>
            <a:prstDash val="solid"/>
          </a:ln>
        </p:spPr>
      </p:sp>
      <p:sp>
        <p:nvSpPr>
          <p:cNvPr id="7" name="Text 5"/>
          <p:cNvSpPr txBox="1"/>
          <p:nvPr/>
        </p:nvSpPr>
        <p:spPr>
          <a:xfrm>
            <a:off x="768096"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73736"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Task Delegator</a:t>
            </a:r>
            <a:endParaRPr lang="en-US" sz="1300" dirty="0"/>
          </a:p>
        </p:txBody>
      </p:sp>
      <p:sp>
        <p:nvSpPr>
          <p:cNvPr id="9" name="Text 7"/>
          <p:cNvSpPr txBox="1"/>
          <p:nvPr/>
        </p:nvSpPr>
        <p:spPr>
          <a:xfrm>
            <a:off x="173736"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TODAY</a:t>
            </a:r>
            <a:endParaRPr lang="en-US" sz="1000" dirty="0"/>
          </a:p>
        </p:txBody>
      </p:sp>
      <p:sp>
        <p:nvSpPr>
          <p:cNvPr id="10" name="stage 2"/>
          <p:cNvSpPr/>
          <p:nvPr/>
        </p:nvSpPr>
        <p:spPr>
          <a:xfrm>
            <a:off x="3271952" y="2743200"/>
            <a:ext cx="640080" cy="640080"/>
          </a:xfrm>
          <a:prstGeom prst="ellipse">
            <a:avLst/>
          </a:prstGeom>
          <a:solidFill>
            <a:schemeClr val="bg1"/>
          </a:solidFill>
          <a:ln w="25400">
            <a:solidFill>
              <a:schemeClr val="accent5"/>
            </a:solidFill>
            <a:prstDash val="solid"/>
          </a:ln>
        </p:spPr>
      </p:sp>
      <p:sp>
        <p:nvSpPr>
          <p:cNvPr id="11" name="Text 9"/>
          <p:cNvSpPr txBox="1"/>
          <p:nvPr/>
        </p:nvSpPr>
        <p:spPr>
          <a:xfrm>
            <a:off x="3271952"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2</a:t>
            </a:r>
            <a:endParaRPr lang="en-US" sz="1600" dirty="0"/>
          </a:p>
        </p:txBody>
      </p:sp>
      <p:sp>
        <p:nvSpPr>
          <p:cNvPr id="12" name="Text 10"/>
          <p:cNvSpPr txBox="1"/>
          <p:nvPr/>
        </p:nvSpPr>
        <p:spPr>
          <a:xfrm>
            <a:off x="2677592"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Process Builder</a:t>
            </a:r>
            <a:endParaRPr lang="en-US" sz="1300" dirty="0"/>
          </a:p>
        </p:txBody>
      </p:sp>
      <p:sp>
        <p:nvSpPr>
          <p:cNvPr id="13" name="stage 3"/>
          <p:cNvSpPr/>
          <p:nvPr/>
        </p:nvSpPr>
        <p:spPr>
          <a:xfrm>
            <a:off x="5775808" y="2743200"/>
            <a:ext cx="640080" cy="640080"/>
          </a:xfrm>
          <a:prstGeom prst="ellipse">
            <a:avLst/>
          </a:prstGeom>
          <a:solidFill>
            <a:schemeClr val="accent2"/>
          </a:solidFill>
          <a:ln w="25400">
            <a:solidFill>
              <a:schemeClr val="accent2"/>
            </a:solidFill>
            <a:prstDash val="solid"/>
          </a:ln>
        </p:spPr>
      </p:sp>
      <p:sp>
        <p:nvSpPr>
          <p:cNvPr id="14" name="Text 12"/>
          <p:cNvSpPr txBox="1"/>
          <p:nvPr/>
        </p:nvSpPr>
        <p:spPr>
          <a:xfrm>
            <a:off x="5775808"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5181448"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Outcome Owner</a:t>
            </a:r>
            <a:endParaRPr lang="en-US" sz="1300" dirty="0"/>
          </a:p>
        </p:txBody>
      </p:sp>
      <p:sp>
        <p:nvSpPr>
          <p:cNvPr id="16" name="Text 14"/>
          <p:cNvSpPr txBox="1"/>
          <p:nvPr/>
        </p:nvSpPr>
        <p:spPr>
          <a:xfrm>
            <a:off x="5181448"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DAY 90 TARGET</a:t>
            </a:r>
            <a:endParaRPr lang="en-US" sz="1000" dirty="0"/>
          </a:p>
        </p:txBody>
      </p:sp>
      <p:sp>
        <p:nvSpPr>
          <p:cNvPr id="17" name="stage 4"/>
          <p:cNvSpPr/>
          <p:nvPr/>
        </p:nvSpPr>
        <p:spPr>
          <a:xfrm>
            <a:off x="8279663" y="2743200"/>
            <a:ext cx="640080" cy="640080"/>
          </a:xfrm>
          <a:prstGeom prst="ellipse">
            <a:avLst/>
          </a:prstGeom>
          <a:solidFill>
            <a:schemeClr val="bg1"/>
          </a:solidFill>
          <a:ln w="25400">
            <a:solidFill>
              <a:schemeClr val="accent5"/>
            </a:solidFill>
            <a:prstDash val="solid"/>
          </a:ln>
        </p:spPr>
      </p:sp>
      <p:sp>
        <p:nvSpPr>
          <p:cNvPr id="18" name="Text 16"/>
          <p:cNvSpPr txBox="1"/>
          <p:nvPr/>
        </p:nvSpPr>
        <p:spPr>
          <a:xfrm>
            <a:off x="8279663"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4</a:t>
            </a:r>
            <a:endParaRPr lang="en-US" sz="1600" dirty="0"/>
          </a:p>
        </p:txBody>
      </p:sp>
      <p:sp>
        <p:nvSpPr>
          <p:cNvPr id="19" name="Text 17"/>
          <p:cNvSpPr txBox="1"/>
          <p:nvPr/>
        </p:nvSpPr>
        <p:spPr>
          <a:xfrm>
            <a:off x="7685303"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Operator</a:t>
            </a:r>
            <a:endParaRPr lang="en-US" sz="1300" dirty="0"/>
          </a:p>
        </p:txBody>
      </p:sp>
      <p:sp>
        <p:nvSpPr>
          <p:cNvPr id="20" name="stage 5"/>
          <p:cNvSpPr/>
          <p:nvPr/>
        </p:nvSpPr>
        <p:spPr>
          <a:xfrm>
            <a:off x="10783519" y="2743200"/>
            <a:ext cx="640080" cy="640080"/>
          </a:xfrm>
          <a:prstGeom prst="ellipse">
            <a:avLst/>
          </a:prstGeom>
          <a:solidFill>
            <a:schemeClr val="accent1"/>
          </a:solidFill>
          <a:ln w="25400">
            <a:solidFill>
              <a:schemeClr val="accent1"/>
            </a:solidFill>
            <a:prstDash val="solid"/>
          </a:ln>
        </p:spPr>
      </p:sp>
      <p:sp>
        <p:nvSpPr>
          <p:cNvPr id="21" name="Text 19"/>
          <p:cNvSpPr txBox="1"/>
          <p:nvPr/>
        </p:nvSpPr>
        <p:spPr>
          <a:xfrm>
            <a:off x="10783519"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0189159"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Freedom</a:t>
            </a:r>
            <a:endParaRPr lang="en-US" sz="1300" dirty="0"/>
          </a:p>
        </p:txBody>
      </p:sp>
      <p:sp>
        <p:nvSpPr>
          <p:cNvPr id="23" name="Text 21"/>
          <p:cNvSpPr txBox="1"/>
          <p:nvPr/>
        </p:nvSpPr>
        <p:spPr>
          <a:xfrm>
            <a:off x="10189159"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MONTH 6 TARGET</a:t>
            </a:r>
            <a:endParaRPr lang="en-US" sz="1000" dirty="0"/>
          </a:p>
        </p:txBody>
      </p:sp>
      <p:sp>
        <p:nvSpPr>
          <p:cNvPr id="24" name="callout"/>
          <p:cNvSpPr/>
          <p:nvPr/>
        </p:nvSpPr>
        <p:spPr>
          <a:xfrm>
            <a:off x="630936" y="4572000"/>
            <a:ext cx="10929823" cy="868680"/>
          </a:xfrm>
          <a:prstGeom prst="roundRect">
            <a:avLst>
              <a:gd name="adj" fmla="val 8421"/>
            </a:avLst>
          </a:prstGeom>
          <a:solidFill>
            <a:schemeClr val="accent4"/>
          </a:solidFill>
          <a:ln/>
        </p:spPr>
      </p:sp>
      <p:sp>
        <p:nvSpPr>
          <p:cNvPr id="25" name="Text 23"/>
          <p:cNvSpPr txBox="1"/>
          <p:nvPr/>
        </p:nvSpPr>
        <p:spPr>
          <a:xfrm>
            <a:off x="859536" y="457200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Yasmine wants a genuine accountability partner quickly. We aim for Outcome Owner by Day 90 and Freedom by Month 6: an Associate who runs diary, CRM, reporting, board and events support independently, with light oversight.</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04  ·  DESIGN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Role We Recommend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An Executive Assistant &amp; Coordination Associate who owns six areas, so Yasmine is free to run and grow the business.</a:t>
            </a:r>
            <a:endParaRPr lang="en-US" sz="1300" dirty="0"/>
          </a:p>
        </p:txBody>
      </p:sp>
      <p:sp>
        <p:nvSpPr>
          <p:cNvPr id="5" name="card"/>
          <p:cNvSpPr/>
          <p:nvPr/>
        </p:nvSpPr>
        <p:spPr>
          <a:xfrm>
            <a:off x="630936" y="1965960"/>
            <a:ext cx="3521354" cy="1874520"/>
          </a:xfrm>
          <a:prstGeom prst="roundRect">
            <a:avLst>
              <a:gd name="adj" fmla="val 3902"/>
            </a:avLst>
          </a:prstGeom>
          <a:solidFill>
            <a:schemeClr val="bg2"/>
          </a:solidFill>
          <a:ln/>
        </p:spPr>
      </p:sp>
      <p:sp>
        <p:nvSpPr>
          <p:cNvPr id="6" name="area 1 circle"/>
          <p:cNvSpPr/>
          <p:nvPr/>
        </p:nvSpPr>
        <p:spPr>
          <a:xfrm>
            <a:off x="905256" y="2240280"/>
            <a:ext cx="502920" cy="502920"/>
          </a:xfrm>
          <a:prstGeom prst="ellipse">
            <a:avLst/>
          </a:prstGeom>
          <a:solidFill>
            <a:schemeClr val="accent1"/>
          </a:solidFill>
          <a:ln/>
        </p:spPr>
      </p:sp>
      <p:pic>
        <p:nvPicPr>
          <p:cNvPr id="7" name="area 1" descr="area 1">    </p:cNvPr>
          <p:cNvPicPr>
            <a:picLocks noChangeAspect="1"/>
          </p:cNvPicPr>
          <p:nvPr/>
        </p:nvPicPr>
        <p:blipFill>
          <a:blip r:embed="rId1"/>
          <a:stretch>
            <a:fillRect/>
          </a:stretch>
        </p:blipFill>
        <p:spPr>
          <a:xfrm>
            <a:off x="1030986" y="2366010"/>
            <a:ext cx="251460" cy="251460"/>
          </a:xfrm>
          <a:prstGeom prst="rect">
            <a:avLst/>
          </a:prstGeom>
        </p:spPr>
      </p:pic>
      <p:sp>
        <p:nvSpPr>
          <p:cNvPr id="8" name="Text 5"/>
          <p:cNvSpPr txBox="1"/>
          <p:nvPr/>
        </p:nvSpPr>
        <p:spPr>
          <a:xfrm>
            <a:off x="1545336"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Diary Management &amp; Scheduling</a:t>
            </a:r>
            <a:endParaRPr lang="en-US" sz="1400" dirty="0"/>
          </a:p>
        </p:txBody>
      </p:sp>
      <p:sp>
        <p:nvSpPr>
          <p:cNvPr id="9" name="Text 6"/>
          <p:cNvSpPr txBox="1"/>
          <p:nvPr/>
        </p:nvSpPr>
        <p:spPr>
          <a:xfrm>
            <a:off x="905256"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Owning Yasmine’s calendar end to end: booking, confirming and rescheduling meetings.</a:t>
            </a:r>
            <a:endParaRPr lang="en-US" sz="1200" dirty="0"/>
          </a:p>
        </p:txBody>
      </p:sp>
      <p:sp>
        <p:nvSpPr>
          <p:cNvPr id="10" name="card"/>
          <p:cNvSpPr/>
          <p:nvPr/>
        </p:nvSpPr>
        <p:spPr>
          <a:xfrm>
            <a:off x="4335170" y="1965960"/>
            <a:ext cx="3521354" cy="1874520"/>
          </a:xfrm>
          <a:prstGeom prst="roundRect">
            <a:avLst>
              <a:gd name="adj" fmla="val 3902"/>
            </a:avLst>
          </a:prstGeom>
          <a:solidFill>
            <a:schemeClr val="bg2"/>
          </a:solidFill>
          <a:ln/>
        </p:spPr>
      </p:sp>
      <p:sp>
        <p:nvSpPr>
          <p:cNvPr id="11" name="area 2 circle"/>
          <p:cNvSpPr/>
          <p:nvPr/>
        </p:nvSpPr>
        <p:spPr>
          <a:xfrm>
            <a:off x="4609490" y="2240280"/>
            <a:ext cx="502920" cy="502920"/>
          </a:xfrm>
          <a:prstGeom prst="ellipse">
            <a:avLst/>
          </a:prstGeom>
          <a:solidFill>
            <a:schemeClr val="accent1"/>
          </a:solidFill>
          <a:ln/>
        </p:spPr>
      </p:sp>
      <p:pic>
        <p:nvPicPr>
          <p:cNvPr id="12" name="area 2" descr="area 2">    </p:cNvPr>
          <p:cNvPicPr>
            <a:picLocks noChangeAspect="1"/>
          </p:cNvPicPr>
          <p:nvPr/>
        </p:nvPicPr>
        <p:blipFill>
          <a:blip r:embed="rId2"/>
          <a:stretch>
            <a:fillRect/>
          </a:stretch>
        </p:blipFill>
        <p:spPr>
          <a:xfrm>
            <a:off x="4735220" y="2366010"/>
            <a:ext cx="251460" cy="251460"/>
          </a:xfrm>
          <a:prstGeom prst="rect">
            <a:avLst/>
          </a:prstGeom>
        </p:spPr>
      </p:pic>
      <p:sp>
        <p:nvSpPr>
          <p:cNvPr id="13" name="Text 9"/>
          <p:cNvSpPr txBox="1"/>
          <p:nvPr/>
        </p:nvSpPr>
        <p:spPr>
          <a:xfrm>
            <a:off x="5249570"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Inbox &amp; Email Triage</a:t>
            </a:r>
            <a:endParaRPr lang="en-US" sz="1400" dirty="0"/>
          </a:p>
        </p:txBody>
      </p:sp>
      <p:sp>
        <p:nvSpPr>
          <p:cNvPr id="14" name="Text 10"/>
          <p:cNvSpPr txBox="1"/>
          <p:nvPr/>
        </p:nvSpPr>
        <p:spPr>
          <a:xfrm>
            <a:off x="4609490"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Managing the daily inflow, flagging priorities and drafting routine replies so nothing slips.</a:t>
            </a:r>
            <a:endParaRPr lang="en-US" sz="1200" dirty="0"/>
          </a:p>
        </p:txBody>
      </p:sp>
      <p:sp>
        <p:nvSpPr>
          <p:cNvPr id="15" name="card"/>
          <p:cNvSpPr/>
          <p:nvPr/>
        </p:nvSpPr>
        <p:spPr>
          <a:xfrm>
            <a:off x="8039405" y="1965960"/>
            <a:ext cx="3521354" cy="1874520"/>
          </a:xfrm>
          <a:prstGeom prst="roundRect">
            <a:avLst>
              <a:gd name="adj" fmla="val 3902"/>
            </a:avLst>
          </a:prstGeom>
          <a:solidFill>
            <a:schemeClr val="bg2"/>
          </a:solidFill>
          <a:ln/>
        </p:spPr>
      </p:sp>
      <p:sp>
        <p:nvSpPr>
          <p:cNvPr id="16" name="area 3 circle"/>
          <p:cNvSpPr/>
          <p:nvPr/>
        </p:nvSpPr>
        <p:spPr>
          <a:xfrm>
            <a:off x="8313725" y="2240280"/>
            <a:ext cx="502920" cy="502920"/>
          </a:xfrm>
          <a:prstGeom prst="ellipse">
            <a:avLst/>
          </a:prstGeom>
          <a:solidFill>
            <a:schemeClr val="accent1"/>
          </a:solidFill>
          <a:ln/>
        </p:spPr>
      </p:sp>
      <p:pic>
        <p:nvPicPr>
          <p:cNvPr id="17" name="area 3" descr="area 3">    </p:cNvPr>
          <p:cNvPicPr>
            <a:picLocks noChangeAspect="1"/>
          </p:cNvPicPr>
          <p:nvPr/>
        </p:nvPicPr>
        <p:blipFill>
          <a:blip r:embed="rId3"/>
          <a:stretch>
            <a:fillRect/>
          </a:stretch>
        </p:blipFill>
        <p:spPr>
          <a:xfrm>
            <a:off x="8439455" y="2366010"/>
            <a:ext cx="251460" cy="251460"/>
          </a:xfrm>
          <a:prstGeom prst="rect">
            <a:avLst/>
          </a:prstGeom>
        </p:spPr>
      </p:pic>
      <p:sp>
        <p:nvSpPr>
          <p:cNvPr id="18" name="Text 13"/>
          <p:cNvSpPr txBox="1"/>
          <p:nvPr/>
        </p:nvSpPr>
        <p:spPr>
          <a:xfrm>
            <a:off x="8953805"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CRM Notes &amp; Documentation</a:t>
            </a:r>
            <a:endParaRPr lang="en-US" sz="1400" dirty="0"/>
          </a:p>
        </p:txBody>
      </p:sp>
      <p:sp>
        <p:nvSpPr>
          <p:cNvPr id="19" name="Text 14"/>
          <p:cNvSpPr txBox="1"/>
          <p:nvPr/>
        </p:nvSpPr>
        <p:spPr>
          <a:xfrm>
            <a:off x="8313725"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Logging candidate and client notes the same day, every time.</a:t>
            </a:r>
            <a:endParaRPr lang="en-US" sz="1200" dirty="0"/>
          </a:p>
        </p:txBody>
      </p:sp>
      <p:sp>
        <p:nvSpPr>
          <p:cNvPr id="20" name="card"/>
          <p:cNvSpPr/>
          <p:nvPr/>
        </p:nvSpPr>
        <p:spPr>
          <a:xfrm>
            <a:off x="630936" y="4023360"/>
            <a:ext cx="3521354" cy="1874520"/>
          </a:xfrm>
          <a:prstGeom prst="roundRect">
            <a:avLst>
              <a:gd name="adj" fmla="val 3902"/>
            </a:avLst>
          </a:prstGeom>
          <a:solidFill>
            <a:schemeClr val="bg2"/>
          </a:solidFill>
          <a:ln/>
        </p:spPr>
      </p:sp>
      <p:sp>
        <p:nvSpPr>
          <p:cNvPr id="21" name="area 4 circle"/>
          <p:cNvSpPr/>
          <p:nvPr/>
        </p:nvSpPr>
        <p:spPr>
          <a:xfrm>
            <a:off x="905256" y="4297680"/>
            <a:ext cx="502920" cy="502920"/>
          </a:xfrm>
          <a:prstGeom prst="ellipse">
            <a:avLst/>
          </a:prstGeom>
          <a:solidFill>
            <a:schemeClr val="accent1"/>
          </a:solidFill>
          <a:ln/>
        </p:spPr>
      </p:sp>
      <p:pic>
        <p:nvPicPr>
          <p:cNvPr id="22" name="area 4" descr="area 4">    </p:cNvPr>
          <p:cNvPicPr>
            <a:picLocks noChangeAspect="1"/>
          </p:cNvPicPr>
          <p:nvPr/>
        </p:nvPicPr>
        <p:blipFill>
          <a:blip r:embed="rId4"/>
          <a:stretch>
            <a:fillRect/>
          </a:stretch>
        </p:blipFill>
        <p:spPr>
          <a:xfrm>
            <a:off x="1030986" y="4423410"/>
            <a:ext cx="251460" cy="251460"/>
          </a:xfrm>
          <a:prstGeom prst="rect">
            <a:avLst/>
          </a:prstGeom>
        </p:spPr>
      </p:pic>
      <p:sp>
        <p:nvSpPr>
          <p:cNvPr id="23" name="Text 17"/>
          <p:cNvSpPr txBox="1"/>
          <p:nvPr/>
        </p:nvSpPr>
        <p:spPr>
          <a:xfrm>
            <a:off x="1545336"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Proposals &amp; Suitability Reports</a:t>
            </a:r>
            <a:endParaRPr lang="en-US" sz="1400" dirty="0"/>
          </a:p>
        </p:txBody>
      </p:sp>
      <p:sp>
        <p:nvSpPr>
          <p:cNvPr id="24" name="Text 18"/>
          <p:cNvSpPr txBox="1"/>
          <p:nvPr/>
        </p:nvSpPr>
        <p:spPr>
          <a:xfrm>
            <a:off x="905256"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Drafting candidate profiles and client-ready proposals for Yasmine’s review.</a:t>
            </a:r>
            <a:endParaRPr lang="en-US" sz="1200" dirty="0"/>
          </a:p>
        </p:txBody>
      </p:sp>
      <p:sp>
        <p:nvSpPr>
          <p:cNvPr id="25" name="card"/>
          <p:cNvSpPr/>
          <p:nvPr/>
        </p:nvSpPr>
        <p:spPr>
          <a:xfrm>
            <a:off x="4335170" y="4023360"/>
            <a:ext cx="3521354" cy="1874520"/>
          </a:xfrm>
          <a:prstGeom prst="roundRect">
            <a:avLst>
              <a:gd name="adj" fmla="val 3902"/>
            </a:avLst>
          </a:prstGeom>
          <a:solidFill>
            <a:schemeClr val="bg2"/>
          </a:solidFill>
          <a:ln/>
        </p:spPr>
      </p:sp>
      <p:sp>
        <p:nvSpPr>
          <p:cNvPr id="26" name="area 5 circle"/>
          <p:cNvSpPr/>
          <p:nvPr/>
        </p:nvSpPr>
        <p:spPr>
          <a:xfrm>
            <a:off x="4609490" y="4297680"/>
            <a:ext cx="502920" cy="502920"/>
          </a:xfrm>
          <a:prstGeom prst="ellipse">
            <a:avLst/>
          </a:prstGeom>
          <a:solidFill>
            <a:schemeClr val="accent1"/>
          </a:solidFill>
          <a:ln/>
        </p:spPr>
      </p:sp>
      <p:pic>
        <p:nvPicPr>
          <p:cNvPr id="27" name="area 5" descr="area 5">    </p:cNvPr>
          <p:cNvPicPr>
            <a:picLocks noChangeAspect="1"/>
          </p:cNvPicPr>
          <p:nvPr/>
        </p:nvPicPr>
        <p:blipFill>
          <a:blip r:embed="rId5"/>
          <a:stretch>
            <a:fillRect/>
          </a:stretch>
        </p:blipFill>
        <p:spPr>
          <a:xfrm>
            <a:off x="4735220" y="4423410"/>
            <a:ext cx="251460" cy="251460"/>
          </a:xfrm>
          <a:prstGeom prst="rect">
            <a:avLst/>
          </a:prstGeom>
        </p:spPr>
      </p:pic>
      <p:sp>
        <p:nvSpPr>
          <p:cNvPr id="28" name="Text 21"/>
          <p:cNvSpPr txBox="1"/>
          <p:nvPr/>
        </p:nvSpPr>
        <p:spPr>
          <a:xfrm>
            <a:off x="5249570"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Advisory Board Support</a:t>
            </a:r>
            <a:endParaRPr lang="en-US" sz="1400" dirty="0"/>
          </a:p>
        </p:txBody>
      </p:sp>
      <p:sp>
        <p:nvSpPr>
          <p:cNvPr id="29" name="Text 22"/>
          <p:cNvSpPr txBox="1"/>
          <p:nvPr/>
        </p:nvSpPr>
        <p:spPr>
          <a:xfrm>
            <a:off x="4609490"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Preparing board papers and summarising notes for the new advisory board.</a:t>
            </a:r>
            <a:endParaRPr lang="en-US" sz="1200" dirty="0"/>
          </a:p>
        </p:txBody>
      </p:sp>
      <p:sp>
        <p:nvSpPr>
          <p:cNvPr id="30" name="card"/>
          <p:cNvSpPr/>
          <p:nvPr/>
        </p:nvSpPr>
        <p:spPr>
          <a:xfrm>
            <a:off x="8039405" y="4023360"/>
            <a:ext cx="3521354" cy="1874520"/>
          </a:xfrm>
          <a:prstGeom prst="roundRect">
            <a:avLst>
              <a:gd name="adj" fmla="val 3902"/>
            </a:avLst>
          </a:prstGeom>
          <a:solidFill>
            <a:schemeClr val="bg2"/>
          </a:solidFill>
          <a:ln/>
        </p:spPr>
      </p:sp>
      <p:sp>
        <p:nvSpPr>
          <p:cNvPr id="31" name="area 6 circle"/>
          <p:cNvSpPr/>
          <p:nvPr/>
        </p:nvSpPr>
        <p:spPr>
          <a:xfrm>
            <a:off x="8313725" y="4297680"/>
            <a:ext cx="502920" cy="502920"/>
          </a:xfrm>
          <a:prstGeom prst="ellipse">
            <a:avLst/>
          </a:prstGeom>
          <a:solidFill>
            <a:schemeClr val="accent1"/>
          </a:solidFill>
          <a:ln/>
        </p:spPr>
      </p:sp>
      <p:pic>
        <p:nvPicPr>
          <p:cNvPr id="32" name="area 6" descr="area 6">    </p:cNvPr>
          <p:cNvPicPr>
            <a:picLocks noChangeAspect="1"/>
          </p:cNvPicPr>
          <p:nvPr/>
        </p:nvPicPr>
        <p:blipFill>
          <a:blip r:embed="rId6"/>
          <a:stretch>
            <a:fillRect/>
          </a:stretch>
        </p:blipFill>
        <p:spPr>
          <a:xfrm>
            <a:off x="8439455" y="4423410"/>
            <a:ext cx="251460" cy="251460"/>
          </a:xfrm>
          <a:prstGeom prst="rect">
            <a:avLst/>
          </a:prstGeom>
        </p:spPr>
      </p:pic>
      <p:sp>
        <p:nvSpPr>
          <p:cNvPr id="33" name="Text 25"/>
          <p:cNvSpPr txBox="1"/>
          <p:nvPr/>
        </p:nvSpPr>
        <p:spPr>
          <a:xfrm>
            <a:off x="8953805"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Events &amp; Membership</a:t>
            </a:r>
            <a:endParaRPr lang="en-US" sz="1400" dirty="0"/>
          </a:p>
        </p:txBody>
      </p:sp>
      <p:sp>
        <p:nvSpPr>
          <p:cNvPr id="34" name="Text 26"/>
          <p:cNvSpPr txBox="1"/>
          <p:nvPr/>
        </p:nvSpPr>
        <p:spPr>
          <a:xfrm>
            <a:off x="8313725"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Managing invites, RSVPs and catering across the 18-event, 35-member calendar.</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05  ·  DISCOVER</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Securing the Right Hire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Recommended role: Executive Assistant &amp; Coordination Associate (part-time, 20–30 hrs/week to start)</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Text 4"/>
          <p:cNvSpPr txBox="1"/>
          <p:nvPr/>
        </p:nvSpPr>
        <p:spPr>
          <a:xfrm>
            <a:off x="905256"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EXPERIENCE</a:t>
            </a:r>
            <a:endParaRPr lang="en-US" sz="1050" dirty="0"/>
          </a:p>
        </p:txBody>
      </p:sp>
      <p:sp>
        <p:nvSpPr>
          <p:cNvPr id="7" name="Text 5"/>
          <p:cNvSpPr txBox="1"/>
          <p:nvPr/>
        </p:nvSpPr>
        <p:spPr>
          <a:xfrm>
            <a:off x="905256"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Executive assistance, admin coordination or recruitment support, ideally in a corporate, professional services or recruitment environment.</a:t>
            </a:r>
            <a:endParaRPr lang="en-US" sz="1250" dirty="0"/>
          </a:p>
        </p:txBody>
      </p:sp>
      <p:sp>
        <p:nvSpPr>
          <p:cNvPr id="8"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9" name="Text 7"/>
          <p:cNvSpPr txBox="1"/>
          <p:nvPr/>
        </p:nvSpPr>
        <p:spPr>
          <a:xfrm>
            <a:off x="6461608"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KEY SKILLS</a:t>
            </a:r>
            <a:endParaRPr lang="en-US" sz="1050" dirty="0"/>
          </a:p>
        </p:txBody>
      </p:sp>
      <p:sp>
        <p:nvSpPr>
          <p:cNvPr id="10" name="Text 8"/>
          <p:cNvSpPr txBox="1"/>
          <p:nvPr/>
        </p:nvSpPr>
        <p:spPr>
          <a:xfrm>
            <a:off x="6461608"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Strong written communication; confident diary, inbox and CRM management; proposal and report drafting; events and multi-stakeholder logistics.</a:t>
            </a:r>
            <a:endParaRPr lang="en-US" sz="1250" dirty="0"/>
          </a:p>
        </p:txBody>
      </p:sp>
      <p:sp>
        <p:nvSpPr>
          <p:cNvPr id="11"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2" name="Text 10"/>
          <p:cNvSpPr txBox="1"/>
          <p:nvPr/>
        </p:nvSpPr>
        <p:spPr>
          <a:xfrm>
            <a:off x="905256"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TOOLS &amp; SYSTEMS</a:t>
            </a:r>
            <a:endParaRPr lang="en-US" sz="1050" dirty="0"/>
          </a:p>
        </p:txBody>
      </p:sp>
      <p:sp>
        <p:nvSpPr>
          <p:cNvPr id="13" name="Text 11"/>
          <p:cNvSpPr txBox="1"/>
          <p:nvPr/>
        </p:nvSpPr>
        <p:spPr>
          <a:xfrm>
            <a:off x="905256"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EGM’s CRM, email and calendar tools, board paper preparation, and events and RSVP workflows.</a:t>
            </a:r>
            <a:endParaRPr lang="en-US" sz="1250" dirty="0"/>
          </a:p>
        </p:txBody>
      </p:sp>
      <p:sp>
        <p:nvSpPr>
          <p:cNvPr id="14"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15" name="Text 13"/>
          <p:cNvSpPr txBox="1"/>
          <p:nvPr/>
        </p:nvSpPr>
        <p:spPr>
          <a:xfrm>
            <a:off x="6461608"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PERSONALITY &amp; CULTURE FIT</a:t>
            </a:r>
            <a:endParaRPr lang="en-US" sz="1050" dirty="0"/>
          </a:p>
        </p:txBody>
      </p:sp>
      <p:sp>
        <p:nvSpPr>
          <p:cNvPr id="16" name="Text 14"/>
          <p:cNvSpPr txBox="1"/>
          <p:nvPr/>
        </p:nvSpPr>
        <p:spPr>
          <a:xfrm>
            <a:off x="6461608"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Polished, corporate-fluent and discreet, ready to represent Yasmine on calls in time. Proactive, organised and trusted to become a genuine right hand.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06  ·  DISCOVER</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Candidate Profiles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Shortlisted for your Alignment Session. Click through to each candidate’s full profile.</a:t>
            </a:r>
            <a:endParaRPr lang="en-US" sz="1300" dirty="0"/>
          </a:p>
        </p:txBody>
      </p:sp>
      <p:sp>
        <p:nvSpPr>
          <p:cNvPr id="5" name="card"/>
          <p:cNvSpPr/>
          <p:nvPr/>
        </p:nvSpPr>
        <p:spPr>
          <a:xfrm>
            <a:off x="630936" y="1965960"/>
            <a:ext cx="3521354" cy="3383280"/>
          </a:xfrm>
          <a:prstGeom prst="roundRect">
            <a:avLst>
              <a:gd name="adj" fmla="val 2162"/>
            </a:avLst>
          </a:prstGeom>
          <a:solidFill>
            <a:schemeClr val="bg1"/>
          </a:solidFill>
          <a:ln w="12700">
            <a:solidFill>
              <a:schemeClr val="accent5"/>
            </a:solidFill>
            <a:prstDash val="solid"/>
          </a:ln>
        </p:spPr>
      </p:sp>
      <p:sp>
        <p:nvSpPr>
          <p:cNvPr id="6" name="avatar Hannalyn"/>
          <p:cNvSpPr/>
          <p:nvPr/>
        </p:nvSpPr>
        <p:spPr>
          <a:xfrm>
            <a:off x="905256" y="2240280"/>
            <a:ext cx="594360" cy="594360"/>
          </a:xfrm>
          <a:prstGeom prst="ellipse">
            <a:avLst/>
          </a:prstGeom>
          <a:solidFill>
            <a:schemeClr val="accent4"/>
          </a:solidFill>
          <a:ln/>
        </p:spPr>
      </p:sp>
      <p:sp>
        <p:nvSpPr>
          <p:cNvPr id="7" name="Text 5"/>
          <p:cNvSpPr txBox="1"/>
          <p:nvPr/>
        </p:nvSpPr>
        <p:spPr>
          <a:xfrm>
            <a:off x="905256" y="224028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H</a:t>
            </a:r>
            <a:endParaRPr lang="en-US" sz="2000" dirty="0"/>
          </a:p>
        </p:txBody>
      </p:sp>
      <p:sp>
        <p:nvSpPr>
          <p:cNvPr id="8" name="Text 6"/>
          <p:cNvSpPr txBox="1"/>
          <p:nvPr/>
        </p:nvSpPr>
        <p:spPr>
          <a:xfrm>
            <a:off x="1636776" y="2240280"/>
            <a:ext cx="2332634"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Hannalyn</a:t>
            </a:r>
            <a:endParaRPr lang="en-US" sz="1600" dirty="0"/>
          </a:p>
        </p:txBody>
      </p:sp>
      <p:sp>
        <p:nvSpPr>
          <p:cNvPr id="9" name="Text 7"/>
          <p:cNvSpPr txBox="1"/>
          <p:nvPr/>
        </p:nvSpPr>
        <p:spPr>
          <a:xfrm>
            <a:off x="1636776" y="2560320"/>
            <a:ext cx="2332634" cy="274320"/>
          </a:xfrm>
          <a:prstGeom prst="rect">
            <a:avLst/>
          </a:prstGeom>
          <a:noFill/>
          <a:ln/>
        </p:spPr>
        <p:txBody>
          <a:bodyPr wrap="square" lIns="0" tIns="0" rIns="0" bIns="0" rtlCol="0" anchor="ctr"/>
          <a:lstStyle/>
          <a:p>
            <a:pPr indent="0" marL="0">
              <a:buNone/>
            </a:pPr>
            <a:r>
              <a:rPr lang="en-US" sz="1150" b="1" dirty="0">
                <a:solidFill>
                  <a:schemeClr val="accent1"/>
                </a:solidFill>
              </a:rPr>
              <a:t>VA rate: $12 AUD/hr</a:t>
            </a:r>
            <a:endParaRPr lang="en-US" sz="1150" dirty="0"/>
          </a:p>
        </p:txBody>
      </p:sp>
      <p:sp>
        <p:nvSpPr>
          <p:cNvPr id="10" name="Text 8"/>
          <p:cNvSpPr txBox="1"/>
          <p:nvPr/>
        </p:nvSpPr>
        <p:spPr>
          <a:xfrm>
            <a:off x="905256" y="3063240"/>
            <a:ext cx="2972714" cy="1554480"/>
          </a:xfrm>
          <a:prstGeom prst="rect">
            <a:avLst/>
          </a:prstGeom>
          <a:noFill/>
          <a:ln/>
        </p:spPr>
        <p:txBody>
          <a:bodyPr wrap="square" lIns="0" tIns="0" rIns="0" bIns="0" rtlCol="0" anchor="t"/>
          <a:lstStyle/>
          <a:p>
            <a:pPr indent="0" marL="0">
              <a:buNone/>
            </a:pPr>
            <a:r>
              <a:rPr lang="en-US" sz="1200" dirty="0">
                <a:solidFill>
                  <a:schemeClr val="accent3"/>
                </a:solidFill>
              </a:rPr>
              <a:t>Highly organised EA: calendars, email, meetings, reports and confidential documents. Coordinates recruitment processes and supports digital marketing.</a:t>
            </a:r>
            <a:endParaRPr lang="en-US" sz="1200" dirty="0"/>
          </a:p>
        </p:txBody>
      </p:sp>
      <p:sp>
        <p:nvSpPr>
          <p:cNvPr id="11" name="Text 9"/>
          <p:cNvSpPr txBox="1"/>
          <p:nvPr/>
        </p:nvSpPr>
        <p:spPr>
          <a:xfrm>
            <a:off x="905256" y="4754880"/>
            <a:ext cx="2972714" cy="320040"/>
          </a:xfrm>
          <a:prstGeom prst="rect">
            <a:avLst/>
          </a:prstGeom>
          <a:noFill/>
          <a:ln/>
        </p:spPr>
        <p:txBody>
          <a:bodyPr wrap="square" lIns="0" tIns="0" rIns="0" bIns="0" rtlCol="0" anchor="ctr"/>
          <a:lstStyle/>
          <a:p>
            <a:pPr indent="0" marL="0">
              <a:buNone/>
            </a:pPr>
            <a:r>
              <a:rPr lang="en-US" sz="12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View full profile →</a:t>
            </a:r>
            <a:endParaRPr lang="en-US" sz="1200" dirty="0"/>
          </a:p>
        </p:txBody>
      </p:sp>
      <p:sp>
        <p:nvSpPr>
          <p:cNvPr id="12" name="card"/>
          <p:cNvSpPr/>
          <p:nvPr/>
        </p:nvSpPr>
        <p:spPr>
          <a:xfrm>
            <a:off x="4335170" y="1965960"/>
            <a:ext cx="3521354" cy="3383280"/>
          </a:xfrm>
          <a:prstGeom prst="roundRect">
            <a:avLst>
              <a:gd name="adj" fmla="val 2162"/>
            </a:avLst>
          </a:prstGeom>
          <a:solidFill>
            <a:schemeClr val="bg1"/>
          </a:solidFill>
          <a:ln w="12700">
            <a:solidFill>
              <a:schemeClr val="accent5"/>
            </a:solidFill>
            <a:prstDash val="solid"/>
          </a:ln>
        </p:spPr>
      </p:sp>
      <p:sp>
        <p:nvSpPr>
          <p:cNvPr id="13" name="avatar Valerie"/>
          <p:cNvSpPr/>
          <p:nvPr/>
        </p:nvSpPr>
        <p:spPr>
          <a:xfrm>
            <a:off x="4609490" y="2240280"/>
            <a:ext cx="594360" cy="594360"/>
          </a:xfrm>
          <a:prstGeom prst="ellipse">
            <a:avLst/>
          </a:prstGeom>
          <a:solidFill>
            <a:schemeClr val="accent4"/>
          </a:solidFill>
          <a:ln/>
        </p:spPr>
      </p:sp>
      <p:sp>
        <p:nvSpPr>
          <p:cNvPr id="14" name="Text 12"/>
          <p:cNvSpPr txBox="1"/>
          <p:nvPr/>
        </p:nvSpPr>
        <p:spPr>
          <a:xfrm>
            <a:off x="4609490" y="224028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V</a:t>
            </a:r>
            <a:endParaRPr lang="en-US" sz="2000" dirty="0"/>
          </a:p>
        </p:txBody>
      </p:sp>
      <p:sp>
        <p:nvSpPr>
          <p:cNvPr id="15" name="Text 13"/>
          <p:cNvSpPr txBox="1"/>
          <p:nvPr/>
        </p:nvSpPr>
        <p:spPr>
          <a:xfrm>
            <a:off x="5341010" y="2240280"/>
            <a:ext cx="2332634"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Valerie</a:t>
            </a:r>
            <a:endParaRPr lang="en-US" sz="1600" dirty="0"/>
          </a:p>
        </p:txBody>
      </p:sp>
      <p:sp>
        <p:nvSpPr>
          <p:cNvPr id="16" name="Text 14"/>
          <p:cNvSpPr txBox="1"/>
          <p:nvPr/>
        </p:nvSpPr>
        <p:spPr>
          <a:xfrm>
            <a:off x="5341010" y="2560320"/>
            <a:ext cx="2332634" cy="274320"/>
          </a:xfrm>
          <a:prstGeom prst="rect">
            <a:avLst/>
          </a:prstGeom>
          <a:noFill/>
          <a:ln/>
        </p:spPr>
        <p:txBody>
          <a:bodyPr wrap="square" lIns="0" tIns="0" rIns="0" bIns="0" rtlCol="0" anchor="ctr"/>
          <a:lstStyle/>
          <a:p>
            <a:pPr indent="0" marL="0">
              <a:buNone/>
            </a:pPr>
            <a:r>
              <a:rPr lang="en-US" sz="1150" b="1" dirty="0">
                <a:solidFill>
                  <a:schemeClr val="accent1"/>
                </a:solidFill>
              </a:rPr>
              <a:t>VA rate: $10 AUD/hr</a:t>
            </a:r>
            <a:endParaRPr lang="en-US" sz="1150" dirty="0"/>
          </a:p>
        </p:txBody>
      </p:sp>
      <p:sp>
        <p:nvSpPr>
          <p:cNvPr id="17" name="Text 15"/>
          <p:cNvSpPr txBox="1"/>
          <p:nvPr/>
        </p:nvSpPr>
        <p:spPr>
          <a:xfrm>
            <a:off x="4609490" y="3063240"/>
            <a:ext cx="2972714" cy="1554480"/>
          </a:xfrm>
          <a:prstGeom prst="rect">
            <a:avLst/>
          </a:prstGeom>
          <a:noFill/>
          <a:ln/>
        </p:spPr>
        <p:txBody>
          <a:bodyPr wrap="square" lIns="0" tIns="0" rIns="0" bIns="0" rtlCol="0" anchor="t"/>
          <a:lstStyle/>
          <a:p>
            <a:pPr indent="0" marL="0">
              <a:buNone/>
            </a:pPr>
            <a:r>
              <a:rPr lang="en-US" sz="1200" dirty="0">
                <a:solidFill>
                  <a:schemeClr val="accent3"/>
                </a:solidFill>
              </a:rPr>
              <a:t>Proactive executive support and recruitment: schedules, email, daily operations and end-to-end hiring, from sourcing to interview coordination.</a:t>
            </a:r>
            <a:endParaRPr lang="en-US" sz="1200" dirty="0"/>
          </a:p>
        </p:txBody>
      </p:sp>
      <p:sp>
        <p:nvSpPr>
          <p:cNvPr id="18" name="Text 16"/>
          <p:cNvSpPr txBox="1"/>
          <p:nvPr/>
        </p:nvSpPr>
        <p:spPr>
          <a:xfrm>
            <a:off x="4609490" y="4754880"/>
            <a:ext cx="2972714" cy="320040"/>
          </a:xfrm>
          <a:prstGeom prst="rect">
            <a:avLst/>
          </a:prstGeom>
          <a:noFill/>
          <a:ln/>
        </p:spPr>
        <p:txBody>
          <a:bodyPr wrap="square" lIns="0" tIns="0" rIns="0" bIns="0" rtlCol="0" anchor="ctr"/>
          <a:lstStyle/>
          <a:p>
            <a:pPr indent="0" marL="0">
              <a:buNone/>
            </a:pPr>
            <a:r>
              <a:rPr lang="en-US" sz="12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View full profile →</a:t>
            </a:r>
            <a:endParaRPr lang="en-US" sz="1200" dirty="0"/>
          </a:p>
        </p:txBody>
      </p:sp>
      <p:sp>
        <p:nvSpPr>
          <p:cNvPr id="19" name="card"/>
          <p:cNvSpPr/>
          <p:nvPr/>
        </p:nvSpPr>
        <p:spPr>
          <a:xfrm>
            <a:off x="8039405" y="1965960"/>
            <a:ext cx="3521354" cy="3383280"/>
          </a:xfrm>
          <a:prstGeom prst="roundRect">
            <a:avLst>
              <a:gd name="adj" fmla="val 2162"/>
            </a:avLst>
          </a:prstGeom>
          <a:solidFill>
            <a:schemeClr val="bg1"/>
          </a:solidFill>
          <a:ln w="12700">
            <a:solidFill>
              <a:schemeClr val="accent5"/>
            </a:solidFill>
            <a:prstDash val="solid"/>
          </a:ln>
        </p:spPr>
      </p:sp>
      <p:sp>
        <p:nvSpPr>
          <p:cNvPr id="20" name="avatar Nikara"/>
          <p:cNvSpPr/>
          <p:nvPr/>
        </p:nvSpPr>
        <p:spPr>
          <a:xfrm>
            <a:off x="8313725" y="2240280"/>
            <a:ext cx="594360" cy="594360"/>
          </a:xfrm>
          <a:prstGeom prst="ellipse">
            <a:avLst/>
          </a:prstGeom>
          <a:solidFill>
            <a:schemeClr val="accent4"/>
          </a:solidFill>
          <a:ln/>
        </p:spPr>
      </p:sp>
      <p:sp>
        <p:nvSpPr>
          <p:cNvPr id="21" name="Text 19"/>
          <p:cNvSpPr txBox="1"/>
          <p:nvPr/>
        </p:nvSpPr>
        <p:spPr>
          <a:xfrm>
            <a:off x="8313725" y="224028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N</a:t>
            </a:r>
            <a:endParaRPr lang="en-US" sz="2000" dirty="0"/>
          </a:p>
        </p:txBody>
      </p:sp>
      <p:sp>
        <p:nvSpPr>
          <p:cNvPr id="22" name="Text 20"/>
          <p:cNvSpPr txBox="1"/>
          <p:nvPr/>
        </p:nvSpPr>
        <p:spPr>
          <a:xfrm>
            <a:off x="9045245" y="2240280"/>
            <a:ext cx="2332634" cy="3200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Nikara</a:t>
            </a:r>
            <a:endParaRPr lang="en-US" sz="1600" dirty="0"/>
          </a:p>
        </p:txBody>
      </p:sp>
      <p:sp>
        <p:nvSpPr>
          <p:cNvPr id="23" name="Text 21"/>
          <p:cNvSpPr txBox="1"/>
          <p:nvPr/>
        </p:nvSpPr>
        <p:spPr>
          <a:xfrm>
            <a:off x="9045245" y="2560320"/>
            <a:ext cx="2332634" cy="274320"/>
          </a:xfrm>
          <a:prstGeom prst="rect">
            <a:avLst/>
          </a:prstGeom>
          <a:noFill/>
          <a:ln/>
        </p:spPr>
        <p:txBody>
          <a:bodyPr wrap="square" lIns="0" tIns="0" rIns="0" bIns="0" rtlCol="0" anchor="ctr"/>
          <a:lstStyle/>
          <a:p>
            <a:pPr indent="0" marL="0">
              <a:buNone/>
            </a:pPr>
            <a:r>
              <a:rPr lang="en-US" sz="1150" b="1" dirty="0">
                <a:solidFill>
                  <a:schemeClr val="accent1"/>
                </a:solidFill>
              </a:rPr>
              <a:t>VA rate: $10 AUD/hr</a:t>
            </a:r>
            <a:endParaRPr lang="en-US" sz="1150" dirty="0"/>
          </a:p>
        </p:txBody>
      </p:sp>
      <p:sp>
        <p:nvSpPr>
          <p:cNvPr id="24" name="Text 22"/>
          <p:cNvSpPr txBox="1"/>
          <p:nvPr/>
        </p:nvSpPr>
        <p:spPr>
          <a:xfrm>
            <a:off x="8313725" y="3063240"/>
            <a:ext cx="2972714" cy="1554480"/>
          </a:xfrm>
          <a:prstGeom prst="rect">
            <a:avLst/>
          </a:prstGeom>
          <a:noFill/>
          <a:ln/>
        </p:spPr>
        <p:txBody>
          <a:bodyPr wrap="square" lIns="0" tIns="0" rIns="0" bIns="0" rtlCol="0" anchor="t"/>
          <a:lstStyle/>
          <a:p>
            <a:pPr indent="0" marL="0">
              <a:buNone/>
            </a:pPr>
            <a:r>
              <a:rPr lang="en-US" sz="1200" dirty="0">
                <a:solidFill>
                  <a:schemeClr val="accent3"/>
                </a:solidFill>
              </a:rPr>
              <a:t>Executive support, client service and operations: email, calendars, travel, enquiries, data entry, invoicing and digital workflows.</a:t>
            </a:r>
            <a:endParaRPr lang="en-US" sz="1200" dirty="0"/>
          </a:p>
        </p:txBody>
      </p:sp>
      <p:sp>
        <p:nvSpPr>
          <p:cNvPr id="25" name="Text 23"/>
          <p:cNvSpPr txBox="1"/>
          <p:nvPr/>
        </p:nvSpPr>
        <p:spPr>
          <a:xfrm>
            <a:off x="8313725" y="4754880"/>
            <a:ext cx="2972714" cy="320040"/>
          </a:xfrm>
          <a:prstGeom prst="rect">
            <a:avLst/>
          </a:prstGeom>
          <a:noFill/>
          <a:ln/>
        </p:spPr>
        <p:txBody>
          <a:bodyPr wrap="square" lIns="0" tIns="0" rIns="0" bIns="0" rtlCol="0" anchor="ctr"/>
          <a:lstStyle/>
          <a:p>
            <a:pPr indent="0" marL="0">
              <a:buNone/>
            </a:pPr>
            <a:r>
              <a:rPr lang="en-US" sz="1200" b="1"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View full profile →</a:t>
            </a:r>
            <a:endParaRPr lang="en-US" sz="1200" dirty="0"/>
          </a:p>
        </p:txBody>
      </p:sp>
      <p:sp>
        <p:nvSpPr>
          <p:cNvPr id="26" name="Text 24"/>
          <p:cNvSpPr txBox="1"/>
          <p:nvPr/>
        </p:nvSpPr>
        <p:spPr>
          <a:xfrm>
            <a:off x="630936" y="5577840"/>
            <a:ext cx="10929823" cy="320040"/>
          </a:xfrm>
          <a:prstGeom prst="rect">
            <a:avLst/>
          </a:prstGeom>
          <a:noFill/>
          <a:ln/>
        </p:spPr>
        <p:txBody>
          <a:bodyPr wrap="square" lIns="0" tIns="0" rIns="0" bIns="0" rtlCol="0" anchor="ctr"/>
          <a:lstStyle/>
          <a:p>
            <a:pPr indent="0" marL="0">
              <a:buNone/>
            </a:pPr>
            <a:r>
              <a:rPr lang="en-US" sz="1150" i="1" dirty="0">
                <a:solidFill>
                  <a:schemeClr val="accent3"/>
                </a:solidFill>
              </a:rPr>
              <a:t>More candidates are being sourced by Recruitment ahead of your Alignment Session.</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07</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Investment Overview</a:t>
            </a:r>
            <a:endParaRPr lang="en-US" sz="3000" dirty="0"/>
          </a:p>
        </p:txBody>
      </p:sp>
      <p:sp>
        <p:nvSpPr>
          <p:cNvPr id="4" name="card"/>
          <p:cNvSpPr/>
          <p:nvPr/>
        </p:nvSpPr>
        <p:spPr>
          <a:xfrm>
            <a:off x="630936" y="1508760"/>
            <a:ext cx="5327752" cy="1737360"/>
          </a:xfrm>
          <a:prstGeom prst="roundRect">
            <a:avLst>
              <a:gd name="adj" fmla="val 4211"/>
            </a:avLst>
          </a:prstGeom>
          <a:solidFill>
            <a:schemeClr val="bg1"/>
          </a:solidFill>
          <a:ln w="12700">
            <a:solidFill>
              <a:schemeClr val="accent1"/>
            </a:solidFill>
            <a:prstDash val="solid"/>
          </a:ln>
        </p:spPr>
      </p:sp>
      <p:sp>
        <p:nvSpPr>
          <p:cNvPr id="5" name="Text 3"/>
          <p:cNvSpPr txBox="1"/>
          <p:nvPr/>
        </p:nvSpPr>
        <p:spPr>
          <a:xfrm>
            <a:off x="950976"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PART-TIME  ·  RECOMMENDED START</a:t>
            </a:r>
            <a:endParaRPr lang="en-US" sz="1050" dirty="0"/>
          </a:p>
        </p:txBody>
      </p:sp>
      <p:sp>
        <p:nvSpPr>
          <p:cNvPr id="6" name="Text 4"/>
          <p:cNvSpPr txBox="1"/>
          <p:nvPr/>
        </p:nvSpPr>
        <p:spPr>
          <a:xfrm>
            <a:off x="950976" y="2057400"/>
            <a:ext cx="4687672"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$1,800 – $2,300</a:t>
            </a:r>
            <a:endParaRPr lang="en-US" sz="3200" dirty="0"/>
          </a:p>
        </p:txBody>
      </p:sp>
      <p:sp>
        <p:nvSpPr>
          <p:cNvPr id="7" name="Text 5"/>
          <p:cNvSpPr txBox="1"/>
          <p:nvPr/>
        </p:nvSpPr>
        <p:spPr>
          <a:xfrm>
            <a:off x="950976"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  20–30 hrs/week</a:t>
            </a:r>
            <a:endParaRPr lang="en-US" sz="1250" dirty="0"/>
          </a:p>
        </p:txBody>
      </p:sp>
      <p:sp>
        <p:nvSpPr>
          <p:cNvPr id="8" name="card"/>
          <p:cNvSpPr/>
          <p:nvPr/>
        </p:nvSpPr>
        <p:spPr>
          <a:xfrm>
            <a:off x="6233008" y="1508760"/>
            <a:ext cx="5327752" cy="1737360"/>
          </a:xfrm>
          <a:prstGeom prst="roundRect">
            <a:avLst>
              <a:gd name="adj" fmla="val 4211"/>
            </a:avLst>
          </a:prstGeom>
          <a:solidFill>
            <a:schemeClr val="bg2"/>
          </a:solidFill>
          <a:ln/>
        </p:spPr>
      </p:sp>
      <p:sp>
        <p:nvSpPr>
          <p:cNvPr id="9" name="Text 7"/>
          <p:cNvSpPr txBox="1"/>
          <p:nvPr/>
        </p:nvSpPr>
        <p:spPr>
          <a:xfrm>
            <a:off x="6553048"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FULL-TIME  ·  FUTURE FLEX-UP</a:t>
            </a:r>
            <a:endParaRPr lang="en-US" sz="1050" dirty="0"/>
          </a:p>
        </p:txBody>
      </p:sp>
      <p:sp>
        <p:nvSpPr>
          <p:cNvPr id="10" name="Text 8"/>
          <p:cNvSpPr txBox="1"/>
          <p:nvPr/>
        </p:nvSpPr>
        <p:spPr>
          <a:xfrm>
            <a:off x="6553048" y="2057400"/>
            <a:ext cx="4687672" cy="6400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$2,500 – $3,300</a:t>
            </a:r>
            <a:endParaRPr lang="en-US" sz="3200" dirty="0"/>
          </a:p>
        </p:txBody>
      </p:sp>
      <p:sp>
        <p:nvSpPr>
          <p:cNvPr id="11" name="Text 9"/>
          <p:cNvSpPr txBox="1"/>
          <p:nvPr/>
        </p:nvSpPr>
        <p:spPr>
          <a:xfrm>
            <a:off x="6553048"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  40 hrs/week</a:t>
            </a:r>
            <a:endParaRPr lang="en-US" sz="1250" dirty="0"/>
          </a:p>
        </p:txBody>
      </p:sp>
      <p:sp>
        <p:nvSpPr>
          <p:cNvPr id="12" name="card"/>
          <p:cNvSpPr/>
          <p:nvPr/>
        </p:nvSpPr>
        <p:spPr>
          <a:xfrm>
            <a:off x="630936" y="3474720"/>
            <a:ext cx="10929823" cy="1051560"/>
          </a:xfrm>
          <a:prstGeom prst="roundRect">
            <a:avLst>
              <a:gd name="adj" fmla="val 6957"/>
            </a:avLst>
          </a:prstGeom>
          <a:solidFill>
            <a:schemeClr val="bg2"/>
          </a:solidFill>
          <a:ln/>
        </p:spPr>
      </p:sp>
      <p:sp>
        <p:nvSpPr>
          <p:cNvPr id="13" name="Text 11"/>
          <p:cNvSpPr txBox="1"/>
          <p:nvPr/>
        </p:nvSpPr>
        <p:spPr>
          <a:xfrm>
            <a:off x="950976" y="3474720"/>
            <a:ext cx="10289743" cy="1051560"/>
          </a:xfrm>
          <a:prstGeom prst="rect">
            <a:avLst/>
          </a:prstGeom>
          <a:noFill/>
          <a:ln/>
        </p:spPr>
        <p:txBody>
          <a:bodyPr wrap="square" lIns="0" tIns="0" rIns="0" bIns="0" rtlCol="0" anchor="ctr"/>
          <a:lstStyle/>
          <a:p>
            <a:pPr indent="0" marL="0">
              <a:buNone/>
            </a:pPr>
            <a:r>
              <a:rPr lang="en-US" sz="1250" b="1" dirty="0">
                <a:solidFill>
                  <a:schemeClr val="tx1"/>
                </a:solidFill>
              </a:rPr>
              <a:t>Breakdown: </a:t>
            </a:r>
            <a:pPr indent="0" marL="0">
              <a:buNone/>
            </a:pPr>
            <a:r>
              <a:rPr lang="en-US" sz="1250" dirty="0">
                <a:solidFill>
                  <a:schemeClr val="accent3"/>
                </a:solidFill>
              </a:rPr>
              <a:t>about $1,200/month is the Outsourcing Angel agency fee (payroll, health card, incentives, bonuses, HR support and quarterly meetups for your Associate). The rest is your Associate’s hourly rate, paid in full with nothing cut from what they ask for.</a:t>
            </a:r>
            <a:endParaRPr lang="en-US" sz="1250" dirty="0"/>
          </a:p>
        </p:txBody>
      </p:sp>
      <p:sp>
        <p:nvSpPr>
          <p:cNvPr id="14" name="card"/>
          <p:cNvSpPr/>
          <p:nvPr/>
        </p:nvSpPr>
        <p:spPr>
          <a:xfrm>
            <a:off x="630936" y="4709160"/>
            <a:ext cx="10929823" cy="1051560"/>
          </a:xfrm>
          <a:prstGeom prst="roundRect">
            <a:avLst>
              <a:gd name="adj" fmla="val 6957"/>
            </a:avLst>
          </a:prstGeom>
          <a:solidFill>
            <a:schemeClr val="accent4"/>
          </a:solidFill>
          <a:ln/>
        </p:spPr>
      </p:sp>
      <p:sp>
        <p:nvSpPr>
          <p:cNvPr id="15" name="Text 13"/>
          <p:cNvSpPr txBox="1"/>
          <p:nvPr/>
        </p:nvSpPr>
        <p:spPr>
          <a:xfrm>
            <a:off x="950976" y="4709160"/>
            <a:ext cx="10289743" cy="1051560"/>
          </a:xfrm>
          <a:prstGeom prst="rect">
            <a:avLst/>
          </a:prstGeom>
          <a:noFill/>
          <a:ln/>
        </p:spPr>
        <p:txBody>
          <a:bodyPr wrap="square" lIns="0" tIns="0" rIns="0" bIns="0" rtlCol="0" anchor="ctr"/>
          <a:lstStyle/>
          <a:p>
            <a:pPr indent="0" marL="0">
              <a:buNone/>
            </a:pPr>
            <a:r>
              <a:rPr lang="en-US" sz="1250" b="1" dirty="0">
                <a:solidFill>
                  <a:schemeClr val="accent1"/>
                </a:solidFill>
              </a:rPr>
              <a:t>Terms discussed: </a:t>
            </a:r>
            <a:pPr indent="0" marL="0">
              <a:buNone/>
            </a:pPr>
            <a:r>
              <a:rPr lang="en-US" sz="1250" dirty="0">
                <a:solidFill>
                  <a:schemeClr val="tx1"/>
                </a:solidFill>
              </a:rPr>
              <a:t>$500 refundable deposit · 3-month minimum, then month-to-month · 30-day notice thereafter · hours can flex up from 20–30/week as the board and events program grow · free replacement any time, with a 1-week trial.</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Next Steps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We check in at every stage. If something isn’t working, we adjust. If it’s working, we build on it.</a:t>
            </a:r>
            <a:endParaRPr lang="en-US" sz="1300" dirty="0"/>
          </a:p>
        </p:txBody>
      </p:sp>
      <p:sp>
        <p:nvSpPr>
          <p:cNvPr id="5" name="card"/>
          <p:cNvSpPr/>
          <p:nvPr/>
        </p:nvSpPr>
        <p:spPr>
          <a:xfrm>
            <a:off x="630936" y="2011680"/>
            <a:ext cx="10929823" cy="640080"/>
          </a:xfrm>
          <a:prstGeom prst="roundRect">
            <a:avLst>
              <a:gd name="adj" fmla="val 11429"/>
            </a:avLst>
          </a:prstGeom>
          <a:solidFill>
            <a:schemeClr val="bg1"/>
          </a:solidFill>
          <a:ln w="12700">
            <a:solidFill>
              <a:schemeClr val="accent5"/>
            </a:solidFill>
            <a:prstDash val="solid"/>
          </a:ln>
        </p:spPr>
      </p:sp>
      <p:sp>
        <p:nvSpPr>
          <p:cNvPr id="6" name="number 1"/>
          <p:cNvSpPr/>
          <p:nvPr/>
        </p:nvSpPr>
        <p:spPr>
          <a:xfrm>
            <a:off x="859536" y="2139696"/>
            <a:ext cx="384048" cy="384048"/>
          </a:xfrm>
          <a:prstGeom prst="ellipse">
            <a:avLst/>
          </a:prstGeom>
          <a:solidFill>
            <a:schemeClr val="accent1"/>
          </a:solidFill>
          <a:ln/>
        </p:spPr>
      </p:sp>
      <p:sp>
        <p:nvSpPr>
          <p:cNvPr id="7" name="Text 5"/>
          <p:cNvSpPr txBox="1"/>
          <p:nvPr/>
        </p:nvSpPr>
        <p:spPr>
          <a:xfrm>
            <a:off x="859536" y="2139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011680"/>
            <a:ext cx="9832543" cy="640080"/>
          </a:xfrm>
          <a:prstGeom prst="rect">
            <a:avLst/>
          </a:prstGeom>
          <a:noFill/>
          <a:ln/>
        </p:spPr>
        <p:txBody>
          <a:bodyPr wrap="square" lIns="0" tIns="0" rIns="0" bIns="0" rtlCol="0" anchor="ctr"/>
          <a:lstStyle/>
          <a:p>
            <a:pPr indent="0" marL="0">
              <a:buNone/>
            </a:pPr>
            <a:r>
              <a:rPr lang="en-US" sz="1400" dirty="0">
                <a:solidFill>
                  <a:schemeClr val="tx1"/>
                </a:solidFill>
              </a:rPr>
              <a:t>Yasmine confirms internally before proceeding</a:t>
            </a:r>
            <a:endParaRPr lang="en-US" sz="1400" dirty="0"/>
          </a:p>
        </p:txBody>
      </p:sp>
      <p:sp>
        <p:nvSpPr>
          <p:cNvPr id="9" name="card"/>
          <p:cNvSpPr/>
          <p:nvPr/>
        </p:nvSpPr>
        <p:spPr>
          <a:xfrm>
            <a:off x="630936" y="2788920"/>
            <a:ext cx="10929823" cy="640080"/>
          </a:xfrm>
          <a:prstGeom prst="roundRect">
            <a:avLst>
              <a:gd name="adj" fmla="val 11429"/>
            </a:avLst>
          </a:prstGeom>
          <a:solidFill>
            <a:schemeClr val="bg1"/>
          </a:solidFill>
          <a:ln w="12700">
            <a:solidFill>
              <a:schemeClr val="accent5"/>
            </a:solidFill>
            <a:prstDash val="solid"/>
          </a:ln>
        </p:spPr>
      </p:sp>
      <p:sp>
        <p:nvSpPr>
          <p:cNvPr id="10" name="number 2"/>
          <p:cNvSpPr/>
          <p:nvPr/>
        </p:nvSpPr>
        <p:spPr>
          <a:xfrm>
            <a:off x="859536" y="2916936"/>
            <a:ext cx="384048" cy="384048"/>
          </a:xfrm>
          <a:prstGeom prst="ellipse">
            <a:avLst/>
          </a:prstGeom>
          <a:solidFill>
            <a:schemeClr val="accent1"/>
          </a:solidFill>
          <a:ln/>
        </p:spPr>
      </p:sp>
      <p:sp>
        <p:nvSpPr>
          <p:cNvPr id="11" name="Text 9"/>
          <p:cNvSpPr txBox="1"/>
          <p:nvPr/>
        </p:nvSpPr>
        <p:spPr>
          <a:xfrm>
            <a:off x="859536"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53896" y="2788920"/>
            <a:ext cx="9832543" cy="640080"/>
          </a:xfrm>
          <a:prstGeom prst="rect">
            <a:avLst/>
          </a:prstGeom>
          <a:noFill/>
          <a:ln/>
        </p:spPr>
        <p:txBody>
          <a:bodyPr wrap="square" lIns="0" tIns="0" rIns="0" bIns="0" rtlCol="0" anchor="ctr"/>
          <a:lstStyle/>
          <a:p>
            <a:pPr indent="0" marL="0">
              <a:buNone/>
            </a:pPr>
            <a:r>
              <a:rPr lang="en-US" sz="1400" dirty="0">
                <a:solidFill>
                  <a:schemeClr val="tx1"/>
                </a:solidFill>
              </a:rPr>
              <a:t>Recruitment shares candidate profiles: Hannalyn, Valerie and Nikara, with more coming</a:t>
            </a:r>
            <a:endParaRPr lang="en-US" sz="1400" dirty="0"/>
          </a:p>
        </p:txBody>
      </p:sp>
      <p:sp>
        <p:nvSpPr>
          <p:cNvPr id="13" name="card"/>
          <p:cNvSpPr/>
          <p:nvPr/>
        </p:nvSpPr>
        <p:spPr>
          <a:xfrm>
            <a:off x="630936" y="3566160"/>
            <a:ext cx="10929823" cy="640080"/>
          </a:xfrm>
          <a:prstGeom prst="roundRect">
            <a:avLst>
              <a:gd name="adj" fmla="val 11429"/>
            </a:avLst>
          </a:prstGeom>
          <a:solidFill>
            <a:schemeClr val="bg1"/>
          </a:solidFill>
          <a:ln w="12700">
            <a:solidFill>
              <a:schemeClr val="accent5"/>
            </a:solidFill>
            <a:prstDash val="solid"/>
          </a:ln>
        </p:spPr>
      </p:sp>
      <p:sp>
        <p:nvSpPr>
          <p:cNvPr id="14" name="number 3"/>
          <p:cNvSpPr/>
          <p:nvPr/>
        </p:nvSpPr>
        <p:spPr>
          <a:xfrm>
            <a:off x="859536" y="3694176"/>
            <a:ext cx="384048" cy="384048"/>
          </a:xfrm>
          <a:prstGeom prst="ellipse">
            <a:avLst/>
          </a:prstGeom>
          <a:solidFill>
            <a:schemeClr val="accent1"/>
          </a:solidFill>
          <a:ln/>
        </p:spPr>
      </p:sp>
      <p:sp>
        <p:nvSpPr>
          <p:cNvPr id="15" name="Text 13"/>
          <p:cNvSpPr txBox="1"/>
          <p:nvPr/>
        </p:nvSpPr>
        <p:spPr>
          <a:xfrm>
            <a:off x="859536" y="3694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453896" y="3566160"/>
            <a:ext cx="9832543" cy="640080"/>
          </a:xfrm>
          <a:prstGeom prst="rect">
            <a:avLst/>
          </a:prstGeom>
          <a:noFill/>
          <a:ln/>
        </p:spPr>
        <p:txBody>
          <a:bodyPr wrap="square" lIns="0" tIns="0" rIns="0" bIns="0" rtlCol="0" anchor="ctr"/>
          <a:lstStyle/>
          <a:p>
            <a:pPr indent="0" marL="0">
              <a:buNone/>
            </a:pPr>
            <a:r>
              <a:rPr lang="en-US" sz="1400" dirty="0">
                <a:solidFill>
                  <a:schemeClr val="tx1"/>
                </a:solidFill>
              </a:rPr>
              <a:t>Yasmine pays the $500 refundable deposit to begin the Alignment Session</a:t>
            </a:r>
            <a:endParaRPr lang="en-US" sz="1400" dirty="0"/>
          </a:p>
        </p:txBody>
      </p:sp>
      <p:sp>
        <p:nvSpPr>
          <p:cNvPr id="17" name="card"/>
          <p:cNvSpPr/>
          <p:nvPr/>
        </p:nvSpPr>
        <p:spPr>
          <a:xfrm>
            <a:off x="630936" y="4343400"/>
            <a:ext cx="10929823" cy="640080"/>
          </a:xfrm>
          <a:prstGeom prst="roundRect">
            <a:avLst>
              <a:gd name="adj" fmla="val 11429"/>
            </a:avLst>
          </a:prstGeom>
          <a:solidFill>
            <a:schemeClr val="bg1"/>
          </a:solidFill>
          <a:ln w="12700">
            <a:solidFill>
              <a:schemeClr val="accent5"/>
            </a:solidFill>
            <a:prstDash val="solid"/>
          </a:ln>
        </p:spPr>
      </p:sp>
      <p:sp>
        <p:nvSpPr>
          <p:cNvPr id="18" name="number 4"/>
          <p:cNvSpPr/>
          <p:nvPr/>
        </p:nvSpPr>
        <p:spPr>
          <a:xfrm>
            <a:off x="859536" y="4471416"/>
            <a:ext cx="384048" cy="384048"/>
          </a:xfrm>
          <a:prstGeom prst="ellipse">
            <a:avLst/>
          </a:prstGeom>
          <a:solidFill>
            <a:schemeClr val="accent1"/>
          </a:solidFill>
          <a:ln/>
        </p:spPr>
      </p:sp>
      <p:sp>
        <p:nvSpPr>
          <p:cNvPr id="19" name="Text 17"/>
          <p:cNvSpPr txBox="1"/>
          <p:nvPr/>
        </p:nvSpPr>
        <p:spPr>
          <a:xfrm>
            <a:off x="859536" y="44714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8"/>
          <p:cNvSpPr txBox="1"/>
          <p:nvPr/>
        </p:nvSpPr>
        <p:spPr>
          <a:xfrm>
            <a:off x="1453896" y="4343400"/>
            <a:ext cx="9832543" cy="640080"/>
          </a:xfrm>
          <a:prstGeom prst="rect">
            <a:avLst/>
          </a:prstGeom>
          <a:noFill/>
          <a:ln/>
        </p:spPr>
        <p:txBody>
          <a:bodyPr wrap="square" lIns="0" tIns="0" rIns="0" bIns="0" rtlCol="0" anchor="ctr"/>
          <a:lstStyle/>
          <a:p>
            <a:pPr indent="0" marL="0">
              <a:buNone/>
            </a:pPr>
            <a:r>
              <a:rPr lang="en-US" sz="1400" b="1" dirty="0">
                <a:solidFill>
                  <a:schemeClr val="tx1"/>
                </a:solidFill>
              </a:rPr>
              <a:t>Alignment Session: confirm the role and KPIs, and start Part B together</a:t>
            </a:r>
            <a:endParaRPr lang="en-US" sz="1400" dirty="0"/>
          </a:p>
        </p:txBody>
      </p:sp>
      <p:sp>
        <p:nvSpPr>
          <p:cNvPr id="21" name="callout"/>
          <p:cNvSpPr/>
          <p:nvPr/>
        </p:nvSpPr>
        <p:spPr>
          <a:xfrm>
            <a:off x="630936" y="5257800"/>
            <a:ext cx="10929823" cy="548640"/>
          </a:xfrm>
          <a:prstGeom prst="roundRect">
            <a:avLst>
              <a:gd name="adj" fmla="val 13333"/>
            </a:avLst>
          </a:prstGeom>
          <a:solidFill>
            <a:schemeClr val="accent4"/>
          </a:solidFill>
          <a:ln/>
        </p:spPr>
      </p:sp>
      <p:sp>
        <p:nvSpPr>
          <p:cNvPr id="22" name="Text 20"/>
          <p:cNvSpPr txBox="1"/>
          <p:nvPr/>
        </p:nvSpPr>
        <p:spPr>
          <a:xfrm>
            <a:off x="859536" y="525780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From the Alignment Session onwards, Part B becomes your working plan.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B</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Your Freedom Playbook</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The part you keep. Use it at every check-in with your Associate and your Outsourcing Angel team, from Day 1 to Month 12 and beyond.</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1 OF 4  ·  FIRST-TIME CLIENTS</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Get Ready for Day 1</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Hiring your first Associate? These four pages help you start strong. Worked with a VA before? Skim them.</a:t>
            </a:r>
            <a:endParaRPr lang="en-US" sz="1300" dirty="0"/>
          </a:p>
        </p:txBody>
      </p:sp>
      <p:sp>
        <p:nvSpPr>
          <p:cNvPr id="5" name="card"/>
          <p:cNvSpPr/>
          <p:nvPr/>
        </p:nvSpPr>
        <p:spPr>
          <a:xfrm>
            <a:off x="630936" y="1965960"/>
            <a:ext cx="5669280" cy="4160520"/>
          </a:xfrm>
          <a:prstGeom prst="roundRect">
            <a:avLst>
              <a:gd name="adj" fmla="val 1758"/>
            </a:avLst>
          </a:prstGeom>
          <a:solidFill>
            <a:schemeClr val="bg1"/>
          </a:solidFill>
          <a:ln w="12700">
            <a:solidFill>
              <a:schemeClr val="accent5"/>
            </a:solidFill>
            <a:prstDash val="solid"/>
          </a:ln>
        </p:spPr>
      </p:sp>
      <p:sp>
        <p:nvSpPr>
          <p:cNvPr id="6" name="Text 4"/>
          <p:cNvSpPr txBox="1"/>
          <p:nvPr/>
        </p:nvSpPr>
        <p:spPr>
          <a:xfrm>
            <a:off x="905256" y="2148840"/>
            <a:ext cx="512064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SETUP CHECKLIST: BEFORE DAY 1</a:t>
            </a:r>
            <a:endParaRPr lang="en-US" sz="1050" dirty="0"/>
          </a:p>
        </p:txBody>
      </p:sp>
      <p:sp>
        <p:nvSpPr>
          <p:cNvPr id="7" name="Text 5"/>
          <p:cNvSpPr txBox="1"/>
          <p:nvPr/>
        </p:nvSpPr>
        <p:spPr>
          <a:xfrm>
            <a:off x="905256" y="254203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8" name="Text 6"/>
          <p:cNvSpPr txBox="1"/>
          <p:nvPr/>
        </p:nvSpPr>
        <p:spPr>
          <a:xfrm>
            <a:off x="1316736" y="2542032"/>
            <a:ext cx="4754880" cy="365760"/>
          </a:xfrm>
          <a:prstGeom prst="rect">
            <a:avLst/>
          </a:prstGeom>
          <a:noFill/>
          <a:ln/>
        </p:spPr>
        <p:txBody>
          <a:bodyPr wrap="square" lIns="0" tIns="0" rIns="0" bIns="0" rtlCol="0" anchor="ctr"/>
          <a:lstStyle/>
          <a:p>
            <a:pPr indent="0" marL="0">
              <a:buNone/>
            </a:pPr>
            <a:r>
              <a:rPr lang="en-US" sz="1300" dirty="0">
                <a:solidFill>
                  <a:schemeClr val="tx1"/>
                </a:solidFill>
              </a:rPr>
              <a:t>Email and calendar access</a:t>
            </a:r>
            <a:endParaRPr lang="en-US" sz="1300" dirty="0"/>
          </a:p>
        </p:txBody>
      </p:sp>
      <p:sp>
        <p:nvSpPr>
          <p:cNvPr id="9" name="Text 7"/>
          <p:cNvSpPr txBox="1"/>
          <p:nvPr/>
        </p:nvSpPr>
        <p:spPr>
          <a:xfrm>
            <a:off x="905256" y="303580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0" name="Text 8"/>
          <p:cNvSpPr txBox="1"/>
          <p:nvPr/>
        </p:nvSpPr>
        <p:spPr>
          <a:xfrm>
            <a:off x="1316736" y="3035808"/>
            <a:ext cx="4754880" cy="365760"/>
          </a:xfrm>
          <a:prstGeom prst="rect">
            <a:avLst/>
          </a:prstGeom>
          <a:noFill/>
          <a:ln/>
        </p:spPr>
        <p:txBody>
          <a:bodyPr wrap="square" lIns="0" tIns="0" rIns="0" bIns="0" rtlCol="0" anchor="ctr"/>
          <a:lstStyle/>
          <a:p>
            <a:pPr indent="0" marL="0">
              <a:buNone/>
            </a:pPr>
            <a:r>
              <a:rPr lang="en-US" sz="1300" dirty="0">
                <a:solidFill>
                  <a:schemeClr val="tx1"/>
                </a:solidFill>
              </a:rPr>
              <a:t>CRM access, with the right permission level</a:t>
            </a:r>
            <a:endParaRPr lang="en-US" sz="1300" dirty="0"/>
          </a:p>
        </p:txBody>
      </p:sp>
      <p:sp>
        <p:nvSpPr>
          <p:cNvPr id="11" name="Text 9"/>
          <p:cNvSpPr txBox="1"/>
          <p:nvPr/>
        </p:nvSpPr>
        <p:spPr>
          <a:xfrm>
            <a:off x="905256" y="3529584"/>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2" name="Text 10"/>
          <p:cNvSpPr txBox="1"/>
          <p:nvPr/>
        </p:nvSpPr>
        <p:spPr>
          <a:xfrm>
            <a:off x="1316736" y="3529584"/>
            <a:ext cx="4754880" cy="365760"/>
          </a:xfrm>
          <a:prstGeom prst="rect">
            <a:avLst/>
          </a:prstGeom>
          <a:noFill/>
          <a:ln/>
        </p:spPr>
        <p:txBody>
          <a:bodyPr wrap="square" lIns="0" tIns="0" rIns="0" bIns="0" rtlCol="0" anchor="ctr"/>
          <a:lstStyle/>
          <a:p>
            <a:pPr indent="0" marL="0">
              <a:buNone/>
            </a:pPr>
            <a:r>
              <a:rPr lang="en-US" sz="1300" dirty="0">
                <a:solidFill>
                  <a:schemeClr val="tx1"/>
                </a:solidFill>
              </a:rPr>
              <a:t>A password manager to share logins safely</a:t>
            </a:r>
            <a:endParaRPr lang="en-US" sz="1300" dirty="0"/>
          </a:p>
        </p:txBody>
      </p:sp>
      <p:sp>
        <p:nvSpPr>
          <p:cNvPr id="13" name="Text 11"/>
          <p:cNvSpPr txBox="1"/>
          <p:nvPr/>
        </p:nvSpPr>
        <p:spPr>
          <a:xfrm>
            <a:off x="905256" y="4023360"/>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4" name="Text 12"/>
          <p:cNvSpPr txBox="1"/>
          <p:nvPr/>
        </p:nvSpPr>
        <p:spPr>
          <a:xfrm>
            <a:off x="1316736" y="4023360"/>
            <a:ext cx="4754880" cy="365760"/>
          </a:xfrm>
          <a:prstGeom prst="rect">
            <a:avLst/>
          </a:prstGeom>
          <a:noFill/>
          <a:ln/>
        </p:spPr>
        <p:txBody>
          <a:bodyPr wrap="square" lIns="0" tIns="0" rIns="0" bIns="0" rtlCol="0" anchor="ctr"/>
          <a:lstStyle/>
          <a:p>
            <a:pPr indent="0" marL="0">
              <a:buNone/>
            </a:pPr>
            <a:r>
              <a:rPr lang="en-US" sz="1300" dirty="0">
                <a:solidFill>
                  <a:schemeClr val="tx1"/>
                </a:solidFill>
              </a:rPr>
              <a:t>Two-factor authentication switched on</a:t>
            </a:r>
            <a:endParaRPr lang="en-US" sz="1300" dirty="0"/>
          </a:p>
        </p:txBody>
      </p:sp>
      <p:sp>
        <p:nvSpPr>
          <p:cNvPr id="15" name="Text 13"/>
          <p:cNvSpPr txBox="1"/>
          <p:nvPr/>
        </p:nvSpPr>
        <p:spPr>
          <a:xfrm>
            <a:off x="905256" y="4517136"/>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6" name="Text 14"/>
          <p:cNvSpPr txBox="1"/>
          <p:nvPr/>
        </p:nvSpPr>
        <p:spPr>
          <a:xfrm>
            <a:off x="1316736" y="4517136"/>
            <a:ext cx="4754880" cy="365760"/>
          </a:xfrm>
          <a:prstGeom prst="rect">
            <a:avLst/>
          </a:prstGeom>
          <a:noFill/>
          <a:ln/>
        </p:spPr>
        <p:txBody>
          <a:bodyPr wrap="square" lIns="0" tIns="0" rIns="0" bIns="0" rtlCol="0" anchor="ctr"/>
          <a:lstStyle/>
          <a:p>
            <a:pPr indent="0" marL="0">
              <a:buNone/>
            </a:pPr>
            <a:r>
              <a:rPr lang="en-US" sz="1300" dirty="0">
                <a:solidFill>
                  <a:schemeClr val="tx1"/>
                </a:solidFill>
              </a:rPr>
              <a:t>Shared drive folders created</a:t>
            </a:r>
            <a:endParaRPr lang="en-US" sz="1300" dirty="0"/>
          </a:p>
        </p:txBody>
      </p:sp>
      <p:sp>
        <p:nvSpPr>
          <p:cNvPr id="17" name="Text 15"/>
          <p:cNvSpPr txBox="1"/>
          <p:nvPr/>
        </p:nvSpPr>
        <p:spPr>
          <a:xfrm>
            <a:off x="905256" y="501091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8" name="Text 16"/>
          <p:cNvSpPr txBox="1"/>
          <p:nvPr/>
        </p:nvSpPr>
        <p:spPr>
          <a:xfrm>
            <a:off x="1316736" y="5010912"/>
            <a:ext cx="4754880" cy="365760"/>
          </a:xfrm>
          <a:prstGeom prst="rect">
            <a:avLst/>
          </a:prstGeom>
          <a:noFill/>
          <a:ln/>
        </p:spPr>
        <p:txBody>
          <a:bodyPr wrap="square" lIns="0" tIns="0" rIns="0" bIns="0" rtlCol="0" anchor="ctr"/>
          <a:lstStyle/>
          <a:p>
            <a:pPr indent="0" marL="0">
              <a:buNone/>
            </a:pPr>
            <a:r>
              <a:rPr lang="en-US" sz="1300" dirty="0">
                <a:solidFill>
                  <a:schemeClr val="tx1"/>
                </a:solidFill>
              </a:rPr>
              <a:t>Chat tool agreed (e.g. Slack, Teams or WhatsApp)</a:t>
            </a:r>
            <a:endParaRPr lang="en-US" sz="1300" dirty="0"/>
          </a:p>
        </p:txBody>
      </p:sp>
      <p:sp>
        <p:nvSpPr>
          <p:cNvPr id="19" name="Text 17"/>
          <p:cNvSpPr txBox="1"/>
          <p:nvPr/>
        </p:nvSpPr>
        <p:spPr>
          <a:xfrm>
            <a:off x="905256" y="550468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0" name="Text 18"/>
          <p:cNvSpPr txBox="1"/>
          <p:nvPr/>
        </p:nvSpPr>
        <p:spPr>
          <a:xfrm>
            <a:off x="1316736" y="5504688"/>
            <a:ext cx="4754880" cy="365760"/>
          </a:xfrm>
          <a:prstGeom prst="rect">
            <a:avLst/>
          </a:prstGeom>
          <a:noFill/>
          <a:ln/>
        </p:spPr>
        <p:txBody>
          <a:bodyPr wrap="square" lIns="0" tIns="0" rIns="0" bIns="0" rtlCol="0" anchor="ctr"/>
          <a:lstStyle/>
          <a:p>
            <a:pPr indent="0" marL="0">
              <a:buNone/>
            </a:pPr>
            <a:r>
              <a:rPr lang="en-US" sz="1300" dirty="0">
                <a:solidFill>
                  <a:schemeClr val="tx1"/>
                </a:solidFill>
              </a:rPr>
              <a:t>Confidentiality agreement signed</a:t>
            </a:r>
            <a:endParaRPr lang="en-US" sz="1300" dirty="0"/>
          </a:p>
        </p:txBody>
      </p:sp>
      <p:sp>
        <p:nvSpPr>
          <p:cNvPr id="21" name="card"/>
          <p:cNvSpPr/>
          <p:nvPr/>
        </p:nvSpPr>
        <p:spPr>
          <a:xfrm>
            <a:off x="6528816" y="1965960"/>
            <a:ext cx="5031943" cy="1920240"/>
          </a:xfrm>
          <a:prstGeom prst="roundRect">
            <a:avLst>
              <a:gd name="adj" fmla="val 3810"/>
            </a:avLst>
          </a:prstGeom>
          <a:solidFill>
            <a:schemeClr val="accent4"/>
          </a:solidFill>
          <a:ln/>
        </p:spPr>
      </p:sp>
      <p:sp>
        <p:nvSpPr>
          <p:cNvPr id="22" name="Text 20"/>
          <p:cNvSpPr txBox="1"/>
          <p:nvPr/>
        </p:nvSpPr>
        <p:spPr>
          <a:xfrm>
            <a:off x="6803136" y="214884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TIME COMMITMENT</a:t>
            </a:r>
            <a:endParaRPr lang="en-US" sz="1050" dirty="0"/>
          </a:p>
        </p:txBody>
      </p:sp>
      <p:sp>
        <p:nvSpPr>
          <p:cNvPr id="23" name="Text 21"/>
          <p:cNvSpPr txBox="1"/>
          <p:nvPr/>
        </p:nvSpPr>
        <p:spPr>
          <a:xfrm>
            <a:off x="6803136" y="2468880"/>
            <a:ext cx="4483303"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30 minutes a day</a:t>
            </a:r>
            <a:endParaRPr lang="en-US" sz="2400" dirty="0"/>
          </a:p>
        </p:txBody>
      </p:sp>
      <p:sp>
        <p:nvSpPr>
          <p:cNvPr id="24" name="Text 22"/>
          <p:cNvSpPr txBox="1"/>
          <p:nvPr/>
        </p:nvSpPr>
        <p:spPr>
          <a:xfrm>
            <a:off x="6803136" y="3017520"/>
            <a:ext cx="4483303" cy="731520"/>
          </a:xfrm>
          <a:prstGeom prst="rect">
            <a:avLst/>
          </a:prstGeom>
          <a:noFill/>
          <a:ln/>
        </p:spPr>
        <p:txBody>
          <a:bodyPr wrap="square" lIns="0" tIns="0" rIns="0" bIns="0" rtlCol="0" anchor="t"/>
          <a:lstStyle/>
          <a:p>
            <a:pPr indent="0" marL="0">
              <a:buNone/>
            </a:pPr>
            <a:r>
              <a:rPr lang="en-US" sz="1250" dirty="0">
                <a:solidFill>
                  <a:schemeClr val="tx1"/>
                </a:solidFill>
              </a:rPr>
              <a:t>for the first 2 weeks: briefing, answering questions and reviewing work. It pays back many times over.</a:t>
            </a:r>
            <a:endParaRPr lang="en-US" sz="1250" dirty="0"/>
          </a:p>
        </p:txBody>
      </p:sp>
      <p:sp>
        <p:nvSpPr>
          <p:cNvPr id="25" name="card"/>
          <p:cNvSpPr/>
          <p:nvPr/>
        </p:nvSpPr>
        <p:spPr>
          <a:xfrm>
            <a:off x="6528816" y="4069080"/>
            <a:ext cx="5031943" cy="2057400"/>
          </a:xfrm>
          <a:prstGeom prst="roundRect">
            <a:avLst>
              <a:gd name="adj" fmla="val 3556"/>
            </a:avLst>
          </a:prstGeom>
          <a:solidFill>
            <a:schemeClr val="bg1"/>
          </a:solidFill>
          <a:ln w="12700">
            <a:solidFill>
              <a:schemeClr val="accent5"/>
            </a:solidFill>
            <a:prstDash val="solid"/>
          </a:ln>
        </p:spPr>
      </p:sp>
      <p:sp>
        <p:nvSpPr>
          <p:cNvPr id="26" name="Text 24"/>
          <p:cNvSpPr txBox="1"/>
          <p:nvPr/>
        </p:nvSpPr>
        <p:spPr>
          <a:xfrm>
            <a:off x="6803136" y="425196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HOURS, TIME ZONES &amp; LEAVE</a:t>
            </a:r>
            <a:endParaRPr lang="en-US" sz="1050" dirty="0"/>
          </a:p>
        </p:txBody>
      </p:sp>
      <p:sp>
        <p:nvSpPr>
          <p:cNvPr id="27" name="Text 25"/>
          <p:cNvSpPr txBox="1"/>
          <p:nvPr/>
        </p:nvSpPr>
        <p:spPr>
          <a:xfrm>
            <a:off x="6803136" y="4572000"/>
            <a:ext cx="4483303" cy="822960"/>
          </a:xfrm>
          <a:prstGeom prst="rect">
            <a:avLst/>
          </a:prstGeom>
          <a:noFill/>
          <a:ln/>
        </p:spPr>
        <p:txBody>
          <a:bodyPr wrap="square" lIns="0" tIns="0" rIns="0" bIns="0" rtlCol="0" anchor="t"/>
          <a:lstStyle/>
          <a:p>
            <a:pPr indent="0" marL="0">
              <a:buNone/>
            </a:pPr>
            <a:r>
              <a:rPr lang="en-US" sz="1250" dirty="0">
                <a:solidFill>
                  <a:schemeClr val="accent3"/>
                </a:solidFill>
              </a:rPr>
              <a:t>Agree your Associate’s working hours and your overlap hours in Week 1. Check Philippine public holidays, and request leave or extra hours in advance through your Account Manager.</a:t>
            </a:r>
            <a:endParaRPr lang="en-US" sz="1250" dirty="0"/>
          </a:p>
        </p:txBody>
      </p:sp>
      <p:sp>
        <p:nvSpPr>
          <p:cNvPr id="28" name="Text 26"/>
          <p:cNvSpPr txBox="1"/>
          <p:nvPr/>
        </p:nvSpPr>
        <p:spPr>
          <a:xfrm>
            <a:off x="6803136" y="5577840"/>
            <a:ext cx="4483303" cy="320040"/>
          </a:xfrm>
          <a:prstGeom prst="rect">
            <a:avLst/>
          </a:prstGeom>
          <a:noFill/>
          <a:ln/>
        </p:spPr>
        <p:txBody>
          <a:bodyPr wrap="square" lIns="0" tIns="0" rIns="0" bIns="0" rtlCol="0" anchor="ctr"/>
          <a:lstStyle/>
          <a:p>
            <a:pPr indent="0" marL="0">
              <a:buNone/>
            </a:pPr>
            <a:r>
              <a:rPr lang="en-US" sz="1200" b="1" dirty="0">
                <a:solidFill>
                  <a:schemeClr val="tx1"/>
                </a:solidFill>
              </a:rPr>
              <a:t>Associate’s hours: </a:t>
            </a:r>
            <a:pPr indent="0" marL="0">
              <a:buNone/>
            </a:pPr>
            <a:r>
              <a:rPr lang="en-US" sz="1200" dirty="0">
                <a:solidFill>
                  <a:schemeClr val="accent3"/>
                </a:solidFill>
              </a:rPr>
              <a:t>________________     </a:t>
            </a:r>
            <a:pPr indent="0" marL="0">
              <a:buNone/>
            </a:pPr>
            <a:r>
              <a:rPr lang="en-US" sz="1200" b="1" dirty="0">
                <a:solidFill>
                  <a:schemeClr val="tx1"/>
                </a:solidFill>
              </a:rPr>
              <a:t>Overlap: </a:t>
            </a:r>
            <a:pPr indent="0" marL="0">
              <a:buNone/>
            </a:pPr>
            <a:r>
              <a:rPr lang="en-US" sz="1200" dirty="0">
                <a:solidFill>
                  <a:schemeClr val="accent3"/>
                </a:solidFill>
              </a:rPr>
              <a:t>____________</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2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Delegate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Clear briefs are the single biggest factor in a great first month.</a:t>
            </a:r>
            <a:endParaRPr lang="en-US" sz="1300" dirty="0"/>
          </a:p>
        </p:txBody>
      </p:sp>
      <p:sp>
        <p:nvSpPr>
          <p:cNvPr id="5" name="card"/>
          <p:cNvSpPr/>
          <p:nvPr/>
        </p:nvSpPr>
        <p:spPr>
          <a:xfrm>
            <a:off x="630936" y="1920240"/>
            <a:ext cx="5120640" cy="3383280"/>
          </a:xfrm>
          <a:prstGeom prst="roundRect">
            <a:avLst>
              <a:gd name="adj" fmla="val 2162"/>
            </a:avLst>
          </a:prstGeom>
          <a:solidFill>
            <a:schemeClr val="bg1"/>
          </a:solidFill>
          <a:ln w="12700">
            <a:solidFill>
              <a:schemeClr val="accent5"/>
            </a:solidFill>
            <a:prstDash val="solid"/>
          </a:ln>
        </p:spPr>
      </p:sp>
      <p:sp>
        <p:nvSpPr>
          <p:cNvPr id="6" name="Text 4"/>
          <p:cNvSpPr txBox="1"/>
          <p:nvPr/>
        </p:nvSpPr>
        <p:spPr>
          <a:xfrm>
            <a:off x="905256" y="210312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5-PART BRIEF: USE IT FOR EVERY TASK</a:t>
            </a:r>
            <a:endParaRPr lang="en-US" sz="1050" dirty="0"/>
          </a:p>
        </p:txBody>
      </p:sp>
      <p:sp>
        <p:nvSpPr>
          <p:cNvPr id="7" name="number 1"/>
          <p:cNvSpPr/>
          <p:nvPr/>
        </p:nvSpPr>
        <p:spPr>
          <a:xfrm>
            <a:off x="905256" y="2514600"/>
            <a:ext cx="365760" cy="365760"/>
          </a:xfrm>
          <a:prstGeom prst="ellipse">
            <a:avLst/>
          </a:prstGeom>
          <a:solidFill>
            <a:schemeClr val="accent1"/>
          </a:solidFill>
          <a:ln/>
        </p:spPr>
      </p:sp>
      <p:sp>
        <p:nvSpPr>
          <p:cNvPr id="8" name="Text 6"/>
          <p:cNvSpPr txBox="1"/>
          <p:nvPr/>
        </p:nvSpPr>
        <p:spPr>
          <a:xfrm>
            <a:off x="905256" y="2514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1408176" y="251460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Outcome: </a:t>
            </a:r>
            <a:pPr indent="0" marL="0">
              <a:buNone/>
            </a:pPr>
            <a:r>
              <a:rPr lang="en-US" sz="1300" dirty="0">
                <a:solidFill>
                  <a:schemeClr val="accent3"/>
                </a:solidFill>
              </a:rPr>
              <a:t>what “done” looks like</a:t>
            </a:r>
            <a:endParaRPr lang="en-US" sz="1300" dirty="0"/>
          </a:p>
        </p:txBody>
      </p:sp>
      <p:sp>
        <p:nvSpPr>
          <p:cNvPr id="10" name="number 2"/>
          <p:cNvSpPr/>
          <p:nvPr/>
        </p:nvSpPr>
        <p:spPr>
          <a:xfrm>
            <a:off x="905256" y="3063240"/>
            <a:ext cx="365760" cy="365760"/>
          </a:xfrm>
          <a:prstGeom prst="ellipse">
            <a:avLst/>
          </a:prstGeom>
          <a:solidFill>
            <a:schemeClr val="accent1"/>
          </a:solidFill>
          <a:ln/>
        </p:spPr>
      </p:sp>
      <p:sp>
        <p:nvSpPr>
          <p:cNvPr id="11" name="Text 9"/>
          <p:cNvSpPr txBox="1"/>
          <p:nvPr/>
        </p:nvSpPr>
        <p:spPr>
          <a:xfrm>
            <a:off x="905256" y="30632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08176" y="306324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Context: </a:t>
            </a:r>
            <a:pPr indent="0" marL="0">
              <a:buNone/>
            </a:pPr>
            <a:r>
              <a:rPr lang="en-US" sz="1300" dirty="0">
                <a:solidFill>
                  <a:schemeClr val="accent3"/>
                </a:solidFill>
              </a:rPr>
              <a:t>why it matters</a:t>
            </a:r>
            <a:endParaRPr lang="en-US" sz="1300" dirty="0"/>
          </a:p>
        </p:txBody>
      </p:sp>
      <p:sp>
        <p:nvSpPr>
          <p:cNvPr id="13" name="number 3"/>
          <p:cNvSpPr/>
          <p:nvPr/>
        </p:nvSpPr>
        <p:spPr>
          <a:xfrm>
            <a:off x="905256" y="3611880"/>
            <a:ext cx="365760" cy="365760"/>
          </a:xfrm>
          <a:prstGeom prst="ellipse">
            <a:avLst/>
          </a:prstGeom>
          <a:solidFill>
            <a:schemeClr val="accent1"/>
          </a:solidFill>
          <a:ln/>
        </p:spPr>
      </p:sp>
      <p:sp>
        <p:nvSpPr>
          <p:cNvPr id="14" name="Text 12"/>
          <p:cNvSpPr txBox="1"/>
          <p:nvPr/>
        </p:nvSpPr>
        <p:spPr>
          <a:xfrm>
            <a:off x="905256"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1408176" y="361188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Deadline: </a:t>
            </a:r>
            <a:pPr indent="0" marL="0">
              <a:buNone/>
            </a:pPr>
            <a:r>
              <a:rPr lang="en-US" sz="1300" dirty="0">
                <a:solidFill>
                  <a:schemeClr val="accent3"/>
                </a:solidFill>
              </a:rPr>
              <a:t>when you need it</a:t>
            </a:r>
            <a:endParaRPr lang="en-US" sz="1300" dirty="0"/>
          </a:p>
        </p:txBody>
      </p:sp>
      <p:sp>
        <p:nvSpPr>
          <p:cNvPr id="16" name="number 4"/>
          <p:cNvSpPr/>
          <p:nvPr/>
        </p:nvSpPr>
        <p:spPr>
          <a:xfrm>
            <a:off x="905256" y="4160520"/>
            <a:ext cx="365760" cy="365760"/>
          </a:xfrm>
          <a:prstGeom prst="ellipse">
            <a:avLst/>
          </a:prstGeom>
          <a:solidFill>
            <a:schemeClr val="accent1"/>
          </a:solidFill>
          <a:ln/>
        </p:spPr>
      </p:sp>
      <p:sp>
        <p:nvSpPr>
          <p:cNvPr id="17" name="Text 15"/>
          <p:cNvSpPr txBox="1"/>
          <p:nvPr/>
        </p:nvSpPr>
        <p:spPr>
          <a:xfrm>
            <a:off x="905256" y="41605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408176" y="416052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Example: </a:t>
            </a:r>
            <a:pPr indent="0" marL="0">
              <a:buNone/>
            </a:pPr>
            <a:r>
              <a:rPr lang="en-US" sz="1300" dirty="0">
                <a:solidFill>
                  <a:schemeClr val="accent3"/>
                </a:solidFill>
              </a:rPr>
              <a:t>show what good looks like</a:t>
            </a:r>
            <a:endParaRPr lang="en-US" sz="1300" dirty="0"/>
          </a:p>
        </p:txBody>
      </p:sp>
      <p:sp>
        <p:nvSpPr>
          <p:cNvPr id="19" name="number 5"/>
          <p:cNvSpPr/>
          <p:nvPr/>
        </p:nvSpPr>
        <p:spPr>
          <a:xfrm>
            <a:off x="905256" y="4709160"/>
            <a:ext cx="365760" cy="365760"/>
          </a:xfrm>
          <a:prstGeom prst="ellipse">
            <a:avLst/>
          </a:prstGeom>
          <a:solidFill>
            <a:schemeClr val="accent1"/>
          </a:solidFill>
          <a:ln/>
        </p:spPr>
      </p:sp>
      <p:sp>
        <p:nvSpPr>
          <p:cNvPr id="20" name="Text 18"/>
          <p:cNvSpPr txBox="1"/>
          <p:nvPr/>
        </p:nvSpPr>
        <p:spPr>
          <a:xfrm>
            <a:off x="905256" y="4709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9"/>
          <p:cNvSpPr txBox="1"/>
          <p:nvPr/>
        </p:nvSpPr>
        <p:spPr>
          <a:xfrm>
            <a:off x="1408176" y="470916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Who to ask: </a:t>
            </a:r>
            <a:pPr indent="0" marL="0">
              <a:buNone/>
            </a:pPr>
            <a:r>
              <a:rPr lang="en-US" sz="1300" dirty="0">
                <a:solidFill>
                  <a:schemeClr val="accent3"/>
                </a:solidFill>
              </a:rPr>
              <a:t>if they get stuck</a:t>
            </a:r>
            <a:endParaRPr lang="en-US" sz="1300" dirty="0"/>
          </a:p>
        </p:txBody>
      </p:sp>
      <p:sp>
        <p:nvSpPr>
          <p:cNvPr id="22" name="callout"/>
          <p:cNvSpPr/>
          <p:nvPr/>
        </p:nvSpPr>
        <p:spPr>
          <a:xfrm>
            <a:off x="630936" y="5440680"/>
            <a:ext cx="5120640" cy="731520"/>
          </a:xfrm>
          <a:prstGeom prst="roundRect">
            <a:avLst>
              <a:gd name="adj" fmla="val 10000"/>
            </a:avLst>
          </a:prstGeom>
          <a:solidFill>
            <a:schemeClr val="accent4"/>
          </a:solidFill>
          <a:ln/>
        </p:spPr>
      </p:sp>
      <p:sp>
        <p:nvSpPr>
          <p:cNvPr id="23" name="Text 21"/>
          <p:cNvSpPr txBox="1"/>
          <p:nvPr/>
        </p:nvSpPr>
        <p:spPr>
          <a:xfrm>
            <a:off x="859536" y="5440680"/>
            <a:ext cx="4663440" cy="731520"/>
          </a:xfrm>
          <a:prstGeom prst="rect">
            <a:avLst/>
          </a:prstGeom>
          <a:noFill/>
          <a:ln/>
        </p:spPr>
        <p:txBody>
          <a:bodyPr wrap="square" lIns="0" tIns="0" rIns="0" bIns="0" rtlCol="0" anchor="ctr"/>
          <a:lstStyle/>
          <a:p>
            <a:pPr indent="0" marL="0">
              <a:buNone/>
            </a:pPr>
            <a:r>
              <a:rPr lang="en-US" sz="1250" b="1" dirty="0">
                <a:solidFill>
                  <a:schemeClr val="accent1"/>
                </a:solidFill>
              </a:rPr>
              <a:t>Golden rule: record yourself doing a task once (Loom or a screen recording). Your Associate turns it into an SOP for your library.</a:t>
            </a:r>
            <a:endParaRPr lang="en-US" sz="1250" dirty="0"/>
          </a:p>
        </p:txBody>
      </p:sp>
      <p:sp>
        <p:nvSpPr>
          <p:cNvPr id="24" name="card"/>
          <p:cNvSpPr/>
          <p:nvPr/>
        </p:nvSpPr>
        <p:spPr>
          <a:xfrm>
            <a:off x="5980176" y="1920240"/>
            <a:ext cx="5580583" cy="4251960"/>
          </a:xfrm>
          <a:prstGeom prst="roundRect">
            <a:avLst>
              <a:gd name="adj" fmla="val 1720"/>
            </a:avLst>
          </a:prstGeom>
          <a:solidFill>
            <a:schemeClr val="bg2"/>
          </a:solidFill>
          <a:ln/>
        </p:spPr>
      </p:sp>
      <p:sp>
        <p:nvSpPr>
          <p:cNvPr id="25" name="Text 23"/>
          <p:cNvSpPr txBox="1"/>
          <p:nvPr/>
        </p:nvSpPr>
        <p:spPr>
          <a:xfrm>
            <a:off x="6254496" y="2103120"/>
            <a:ext cx="503194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FIRST 10 TASKS: QUICK WINS FOR WEEK 1</a:t>
            </a:r>
            <a:endParaRPr lang="en-US" sz="1050" dirty="0"/>
          </a:p>
        </p:txBody>
      </p:sp>
      <p:sp>
        <p:nvSpPr>
          <p:cNvPr id="26" name="task 1"/>
          <p:cNvSpPr/>
          <p:nvPr/>
        </p:nvSpPr>
        <p:spPr>
          <a:xfrm>
            <a:off x="6254496" y="2514600"/>
            <a:ext cx="2424532" cy="603504"/>
          </a:xfrm>
          <a:prstGeom prst="roundRect">
            <a:avLst>
              <a:gd name="adj" fmla="val 12121"/>
            </a:avLst>
          </a:prstGeom>
          <a:solidFill>
            <a:schemeClr val="bg1"/>
          </a:solidFill>
          <a:ln w="12700">
            <a:solidFill>
              <a:schemeClr val="accent5"/>
            </a:solidFill>
            <a:prstDash val="solid"/>
          </a:ln>
        </p:spPr>
      </p:sp>
      <p:sp>
        <p:nvSpPr>
          <p:cNvPr id="27" name="Text 25"/>
          <p:cNvSpPr txBox="1"/>
          <p:nvPr/>
        </p:nvSpPr>
        <p:spPr>
          <a:xfrm>
            <a:off x="6364224"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a:t>
            </a:r>
            <a:endParaRPr lang="en-US" sz="1400" dirty="0"/>
          </a:p>
        </p:txBody>
      </p:sp>
      <p:sp>
        <p:nvSpPr>
          <p:cNvPr id="28" name="Text 26"/>
          <p:cNvSpPr txBox="1"/>
          <p:nvPr/>
        </p:nvSpPr>
        <p:spPr>
          <a:xfrm>
            <a:off x="6711696"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Colour-code next week’s calendar</a:t>
            </a:r>
            <a:endParaRPr lang="en-US" sz="1150" dirty="0"/>
          </a:p>
        </p:txBody>
      </p:sp>
      <p:sp>
        <p:nvSpPr>
          <p:cNvPr id="29" name="task 2"/>
          <p:cNvSpPr/>
          <p:nvPr/>
        </p:nvSpPr>
        <p:spPr>
          <a:xfrm>
            <a:off x="6254496" y="3227832"/>
            <a:ext cx="2424532" cy="603504"/>
          </a:xfrm>
          <a:prstGeom prst="roundRect">
            <a:avLst>
              <a:gd name="adj" fmla="val 12121"/>
            </a:avLst>
          </a:prstGeom>
          <a:solidFill>
            <a:schemeClr val="bg1"/>
          </a:solidFill>
          <a:ln w="12700">
            <a:solidFill>
              <a:schemeClr val="accent5"/>
            </a:solidFill>
            <a:prstDash val="solid"/>
          </a:ln>
        </p:spPr>
      </p:sp>
      <p:sp>
        <p:nvSpPr>
          <p:cNvPr id="30" name="Text 28"/>
          <p:cNvSpPr txBox="1"/>
          <p:nvPr/>
        </p:nvSpPr>
        <p:spPr>
          <a:xfrm>
            <a:off x="6364224"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2</a:t>
            </a:r>
            <a:endParaRPr lang="en-US" sz="1400" dirty="0"/>
          </a:p>
        </p:txBody>
      </p:sp>
      <p:sp>
        <p:nvSpPr>
          <p:cNvPr id="31" name="Text 29"/>
          <p:cNvSpPr txBox="1"/>
          <p:nvPr/>
        </p:nvSpPr>
        <p:spPr>
          <a:xfrm>
            <a:off x="6711696"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Confirm tomorrow’s meetings each afternoon</a:t>
            </a:r>
            <a:endParaRPr lang="en-US" sz="1150" dirty="0"/>
          </a:p>
        </p:txBody>
      </p:sp>
      <p:sp>
        <p:nvSpPr>
          <p:cNvPr id="32" name="task 3"/>
          <p:cNvSpPr/>
          <p:nvPr/>
        </p:nvSpPr>
        <p:spPr>
          <a:xfrm>
            <a:off x="6254496" y="3941064"/>
            <a:ext cx="2424532" cy="603504"/>
          </a:xfrm>
          <a:prstGeom prst="roundRect">
            <a:avLst>
              <a:gd name="adj" fmla="val 12121"/>
            </a:avLst>
          </a:prstGeom>
          <a:solidFill>
            <a:schemeClr val="bg1"/>
          </a:solidFill>
          <a:ln w="12700">
            <a:solidFill>
              <a:schemeClr val="accent5"/>
            </a:solidFill>
            <a:prstDash val="solid"/>
          </a:ln>
        </p:spPr>
      </p:sp>
      <p:sp>
        <p:nvSpPr>
          <p:cNvPr id="33" name="Text 31"/>
          <p:cNvSpPr txBox="1"/>
          <p:nvPr/>
        </p:nvSpPr>
        <p:spPr>
          <a:xfrm>
            <a:off x="6364224"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3</a:t>
            </a:r>
            <a:endParaRPr lang="en-US" sz="1400" dirty="0"/>
          </a:p>
        </p:txBody>
      </p:sp>
      <p:sp>
        <p:nvSpPr>
          <p:cNvPr id="34" name="Text 32"/>
          <p:cNvSpPr txBox="1"/>
          <p:nvPr/>
        </p:nvSpPr>
        <p:spPr>
          <a:xfrm>
            <a:off x="6711696"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Sort the inbox and flag priorities</a:t>
            </a:r>
            <a:endParaRPr lang="en-US" sz="1150" dirty="0"/>
          </a:p>
        </p:txBody>
      </p:sp>
      <p:sp>
        <p:nvSpPr>
          <p:cNvPr id="35" name="task 4"/>
          <p:cNvSpPr/>
          <p:nvPr/>
        </p:nvSpPr>
        <p:spPr>
          <a:xfrm>
            <a:off x="6254496" y="4654296"/>
            <a:ext cx="2424532" cy="603504"/>
          </a:xfrm>
          <a:prstGeom prst="roundRect">
            <a:avLst>
              <a:gd name="adj" fmla="val 12121"/>
            </a:avLst>
          </a:prstGeom>
          <a:solidFill>
            <a:schemeClr val="bg1"/>
          </a:solidFill>
          <a:ln w="12700">
            <a:solidFill>
              <a:schemeClr val="accent5"/>
            </a:solidFill>
            <a:prstDash val="solid"/>
          </a:ln>
        </p:spPr>
      </p:sp>
      <p:sp>
        <p:nvSpPr>
          <p:cNvPr id="36" name="Text 34"/>
          <p:cNvSpPr txBox="1"/>
          <p:nvPr/>
        </p:nvSpPr>
        <p:spPr>
          <a:xfrm>
            <a:off x="6364224"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4</a:t>
            </a:r>
            <a:endParaRPr lang="en-US" sz="1400" dirty="0"/>
          </a:p>
        </p:txBody>
      </p:sp>
      <p:sp>
        <p:nvSpPr>
          <p:cNvPr id="37" name="Text 35"/>
          <p:cNvSpPr txBox="1"/>
          <p:nvPr/>
        </p:nvSpPr>
        <p:spPr>
          <a:xfrm>
            <a:off x="6711696"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Draft replies to routine emails for review</a:t>
            </a:r>
            <a:endParaRPr lang="en-US" sz="1150" dirty="0"/>
          </a:p>
        </p:txBody>
      </p:sp>
      <p:sp>
        <p:nvSpPr>
          <p:cNvPr id="38" name="task 5"/>
          <p:cNvSpPr/>
          <p:nvPr/>
        </p:nvSpPr>
        <p:spPr>
          <a:xfrm>
            <a:off x="6254496" y="5367528"/>
            <a:ext cx="2424532" cy="603504"/>
          </a:xfrm>
          <a:prstGeom prst="roundRect">
            <a:avLst>
              <a:gd name="adj" fmla="val 12121"/>
            </a:avLst>
          </a:prstGeom>
          <a:solidFill>
            <a:schemeClr val="bg1"/>
          </a:solidFill>
          <a:ln w="12700">
            <a:solidFill>
              <a:schemeClr val="accent5"/>
            </a:solidFill>
            <a:prstDash val="solid"/>
          </a:ln>
        </p:spPr>
      </p:sp>
      <p:sp>
        <p:nvSpPr>
          <p:cNvPr id="39" name="Text 37"/>
          <p:cNvSpPr txBox="1"/>
          <p:nvPr/>
        </p:nvSpPr>
        <p:spPr>
          <a:xfrm>
            <a:off x="6364224"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5</a:t>
            </a:r>
            <a:endParaRPr lang="en-US" sz="1400" dirty="0"/>
          </a:p>
        </p:txBody>
      </p:sp>
      <p:sp>
        <p:nvSpPr>
          <p:cNvPr id="40" name="Text 38"/>
          <p:cNvSpPr txBox="1"/>
          <p:nvPr/>
        </p:nvSpPr>
        <p:spPr>
          <a:xfrm>
            <a:off x="6711696"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Log this week’s meeting notes in the CRM</a:t>
            </a:r>
            <a:endParaRPr lang="en-US" sz="1150" dirty="0"/>
          </a:p>
        </p:txBody>
      </p:sp>
      <p:sp>
        <p:nvSpPr>
          <p:cNvPr id="41" name="task 6"/>
          <p:cNvSpPr/>
          <p:nvPr/>
        </p:nvSpPr>
        <p:spPr>
          <a:xfrm>
            <a:off x="8861908" y="2514600"/>
            <a:ext cx="2424532" cy="603504"/>
          </a:xfrm>
          <a:prstGeom prst="roundRect">
            <a:avLst>
              <a:gd name="adj" fmla="val 12121"/>
            </a:avLst>
          </a:prstGeom>
          <a:solidFill>
            <a:schemeClr val="bg1"/>
          </a:solidFill>
          <a:ln w="12700">
            <a:solidFill>
              <a:schemeClr val="accent5"/>
            </a:solidFill>
            <a:prstDash val="solid"/>
          </a:ln>
        </p:spPr>
      </p:sp>
      <p:sp>
        <p:nvSpPr>
          <p:cNvPr id="42" name="Text 40"/>
          <p:cNvSpPr txBox="1"/>
          <p:nvPr/>
        </p:nvSpPr>
        <p:spPr>
          <a:xfrm>
            <a:off x="8971636"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6</a:t>
            </a:r>
            <a:endParaRPr lang="en-US" sz="1400" dirty="0"/>
          </a:p>
        </p:txBody>
      </p:sp>
      <p:sp>
        <p:nvSpPr>
          <p:cNvPr id="43" name="Text 41"/>
          <p:cNvSpPr txBox="1"/>
          <p:nvPr/>
        </p:nvSpPr>
        <p:spPr>
          <a:xfrm>
            <a:off x="9319108"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Build a contact list for the 35 members</a:t>
            </a:r>
            <a:endParaRPr lang="en-US" sz="1150" dirty="0"/>
          </a:p>
        </p:txBody>
      </p:sp>
      <p:sp>
        <p:nvSpPr>
          <p:cNvPr id="44" name="task 7"/>
          <p:cNvSpPr/>
          <p:nvPr/>
        </p:nvSpPr>
        <p:spPr>
          <a:xfrm>
            <a:off x="8861908" y="3227832"/>
            <a:ext cx="2424532" cy="603504"/>
          </a:xfrm>
          <a:prstGeom prst="roundRect">
            <a:avLst>
              <a:gd name="adj" fmla="val 12121"/>
            </a:avLst>
          </a:prstGeom>
          <a:solidFill>
            <a:schemeClr val="bg1"/>
          </a:solidFill>
          <a:ln w="12700">
            <a:solidFill>
              <a:schemeClr val="accent5"/>
            </a:solidFill>
            <a:prstDash val="solid"/>
          </a:ln>
        </p:spPr>
      </p:sp>
      <p:sp>
        <p:nvSpPr>
          <p:cNvPr id="45" name="Text 43"/>
          <p:cNvSpPr txBox="1"/>
          <p:nvPr/>
        </p:nvSpPr>
        <p:spPr>
          <a:xfrm>
            <a:off x="8971636"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7</a:t>
            </a:r>
            <a:endParaRPr lang="en-US" sz="1400" dirty="0"/>
          </a:p>
        </p:txBody>
      </p:sp>
      <p:sp>
        <p:nvSpPr>
          <p:cNvPr id="46" name="Text 44"/>
          <p:cNvSpPr txBox="1"/>
          <p:nvPr/>
        </p:nvSpPr>
        <p:spPr>
          <a:xfrm>
            <a:off x="9319108"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Set up an RSVP tracker for the next event</a:t>
            </a:r>
            <a:endParaRPr lang="en-US" sz="1150" dirty="0"/>
          </a:p>
        </p:txBody>
      </p:sp>
      <p:sp>
        <p:nvSpPr>
          <p:cNvPr id="47" name="task 8"/>
          <p:cNvSpPr/>
          <p:nvPr/>
        </p:nvSpPr>
        <p:spPr>
          <a:xfrm>
            <a:off x="8861908" y="3941064"/>
            <a:ext cx="2424532" cy="603504"/>
          </a:xfrm>
          <a:prstGeom prst="roundRect">
            <a:avLst>
              <a:gd name="adj" fmla="val 12121"/>
            </a:avLst>
          </a:prstGeom>
          <a:solidFill>
            <a:schemeClr val="bg1"/>
          </a:solidFill>
          <a:ln w="12700">
            <a:solidFill>
              <a:schemeClr val="accent5"/>
            </a:solidFill>
            <a:prstDash val="solid"/>
          </a:ln>
        </p:spPr>
      </p:sp>
      <p:sp>
        <p:nvSpPr>
          <p:cNvPr id="48" name="Text 46"/>
          <p:cNvSpPr txBox="1"/>
          <p:nvPr/>
        </p:nvSpPr>
        <p:spPr>
          <a:xfrm>
            <a:off x="8971636"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8</a:t>
            </a:r>
            <a:endParaRPr lang="en-US" sz="1400" dirty="0"/>
          </a:p>
        </p:txBody>
      </p:sp>
      <p:sp>
        <p:nvSpPr>
          <p:cNvPr id="49" name="Text 47"/>
          <p:cNvSpPr txBox="1"/>
          <p:nvPr/>
        </p:nvSpPr>
        <p:spPr>
          <a:xfrm>
            <a:off x="9319108"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Create a suitability report template</a:t>
            </a:r>
            <a:endParaRPr lang="en-US" sz="1150" dirty="0"/>
          </a:p>
        </p:txBody>
      </p:sp>
      <p:sp>
        <p:nvSpPr>
          <p:cNvPr id="50" name="task 9"/>
          <p:cNvSpPr/>
          <p:nvPr/>
        </p:nvSpPr>
        <p:spPr>
          <a:xfrm>
            <a:off x="8861908" y="4654296"/>
            <a:ext cx="2424532" cy="603504"/>
          </a:xfrm>
          <a:prstGeom prst="roundRect">
            <a:avLst>
              <a:gd name="adj" fmla="val 12121"/>
            </a:avLst>
          </a:prstGeom>
          <a:solidFill>
            <a:schemeClr val="bg1"/>
          </a:solidFill>
          <a:ln w="12700">
            <a:solidFill>
              <a:schemeClr val="accent5"/>
            </a:solidFill>
            <a:prstDash val="solid"/>
          </a:ln>
        </p:spPr>
      </p:sp>
      <p:sp>
        <p:nvSpPr>
          <p:cNvPr id="51" name="Text 49"/>
          <p:cNvSpPr txBox="1"/>
          <p:nvPr/>
        </p:nvSpPr>
        <p:spPr>
          <a:xfrm>
            <a:off x="8971636"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9</a:t>
            </a:r>
            <a:endParaRPr lang="en-US" sz="1400" dirty="0"/>
          </a:p>
        </p:txBody>
      </p:sp>
      <p:sp>
        <p:nvSpPr>
          <p:cNvPr id="52" name="Text 50"/>
          <p:cNvSpPr txBox="1"/>
          <p:nvPr/>
        </p:nvSpPr>
        <p:spPr>
          <a:xfrm>
            <a:off x="9319108"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Gather past board papers into one folder</a:t>
            </a:r>
            <a:endParaRPr lang="en-US" sz="1150" dirty="0"/>
          </a:p>
        </p:txBody>
      </p:sp>
      <p:sp>
        <p:nvSpPr>
          <p:cNvPr id="53" name="task 10"/>
          <p:cNvSpPr/>
          <p:nvPr/>
        </p:nvSpPr>
        <p:spPr>
          <a:xfrm>
            <a:off x="8861908" y="5367528"/>
            <a:ext cx="2424532" cy="603504"/>
          </a:xfrm>
          <a:prstGeom prst="roundRect">
            <a:avLst>
              <a:gd name="adj" fmla="val 12121"/>
            </a:avLst>
          </a:prstGeom>
          <a:solidFill>
            <a:schemeClr val="bg1"/>
          </a:solidFill>
          <a:ln w="12700">
            <a:solidFill>
              <a:schemeClr val="accent5"/>
            </a:solidFill>
            <a:prstDash val="solid"/>
          </a:ln>
        </p:spPr>
      </p:sp>
      <p:sp>
        <p:nvSpPr>
          <p:cNvPr id="54" name="Text 52"/>
          <p:cNvSpPr txBox="1"/>
          <p:nvPr/>
        </p:nvSpPr>
        <p:spPr>
          <a:xfrm>
            <a:off x="8971636"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10</a:t>
            </a:r>
            <a:endParaRPr lang="en-US" sz="1400" dirty="0"/>
          </a:p>
        </p:txBody>
      </p:sp>
      <p:sp>
        <p:nvSpPr>
          <p:cNvPr id="55" name="Text 53"/>
          <p:cNvSpPr txBox="1"/>
          <p:nvPr/>
        </p:nvSpPr>
        <p:spPr>
          <a:xfrm>
            <a:off x="9319108"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recurring tasks to turn into SOPs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3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First Month</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to expect, how to read your daily report, and how to give feedback.</a:t>
            </a:r>
            <a:endParaRPr lang="en-US" sz="1300" dirty="0"/>
          </a:p>
        </p:txBody>
      </p:sp>
      <p:sp>
        <p:nvSpPr>
          <p:cNvPr id="5" name="Text 3"/>
          <p:cNvSpPr txBox="1"/>
          <p:nvPr/>
        </p:nvSpPr>
        <p:spPr>
          <a:xfrm>
            <a:off x="630936" y="1828800"/>
            <a:ext cx="54864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HONEST FIRST MONTH</a:t>
            </a:r>
            <a:endParaRPr lang="en-US" sz="1050" dirty="0"/>
          </a:p>
        </p:txBody>
      </p:sp>
      <p:sp>
        <p:nvSpPr>
          <p:cNvPr id="6" name="card"/>
          <p:cNvSpPr/>
          <p:nvPr/>
        </p:nvSpPr>
        <p:spPr>
          <a:xfrm>
            <a:off x="630936" y="2148840"/>
            <a:ext cx="3521354" cy="1417320"/>
          </a:xfrm>
          <a:prstGeom prst="roundRect">
            <a:avLst>
              <a:gd name="adj" fmla="val 5161"/>
            </a:avLst>
          </a:prstGeom>
          <a:solidFill>
            <a:schemeClr val="bg1"/>
          </a:solidFill>
          <a:ln w="12700">
            <a:solidFill>
              <a:schemeClr val="accent5"/>
            </a:solidFill>
            <a:prstDash val="solid"/>
          </a:ln>
        </p:spPr>
      </p:sp>
      <p:sp>
        <p:nvSpPr>
          <p:cNvPr id="7" name="Text 5"/>
          <p:cNvSpPr txBox="1"/>
          <p:nvPr/>
        </p:nvSpPr>
        <p:spPr>
          <a:xfrm>
            <a:off x="905256"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8" name="Text 6"/>
          <p:cNvSpPr txBox="1"/>
          <p:nvPr/>
        </p:nvSpPr>
        <p:spPr>
          <a:xfrm>
            <a:off x="905256"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Exciting</a:t>
            </a:r>
            <a:endParaRPr lang="en-US" sz="1500" dirty="0"/>
          </a:p>
        </p:txBody>
      </p:sp>
      <p:sp>
        <p:nvSpPr>
          <p:cNvPr id="9" name="Text 7"/>
          <p:cNvSpPr txBox="1"/>
          <p:nvPr/>
        </p:nvSpPr>
        <p:spPr>
          <a:xfrm>
            <a:off x="905256"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New energy, lots of setup and learning your style.</a:t>
            </a:r>
            <a:endParaRPr lang="en-US" sz="1150" dirty="0"/>
          </a:p>
        </p:txBody>
      </p:sp>
      <p:sp>
        <p:nvSpPr>
          <p:cNvPr id="10" name="card"/>
          <p:cNvSpPr/>
          <p:nvPr/>
        </p:nvSpPr>
        <p:spPr>
          <a:xfrm>
            <a:off x="4335170" y="2423160"/>
            <a:ext cx="3521354" cy="1417320"/>
          </a:xfrm>
          <a:prstGeom prst="roundRect">
            <a:avLst>
              <a:gd name="adj" fmla="val 5161"/>
            </a:avLst>
          </a:prstGeom>
          <a:solidFill>
            <a:schemeClr val="bg2"/>
          </a:solidFill>
          <a:ln/>
        </p:spPr>
      </p:sp>
      <p:sp>
        <p:nvSpPr>
          <p:cNvPr id="11" name="Text 9"/>
          <p:cNvSpPr txBox="1"/>
          <p:nvPr/>
        </p:nvSpPr>
        <p:spPr>
          <a:xfrm>
            <a:off x="4609490" y="256032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WEEKS 2–3</a:t>
            </a:r>
            <a:endParaRPr lang="en-US" sz="1050" dirty="0"/>
          </a:p>
        </p:txBody>
      </p:sp>
      <p:sp>
        <p:nvSpPr>
          <p:cNvPr id="12" name="Text 10"/>
          <p:cNvSpPr txBox="1"/>
          <p:nvPr/>
        </p:nvSpPr>
        <p:spPr>
          <a:xfrm>
            <a:off x="4609490" y="283464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Feels slower. That’s normal!</a:t>
            </a:r>
            <a:endParaRPr lang="en-US" sz="1500" dirty="0"/>
          </a:p>
        </p:txBody>
      </p:sp>
      <p:sp>
        <p:nvSpPr>
          <p:cNvPr id="13" name="Text 11"/>
          <p:cNvSpPr txBox="1"/>
          <p:nvPr/>
        </p:nvSpPr>
        <p:spPr>
          <a:xfrm>
            <a:off x="4609490" y="322783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Briefing takes time and it can feel quicker to do it yourself. Stick with it.</a:t>
            </a:r>
            <a:endParaRPr lang="en-US" sz="1150" dirty="0"/>
          </a:p>
        </p:txBody>
      </p:sp>
      <p:sp>
        <p:nvSpPr>
          <p:cNvPr id="14" name="card"/>
          <p:cNvSpPr/>
          <p:nvPr/>
        </p:nvSpPr>
        <p:spPr>
          <a:xfrm>
            <a:off x="8039405" y="2148840"/>
            <a:ext cx="3521354" cy="1417320"/>
          </a:xfrm>
          <a:prstGeom prst="roundRect">
            <a:avLst>
              <a:gd name="adj" fmla="val 5161"/>
            </a:avLst>
          </a:prstGeom>
          <a:solidFill>
            <a:schemeClr val="accent4"/>
          </a:solidFill>
          <a:ln/>
        </p:spPr>
      </p:sp>
      <p:sp>
        <p:nvSpPr>
          <p:cNvPr id="15" name="Text 13"/>
          <p:cNvSpPr txBox="1"/>
          <p:nvPr/>
        </p:nvSpPr>
        <p:spPr>
          <a:xfrm>
            <a:off x="8313725"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6" name="Text 14"/>
          <p:cNvSpPr txBox="1"/>
          <p:nvPr/>
        </p:nvSpPr>
        <p:spPr>
          <a:xfrm>
            <a:off x="8313725"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It starts to click</a:t>
            </a:r>
            <a:endParaRPr lang="en-US" sz="1500" dirty="0"/>
          </a:p>
        </p:txBody>
      </p:sp>
      <p:sp>
        <p:nvSpPr>
          <p:cNvPr id="17" name="Text 15"/>
          <p:cNvSpPr txBox="1"/>
          <p:nvPr/>
        </p:nvSpPr>
        <p:spPr>
          <a:xfrm>
            <a:off x="8313725"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Routines form, briefs get shorter, and time starts coming back.</a:t>
            </a:r>
            <a:endParaRPr lang="en-US" sz="1150" dirty="0"/>
          </a:p>
        </p:txBody>
      </p:sp>
      <p:sp>
        <p:nvSpPr>
          <p:cNvPr id="18" name="card"/>
          <p:cNvSpPr/>
          <p:nvPr/>
        </p:nvSpPr>
        <p:spPr>
          <a:xfrm>
            <a:off x="630936" y="4069080"/>
            <a:ext cx="5373472" cy="2103120"/>
          </a:xfrm>
          <a:prstGeom prst="roundRect">
            <a:avLst>
              <a:gd name="adj" fmla="val 3478"/>
            </a:avLst>
          </a:prstGeom>
          <a:solidFill>
            <a:schemeClr val="bg1"/>
          </a:solidFill>
          <a:ln w="12700">
            <a:solidFill>
              <a:schemeClr val="accent5"/>
            </a:solidFill>
            <a:prstDash val="solid"/>
          </a:ln>
        </p:spPr>
      </p:sp>
      <p:sp>
        <p:nvSpPr>
          <p:cNvPr id="19" name="Text 17"/>
          <p:cNvSpPr txBox="1"/>
          <p:nvPr/>
        </p:nvSpPr>
        <p:spPr>
          <a:xfrm>
            <a:off x="905256"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READING YOUR DAILY EOD REPORT</a:t>
            </a:r>
            <a:endParaRPr lang="en-US" sz="1050" dirty="0"/>
          </a:p>
        </p:txBody>
      </p:sp>
      <p:sp>
        <p:nvSpPr>
          <p:cNvPr id="20" name="Text 18"/>
          <p:cNvSpPr txBox="1"/>
          <p:nvPr/>
        </p:nvSpPr>
        <p:spPr>
          <a:xfrm>
            <a:off x="905256" y="4498848"/>
            <a:ext cx="4824832" cy="274320"/>
          </a:xfrm>
          <a:prstGeom prst="rect">
            <a:avLst/>
          </a:prstGeom>
          <a:noFill/>
          <a:ln/>
        </p:spPr>
        <p:txBody>
          <a:bodyPr wrap="square" lIns="0" tIns="0" rIns="0" bIns="0" rtlCol="0" anchor="ctr"/>
          <a:lstStyle/>
          <a:p>
            <a:pPr indent="0" marL="0">
              <a:buNone/>
            </a:pPr>
            <a:r>
              <a:rPr lang="en-US" sz="1200" dirty="0">
                <a:solidFill>
                  <a:schemeClr val="accent3"/>
                </a:solidFill>
              </a:rPr>
              <a:t>Your Associate sends one every working day:</a:t>
            </a:r>
            <a:endParaRPr lang="en-US" sz="1200" dirty="0"/>
          </a:p>
        </p:txBody>
      </p:sp>
      <p:sp>
        <p:nvSpPr>
          <p:cNvPr id="21" name="Text 19"/>
          <p:cNvSpPr txBox="1"/>
          <p:nvPr/>
        </p:nvSpPr>
        <p:spPr>
          <a:xfrm>
            <a:off x="905256"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Done today</a:t>
            </a:r>
            <a:endParaRPr lang="en-US" sz="1150" dirty="0"/>
          </a:p>
          <a:p>
            <a:pPr indent="0" marL="0">
              <a:buNone/>
            </a:pPr>
            <a:r>
              <a:rPr lang="en-US" sz="1150" dirty="0">
                <a:solidFill>
                  <a:schemeClr val="accent3"/>
                </a:solidFill>
              </a:rPr>
              <a:t>check it matches priorities</a:t>
            </a:r>
            <a:endParaRPr lang="en-US" sz="1150" dirty="0"/>
          </a:p>
        </p:txBody>
      </p:sp>
      <p:sp>
        <p:nvSpPr>
          <p:cNvPr id="22" name="Text 20"/>
          <p:cNvSpPr txBox="1"/>
          <p:nvPr/>
        </p:nvSpPr>
        <p:spPr>
          <a:xfrm>
            <a:off x="3317672"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In progress</a:t>
            </a:r>
            <a:endParaRPr lang="en-US" sz="1150" dirty="0"/>
          </a:p>
          <a:p>
            <a:pPr indent="0" marL="0">
              <a:buNone/>
            </a:pPr>
            <a:r>
              <a:rPr lang="en-US" sz="1150" dirty="0">
                <a:solidFill>
                  <a:schemeClr val="accent3"/>
                </a:solidFill>
              </a:rPr>
              <a:t>spot anything stuck</a:t>
            </a:r>
            <a:endParaRPr lang="en-US" sz="1150" dirty="0"/>
          </a:p>
        </p:txBody>
      </p:sp>
      <p:sp>
        <p:nvSpPr>
          <p:cNvPr id="23" name="Text 21"/>
          <p:cNvSpPr txBox="1"/>
          <p:nvPr/>
        </p:nvSpPr>
        <p:spPr>
          <a:xfrm>
            <a:off x="905256"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Questions</a:t>
            </a:r>
            <a:endParaRPr lang="en-US" sz="1150" dirty="0"/>
          </a:p>
          <a:p>
            <a:pPr indent="0" marL="0">
              <a:buNone/>
            </a:pPr>
            <a:r>
              <a:rPr lang="en-US" sz="1150" dirty="0">
                <a:solidFill>
                  <a:schemeClr val="accent3"/>
                </a:solidFill>
              </a:rPr>
              <a:t>reply within 24 hours</a:t>
            </a:r>
            <a:endParaRPr lang="en-US" sz="1150" dirty="0"/>
          </a:p>
        </p:txBody>
      </p:sp>
      <p:sp>
        <p:nvSpPr>
          <p:cNvPr id="24" name="Text 22"/>
          <p:cNvSpPr txBox="1"/>
          <p:nvPr/>
        </p:nvSpPr>
        <p:spPr>
          <a:xfrm>
            <a:off x="3317672"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Tomorrow</a:t>
            </a:r>
            <a:endParaRPr lang="en-US" sz="1150" dirty="0"/>
          </a:p>
          <a:p>
            <a:pPr indent="0" marL="0">
              <a:buNone/>
            </a:pPr>
            <a:r>
              <a:rPr lang="en-US" sz="1150" dirty="0">
                <a:solidFill>
                  <a:schemeClr val="accent3"/>
                </a:solidFill>
              </a:rPr>
              <a:t>adjust if priorities changed</a:t>
            </a:r>
            <a:endParaRPr lang="en-US" sz="1150" dirty="0"/>
          </a:p>
        </p:txBody>
      </p:sp>
      <p:sp>
        <p:nvSpPr>
          <p:cNvPr id="25" name="card"/>
          <p:cNvSpPr/>
          <p:nvPr/>
        </p:nvSpPr>
        <p:spPr>
          <a:xfrm>
            <a:off x="6187288" y="4069080"/>
            <a:ext cx="5373472" cy="2103120"/>
          </a:xfrm>
          <a:prstGeom prst="roundRect">
            <a:avLst>
              <a:gd name="adj" fmla="val 3478"/>
            </a:avLst>
          </a:prstGeom>
          <a:solidFill>
            <a:schemeClr val="accent4"/>
          </a:solidFill>
          <a:ln/>
        </p:spPr>
      </p:sp>
      <p:sp>
        <p:nvSpPr>
          <p:cNvPr id="26" name="Text 24"/>
          <p:cNvSpPr txBox="1"/>
          <p:nvPr/>
        </p:nvSpPr>
        <p:spPr>
          <a:xfrm>
            <a:off x="6461608"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GIVING FEEDBACK: 3 STEPS</a:t>
            </a:r>
            <a:endParaRPr lang="en-US" sz="1050" dirty="0"/>
          </a:p>
        </p:txBody>
      </p:sp>
      <p:sp>
        <p:nvSpPr>
          <p:cNvPr id="27" name="number 1"/>
          <p:cNvSpPr/>
          <p:nvPr/>
        </p:nvSpPr>
        <p:spPr>
          <a:xfrm>
            <a:off x="6461608" y="4572000"/>
            <a:ext cx="329184" cy="329184"/>
          </a:xfrm>
          <a:prstGeom prst="ellipse">
            <a:avLst/>
          </a:prstGeom>
          <a:solidFill>
            <a:schemeClr val="accent1"/>
          </a:solidFill>
          <a:ln/>
        </p:spPr>
      </p:sp>
      <p:sp>
        <p:nvSpPr>
          <p:cNvPr id="28" name="Text 26"/>
          <p:cNvSpPr txBox="1"/>
          <p:nvPr/>
        </p:nvSpPr>
        <p:spPr>
          <a:xfrm>
            <a:off x="6461608" y="4572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Text 27"/>
          <p:cNvSpPr txBox="1"/>
          <p:nvPr/>
        </p:nvSpPr>
        <p:spPr>
          <a:xfrm>
            <a:off x="6918808" y="4572000"/>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worked</a:t>
            </a:r>
            <a:endParaRPr lang="en-US" sz="1300" dirty="0"/>
          </a:p>
        </p:txBody>
      </p:sp>
      <p:sp>
        <p:nvSpPr>
          <p:cNvPr id="30" name="number 2"/>
          <p:cNvSpPr/>
          <p:nvPr/>
        </p:nvSpPr>
        <p:spPr>
          <a:xfrm>
            <a:off x="6461608" y="5001768"/>
            <a:ext cx="329184" cy="329184"/>
          </a:xfrm>
          <a:prstGeom prst="ellipse">
            <a:avLst/>
          </a:prstGeom>
          <a:solidFill>
            <a:schemeClr val="accent1"/>
          </a:solidFill>
          <a:ln/>
        </p:spPr>
      </p:sp>
      <p:sp>
        <p:nvSpPr>
          <p:cNvPr id="31" name="Text 29"/>
          <p:cNvSpPr txBox="1"/>
          <p:nvPr/>
        </p:nvSpPr>
        <p:spPr>
          <a:xfrm>
            <a:off x="6461608" y="50017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2" name="Text 30"/>
          <p:cNvSpPr txBox="1"/>
          <p:nvPr/>
        </p:nvSpPr>
        <p:spPr>
          <a:xfrm>
            <a:off x="6918808" y="5001768"/>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to change</a:t>
            </a:r>
            <a:endParaRPr lang="en-US" sz="1300" dirty="0"/>
          </a:p>
        </p:txBody>
      </p:sp>
      <p:sp>
        <p:nvSpPr>
          <p:cNvPr id="33" name="number 3"/>
          <p:cNvSpPr/>
          <p:nvPr/>
        </p:nvSpPr>
        <p:spPr>
          <a:xfrm>
            <a:off x="6461608" y="5431536"/>
            <a:ext cx="329184" cy="329184"/>
          </a:xfrm>
          <a:prstGeom prst="ellipse">
            <a:avLst/>
          </a:prstGeom>
          <a:solidFill>
            <a:schemeClr val="accent1"/>
          </a:solidFill>
          <a:ln/>
        </p:spPr>
      </p:sp>
      <p:sp>
        <p:nvSpPr>
          <p:cNvPr id="34" name="Text 32"/>
          <p:cNvSpPr txBox="1"/>
          <p:nvPr/>
        </p:nvSpPr>
        <p:spPr>
          <a:xfrm>
            <a:off x="6461608" y="54315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Text 33"/>
          <p:cNvSpPr txBox="1"/>
          <p:nvPr/>
        </p:nvSpPr>
        <p:spPr>
          <a:xfrm>
            <a:off x="6918808" y="5431536"/>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Agree the next step</a:t>
            </a:r>
            <a:endParaRPr lang="en-US" sz="1300" dirty="0"/>
          </a:p>
        </p:txBody>
      </p:sp>
      <p:sp>
        <p:nvSpPr>
          <p:cNvPr id="36" name="Text 34"/>
          <p:cNvSpPr txBox="1"/>
          <p:nvPr/>
        </p:nvSpPr>
        <p:spPr>
          <a:xfrm>
            <a:off x="6461608" y="5833872"/>
            <a:ext cx="4824832" cy="274320"/>
          </a:xfrm>
          <a:prstGeom prst="rect">
            <a:avLst/>
          </a:prstGeom>
          <a:noFill/>
          <a:ln/>
        </p:spPr>
        <p:txBody>
          <a:bodyPr wrap="square" lIns="0" tIns="0" rIns="0" bIns="0" rtlCol="0" anchor="ctr"/>
          <a:lstStyle/>
          <a:p>
            <a:pPr indent="0" marL="0">
              <a:buNone/>
            </a:pPr>
            <a:r>
              <a:rPr lang="en-US" sz="1150" b="1" dirty="0">
                <a:solidFill>
                  <a:schemeClr val="accent1"/>
                </a:solidFill>
              </a:rPr>
              <a:t>Give feedback early and often. Stuck? Bring in your CAX team.</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4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Well Together</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Small habits that build a great long-term relationship, plus quick answers for the moments that worry first-time clients.</a:t>
            </a:r>
            <a:endParaRPr lang="en-US" sz="1300" dirty="0"/>
          </a:p>
        </p:txBody>
      </p:sp>
      <p:sp>
        <p:nvSpPr>
          <p:cNvPr id="5" name="card"/>
          <p:cNvSpPr/>
          <p:nvPr/>
        </p:nvSpPr>
        <p:spPr>
          <a:xfrm>
            <a:off x="630936" y="1965960"/>
            <a:ext cx="3521354" cy="4206240"/>
          </a:xfrm>
          <a:prstGeom prst="roundRect">
            <a:avLst>
              <a:gd name="adj" fmla="val 2077"/>
            </a:avLst>
          </a:prstGeom>
          <a:solidFill>
            <a:schemeClr val="accent4"/>
          </a:solidFill>
          <a:ln/>
        </p:spPr>
      </p:sp>
      <p:sp>
        <p:nvSpPr>
          <p:cNvPr id="6" name="Text 4"/>
          <p:cNvSpPr txBox="1"/>
          <p:nvPr/>
        </p:nvSpPr>
        <p:spPr>
          <a:xfrm>
            <a:off x="905256"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WORKING WELL WITH YOUR ANGEL</a:t>
            </a:r>
            <a:endParaRPr lang="en-US" sz="1050" dirty="0"/>
          </a:p>
        </p:txBody>
      </p:sp>
      <p:sp>
        <p:nvSpPr>
          <p:cNvPr id="7" name="Text 5"/>
          <p:cNvSpPr txBox="1"/>
          <p:nvPr/>
        </p:nvSpPr>
        <p:spPr>
          <a:xfrm>
            <a:off x="905256" y="2560320"/>
            <a:ext cx="2972714" cy="777240"/>
          </a:xfrm>
          <a:prstGeom prst="rect">
            <a:avLst/>
          </a:prstGeom>
          <a:noFill/>
          <a:ln/>
        </p:spPr>
        <p:txBody>
          <a:bodyPr wrap="square" lIns="0" tIns="0" rIns="0" bIns="0" rtlCol="0" anchor="t"/>
          <a:lstStyle/>
          <a:p>
            <a:pPr indent="0" marL="0">
              <a:buNone/>
            </a:pPr>
            <a:r>
              <a:rPr lang="en-US" sz="1250" b="1" dirty="0">
                <a:solidFill>
                  <a:schemeClr val="tx1"/>
                </a:solidFill>
              </a:rPr>
              <a:t>Invite questions. </a:t>
            </a:r>
            <a:pPr indent="0" marL="0">
              <a:buNone/>
            </a:pPr>
            <a:r>
              <a:rPr lang="en-US" sz="1250" dirty="0">
                <a:solidFill>
                  <a:schemeClr val="accent3"/>
                </a:solidFill>
              </a:rPr>
              <a:t>Many Angels won’t say “I don’t understand” unless asked.</a:t>
            </a:r>
            <a:endParaRPr lang="en-US" sz="1250" dirty="0"/>
          </a:p>
        </p:txBody>
      </p:sp>
      <p:sp>
        <p:nvSpPr>
          <p:cNvPr id="8" name="Text 6"/>
          <p:cNvSpPr txBox="1"/>
          <p:nvPr/>
        </p:nvSpPr>
        <p:spPr>
          <a:xfrm>
            <a:off x="905256" y="3429000"/>
            <a:ext cx="2972714" cy="777240"/>
          </a:xfrm>
          <a:prstGeom prst="rect">
            <a:avLst/>
          </a:prstGeom>
          <a:noFill/>
          <a:ln/>
        </p:spPr>
        <p:txBody>
          <a:bodyPr wrap="square" lIns="0" tIns="0" rIns="0" bIns="0" rtlCol="0" anchor="t"/>
          <a:lstStyle/>
          <a:p>
            <a:pPr indent="0" marL="0">
              <a:buNone/>
            </a:pPr>
            <a:r>
              <a:rPr lang="en-US" sz="1250" b="1" dirty="0">
                <a:solidFill>
                  <a:schemeClr val="tx1"/>
                </a:solidFill>
              </a:rPr>
              <a:t>Ask open questions. </a:t>
            </a:r>
            <a:pPr indent="0" marL="0">
              <a:buNone/>
            </a:pPr>
            <a:r>
              <a:rPr lang="en-US" sz="1250" dirty="0">
                <a:solidFill>
                  <a:schemeClr val="accent3"/>
                </a:solidFill>
              </a:rPr>
              <a:t>“How would you approach this?” beats “Is that okay?”</a:t>
            </a:r>
            <a:endParaRPr lang="en-US" sz="1250" dirty="0"/>
          </a:p>
        </p:txBody>
      </p:sp>
      <p:sp>
        <p:nvSpPr>
          <p:cNvPr id="9" name="Text 7"/>
          <p:cNvSpPr txBox="1"/>
          <p:nvPr/>
        </p:nvSpPr>
        <p:spPr>
          <a:xfrm>
            <a:off x="905256" y="4297680"/>
            <a:ext cx="2972714" cy="777240"/>
          </a:xfrm>
          <a:prstGeom prst="rect">
            <a:avLst/>
          </a:prstGeom>
          <a:noFill/>
          <a:ln/>
        </p:spPr>
        <p:txBody>
          <a:bodyPr wrap="square" lIns="0" tIns="0" rIns="0" bIns="0" rtlCol="0" anchor="t"/>
          <a:lstStyle/>
          <a:p>
            <a:pPr indent="0" marL="0">
              <a:buNone/>
            </a:pPr>
            <a:r>
              <a:rPr lang="en-US" sz="1250" b="1" dirty="0">
                <a:solidFill>
                  <a:schemeClr val="tx1"/>
                </a:solidFill>
              </a:rPr>
              <a:t>Recognise good work, </a:t>
            </a:r>
            <a:pPr indent="0" marL="0">
              <a:buNone/>
            </a:pPr>
            <a:r>
              <a:rPr lang="en-US" sz="1250" dirty="0">
                <a:solidFill>
                  <a:schemeClr val="accent3"/>
                </a:solidFill>
              </a:rPr>
              <a:t>out loud and often.</a:t>
            </a:r>
            <a:endParaRPr lang="en-US" sz="1250" dirty="0"/>
          </a:p>
        </p:txBody>
      </p:sp>
      <p:sp>
        <p:nvSpPr>
          <p:cNvPr id="10" name="Text 8"/>
          <p:cNvSpPr txBox="1"/>
          <p:nvPr/>
        </p:nvSpPr>
        <p:spPr>
          <a:xfrm>
            <a:off x="905256" y="5166360"/>
            <a:ext cx="2972714" cy="777240"/>
          </a:xfrm>
          <a:prstGeom prst="rect">
            <a:avLst/>
          </a:prstGeom>
          <a:noFill/>
          <a:ln/>
        </p:spPr>
        <p:txBody>
          <a:bodyPr wrap="square" lIns="0" tIns="0" rIns="0" bIns="0" rtlCol="0" anchor="t"/>
          <a:lstStyle/>
          <a:p>
            <a:pPr indent="0" marL="0">
              <a:buNone/>
            </a:pPr>
            <a:r>
              <a:rPr lang="en-US" sz="1250" b="1" dirty="0">
                <a:solidFill>
                  <a:schemeClr val="tx1"/>
                </a:solidFill>
              </a:rPr>
              <a:t>Get to know them: </a:t>
            </a:r>
            <a:pPr indent="0" marL="0">
              <a:buNone/>
            </a:pPr>
            <a:r>
              <a:rPr lang="en-US" sz="1250" dirty="0">
                <a:solidFill>
                  <a:schemeClr val="accent3"/>
                </a:solidFill>
              </a:rPr>
              <a:t>their holidays, family and goals.</a:t>
            </a:r>
            <a:endParaRPr lang="en-US" sz="1250" dirty="0"/>
          </a:p>
        </p:txBody>
      </p:sp>
      <p:sp>
        <p:nvSpPr>
          <p:cNvPr id="11" name="card"/>
          <p:cNvSpPr/>
          <p:nvPr/>
        </p:nvSpPr>
        <p:spPr>
          <a:xfrm>
            <a:off x="4335170" y="1965960"/>
            <a:ext cx="3521354" cy="4206240"/>
          </a:xfrm>
          <a:prstGeom prst="roundRect">
            <a:avLst>
              <a:gd name="adj" fmla="val 2077"/>
            </a:avLst>
          </a:prstGeom>
          <a:solidFill>
            <a:schemeClr val="bg1"/>
          </a:solidFill>
          <a:ln w="12700">
            <a:solidFill>
              <a:schemeClr val="accent5"/>
            </a:solidFill>
            <a:prstDash val="solid"/>
          </a:ln>
        </p:spPr>
      </p:sp>
      <p:sp>
        <p:nvSpPr>
          <p:cNvPr id="12" name="Text 10"/>
          <p:cNvSpPr txBox="1"/>
          <p:nvPr/>
        </p:nvSpPr>
        <p:spPr>
          <a:xfrm>
            <a:off x="4609490"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IF…?</a:t>
            </a:r>
            <a:endParaRPr lang="en-US" sz="1050" dirty="0"/>
          </a:p>
        </p:txBody>
      </p:sp>
      <p:sp>
        <p:nvSpPr>
          <p:cNvPr id="13" name="Text 11"/>
          <p:cNvSpPr txBox="1"/>
          <p:nvPr/>
        </p:nvSpPr>
        <p:spPr>
          <a:xfrm>
            <a:off x="4609490" y="2514600"/>
            <a:ext cx="2972714" cy="685800"/>
          </a:xfrm>
          <a:prstGeom prst="rect">
            <a:avLst/>
          </a:prstGeom>
          <a:noFill/>
          <a:ln/>
        </p:spPr>
        <p:txBody>
          <a:bodyPr wrap="square" lIns="0" tIns="0" rIns="0" bIns="0" rtlCol="0" anchor="t"/>
          <a:lstStyle/>
          <a:p>
            <a:pPr indent="0" marL="0">
              <a:buNone/>
            </a:pPr>
            <a:r>
              <a:rPr lang="en-US" sz="1150" b="1" dirty="0">
                <a:solidFill>
                  <a:schemeClr val="tx1"/>
                </a:solidFill>
              </a:rPr>
              <a:t>My Angel is sick or offline?</a:t>
            </a:r>
            <a:endParaRPr lang="en-US" sz="1150" dirty="0"/>
          </a:p>
          <a:p>
            <a:pPr indent="0" marL="0">
              <a:buNone/>
            </a:pPr>
            <a:r>
              <a:rPr lang="en-US" sz="1150" dirty="0">
                <a:solidFill>
                  <a:schemeClr val="accent3"/>
                </a:solidFill>
              </a:rPr>
              <a:t>They’ll tell you as early as possible, and your Account Manager helps keep priorities covered.</a:t>
            </a:r>
            <a:endParaRPr lang="en-US" sz="1150" dirty="0"/>
          </a:p>
        </p:txBody>
      </p:sp>
      <p:sp>
        <p:nvSpPr>
          <p:cNvPr id="14" name="Text 12"/>
          <p:cNvSpPr txBox="1"/>
          <p:nvPr/>
        </p:nvSpPr>
        <p:spPr>
          <a:xfrm>
            <a:off x="4609490" y="3227832"/>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not happy?</a:t>
            </a:r>
            <a:endParaRPr lang="en-US" sz="1150" dirty="0"/>
          </a:p>
          <a:p>
            <a:pPr indent="0" marL="0">
              <a:buNone/>
            </a:pPr>
            <a:r>
              <a:rPr lang="en-US" sz="1150" dirty="0">
                <a:solidFill>
                  <a:schemeClr val="accent3"/>
                </a:solidFill>
              </a:rPr>
              <a:t>Tell your Account Manager any time. Free replacement, with a 1-week trial.</a:t>
            </a:r>
            <a:endParaRPr lang="en-US" sz="1150" dirty="0"/>
          </a:p>
        </p:txBody>
      </p:sp>
      <p:sp>
        <p:nvSpPr>
          <p:cNvPr id="15" name="Text 13"/>
          <p:cNvSpPr txBox="1"/>
          <p:nvPr/>
        </p:nvSpPr>
        <p:spPr>
          <a:xfrm>
            <a:off x="4609490" y="3941064"/>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need more hours?</a:t>
            </a:r>
            <a:endParaRPr lang="en-US" sz="1150" dirty="0"/>
          </a:p>
          <a:p>
            <a:pPr indent="0" marL="0">
              <a:buNone/>
            </a:pPr>
            <a:r>
              <a:rPr lang="en-US" sz="1150" dirty="0">
                <a:solidFill>
                  <a:schemeClr val="accent3"/>
                </a:solidFill>
              </a:rPr>
              <a:t>Ask your Account Manager. Hours can flex up.</a:t>
            </a:r>
            <a:endParaRPr lang="en-US" sz="1150" dirty="0"/>
          </a:p>
        </p:txBody>
      </p:sp>
      <p:sp>
        <p:nvSpPr>
          <p:cNvPr id="16" name="Text 14"/>
          <p:cNvSpPr txBox="1"/>
          <p:nvPr/>
        </p:nvSpPr>
        <p:spPr>
          <a:xfrm>
            <a:off x="4609490" y="4654296"/>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on holiday?</a:t>
            </a:r>
            <a:endParaRPr lang="en-US" sz="1150" dirty="0"/>
          </a:p>
          <a:p>
            <a:pPr indent="0" marL="0">
              <a:buNone/>
            </a:pPr>
            <a:r>
              <a:rPr lang="en-US" sz="1150" dirty="0">
                <a:solidFill>
                  <a:schemeClr val="accent3"/>
                </a:solidFill>
              </a:rPr>
              <a:t>Leave a priority list. Your Angel keeps things moving.</a:t>
            </a:r>
            <a:endParaRPr lang="en-US" sz="1150" dirty="0"/>
          </a:p>
        </p:txBody>
      </p:sp>
      <p:sp>
        <p:nvSpPr>
          <p:cNvPr id="17" name="Text 15"/>
          <p:cNvSpPr txBox="1"/>
          <p:nvPr/>
        </p:nvSpPr>
        <p:spPr>
          <a:xfrm>
            <a:off x="4609490" y="5367528"/>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have billing questions?</a:t>
            </a:r>
            <a:endParaRPr lang="en-US" sz="1150" dirty="0"/>
          </a:p>
          <a:p>
            <a:pPr indent="0" marL="0">
              <a:buNone/>
            </a:pPr>
            <a:r>
              <a:rPr lang="en-US" sz="1150" dirty="0">
                <a:solidFill>
                  <a:schemeClr val="accent3"/>
                </a:solidFill>
              </a:rPr>
              <a:t>Your Account Manager walks you through it at kick-off.</a:t>
            </a:r>
            <a:endParaRPr lang="en-US" sz="1150" dirty="0"/>
          </a:p>
        </p:txBody>
      </p:sp>
      <p:sp>
        <p:nvSpPr>
          <p:cNvPr id="18" name="card"/>
          <p:cNvSpPr/>
          <p:nvPr/>
        </p:nvSpPr>
        <p:spPr>
          <a:xfrm>
            <a:off x="8039405" y="1965960"/>
            <a:ext cx="3521354" cy="4206240"/>
          </a:xfrm>
          <a:prstGeom prst="roundRect">
            <a:avLst>
              <a:gd name="adj" fmla="val 2077"/>
            </a:avLst>
          </a:prstGeom>
          <a:solidFill>
            <a:schemeClr val="bg2"/>
          </a:solidFill>
          <a:ln/>
        </p:spPr>
      </p:sp>
      <p:sp>
        <p:nvSpPr>
          <p:cNvPr id="19" name="Text 17"/>
          <p:cNvSpPr txBox="1"/>
          <p:nvPr/>
        </p:nvSpPr>
        <p:spPr>
          <a:xfrm>
            <a:off x="8313725" y="214884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FIRST-TIME MISTAKES TO AVOID</a:t>
            </a:r>
            <a:endParaRPr lang="en-US" sz="1050" dirty="0"/>
          </a:p>
        </p:txBody>
      </p:sp>
      <p:sp>
        <p:nvSpPr>
          <p:cNvPr id="20" name="mistake 1"/>
          <p:cNvSpPr/>
          <p:nvPr/>
        </p:nvSpPr>
        <p:spPr>
          <a:xfrm>
            <a:off x="8313725" y="2606040"/>
            <a:ext cx="329184" cy="329184"/>
          </a:xfrm>
          <a:prstGeom prst="ellipse">
            <a:avLst/>
          </a:prstGeom>
          <a:solidFill>
            <a:schemeClr val="bg1"/>
          </a:solidFill>
          <a:ln w="19050">
            <a:solidFill>
              <a:schemeClr val="accent6"/>
            </a:solidFill>
            <a:prstDash val="solid"/>
          </a:ln>
        </p:spPr>
      </p:sp>
      <p:sp>
        <p:nvSpPr>
          <p:cNvPr id="21" name="Text 19"/>
          <p:cNvSpPr txBox="1"/>
          <p:nvPr/>
        </p:nvSpPr>
        <p:spPr>
          <a:xfrm>
            <a:off x="8313725" y="26060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2" name="Text 20"/>
          <p:cNvSpPr txBox="1"/>
          <p:nvPr/>
        </p:nvSpPr>
        <p:spPr>
          <a:xfrm>
            <a:off x="8770925" y="25603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Vague instructions</a:t>
            </a:r>
            <a:endParaRPr lang="en-US" sz="1250" dirty="0"/>
          </a:p>
        </p:txBody>
      </p:sp>
      <p:sp>
        <p:nvSpPr>
          <p:cNvPr id="23" name="mistake 2"/>
          <p:cNvSpPr/>
          <p:nvPr/>
        </p:nvSpPr>
        <p:spPr>
          <a:xfrm>
            <a:off x="8313725" y="3291840"/>
            <a:ext cx="329184" cy="329184"/>
          </a:xfrm>
          <a:prstGeom prst="ellipse">
            <a:avLst/>
          </a:prstGeom>
          <a:solidFill>
            <a:schemeClr val="bg1"/>
          </a:solidFill>
          <a:ln w="19050">
            <a:solidFill>
              <a:schemeClr val="accent6"/>
            </a:solidFill>
            <a:prstDash val="solid"/>
          </a:ln>
        </p:spPr>
      </p:sp>
      <p:sp>
        <p:nvSpPr>
          <p:cNvPr id="24" name="Text 22"/>
          <p:cNvSpPr txBox="1"/>
          <p:nvPr/>
        </p:nvSpPr>
        <p:spPr>
          <a:xfrm>
            <a:off x="8313725" y="32918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5" name="Text 23"/>
          <p:cNvSpPr txBox="1"/>
          <p:nvPr/>
        </p:nvSpPr>
        <p:spPr>
          <a:xfrm>
            <a:off x="8770925" y="32461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 access on Day 1</a:t>
            </a:r>
            <a:endParaRPr lang="en-US" sz="1250" dirty="0"/>
          </a:p>
        </p:txBody>
      </p:sp>
      <p:sp>
        <p:nvSpPr>
          <p:cNvPr id="26" name="mistake 3"/>
          <p:cNvSpPr/>
          <p:nvPr/>
        </p:nvSpPr>
        <p:spPr>
          <a:xfrm>
            <a:off x="8313725" y="3977640"/>
            <a:ext cx="329184" cy="329184"/>
          </a:xfrm>
          <a:prstGeom prst="ellipse">
            <a:avLst/>
          </a:prstGeom>
          <a:solidFill>
            <a:schemeClr val="bg1"/>
          </a:solidFill>
          <a:ln w="19050">
            <a:solidFill>
              <a:schemeClr val="accent6"/>
            </a:solidFill>
            <a:prstDash val="solid"/>
          </a:ln>
        </p:spPr>
      </p:sp>
      <p:sp>
        <p:nvSpPr>
          <p:cNvPr id="27" name="Text 25"/>
          <p:cNvSpPr txBox="1"/>
          <p:nvPr/>
        </p:nvSpPr>
        <p:spPr>
          <a:xfrm>
            <a:off x="8313725" y="39776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8" name="Text 26"/>
          <p:cNvSpPr txBox="1"/>
          <p:nvPr/>
        </p:nvSpPr>
        <p:spPr>
          <a:xfrm>
            <a:off x="8770925" y="39319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Doing it yourself “because it’s faster”</a:t>
            </a:r>
            <a:endParaRPr lang="en-US" sz="1250" dirty="0"/>
          </a:p>
        </p:txBody>
      </p:sp>
      <p:sp>
        <p:nvSpPr>
          <p:cNvPr id="29" name="mistake 4"/>
          <p:cNvSpPr/>
          <p:nvPr/>
        </p:nvSpPr>
        <p:spPr>
          <a:xfrm>
            <a:off x="8313725" y="4663440"/>
            <a:ext cx="329184" cy="329184"/>
          </a:xfrm>
          <a:prstGeom prst="ellipse">
            <a:avLst/>
          </a:prstGeom>
          <a:solidFill>
            <a:schemeClr val="bg1"/>
          </a:solidFill>
          <a:ln w="19050">
            <a:solidFill>
              <a:schemeClr val="accent6"/>
            </a:solidFill>
            <a:prstDash val="solid"/>
          </a:ln>
        </p:spPr>
      </p:sp>
      <p:sp>
        <p:nvSpPr>
          <p:cNvPr id="30" name="Text 28"/>
          <p:cNvSpPr txBox="1"/>
          <p:nvPr/>
        </p:nvSpPr>
        <p:spPr>
          <a:xfrm>
            <a:off x="8313725" y="46634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1" name="Text 29"/>
          <p:cNvSpPr txBox="1"/>
          <p:nvPr/>
        </p:nvSpPr>
        <p:spPr>
          <a:xfrm>
            <a:off x="8770925" y="46177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Not reading the EOD reports</a:t>
            </a:r>
            <a:endParaRPr lang="en-US" sz="1250" dirty="0"/>
          </a:p>
        </p:txBody>
      </p:sp>
      <p:sp>
        <p:nvSpPr>
          <p:cNvPr id="32" name="mistake 5"/>
          <p:cNvSpPr/>
          <p:nvPr/>
        </p:nvSpPr>
        <p:spPr>
          <a:xfrm>
            <a:off x="8313725" y="5349240"/>
            <a:ext cx="329184" cy="329184"/>
          </a:xfrm>
          <a:prstGeom prst="ellipse">
            <a:avLst/>
          </a:prstGeom>
          <a:solidFill>
            <a:schemeClr val="bg1"/>
          </a:solidFill>
          <a:ln w="19050">
            <a:solidFill>
              <a:schemeClr val="accent6"/>
            </a:solidFill>
            <a:prstDash val="solid"/>
          </a:ln>
        </p:spPr>
      </p:sp>
      <p:sp>
        <p:nvSpPr>
          <p:cNvPr id="33" name="Text 31"/>
          <p:cNvSpPr txBox="1"/>
          <p:nvPr/>
        </p:nvSpPr>
        <p:spPr>
          <a:xfrm>
            <a:off x="8313725" y="53492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4" name="Text 32"/>
          <p:cNvSpPr txBox="1"/>
          <p:nvPr/>
        </p:nvSpPr>
        <p:spPr>
          <a:xfrm>
            <a:off x="8770925" y="53035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Saving feedback until you’re frustrated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12-Month Journey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Four milestone reviews. At each one we update your Freedom Scorecard, KPIs and “Next to delegate” list.</a:t>
            </a:r>
            <a:endParaRPr lang="en-US" sz="1300" dirty="0"/>
          </a:p>
        </p:txBody>
      </p:sp>
      <p:sp>
        <p:nvSpPr>
          <p:cNvPr id="5" name="journey line"/>
          <p:cNvSpPr/>
          <p:nvPr/>
        </p:nvSpPr>
        <p:spPr>
          <a:xfrm>
            <a:off x="905256" y="2423160"/>
            <a:ext cx="10381183" cy="0"/>
          </a:xfrm>
          <a:prstGeom prst="line">
            <a:avLst/>
          </a:prstGeom>
          <a:noFill/>
          <a:ln w="38100">
            <a:solidFill>
              <a:schemeClr val="accent2"/>
            </a:solidFill>
            <a:prstDash val="solid"/>
          </a:ln>
        </p:spPr>
      </p:sp>
      <p:sp>
        <p:nvSpPr>
          <p:cNvPr id="6" name="milestone 1"/>
          <p:cNvSpPr/>
          <p:nvPr/>
        </p:nvSpPr>
        <p:spPr>
          <a:xfrm>
            <a:off x="722376" y="2221992"/>
            <a:ext cx="402336" cy="402336"/>
          </a:xfrm>
          <a:prstGeom prst="ellipse">
            <a:avLst/>
          </a:prstGeom>
          <a:solidFill>
            <a:schemeClr val="bg1"/>
          </a:solidFill>
          <a:ln w="38100">
            <a:solidFill>
              <a:schemeClr val="accent1"/>
            </a:solidFill>
            <a:prstDash val="solid"/>
          </a:ln>
        </p:spPr>
      </p:sp>
      <p:sp>
        <p:nvSpPr>
          <p:cNvPr id="7" name="card"/>
          <p:cNvSpPr/>
          <p:nvPr/>
        </p:nvSpPr>
        <p:spPr>
          <a:xfrm>
            <a:off x="630936" y="2834640"/>
            <a:ext cx="2595296" cy="2377440"/>
          </a:xfrm>
          <a:prstGeom prst="roundRect">
            <a:avLst>
              <a:gd name="adj" fmla="val 3077"/>
            </a:avLst>
          </a:prstGeom>
          <a:solidFill>
            <a:schemeClr val="bg1"/>
          </a:solidFill>
          <a:ln w="12700">
            <a:solidFill>
              <a:schemeClr val="accent5"/>
            </a:solidFill>
            <a:prstDash val="solid"/>
          </a:ln>
        </p:spPr>
      </p:sp>
      <p:sp>
        <p:nvSpPr>
          <p:cNvPr id="8" name="Text 6"/>
          <p:cNvSpPr txBox="1"/>
          <p:nvPr/>
        </p:nvSpPr>
        <p:spPr>
          <a:xfrm>
            <a:off x="859536"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30</a:t>
            </a:r>
            <a:endParaRPr lang="en-US" sz="1050" dirty="0"/>
          </a:p>
        </p:txBody>
      </p:sp>
      <p:sp>
        <p:nvSpPr>
          <p:cNvPr id="9" name="Text 7"/>
          <p:cNvSpPr txBox="1"/>
          <p:nvPr/>
        </p:nvSpPr>
        <p:spPr>
          <a:xfrm>
            <a:off x="859536"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First check-in</a:t>
            </a:r>
            <a:endParaRPr lang="en-US" sz="1600" dirty="0"/>
          </a:p>
        </p:txBody>
      </p:sp>
      <p:sp>
        <p:nvSpPr>
          <p:cNvPr id="10" name="Text 8"/>
          <p:cNvSpPr txBox="1"/>
          <p:nvPr/>
        </p:nvSpPr>
        <p:spPr>
          <a:xfrm>
            <a:off x="859536"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Diary and inbox pipeline running. First skills and KPI check-in.</a:t>
            </a:r>
            <a:endParaRPr lang="en-US" sz="1200" dirty="0"/>
          </a:p>
        </p:txBody>
      </p:sp>
      <p:sp>
        <p:nvSpPr>
          <p:cNvPr id="11" name="milestone 2"/>
          <p:cNvSpPr/>
          <p:nvPr/>
        </p:nvSpPr>
        <p:spPr>
          <a:xfrm>
            <a:off x="3500552" y="2221992"/>
            <a:ext cx="402336" cy="402336"/>
          </a:xfrm>
          <a:prstGeom prst="ellipse">
            <a:avLst/>
          </a:prstGeom>
          <a:solidFill>
            <a:schemeClr val="bg1"/>
          </a:solidFill>
          <a:ln w="38100">
            <a:solidFill>
              <a:schemeClr val="accent1"/>
            </a:solidFill>
            <a:prstDash val="solid"/>
          </a:ln>
        </p:spPr>
      </p:sp>
      <p:sp>
        <p:nvSpPr>
          <p:cNvPr id="12" name="card"/>
          <p:cNvSpPr/>
          <p:nvPr/>
        </p:nvSpPr>
        <p:spPr>
          <a:xfrm>
            <a:off x="3409112" y="2834640"/>
            <a:ext cx="2595296" cy="2377440"/>
          </a:xfrm>
          <a:prstGeom prst="roundRect">
            <a:avLst>
              <a:gd name="adj" fmla="val 3077"/>
            </a:avLst>
          </a:prstGeom>
          <a:solidFill>
            <a:schemeClr val="bg1"/>
          </a:solidFill>
          <a:ln w="12700">
            <a:solidFill>
              <a:schemeClr val="accent5"/>
            </a:solidFill>
            <a:prstDash val="solid"/>
          </a:ln>
        </p:spPr>
      </p:sp>
      <p:sp>
        <p:nvSpPr>
          <p:cNvPr id="13" name="Text 11"/>
          <p:cNvSpPr txBox="1"/>
          <p:nvPr/>
        </p:nvSpPr>
        <p:spPr>
          <a:xfrm>
            <a:off x="3637712"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90</a:t>
            </a:r>
            <a:endParaRPr lang="en-US" sz="1050" dirty="0"/>
          </a:p>
        </p:txBody>
      </p:sp>
      <p:sp>
        <p:nvSpPr>
          <p:cNvPr id="14" name="Text 12"/>
          <p:cNvSpPr txBox="1"/>
          <p:nvPr/>
        </p:nvSpPr>
        <p:spPr>
          <a:xfrm>
            <a:off x="3637712"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Onboarding review</a:t>
            </a:r>
            <a:endParaRPr lang="en-US" sz="1600" dirty="0"/>
          </a:p>
        </p:txBody>
      </p:sp>
      <p:sp>
        <p:nvSpPr>
          <p:cNvPr id="15" name="Text 13"/>
          <p:cNvSpPr txBox="1"/>
          <p:nvPr/>
        </p:nvSpPr>
        <p:spPr>
          <a:xfrm>
            <a:off x="3637712"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Running day-to-day admin with light oversight. Target: Stage 3, Outcome Owner.</a:t>
            </a:r>
            <a:endParaRPr lang="en-US" sz="1200" dirty="0"/>
          </a:p>
        </p:txBody>
      </p:sp>
      <p:sp>
        <p:nvSpPr>
          <p:cNvPr id="16" name="milestone 3"/>
          <p:cNvSpPr/>
          <p:nvPr/>
        </p:nvSpPr>
        <p:spPr>
          <a:xfrm>
            <a:off x="6278728" y="2221992"/>
            <a:ext cx="402336" cy="402336"/>
          </a:xfrm>
          <a:prstGeom prst="ellipse">
            <a:avLst/>
          </a:prstGeom>
          <a:solidFill>
            <a:schemeClr val="bg1"/>
          </a:solidFill>
          <a:ln w="38100">
            <a:solidFill>
              <a:schemeClr val="accent1"/>
            </a:solidFill>
            <a:prstDash val="solid"/>
          </a:ln>
        </p:spPr>
      </p:sp>
      <p:sp>
        <p:nvSpPr>
          <p:cNvPr id="17" name="card"/>
          <p:cNvSpPr/>
          <p:nvPr/>
        </p:nvSpPr>
        <p:spPr>
          <a:xfrm>
            <a:off x="6187288" y="2834640"/>
            <a:ext cx="2595296" cy="2377440"/>
          </a:xfrm>
          <a:prstGeom prst="roundRect">
            <a:avLst>
              <a:gd name="adj" fmla="val 3077"/>
            </a:avLst>
          </a:prstGeom>
          <a:solidFill>
            <a:schemeClr val="bg1"/>
          </a:solidFill>
          <a:ln w="12700">
            <a:solidFill>
              <a:schemeClr val="accent5"/>
            </a:solidFill>
            <a:prstDash val="solid"/>
          </a:ln>
        </p:spPr>
      </p:sp>
      <p:sp>
        <p:nvSpPr>
          <p:cNvPr id="18" name="Text 16"/>
          <p:cNvSpPr txBox="1"/>
          <p:nvPr/>
        </p:nvSpPr>
        <p:spPr>
          <a:xfrm>
            <a:off x="6415888"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6</a:t>
            </a:r>
            <a:endParaRPr lang="en-US" sz="1050" dirty="0"/>
          </a:p>
        </p:txBody>
      </p:sp>
      <p:sp>
        <p:nvSpPr>
          <p:cNvPr id="19" name="Text 17"/>
          <p:cNvSpPr txBox="1"/>
          <p:nvPr/>
        </p:nvSpPr>
        <p:spPr>
          <a:xfrm>
            <a:off x="6415888"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Freedom Review</a:t>
            </a:r>
            <a:endParaRPr lang="en-US" sz="1600" dirty="0"/>
          </a:p>
        </p:txBody>
      </p:sp>
      <p:sp>
        <p:nvSpPr>
          <p:cNvPr id="20" name="Text 18"/>
          <p:cNvSpPr txBox="1"/>
          <p:nvPr/>
        </p:nvSpPr>
        <p:spPr>
          <a:xfrm>
            <a:off x="6415888"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Diary, CRM and reporting run without Yasmine’s input. Target: Stage 5, Freedom.</a:t>
            </a:r>
            <a:endParaRPr lang="en-US" sz="1200" dirty="0"/>
          </a:p>
        </p:txBody>
      </p:sp>
      <p:sp>
        <p:nvSpPr>
          <p:cNvPr id="21" name="milestone 4"/>
          <p:cNvSpPr/>
          <p:nvPr/>
        </p:nvSpPr>
        <p:spPr>
          <a:xfrm>
            <a:off x="9056903" y="2221992"/>
            <a:ext cx="402336" cy="402336"/>
          </a:xfrm>
          <a:prstGeom prst="ellipse">
            <a:avLst/>
          </a:prstGeom>
          <a:solidFill>
            <a:schemeClr val="accent1"/>
          </a:solidFill>
          <a:ln w="38100">
            <a:solidFill>
              <a:schemeClr val="accent1"/>
            </a:solidFill>
            <a:prstDash val="solid"/>
          </a:ln>
        </p:spPr>
      </p:sp>
      <p:sp>
        <p:nvSpPr>
          <p:cNvPr id="22" name="card"/>
          <p:cNvSpPr/>
          <p:nvPr/>
        </p:nvSpPr>
        <p:spPr>
          <a:xfrm>
            <a:off x="8965463" y="2834640"/>
            <a:ext cx="2595296" cy="2377440"/>
          </a:xfrm>
          <a:prstGeom prst="roundRect">
            <a:avLst>
              <a:gd name="adj" fmla="val 3077"/>
            </a:avLst>
          </a:prstGeom>
          <a:solidFill>
            <a:schemeClr val="accent4"/>
          </a:solidFill>
          <a:ln/>
        </p:spPr>
      </p:sp>
      <p:sp>
        <p:nvSpPr>
          <p:cNvPr id="23" name="Text 21"/>
          <p:cNvSpPr txBox="1"/>
          <p:nvPr/>
        </p:nvSpPr>
        <p:spPr>
          <a:xfrm>
            <a:off x="9194063"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12</a:t>
            </a:r>
            <a:endParaRPr lang="en-US" sz="1050" dirty="0"/>
          </a:p>
        </p:txBody>
      </p:sp>
      <p:sp>
        <p:nvSpPr>
          <p:cNvPr id="24" name="Text 22"/>
          <p:cNvSpPr txBox="1"/>
          <p:nvPr/>
        </p:nvSpPr>
        <p:spPr>
          <a:xfrm>
            <a:off x="9194063"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Anniversary review</a:t>
            </a:r>
            <a:endParaRPr lang="en-US" sz="1600" dirty="0"/>
          </a:p>
        </p:txBody>
      </p:sp>
      <p:sp>
        <p:nvSpPr>
          <p:cNvPr id="25" name="Text 23"/>
          <p:cNvSpPr txBox="1"/>
          <p:nvPr/>
        </p:nvSpPr>
        <p:spPr>
          <a:xfrm>
            <a:off x="9194063"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Celebrate the year, measure hours back, and plan the next stage of growth together.</a:t>
            </a:r>
            <a:endParaRPr lang="en-US" sz="1200" dirty="0"/>
          </a:p>
        </p:txBody>
      </p:sp>
      <p:sp>
        <p:nvSpPr>
          <p:cNvPr id="26" name="Text 24"/>
          <p:cNvSpPr txBox="1"/>
          <p:nvPr/>
        </p:nvSpPr>
        <p:spPr>
          <a:xfrm>
            <a:off x="630936" y="5806440"/>
            <a:ext cx="10929823" cy="365760"/>
          </a:xfrm>
          <a:prstGeom prst="rect">
            <a:avLst/>
          </a:prstGeom>
          <a:noFill/>
          <a:ln/>
        </p:spPr>
        <p:txBody>
          <a:bodyPr wrap="square" lIns="0" tIns="0" rIns="0" bIns="0" rtlCol="0" anchor="ctr"/>
          <a:lstStyle/>
          <a:p>
            <a:pPr indent="0" marL="0">
              <a:buNone/>
            </a:pPr>
            <a:r>
              <a:rPr lang="en-US" sz="1200" b="1" dirty="0">
                <a:solidFill>
                  <a:schemeClr val="accent1"/>
                </a:solidFill>
              </a:rPr>
              <a:t>Every week: </a:t>
            </a:r>
            <a:pPr indent="0" marL="0">
              <a:buNone/>
            </a:pPr>
            <a:r>
              <a:rPr lang="en-US" sz="1200" dirty="0">
                <a:solidFill>
                  <a:schemeClr val="accent3"/>
                </a:solidFill>
              </a:rPr>
              <a:t>quick check-in with your Associate.   </a:t>
            </a:r>
            <a:pPr indent="0" marL="0">
              <a:buNone/>
            </a:pPr>
            <a:r>
              <a:rPr lang="en-US" sz="1200" b="1" dirty="0">
                <a:solidFill>
                  <a:schemeClr val="accent1"/>
                </a:solidFill>
              </a:rPr>
              <a:t>Every month: </a:t>
            </a:r>
            <a:pPr indent="0" marL="0">
              <a:buNone/>
            </a:pPr>
            <a:r>
              <a:rPr lang="en-US" sz="1200" dirty="0">
                <a:solidFill>
                  <a:schemeClr val="accent3"/>
                </a:solidFill>
              </a:rPr>
              <a:t>KPI check-in.   </a:t>
            </a:r>
            <a:pPr indent="0" marL="0">
              <a:buNone/>
            </a:pPr>
            <a:r>
              <a:rPr lang="en-US" sz="1200" b="1" dirty="0">
                <a:solidFill>
                  <a:schemeClr val="accent1"/>
                </a:solidFill>
              </a:rPr>
              <a:t>Any time: </a:t>
            </a:r>
            <a:pPr indent="0" marL="0">
              <a:buNone/>
            </a:pPr>
            <a:r>
              <a:rPr lang="en-US" sz="1200" dirty="0">
                <a:solidFill>
                  <a:schemeClr val="accent3"/>
                </a:solidFill>
              </a:rPr>
              <a:t>raise anything with your Account Manager.</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First 90 Days</a:t>
            </a:r>
            <a:endParaRPr lang="en-US" sz="3000" dirty="0"/>
          </a:p>
        </p:txBody>
      </p:sp>
      <p:sp>
        <p:nvSpPr>
          <p:cNvPr id="4" name="card"/>
          <p:cNvSpPr/>
          <p:nvPr/>
        </p:nvSpPr>
        <p:spPr>
          <a:xfrm>
            <a:off x="630936" y="1463040"/>
            <a:ext cx="10929823" cy="1463040"/>
          </a:xfrm>
          <a:prstGeom prst="roundRect">
            <a:avLst>
              <a:gd name="adj" fmla="val 5000"/>
            </a:avLst>
          </a:prstGeom>
          <a:solidFill>
            <a:schemeClr val="bg1"/>
          </a:solidFill>
          <a:ln w="12700">
            <a:solidFill>
              <a:schemeClr val="accent5"/>
            </a:solidFill>
            <a:prstDash val="solid"/>
          </a:ln>
        </p:spPr>
      </p:sp>
      <p:sp>
        <p:nvSpPr>
          <p:cNvPr id="5" name="Text 3"/>
          <p:cNvSpPr txBox="1"/>
          <p:nvPr/>
        </p:nvSpPr>
        <p:spPr>
          <a:xfrm>
            <a:off x="905256" y="16459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1–30</a:t>
            </a:r>
            <a:endParaRPr lang="en-US" sz="1050" dirty="0"/>
          </a:p>
        </p:txBody>
      </p:sp>
      <p:sp>
        <p:nvSpPr>
          <p:cNvPr id="6" name="Text 4"/>
          <p:cNvSpPr txBox="1"/>
          <p:nvPr/>
        </p:nvSpPr>
        <p:spPr>
          <a:xfrm>
            <a:off x="905256" y="19202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Shadow Yasmine on diary, inbox and CRM workflows; learn EGM’s brand, process and communication style. Take over email-first inbox and diary management, and begin logging CRM notes for review.</a:t>
            </a:r>
            <a:endParaRPr lang="en-US" sz="1200" dirty="0"/>
          </a:p>
        </p:txBody>
      </p:sp>
      <p:sp>
        <p:nvSpPr>
          <p:cNvPr id="7" name="card"/>
          <p:cNvSpPr/>
          <p:nvPr/>
        </p:nvSpPr>
        <p:spPr>
          <a:xfrm>
            <a:off x="905256" y="2423160"/>
            <a:ext cx="10381183" cy="365760"/>
          </a:xfrm>
          <a:prstGeom prst="roundRect">
            <a:avLst>
              <a:gd name="adj" fmla="val 20000"/>
            </a:avLst>
          </a:prstGeom>
          <a:solidFill>
            <a:schemeClr val="accent4"/>
          </a:solidFill>
          <a:ln/>
        </p:spPr>
      </p:sp>
      <p:sp>
        <p:nvSpPr>
          <p:cNvPr id="8" name="Text 6"/>
          <p:cNvSpPr txBox="1"/>
          <p:nvPr/>
        </p:nvSpPr>
        <p:spPr>
          <a:xfrm>
            <a:off x="1088136" y="24231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A working diary and inbox pipeline is up and running, even if still finding its rhythm.</a:t>
            </a:r>
            <a:endParaRPr lang="en-US" sz="1150" dirty="0"/>
          </a:p>
        </p:txBody>
      </p:sp>
      <p:sp>
        <p:nvSpPr>
          <p:cNvPr id="9" name="card"/>
          <p:cNvSpPr/>
          <p:nvPr/>
        </p:nvSpPr>
        <p:spPr>
          <a:xfrm>
            <a:off x="630936" y="3063240"/>
            <a:ext cx="10929823" cy="1463040"/>
          </a:xfrm>
          <a:prstGeom prst="roundRect">
            <a:avLst>
              <a:gd name="adj" fmla="val 5000"/>
            </a:avLst>
          </a:prstGeom>
          <a:solidFill>
            <a:schemeClr val="bg1"/>
          </a:solidFill>
          <a:ln w="12700">
            <a:solidFill>
              <a:schemeClr val="accent5"/>
            </a:solidFill>
            <a:prstDash val="solid"/>
          </a:ln>
        </p:spPr>
      </p:sp>
      <p:sp>
        <p:nvSpPr>
          <p:cNvPr id="10" name="Text 8"/>
          <p:cNvSpPr txBox="1"/>
          <p:nvPr/>
        </p:nvSpPr>
        <p:spPr>
          <a:xfrm>
            <a:off x="905256" y="32461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31–60</a:t>
            </a:r>
            <a:endParaRPr lang="en-US" sz="1050" dirty="0"/>
          </a:p>
        </p:txBody>
      </p:sp>
      <p:sp>
        <p:nvSpPr>
          <p:cNvPr id="11" name="Text 9"/>
          <p:cNvSpPr txBox="1"/>
          <p:nvPr/>
        </p:nvSpPr>
        <p:spPr>
          <a:xfrm>
            <a:off x="905256" y="35204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Own CRM notes and candidate and proposal drafting independently. Begin supporting advisory board papers and take on events and membership coordination.</a:t>
            </a:r>
            <a:endParaRPr lang="en-US" sz="1200" dirty="0"/>
          </a:p>
        </p:txBody>
      </p:sp>
      <p:sp>
        <p:nvSpPr>
          <p:cNvPr id="12" name="card"/>
          <p:cNvSpPr/>
          <p:nvPr/>
        </p:nvSpPr>
        <p:spPr>
          <a:xfrm>
            <a:off x="905256" y="4023360"/>
            <a:ext cx="10381183" cy="365760"/>
          </a:xfrm>
          <a:prstGeom prst="roundRect">
            <a:avLst>
              <a:gd name="adj" fmla="val 20000"/>
            </a:avLst>
          </a:prstGeom>
          <a:solidFill>
            <a:schemeClr val="accent4"/>
          </a:solidFill>
          <a:ln/>
        </p:spPr>
      </p:sp>
      <p:sp>
        <p:nvSpPr>
          <p:cNvPr id="13" name="Text 11"/>
          <p:cNvSpPr txBox="1"/>
          <p:nvPr/>
        </p:nvSpPr>
        <p:spPr>
          <a:xfrm>
            <a:off x="1088136" y="40233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Runs day-to-day admin and coordination with minimal oversight; board and events support underway.</a:t>
            </a:r>
            <a:endParaRPr lang="en-US" sz="1150" dirty="0"/>
          </a:p>
        </p:txBody>
      </p:sp>
      <p:sp>
        <p:nvSpPr>
          <p:cNvPr id="14" name="card"/>
          <p:cNvSpPr/>
          <p:nvPr/>
        </p:nvSpPr>
        <p:spPr>
          <a:xfrm>
            <a:off x="630936" y="4663440"/>
            <a:ext cx="10929823" cy="1463040"/>
          </a:xfrm>
          <a:prstGeom prst="roundRect">
            <a:avLst>
              <a:gd name="adj" fmla="val 5000"/>
            </a:avLst>
          </a:prstGeom>
          <a:solidFill>
            <a:schemeClr val="bg1"/>
          </a:solidFill>
          <a:ln w="12700">
            <a:solidFill>
              <a:schemeClr val="accent5"/>
            </a:solidFill>
            <a:prstDash val="solid"/>
          </a:ln>
        </p:spPr>
      </p:sp>
      <p:sp>
        <p:nvSpPr>
          <p:cNvPr id="15" name="Text 13"/>
          <p:cNvSpPr txBox="1"/>
          <p:nvPr/>
        </p:nvSpPr>
        <p:spPr>
          <a:xfrm>
            <a:off x="905256" y="48463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61–90</a:t>
            </a:r>
            <a:endParaRPr lang="en-US" sz="1050" dirty="0"/>
          </a:p>
        </p:txBody>
      </p:sp>
      <p:sp>
        <p:nvSpPr>
          <p:cNvPr id="16" name="Text 14"/>
          <p:cNvSpPr txBox="1"/>
          <p:nvPr/>
        </p:nvSpPr>
        <p:spPr>
          <a:xfrm>
            <a:off x="905256" y="51206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Operate as Yasmine’s right hand: consistent diary and inbox, accurate CRM and reporting, board papers ready ahead of time, events running smoothly.</a:t>
            </a:r>
            <a:endParaRPr lang="en-US" sz="1200" dirty="0"/>
          </a:p>
        </p:txBody>
      </p:sp>
      <p:sp>
        <p:nvSpPr>
          <p:cNvPr id="17" name="card"/>
          <p:cNvSpPr/>
          <p:nvPr/>
        </p:nvSpPr>
        <p:spPr>
          <a:xfrm>
            <a:off x="905256" y="5623560"/>
            <a:ext cx="10381183" cy="365760"/>
          </a:xfrm>
          <a:prstGeom prst="roundRect">
            <a:avLst>
              <a:gd name="adj" fmla="val 20000"/>
            </a:avLst>
          </a:prstGeom>
          <a:solidFill>
            <a:schemeClr val="accent4"/>
          </a:solidFill>
          <a:ln/>
        </p:spPr>
      </p:sp>
      <p:sp>
        <p:nvSpPr>
          <p:cNvPr id="18" name="Text 16"/>
          <p:cNvSpPr txBox="1"/>
          <p:nvPr/>
        </p:nvSpPr>
        <p:spPr>
          <a:xfrm>
            <a:off x="1088136" y="56235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Yasmine has real time back, moving towards the 20+ hours a week she wants for strategy and clients.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Hours, Timezone &amp; Training</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Part-time to start (20–30 hrs/week), flexing up as trust grows. Email-first; phone contact with candidates and clients once the Associate is confident.</a:t>
            </a:r>
            <a:endParaRPr lang="en-US" sz="1300" dirty="0"/>
          </a:p>
        </p:txBody>
      </p:sp>
      <p:sp>
        <p:nvSpPr>
          <p:cNvPr id="5" name="card"/>
          <p:cNvSpPr/>
          <p:nvPr/>
        </p:nvSpPr>
        <p:spPr>
          <a:xfrm>
            <a:off x="630936" y="2103120"/>
            <a:ext cx="2595296" cy="3017520"/>
          </a:xfrm>
          <a:prstGeom prst="roundRect">
            <a:avLst>
              <a:gd name="adj" fmla="val 2819"/>
            </a:avLst>
          </a:prstGeom>
          <a:solidFill>
            <a:schemeClr val="bg2"/>
          </a:solidFill>
          <a:ln/>
        </p:spPr>
      </p:sp>
      <p:sp>
        <p:nvSpPr>
          <p:cNvPr id="6" name="Text 4"/>
          <p:cNvSpPr txBox="1"/>
          <p:nvPr/>
        </p:nvSpPr>
        <p:spPr>
          <a:xfrm>
            <a:off x="859536"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7" name="Text 5"/>
          <p:cNvSpPr txBox="1"/>
          <p:nvPr/>
        </p:nvSpPr>
        <p:spPr>
          <a:xfrm>
            <a:off x="859536"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Business &amp; Brand Immersion</a:t>
            </a:r>
            <a:endParaRPr lang="en-US" sz="1500" dirty="0"/>
          </a:p>
        </p:txBody>
      </p:sp>
      <p:sp>
        <p:nvSpPr>
          <p:cNvPr id="8" name="Text 6"/>
          <p:cNvSpPr txBox="1"/>
          <p:nvPr/>
        </p:nvSpPr>
        <p:spPr>
          <a:xfrm>
            <a:off x="859536"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Shadow Yasmine on diary, inbox and CRM; learn EGM’s brand, tone and style.</a:t>
            </a:r>
            <a:endParaRPr lang="en-US" sz="1200" dirty="0"/>
          </a:p>
        </p:txBody>
      </p:sp>
      <p:sp>
        <p:nvSpPr>
          <p:cNvPr id="9" name="card"/>
          <p:cNvSpPr/>
          <p:nvPr/>
        </p:nvSpPr>
        <p:spPr>
          <a:xfrm>
            <a:off x="3409112" y="2103120"/>
            <a:ext cx="2595296" cy="3017520"/>
          </a:xfrm>
          <a:prstGeom prst="roundRect">
            <a:avLst>
              <a:gd name="adj" fmla="val 2819"/>
            </a:avLst>
          </a:prstGeom>
          <a:solidFill>
            <a:schemeClr val="bg2"/>
          </a:solidFill>
          <a:ln/>
        </p:spPr>
      </p:sp>
      <p:sp>
        <p:nvSpPr>
          <p:cNvPr id="10" name="Text 8"/>
          <p:cNvSpPr txBox="1"/>
          <p:nvPr/>
        </p:nvSpPr>
        <p:spPr>
          <a:xfrm>
            <a:off x="3637712"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2</a:t>
            </a:r>
            <a:endParaRPr lang="en-US" sz="1050" dirty="0"/>
          </a:p>
        </p:txBody>
      </p:sp>
      <p:sp>
        <p:nvSpPr>
          <p:cNvPr id="11" name="Text 9"/>
          <p:cNvSpPr txBox="1"/>
          <p:nvPr/>
        </p:nvSpPr>
        <p:spPr>
          <a:xfrm>
            <a:off x="3637712"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Workflow Setup &amp; First Tasks</a:t>
            </a:r>
            <a:endParaRPr lang="en-US" sz="1500" dirty="0"/>
          </a:p>
        </p:txBody>
      </p:sp>
      <p:sp>
        <p:nvSpPr>
          <p:cNvPr id="12" name="Text 10"/>
          <p:cNvSpPr txBox="1"/>
          <p:nvPr/>
        </p:nvSpPr>
        <p:spPr>
          <a:xfrm>
            <a:off x="3637712"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Set up diary and inbox workflows; log CRM notes for review after each meeting.</a:t>
            </a:r>
            <a:endParaRPr lang="en-US" sz="1200" dirty="0"/>
          </a:p>
        </p:txBody>
      </p:sp>
      <p:sp>
        <p:nvSpPr>
          <p:cNvPr id="13" name="card"/>
          <p:cNvSpPr/>
          <p:nvPr/>
        </p:nvSpPr>
        <p:spPr>
          <a:xfrm>
            <a:off x="6187288" y="2103120"/>
            <a:ext cx="2595296" cy="3017520"/>
          </a:xfrm>
          <a:prstGeom prst="roundRect">
            <a:avLst>
              <a:gd name="adj" fmla="val 2819"/>
            </a:avLst>
          </a:prstGeom>
          <a:solidFill>
            <a:schemeClr val="bg2"/>
          </a:solidFill>
          <a:ln/>
        </p:spPr>
      </p:sp>
      <p:sp>
        <p:nvSpPr>
          <p:cNvPr id="14" name="Text 12"/>
          <p:cNvSpPr txBox="1"/>
          <p:nvPr/>
        </p:nvSpPr>
        <p:spPr>
          <a:xfrm>
            <a:off x="6415888"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3</a:t>
            </a:r>
            <a:endParaRPr lang="en-US" sz="1050" dirty="0"/>
          </a:p>
        </p:txBody>
      </p:sp>
      <p:sp>
        <p:nvSpPr>
          <p:cNvPr id="15" name="Text 13"/>
          <p:cNvSpPr txBox="1"/>
          <p:nvPr/>
        </p:nvSpPr>
        <p:spPr>
          <a:xfrm>
            <a:off x="6415888"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Proposal &amp; Reporting Ramp-Up</a:t>
            </a:r>
            <a:endParaRPr lang="en-US" sz="1500" dirty="0"/>
          </a:p>
        </p:txBody>
      </p:sp>
      <p:sp>
        <p:nvSpPr>
          <p:cNvPr id="16" name="Text 14"/>
          <p:cNvSpPr txBox="1"/>
          <p:nvPr/>
        </p:nvSpPr>
        <p:spPr>
          <a:xfrm>
            <a:off x="6415888"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Begin drafting suitability reports and proposals for review.</a:t>
            </a:r>
            <a:endParaRPr lang="en-US" sz="1200" dirty="0"/>
          </a:p>
        </p:txBody>
      </p:sp>
      <p:sp>
        <p:nvSpPr>
          <p:cNvPr id="17" name="card"/>
          <p:cNvSpPr/>
          <p:nvPr/>
        </p:nvSpPr>
        <p:spPr>
          <a:xfrm>
            <a:off x="8965463" y="2103120"/>
            <a:ext cx="2595296" cy="3017520"/>
          </a:xfrm>
          <a:prstGeom prst="roundRect">
            <a:avLst>
              <a:gd name="adj" fmla="val 2819"/>
            </a:avLst>
          </a:prstGeom>
          <a:solidFill>
            <a:schemeClr val="bg2"/>
          </a:solidFill>
          <a:ln/>
        </p:spPr>
      </p:sp>
      <p:sp>
        <p:nvSpPr>
          <p:cNvPr id="18" name="Text 16"/>
          <p:cNvSpPr txBox="1"/>
          <p:nvPr/>
        </p:nvSpPr>
        <p:spPr>
          <a:xfrm>
            <a:off x="9194063"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9" name="Text 17"/>
          <p:cNvSpPr txBox="1"/>
          <p:nvPr/>
        </p:nvSpPr>
        <p:spPr>
          <a:xfrm>
            <a:off x="9194063"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Board &amp; Events Support Begins</a:t>
            </a:r>
            <a:endParaRPr lang="en-US" sz="1500" dirty="0"/>
          </a:p>
        </p:txBody>
      </p:sp>
      <p:sp>
        <p:nvSpPr>
          <p:cNvPr id="20" name="Text 18"/>
          <p:cNvSpPr txBox="1"/>
          <p:nvPr/>
        </p:nvSpPr>
        <p:spPr>
          <a:xfrm>
            <a:off x="9194063"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Start on board paper prep and early events and membership tasks.</a:t>
            </a:r>
            <a:endParaRPr lang="en-US" sz="1200" dirty="0"/>
          </a:p>
        </p:txBody>
      </p:sp>
      <p:sp>
        <p:nvSpPr>
          <p:cNvPr id="21" name="callout"/>
          <p:cNvSpPr/>
          <p:nvPr/>
        </p:nvSpPr>
        <p:spPr>
          <a:xfrm>
            <a:off x="630936" y="5349240"/>
            <a:ext cx="10929823" cy="548640"/>
          </a:xfrm>
          <a:prstGeom prst="roundRect">
            <a:avLst>
              <a:gd name="adj" fmla="val 13333"/>
            </a:avLst>
          </a:prstGeom>
          <a:solidFill>
            <a:schemeClr val="accent4"/>
          </a:solidFill>
          <a:ln/>
        </p:spPr>
      </p:sp>
      <p:sp>
        <p:nvSpPr>
          <p:cNvPr id="22" name="Text 20"/>
          <p:cNvSpPr txBox="1"/>
          <p:nvPr/>
        </p:nvSpPr>
        <p:spPr>
          <a:xfrm>
            <a:off x="859536" y="53492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Revisit hours (20 → 30 → 40) at each milestone review as the advisory board, events program and business grow.</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with Yasmine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Written together by Yasmine and her Associate in Week 1, and updated as they learn each other’s style.</a:t>
            </a:r>
            <a:endParaRPr lang="en-US" sz="1300" dirty="0"/>
          </a:p>
        </p:txBody>
      </p:sp>
      <p:sp>
        <p:nvSpPr>
          <p:cNvPr id="6" name="card"/>
          <p:cNvSpPr/>
          <p:nvPr/>
        </p:nvSpPr>
        <p:spPr>
          <a:xfrm>
            <a:off x="630936" y="1965960"/>
            <a:ext cx="5486400" cy="1143000"/>
          </a:xfrm>
          <a:prstGeom prst="roundRect">
            <a:avLst>
              <a:gd name="adj" fmla="val 6400"/>
            </a:avLst>
          </a:prstGeom>
          <a:solidFill>
            <a:schemeClr val="bg2"/>
          </a:solidFill>
          <a:ln/>
        </p:spPr>
      </p:sp>
      <p:sp>
        <p:nvSpPr>
          <p:cNvPr id="7" name="Text 4"/>
          <p:cNvSpPr txBox="1"/>
          <p:nvPr/>
        </p:nvSpPr>
        <p:spPr>
          <a:xfrm>
            <a:off x="905256" y="210312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HOW YASMINE COMMUNICATES</a:t>
            </a:r>
            <a:endParaRPr lang="en-US" sz="1050" dirty="0"/>
          </a:p>
        </p:txBody>
      </p:sp>
      <p:sp>
        <p:nvSpPr>
          <p:cNvPr id="8" name="Text 5"/>
          <p:cNvSpPr txBox="1"/>
          <p:nvPr/>
        </p:nvSpPr>
        <p:spPr>
          <a:xfrm>
            <a:off x="905256" y="237744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Email first to start; phone contact with candidates and clients once confident. Back-to-back meetings most days, so batch questions.</a:t>
            </a:r>
            <a:endParaRPr lang="en-US" sz="1200" dirty="0"/>
          </a:p>
        </p:txBody>
      </p:sp>
      <p:sp>
        <p:nvSpPr>
          <p:cNvPr id="9" name="card"/>
          <p:cNvSpPr/>
          <p:nvPr/>
        </p:nvSpPr>
        <p:spPr>
          <a:xfrm>
            <a:off x="630936" y="3246120"/>
            <a:ext cx="5486400" cy="1143000"/>
          </a:xfrm>
          <a:prstGeom prst="roundRect">
            <a:avLst>
              <a:gd name="adj" fmla="val 6400"/>
            </a:avLst>
          </a:prstGeom>
          <a:solidFill>
            <a:schemeClr val="bg2"/>
          </a:solidFill>
          <a:ln/>
        </p:spPr>
      </p:sp>
      <p:sp>
        <p:nvSpPr>
          <p:cNvPr id="10" name="Text 7"/>
          <p:cNvSpPr txBox="1"/>
          <p:nvPr/>
        </p:nvSpPr>
        <p:spPr>
          <a:xfrm>
            <a:off x="905256" y="338328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MATTERS MOST</a:t>
            </a:r>
            <a:endParaRPr lang="en-US" sz="1050" dirty="0"/>
          </a:p>
        </p:txBody>
      </p:sp>
      <p:sp>
        <p:nvSpPr>
          <p:cNvPr id="11" name="Text 8"/>
          <p:cNvSpPr txBox="1"/>
          <p:nvPr/>
        </p:nvSpPr>
        <p:spPr>
          <a:xfrm>
            <a:off x="905256" y="365760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Protecting her time for candidates, clients and strategy. Nothing sitting in the inbox for days. Polished, discreet, corporate-quality work.</a:t>
            </a:r>
            <a:endParaRPr lang="en-US" sz="1200" dirty="0"/>
          </a:p>
        </p:txBody>
      </p:sp>
      <p:sp>
        <p:nvSpPr>
          <p:cNvPr id="12" name="card"/>
          <p:cNvSpPr/>
          <p:nvPr/>
        </p:nvSpPr>
        <p:spPr>
          <a:xfrm>
            <a:off x="630936" y="4526280"/>
            <a:ext cx="5486400" cy="1143000"/>
          </a:xfrm>
          <a:prstGeom prst="roundRect">
            <a:avLst>
              <a:gd name="adj" fmla="val 6400"/>
            </a:avLst>
          </a:prstGeom>
          <a:solidFill>
            <a:schemeClr val="bg2"/>
          </a:solidFill>
          <a:ln/>
        </p:spPr>
      </p:sp>
      <p:sp>
        <p:nvSpPr>
          <p:cNvPr id="13" name="Text 10"/>
          <p:cNvSpPr txBox="1"/>
          <p:nvPr/>
        </p:nvSpPr>
        <p:spPr>
          <a:xfrm>
            <a:off x="905256" y="466344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HER BUSIEST TIMES</a:t>
            </a:r>
            <a:endParaRPr lang="en-US" sz="1050" dirty="0"/>
          </a:p>
        </p:txBody>
      </p:sp>
      <p:sp>
        <p:nvSpPr>
          <p:cNvPr id="14" name="Text 11"/>
          <p:cNvSpPr txBox="1"/>
          <p:nvPr/>
        </p:nvSpPr>
        <p:spPr>
          <a:xfrm>
            <a:off x="905256" y="493776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Early mornings (her 5am admin hour, which this role should replace) and full meeting days. Board and event weeks will be peak periods.</a:t>
            </a:r>
            <a:endParaRPr lang="en-US" sz="1200" dirty="0"/>
          </a:p>
        </p:txBody>
      </p:sp>
      <p:sp>
        <p:nvSpPr>
          <p:cNvPr id="15" name="card"/>
          <p:cNvSpPr/>
          <p:nvPr/>
        </p:nvSpPr>
        <p:spPr>
          <a:xfrm>
            <a:off x="6345936" y="1965960"/>
            <a:ext cx="5214823" cy="3703320"/>
          </a:xfrm>
          <a:prstGeom prst="roundRect">
            <a:avLst>
              <a:gd name="adj" fmla="val 1975"/>
            </a:avLst>
          </a:prstGeom>
          <a:solidFill>
            <a:schemeClr val="bg1"/>
          </a:solidFill>
          <a:ln w="12700">
            <a:solidFill>
              <a:schemeClr val="accent5"/>
            </a:solidFill>
            <a:prstDash val="solid"/>
          </a:ln>
        </p:spPr>
      </p:sp>
      <p:sp>
        <p:nvSpPr>
          <p:cNvPr id="16" name="Text 13"/>
          <p:cNvSpPr txBox="1"/>
          <p:nvPr/>
        </p:nvSpPr>
        <p:spPr>
          <a:xfrm>
            <a:off x="6620256" y="2103120"/>
            <a:ext cx="466618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COMPLETE TOGETHER IN WEEK 1</a:t>
            </a:r>
            <a:endParaRPr lang="en-US" sz="1050" dirty="0"/>
          </a:p>
        </p:txBody>
      </p:sp>
      <p:sp>
        <p:nvSpPr>
          <p:cNvPr id="17" name="Text 14"/>
          <p:cNvSpPr txBox="1"/>
          <p:nvPr/>
        </p:nvSpPr>
        <p:spPr>
          <a:xfrm>
            <a:off x="6620256" y="246888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Preferred update format and time of day:</a:t>
            </a:r>
            <a:endParaRPr lang="en-US" sz="1150" dirty="0"/>
          </a:p>
        </p:txBody>
      </p:sp>
      <p:sp>
        <p:nvSpPr>
          <p:cNvPr id="18" name="write line 1"/>
          <p:cNvSpPr/>
          <p:nvPr/>
        </p:nvSpPr>
        <p:spPr>
          <a:xfrm>
            <a:off x="6620256" y="2898648"/>
            <a:ext cx="4666183" cy="0"/>
          </a:xfrm>
          <a:prstGeom prst="line">
            <a:avLst/>
          </a:prstGeom>
          <a:noFill/>
          <a:ln w="12700">
            <a:solidFill>
              <a:schemeClr val="accent5"/>
            </a:solidFill>
            <a:prstDash val="solid"/>
          </a:ln>
        </p:spPr>
      </p:sp>
      <p:sp>
        <p:nvSpPr>
          <p:cNvPr id="19" name="Text 16"/>
          <p:cNvSpPr txBox="1"/>
          <p:nvPr/>
        </p:nvSpPr>
        <p:spPr>
          <a:xfrm>
            <a:off x="6620256" y="2990088"/>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When to interrupt, and when to wait:</a:t>
            </a:r>
            <a:endParaRPr lang="en-US" sz="1150" dirty="0"/>
          </a:p>
        </p:txBody>
      </p:sp>
      <p:sp>
        <p:nvSpPr>
          <p:cNvPr id="20" name="write line 2"/>
          <p:cNvSpPr/>
          <p:nvPr/>
        </p:nvSpPr>
        <p:spPr>
          <a:xfrm>
            <a:off x="6620256" y="3419856"/>
            <a:ext cx="4666183" cy="0"/>
          </a:xfrm>
          <a:prstGeom prst="line">
            <a:avLst/>
          </a:prstGeom>
          <a:noFill/>
          <a:ln w="12700">
            <a:solidFill>
              <a:schemeClr val="accent5"/>
            </a:solidFill>
            <a:prstDash val="solid"/>
          </a:ln>
        </p:spPr>
      </p:sp>
      <p:sp>
        <p:nvSpPr>
          <p:cNvPr id="21" name="Text 18"/>
          <p:cNvSpPr txBox="1"/>
          <p:nvPr/>
        </p:nvSpPr>
        <p:spPr>
          <a:xfrm>
            <a:off x="6620256" y="3511296"/>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Tone for emails sent on Yasmine’s behalf:</a:t>
            </a:r>
            <a:endParaRPr lang="en-US" sz="1150" dirty="0"/>
          </a:p>
        </p:txBody>
      </p:sp>
      <p:sp>
        <p:nvSpPr>
          <p:cNvPr id="22" name="write line 3"/>
          <p:cNvSpPr/>
          <p:nvPr/>
        </p:nvSpPr>
        <p:spPr>
          <a:xfrm>
            <a:off x="6620256" y="3941064"/>
            <a:ext cx="4666183" cy="0"/>
          </a:xfrm>
          <a:prstGeom prst="line">
            <a:avLst/>
          </a:prstGeom>
          <a:noFill/>
          <a:ln w="12700">
            <a:solidFill>
              <a:schemeClr val="accent5"/>
            </a:solidFill>
            <a:prstDash val="solid"/>
          </a:ln>
        </p:spPr>
      </p:sp>
      <p:sp>
        <p:nvSpPr>
          <p:cNvPr id="23" name="Text 20"/>
          <p:cNvSpPr txBox="1"/>
          <p:nvPr/>
        </p:nvSpPr>
        <p:spPr>
          <a:xfrm>
            <a:off x="6620256" y="4032504"/>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Decisions the Associate can make alone:</a:t>
            </a:r>
            <a:endParaRPr lang="en-US" sz="1150" dirty="0"/>
          </a:p>
        </p:txBody>
      </p:sp>
      <p:sp>
        <p:nvSpPr>
          <p:cNvPr id="24" name="write line 4"/>
          <p:cNvSpPr/>
          <p:nvPr/>
        </p:nvSpPr>
        <p:spPr>
          <a:xfrm>
            <a:off x="6620256" y="4462272"/>
            <a:ext cx="4666183" cy="0"/>
          </a:xfrm>
          <a:prstGeom prst="line">
            <a:avLst/>
          </a:prstGeom>
          <a:noFill/>
          <a:ln w="12700">
            <a:solidFill>
              <a:schemeClr val="accent5"/>
            </a:solidFill>
            <a:prstDash val="solid"/>
          </a:ln>
        </p:spPr>
      </p:sp>
      <p:sp>
        <p:nvSpPr>
          <p:cNvPr id="25" name="Text 22"/>
          <p:cNvSpPr txBox="1"/>
          <p:nvPr/>
        </p:nvSpPr>
        <p:spPr>
          <a:xfrm>
            <a:off x="6620256" y="4553712"/>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Pet peeves and must-nots:</a:t>
            </a:r>
            <a:endParaRPr lang="en-US" sz="1150" dirty="0"/>
          </a:p>
        </p:txBody>
      </p:sp>
      <p:sp>
        <p:nvSpPr>
          <p:cNvPr id="26" name="write line 5"/>
          <p:cNvSpPr/>
          <p:nvPr/>
        </p:nvSpPr>
        <p:spPr>
          <a:xfrm>
            <a:off x="6620256" y="4983480"/>
            <a:ext cx="4666183" cy="0"/>
          </a:xfrm>
          <a:prstGeom prst="line">
            <a:avLst/>
          </a:prstGeom>
          <a:noFill/>
          <a:ln w="12700">
            <a:solidFill>
              <a:schemeClr val="accent5"/>
            </a:solidFill>
            <a:prstDash val="solid"/>
          </a:ln>
        </p:spPr>
      </p:sp>
      <p:sp>
        <p:nvSpPr>
          <p:cNvPr id="27" name="Text 24"/>
          <p:cNvSpPr txBox="1"/>
          <p:nvPr/>
        </p:nvSpPr>
        <p:spPr>
          <a:xfrm>
            <a:off x="6620256" y="507492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Associate’s own goals for the first 6 months:</a:t>
            </a:r>
            <a:endParaRPr lang="en-US" sz="1150" dirty="0"/>
          </a:p>
        </p:txBody>
      </p:sp>
      <p:sp>
        <p:nvSpPr>
          <p:cNvPr id="28" name="write line 6"/>
          <p:cNvSpPr/>
          <p:nvPr/>
        </p:nvSpPr>
        <p:spPr>
          <a:xfrm>
            <a:off x="6620256" y="5504688"/>
            <a:ext cx="4666183" cy="0"/>
          </a:xfrm>
          <a:prstGeom prst="line">
            <a:avLst/>
          </a:prstGeom>
          <a:noFill/>
          <a:ln w="12700">
            <a:solidFill>
              <a:schemeClr val="accent5"/>
            </a:solidFill>
            <a:prstDash val="solid"/>
          </a:ln>
        </p:spPr>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05</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Freedom Scorecard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Are we delivering what we promised? Fill this in at every milestone review.</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474720"/>
                <a:gridCol w="1600200"/>
                <a:gridCol w="1234440"/>
                <a:gridCol w="1234440"/>
                <a:gridCol w="1234440"/>
                <a:gridCol w="214884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Hours back per week (target: 20+)</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5am admin starts per week</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Most days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Tasks handed over (from the delegation list)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Freedom Stage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1 · Task Delegator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3</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Associate self-rating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Yasmine’s satisfaction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486400"/>
            <a:ext cx="10929823" cy="594360"/>
          </a:xfrm>
          <a:prstGeom prst="roundRect">
            <a:avLst>
              <a:gd name="adj" fmla="val 12308"/>
            </a:avLst>
          </a:prstGeom>
          <a:solidFill>
            <a:schemeClr val="accent4"/>
          </a:solidFill>
          <a:ln/>
        </p:spPr>
      </p:sp>
      <p:sp>
        <p:nvSpPr>
          <p:cNvPr id="7" name="Text 4"/>
          <p:cNvSpPr txBox="1"/>
          <p:nvPr/>
        </p:nvSpPr>
        <p:spPr>
          <a:xfrm>
            <a:off x="859536" y="5486400"/>
            <a:ext cx="10472623" cy="594360"/>
          </a:xfrm>
          <a:prstGeom prst="rect">
            <a:avLst/>
          </a:prstGeom>
          <a:noFill/>
          <a:ln/>
        </p:spPr>
        <p:txBody>
          <a:bodyPr wrap="square" lIns="0" tIns="0" rIns="0" bIns="0" rtlCol="0" anchor="ctr"/>
          <a:lstStyle/>
          <a:p>
            <a:pPr indent="0" marL="0">
              <a:buNone/>
            </a:pPr>
            <a:r>
              <a:rPr lang="en-US" sz="1250" b="1" dirty="0">
                <a:solidFill>
                  <a:schemeClr val="accent1"/>
                </a:solidFill>
              </a:rPr>
              <a:t>The goal isn’t just a busy Associate. It’s Yasmine’s 5am starts gone and 20+ hours a week back for strategy, clients and growth.</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06</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Skills &amp; Readiness Checklist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Rate each skill at every milestone: NT = Needs Training · D = Developing · C = Confident.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0936" y="1920240"/>
          <a:ext cx="10929823" cy="914400"/>
        </p:xfrm>
        <a:graphic>
          <a:graphicData uri="http://schemas.openxmlformats.org/drawingml/2006/table">
            <a:tbl>
              <a:tblPr/>
              <a:tblGrid>
                <a:gridCol w="5120640"/>
                <a:gridCol w="1234440"/>
                <a:gridCol w="1143000"/>
                <a:gridCol w="1143000"/>
                <a:gridCol w="1143000"/>
                <a:gridCol w="114300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AREA</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Managing Yasmine’s calendar and meeting bookings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Diary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Coordinating interview scheduling with candidates and clients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Diary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Managing high email volume and flagging priorities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Inbox</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Drafting and sending routine client and candidate correspondence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Inbox</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Logging candidate and client notes in the CRM the same day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CRM</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Drafting candidate profiles and suitability reports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Reports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Preparing client-ready proposals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Reports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Preparing board papers and summarising board notes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Board</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Managing invites, RSVPs and catering; coordinating the 18-event calendar</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Events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07  ·  DEFINE</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Success Metrics (KPIs)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“good” looks like for this role, and exactly how to check it.</a:t>
            </a:r>
            <a:endParaRPr lang="en-US" sz="1300" dirty="0"/>
          </a:p>
        </p:txBody>
      </p:sp>
      <p:sp>
        <p:nvSpPr>
          <p:cNvPr id="5" name="card"/>
          <p:cNvSpPr/>
          <p:nvPr/>
        </p:nvSpPr>
        <p:spPr>
          <a:xfrm>
            <a:off x="630936" y="1920240"/>
            <a:ext cx="5373472" cy="1965960"/>
          </a:xfrm>
          <a:prstGeom prst="roundRect">
            <a:avLst>
              <a:gd name="adj" fmla="val 3721"/>
            </a:avLst>
          </a:prstGeom>
          <a:solidFill>
            <a:schemeClr val="bg1"/>
          </a:solidFill>
          <a:ln w="12700">
            <a:solidFill>
              <a:schemeClr val="accent5"/>
            </a:solidFill>
            <a:prstDash val="solid"/>
          </a:ln>
        </p:spPr>
      </p:sp>
      <p:sp>
        <p:nvSpPr>
          <p:cNvPr id="6" name="number 1"/>
          <p:cNvSpPr/>
          <p:nvPr/>
        </p:nvSpPr>
        <p:spPr>
          <a:xfrm>
            <a:off x="905256" y="2148840"/>
            <a:ext cx="384048" cy="384048"/>
          </a:xfrm>
          <a:prstGeom prst="ellipse">
            <a:avLst/>
          </a:prstGeom>
          <a:solidFill>
            <a:schemeClr val="accent1"/>
          </a:solidFill>
          <a:ln/>
        </p:spPr>
      </p:sp>
      <p:sp>
        <p:nvSpPr>
          <p:cNvPr id="7" name="Text 5"/>
          <p:cNvSpPr txBox="1"/>
          <p:nvPr/>
        </p:nvSpPr>
        <p:spPr>
          <a:xfrm>
            <a:off x="905256"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Diary &amp; Inbox Responsiveness</a:t>
            </a:r>
            <a:endParaRPr lang="en-US" sz="1500" dirty="0"/>
          </a:p>
        </p:txBody>
      </p:sp>
      <p:sp>
        <p:nvSpPr>
          <p:cNvPr id="9" name="Text 7"/>
          <p:cNvSpPr txBox="1"/>
          <p:nvPr/>
        </p:nvSpPr>
        <p:spPr>
          <a:xfrm>
            <a:off x="905256"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Meetings booked and confirmed promptly; inbox actioned daily; nothing unanswered for days.</a:t>
            </a:r>
            <a:endParaRPr lang="en-US" sz="1200" dirty="0"/>
          </a:p>
        </p:txBody>
      </p:sp>
      <p:sp>
        <p:nvSpPr>
          <p:cNvPr id="10" name="card"/>
          <p:cNvSpPr/>
          <p:nvPr/>
        </p:nvSpPr>
        <p:spPr>
          <a:xfrm>
            <a:off x="905256" y="3291840"/>
            <a:ext cx="4824832" cy="411480"/>
          </a:xfrm>
          <a:prstGeom prst="roundRect">
            <a:avLst>
              <a:gd name="adj" fmla="val 17778"/>
            </a:avLst>
          </a:prstGeom>
          <a:solidFill>
            <a:schemeClr val="accent4"/>
          </a:solidFill>
          <a:ln/>
        </p:spPr>
      </p:sp>
      <p:sp>
        <p:nvSpPr>
          <p:cNvPr id="11" name="Text 9"/>
          <p:cNvSpPr txBox="1"/>
          <p:nvPr/>
        </p:nvSpPr>
        <p:spPr>
          <a:xfrm>
            <a:off x="1042416"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“What’s outstanding in the inbox right now?”</a:t>
            </a:r>
            <a:endParaRPr lang="en-US" sz="1150" dirty="0"/>
          </a:p>
        </p:txBody>
      </p:sp>
      <p:sp>
        <p:nvSpPr>
          <p:cNvPr id="12" name="card"/>
          <p:cNvSpPr/>
          <p:nvPr/>
        </p:nvSpPr>
        <p:spPr>
          <a:xfrm>
            <a:off x="6187288" y="1920240"/>
            <a:ext cx="5373472" cy="1965960"/>
          </a:xfrm>
          <a:prstGeom prst="roundRect">
            <a:avLst>
              <a:gd name="adj" fmla="val 3721"/>
            </a:avLst>
          </a:prstGeom>
          <a:solidFill>
            <a:schemeClr val="bg1"/>
          </a:solidFill>
          <a:ln w="12700">
            <a:solidFill>
              <a:schemeClr val="accent5"/>
            </a:solidFill>
            <a:prstDash val="solid"/>
          </a:ln>
        </p:spPr>
      </p:sp>
      <p:sp>
        <p:nvSpPr>
          <p:cNvPr id="13" name="number 2"/>
          <p:cNvSpPr/>
          <p:nvPr/>
        </p:nvSpPr>
        <p:spPr>
          <a:xfrm>
            <a:off x="6461608" y="2148840"/>
            <a:ext cx="384048" cy="384048"/>
          </a:xfrm>
          <a:prstGeom prst="ellipse">
            <a:avLst/>
          </a:prstGeom>
          <a:solidFill>
            <a:schemeClr val="accent1"/>
          </a:solidFill>
          <a:ln/>
        </p:spPr>
      </p:sp>
      <p:sp>
        <p:nvSpPr>
          <p:cNvPr id="14" name="Text 12"/>
          <p:cNvSpPr txBox="1"/>
          <p:nvPr/>
        </p:nvSpPr>
        <p:spPr>
          <a:xfrm>
            <a:off x="6461608"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3"/>
          <p:cNvSpPr txBox="1"/>
          <p:nvPr/>
        </p:nvSpPr>
        <p:spPr>
          <a:xfrm>
            <a:off x="7010248"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CRM &amp; Documentation Accuracy</a:t>
            </a:r>
            <a:endParaRPr lang="en-US" sz="1500" dirty="0"/>
          </a:p>
        </p:txBody>
      </p:sp>
      <p:sp>
        <p:nvSpPr>
          <p:cNvPr id="16" name="Text 14"/>
          <p:cNvSpPr txBox="1"/>
          <p:nvPr/>
        </p:nvSpPr>
        <p:spPr>
          <a:xfrm>
            <a:off x="6461608"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Every candidate and client interaction logged the same day, with complete notes.</a:t>
            </a:r>
            <a:endParaRPr lang="en-US" sz="1200" dirty="0"/>
          </a:p>
        </p:txBody>
      </p:sp>
      <p:sp>
        <p:nvSpPr>
          <p:cNvPr id="17" name="card"/>
          <p:cNvSpPr/>
          <p:nvPr/>
        </p:nvSpPr>
        <p:spPr>
          <a:xfrm>
            <a:off x="6461608" y="3291840"/>
            <a:ext cx="4824832" cy="411480"/>
          </a:xfrm>
          <a:prstGeom prst="roundRect">
            <a:avLst>
              <a:gd name="adj" fmla="val 17778"/>
            </a:avLst>
          </a:prstGeom>
          <a:solidFill>
            <a:schemeClr val="accent4"/>
          </a:solidFill>
          <a:ln/>
        </p:spPr>
      </p:sp>
      <p:sp>
        <p:nvSpPr>
          <p:cNvPr id="18" name="Text 16"/>
          <p:cNvSpPr txBox="1"/>
          <p:nvPr/>
        </p:nvSpPr>
        <p:spPr>
          <a:xfrm>
            <a:off x="6598768"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 hasn’t made it into the CRM yet?”</a:t>
            </a:r>
            <a:endParaRPr lang="en-US" sz="1150" dirty="0"/>
          </a:p>
        </p:txBody>
      </p:sp>
      <p:sp>
        <p:nvSpPr>
          <p:cNvPr id="19" name="card"/>
          <p:cNvSpPr/>
          <p:nvPr/>
        </p:nvSpPr>
        <p:spPr>
          <a:xfrm>
            <a:off x="630936" y="4069080"/>
            <a:ext cx="5373472" cy="1965960"/>
          </a:xfrm>
          <a:prstGeom prst="roundRect">
            <a:avLst>
              <a:gd name="adj" fmla="val 3721"/>
            </a:avLst>
          </a:prstGeom>
          <a:solidFill>
            <a:schemeClr val="bg1"/>
          </a:solidFill>
          <a:ln w="12700">
            <a:solidFill>
              <a:schemeClr val="accent5"/>
            </a:solidFill>
            <a:prstDash val="solid"/>
          </a:ln>
        </p:spPr>
      </p:sp>
      <p:sp>
        <p:nvSpPr>
          <p:cNvPr id="20" name="number 3"/>
          <p:cNvSpPr/>
          <p:nvPr/>
        </p:nvSpPr>
        <p:spPr>
          <a:xfrm>
            <a:off x="905256" y="4297680"/>
            <a:ext cx="384048" cy="384048"/>
          </a:xfrm>
          <a:prstGeom prst="ellipse">
            <a:avLst/>
          </a:prstGeom>
          <a:solidFill>
            <a:schemeClr val="accent1"/>
          </a:solidFill>
          <a:ln/>
        </p:spPr>
      </p:sp>
      <p:sp>
        <p:nvSpPr>
          <p:cNvPr id="21" name="Text 19"/>
          <p:cNvSpPr txBox="1"/>
          <p:nvPr/>
        </p:nvSpPr>
        <p:spPr>
          <a:xfrm>
            <a:off x="905256"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20"/>
          <p:cNvSpPr txBox="1"/>
          <p:nvPr/>
        </p:nvSpPr>
        <p:spPr>
          <a:xfrm>
            <a:off x="1453896"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Proposal &amp; Reporting Turnaround</a:t>
            </a:r>
            <a:endParaRPr lang="en-US" sz="1500" dirty="0"/>
          </a:p>
        </p:txBody>
      </p:sp>
      <p:sp>
        <p:nvSpPr>
          <p:cNvPr id="23" name="Text 21"/>
          <p:cNvSpPr txBox="1"/>
          <p:nvPr/>
        </p:nvSpPr>
        <p:spPr>
          <a:xfrm>
            <a:off x="905256"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Suitability reports and proposals accurate, on brand and ready ahead of deadlines.</a:t>
            </a:r>
            <a:endParaRPr lang="en-US" sz="1200" dirty="0"/>
          </a:p>
        </p:txBody>
      </p:sp>
      <p:sp>
        <p:nvSpPr>
          <p:cNvPr id="24" name="card"/>
          <p:cNvSpPr/>
          <p:nvPr/>
        </p:nvSpPr>
        <p:spPr>
          <a:xfrm>
            <a:off x="905256" y="5440680"/>
            <a:ext cx="4824832" cy="411480"/>
          </a:xfrm>
          <a:prstGeom prst="roundRect">
            <a:avLst>
              <a:gd name="adj" fmla="val 17778"/>
            </a:avLst>
          </a:prstGeom>
          <a:solidFill>
            <a:schemeClr val="accent4"/>
          </a:solidFill>
          <a:ln/>
        </p:spPr>
      </p:sp>
      <p:sp>
        <p:nvSpPr>
          <p:cNvPr id="25" name="Text 23"/>
          <p:cNvSpPr txBox="1"/>
          <p:nvPr/>
        </p:nvSpPr>
        <p:spPr>
          <a:xfrm>
            <a:off x="1042416"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“What’s queued for submission this week?”</a:t>
            </a:r>
            <a:endParaRPr lang="en-US" sz="1150" dirty="0"/>
          </a:p>
        </p:txBody>
      </p:sp>
      <p:sp>
        <p:nvSpPr>
          <p:cNvPr id="26" name="card"/>
          <p:cNvSpPr/>
          <p:nvPr/>
        </p:nvSpPr>
        <p:spPr>
          <a:xfrm>
            <a:off x="6187288" y="4069080"/>
            <a:ext cx="5373472" cy="1965960"/>
          </a:xfrm>
          <a:prstGeom prst="roundRect">
            <a:avLst>
              <a:gd name="adj" fmla="val 3721"/>
            </a:avLst>
          </a:prstGeom>
          <a:solidFill>
            <a:schemeClr val="bg1"/>
          </a:solidFill>
          <a:ln w="12700">
            <a:solidFill>
              <a:schemeClr val="accent5"/>
            </a:solidFill>
            <a:prstDash val="solid"/>
          </a:ln>
        </p:spPr>
      </p:sp>
      <p:sp>
        <p:nvSpPr>
          <p:cNvPr id="27" name="number 4"/>
          <p:cNvSpPr/>
          <p:nvPr/>
        </p:nvSpPr>
        <p:spPr>
          <a:xfrm>
            <a:off x="6461608" y="4297680"/>
            <a:ext cx="384048" cy="384048"/>
          </a:xfrm>
          <a:prstGeom prst="ellipse">
            <a:avLst/>
          </a:prstGeom>
          <a:solidFill>
            <a:schemeClr val="accent1"/>
          </a:solidFill>
          <a:ln/>
        </p:spPr>
      </p:sp>
      <p:sp>
        <p:nvSpPr>
          <p:cNvPr id="28" name="Text 26"/>
          <p:cNvSpPr txBox="1"/>
          <p:nvPr/>
        </p:nvSpPr>
        <p:spPr>
          <a:xfrm>
            <a:off x="6461608"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9" name="Text 27"/>
          <p:cNvSpPr txBox="1"/>
          <p:nvPr/>
        </p:nvSpPr>
        <p:spPr>
          <a:xfrm>
            <a:off x="7010248"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Board &amp; Events Coordination</a:t>
            </a:r>
            <a:endParaRPr lang="en-US" sz="1500" dirty="0"/>
          </a:p>
        </p:txBody>
      </p:sp>
      <p:sp>
        <p:nvSpPr>
          <p:cNvPr id="30" name="Text 28"/>
          <p:cNvSpPr txBox="1"/>
          <p:nvPr/>
        </p:nvSpPr>
        <p:spPr>
          <a:xfrm>
            <a:off x="6461608"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Board papers ready well ahead of meetings; events run smoothly with RSVPs and catering tracked.</a:t>
            </a:r>
            <a:endParaRPr lang="en-US" sz="1200" dirty="0"/>
          </a:p>
        </p:txBody>
      </p:sp>
      <p:sp>
        <p:nvSpPr>
          <p:cNvPr id="31" name="card"/>
          <p:cNvSpPr/>
          <p:nvPr/>
        </p:nvSpPr>
        <p:spPr>
          <a:xfrm>
            <a:off x="6461608" y="5440680"/>
            <a:ext cx="4824832" cy="411480"/>
          </a:xfrm>
          <a:prstGeom prst="roundRect">
            <a:avLst>
              <a:gd name="adj" fmla="val 17778"/>
            </a:avLst>
          </a:prstGeom>
          <a:solidFill>
            <a:schemeClr val="accent4"/>
          </a:solidFill>
          <a:ln/>
        </p:spPr>
      </p:sp>
      <p:sp>
        <p:nvSpPr>
          <p:cNvPr id="32" name="Text 30"/>
          <p:cNvSpPr txBox="1"/>
          <p:nvPr/>
        </p:nvSpPr>
        <p:spPr>
          <a:xfrm>
            <a:off x="6598768"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“What’s the status of the next event or board meeting?”</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Monthly KPI Check-In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Go through this with your Associate or Account Manager once a month. Mark each KPI ✓ Met or ✗ Not yet.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246120"/>
                <a:gridCol w="621792"/>
                <a:gridCol w="621792"/>
                <a:gridCol w="621792"/>
                <a:gridCol w="621792"/>
                <a:gridCol w="621792"/>
                <a:gridCol w="621792"/>
                <a:gridCol w="621792"/>
                <a:gridCol w="621792"/>
                <a:gridCol w="621792"/>
                <a:gridCol w="621792"/>
                <a:gridCol w="621792"/>
                <a:gridCol w="621792"/>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KPI</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M7</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M8</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M9</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Diary &amp; Inbox Responsiveness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CRM &amp; Documentation Accuracy</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Proposal &amp; Reporting Turnaround</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Board &amp; Events Coordination</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120640"/>
            <a:ext cx="10929823" cy="548640"/>
          </a:xfrm>
          <a:prstGeom prst="roundRect">
            <a:avLst>
              <a:gd name="adj" fmla="val 13333"/>
            </a:avLst>
          </a:prstGeom>
          <a:solidFill>
            <a:schemeClr val="accent4"/>
          </a:solidFill>
          <a:ln/>
        </p:spPr>
      </p:sp>
      <p:sp>
        <p:nvSpPr>
          <p:cNvPr id="7" name="Text 4"/>
          <p:cNvSpPr txBox="1"/>
          <p:nvPr/>
        </p:nvSpPr>
        <p:spPr>
          <a:xfrm>
            <a:off x="859536" y="51206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Two “Not yet” months in a row? Raise it with your Account Manager. We’ll coach, adjust the plan, or step in.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09</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Delegation List: Now and Next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running list of what comes off Yasmine’s plate. Move items across at each review, and add new ones any time.</a:t>
            </a:r>
            <a:endParaRPr lang="en-US" sz="1300" dirty="0"/>
          </a:p>
        </p:txBody>
      </p:sp>
      <p:sp>
        <p:nvSpPr>
          <p:cNvPr id="5" name="card"/>
          <p:cNvSpPr/>
          <p:nvPr/>
        </p:nvSpPr>
        <p:spPr>
          <a:xfrm>
            <a:off x="630936" y="1920240"/>
            <a:ext cx="3521354" cy="3246120"/>
          </a:xfrm>
          <a:prstGeom prst="roundRect">
            <a:avLst>
              <a:gd name="adj" fmla="val 2254"/>
            </a:avLst>
          </a:prstGeom>
          <a:solidFill>
            <a:schemeClr val="accent4"/>
          </a:solidFill>
          <a:ln/>
        </p:spPr>
      </p:sp>
      <p:sp>
        <p:nvSpPr>
          <p:cNvPr id="6" name="Text 4"/>
          <p:cNvSpPr txBox="1"/>
          <p:nvPr/>
        </p:nvSpPr>
        <p:spPr>
          <a:xfrm>
            <a:off x="905256"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DELEGATED</a:t>
            </a:r>
            <a:endParaRPr lang="en-US" sz="1050" dirty="0"/>
          </a:p>
        </p:txBody>
      </p:sp>
      <p:sp>
        <p:nvSpPr>
          <p:cNvPr id="7" name="card"/>
          <p:cNvSpPr/>
          <p:nvPr/>
        </p:nvSpPr>
        <p:spPr>
          <a:xfrm>
            <a:off x="859536" y="2468880"/>
            <a:ext cx="3064154" cy="512064"/>
          </a:xfrm>
          <a:prstGeom prst="roundRect">
            <a:avLst>
              <a:gd name="adj" fmla="val 14286"/>
            </a:avLst>
          </a:prstGeom>
          <a:solidFill>
            <a:schemeClr val="bg1"/>
          </a:solidFill>
          <a:ln w="12700">
            <a:solidFill>
              <a:schemeClr val="accent5"/>
            </a:solidFill>
            <a:prstDash val="solid"/>
          </a:ln>
        </p:spPr>
      </p:sp>
      <p:sp>
        <p:nvSpPr>
          <p:cNvPr id="8" name="Text 6"/>
          <p:cNvSpPr txBox="1"/>
          <p:nvPr/>
        </p:nvSpPr>
        <p:spPr>
          <a:xfrm>
            <a:off x="1042416"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Diary management &amp; meeting scheduling</a:t>
            </a:r>
            <a:endParaRPr lang="en-US" sz="1200" dirty="0"/>
          </a:p>
        </p:txBody>
      </p:sp>
      <p:sp>
        <p:nvSpPr>
          <p:cNvPr id="9" name="card"/>
          <p:cNvSpPr/>
          <p:nvPr/>
        </p:nvSpPr>
        <p:spPr>
          <a:xfrm>
            <a:off x="859536" y="3090672"/>
            <a:ext cx="3064154" cy="512064"/>
          </a:xfrm>
          <a:prstGeom prst="roundRect">
            <a:avLst>
              <a:gd name="adj" fmla="val 14286"/>
            </a:avLst>
          </a:prstGeom>
          <a:solidFill>
            <a:schemeClr val="bg1"/>
          </a:solidFill>
          <a:ln w="12700">
            <a:solidFill>
              <a:schemeClr val="accent5"/>
            </a:solidFill>
            <a:prstDash val="solid"/>
          </a:ln>
        </p:spPr>
      </p:sp>
      <p:sp>
        <p:nvSpPr>
          <p:cNvPr id="10" name="Text 8"/>
          <p:cNvSpPr txBox="1"/>
          <p:nvPr/>
        </p:nvSpPr>
        <p:spPr>
          <a:xfrm>
            <a:off x="1042416"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Inbox triage &amp; daily follow-up</a:t>
            </a:r>
            <a:endParaRPr lang="en-US" sz="1200" dirty="0"/>
          </a:p>
        </p:txBody>
      </p:sp>
      <p:sp>
        <p:nvSpPr>
          <p:cNvPr id="11" name="card"/>
          <p:cNvSpPr/>
          <p:nvPr/>
        </p:nvSpPr>
        <p:spPr>
          <a:xfrm>
            <a:off x="859536" y="3712464"/>
            <a:ext cx="3064154" cy="512064"/>
          </a:xfrm>
          <a:prstGeom prst="roundRect">
            <a:avLst>
              <a:gd name="adj" fmla="val 14286"/>
            </a:avLst>
          </a:prstGeom>
          <a:solidFill>
            <a:schemeClr val="bg1"/>
          </a:solidFill>
          <a:ln w="12700">
            <a:solidFill>
              <a:schemeClr val="accent5"/>
            </a:solidFill>
            <a:prstDash val="solid"/>
          </a:ln>
        </p:spPr>
      </p:sp>
      <p:sp>
        <p:nvSpPr>
          <p:cNvPr id="12" name="Text 10"/>
          <p:cNvSpPr txBox="1"/>
          <p:nvPr/>
        </p:nvSpPr>
        <p:spPr>
          <a:xfrm>
            <a:off x="1042416"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CRM notes logged after every meeting</a:t>
            </a:r>
            <a:endParaRPr lang="en-US" sz="1200" dirty="0"/>
          </a:p>
        </p:txBody>
      </p:sp>
      <p:sp>
        <p:nvSpPr>
          <p:cNvPr id="13" name="card"/>
          <p:cNvSpPr/>
          <p:nvPr/>
        </p:nvSpPr>
        <p:spPr>
          <a:xfrm>
            <a:off x="4335170" y="1920240"/>
            <a:ext cx="3521354" cy="3246120"/>
          </a:xfrm>
          <a:prstGeom prst="roundRect">
            <a:avLst>
              <a:gd name="adj" fmla="val 2254"/>
            </a:avLst>
          </a:prstGeom>
          <a:solidFill>
            <a:schemeClr val="bg2"/>
          </a:solidFill>
          <a:ln/>
        </p:spPr>
      </p:sp>
      <p:sp>
        <p:nvSpPr>
          <p:cNvPr id="14" name="Text 12"/>
          <p:cNvSpPr txBox="1"/>
          <p:nvPr/>
        </p:nvSpPr>
        <p:spPr>
          <a:xfrm>
            <a:off x="4609490"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IN PROGRESS</a:t>
            </a:r>
            <a:endParaRPr lang="en-US" sz="1050" dirty="0"/>
          </a:p>
        </p:txBody>
      </p:sp>
      <p:sp>
        <p:nvSpPr>
          <p:cNvPr id="15" name="card"/>
          <p:cNvSpPr/>
          <p:nvPr/>
        </p:nvSpPr>
        <p:spPr>
          <a:xfrm>
            <a:off x="4563770" y="2468880"/>
            <a:ext cx="3064154" cy="512064"/>
          </a:xfrm>
          <a:prstGeom prst="roundRect">
            <a:avLst>
              <a:gd name="adj" fmla="val 14286"/>
            </a:avLst>
          </a:prstGeom>
          <a:solidFill>
            <a:schemeClr val="bg1"/>
          </a:solidFill>
          <a:ln w="12700">
            <a:solidFill>
              <a:schemeClr val="accent5"/>
            </a:solidFill>
            <a:prstDash val="solid"/>
          </a:ln>
        </p:spPr>
      </p:sp>
      <p:sp>
        <p:nvSpPr>
          <p:cNvPr id="16" name="Text 14"/>
          <p:cNvSpPr txBox="1"/>
          <p:nvPr/>
        </p:nvSpPr>
        <p:spPr>
          <a:xfrm>
            <a:off x="4746650"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Candidate profile &amp; proposal drafting</a:t>
            </a:r>
            <a:endParaRPr lang="en-US" sz="1200" dirty="0"/>
          </a:p>
        </p:txBody>
      </p:sp>
      <p:sp>
        <p:nvSpPr>
          <p:cNvPr id="17" name="card"/>
          <p:cNvSpPr/>
          <p:nvPr/>
        </p:nvSpPr>
        <p:spPr>
          <a:xfrm>
            <a:off x="4563770" y="3090672"/>
            <a:ext cx="3064154" cy="512064"/>
          </a:xfrm>
          <a:prstGeom prst="roundRect">
            <a:avLst>
              <a:gd name="adj" fmla="val 14286"/>
            </a:avLst>
          </a:prstGeom>
          <a:solidFill>
            <a:schemeClr val="bg1"/>
          </a:solidFill>
          <a:ln w="12700">
            <a:solidFill>
              <a:schemeClr val="accent5"/>
            </a:solidFill>
            <a:prstDash val="solid"/>
          </a:ln>
        </p:spPr>
      </p:sp>
      <p:sp>
        <p:nvSpPr>
          <p:cNvPr id="18" name="Text 16"/>
          <p:cNvSpPr txBox="1"/>
          <p:nvPr/>
        </p:nvSpPr>
        <p:spPr>
          <a:xfrm>
            <a:off x="4746650"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Advisory board paper preparation</a:t>
            </a:r>
            <a:endParaRPr lang="en-US" sz="1200" dirty="0"/>
          </a:p>
        </p:txBody>
      </p:sp>
      <p:sp>
        <p:nvSpPr>
          <p:cNvPr id="19" name="card"/>
          <p:cNvSpPr/>
          <p:nvPr/>
        </p:nvSpPr>
        <p:spPr>
          <a:xfrm>
            <a:off x="4563770" y="3712464"/>
            <a:ext cx="3064154" cy="512064"/>
          </a:xfrm>
          <a:prstGeom prst="roundRect">
            <a:avLst>
              <a:gd name="adj" fmla="val 14286"/>
            </a:avLst>
          </a:prstGeom>
          <a:solidFill>
            <a:schemeClr val="bg1"/>
          </a:solidFill>
          <a:ln w="12700">
            <a:solidFill>
              <a:schemeClr val="accent5"/>
            </a:solidFill>
            <a:prstDash val="solid"/>
          </a:ln>
        </p:spPr>
      </p:sp>
      <p:sp>
        <p:nvSpPr>
          <p:cNvPr id="20" name="Text 18"/>
          <p:cNvSpPr txBox="1"/>
          <p:nvPr/>
        </p:nvSpPr>
        <p:spPr>
          <a:xfrm>
            <a:off x="4746650"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Events &amp; membership coordination</a:t>
            </a:r>
            <a:endParaRPr lang="en-US" sz="1200" dirty="0"/>
          </a:p>
        </p:txBody>
      </p:sp>
      <p:sp>
        <p:nvSpPr>
          <p:cNvPr id="21" name="card"/>
          <p:cNvSpPr/>
          <p:nvPr/>
        </p:nvSpPr>
        <p:spPr>
          <a:xfrm>
            <a:off x="8039405" y="1920240"/>
            <a:ext cx="3521354" cy="3246120"/>
          </a:xfrm>
          <a:prstGeom prst="roundRect">
            <a:avLst>
              <a:gd name="adj" fmla="val 2254"/>
            </a:avLst>
          </a:prstGeom>
          <a:solidFill>
            <a:schemeClr val="bg1"/>
          </a:solidFill>
          <a:ln w="12700">
            <a:solidFill>
              <a:schemeClr val="accent5"/>
            </a:solidFill>
            <a:prstDash val="solid"/>
          </a:ln>
        </p:spPr>
      </p:sp>
      <p:sp>
        <p:nvSpPr>
          <p:cNvPr id="22" name="Text 20"/>
          <p:cNvSpPr txBox="1"/>
          <p:nvPr/>
        </p:nvSpPr>
        <p:spPr>
          <a:xfrm>
            <a:off x="8313725"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NEXT TO DELEGATE</a:t>
            </a:r>
            <a:endParaRPr lang="en-US" sz="1050" dirty="0"/>
          </a:p>
        </p:txBody>
      </p:sp>
      <p:sp>
        <p:nvSpPr>
          <p:cNvPr id="23" name="card"/>
          <p:cNvSpPr/>
          <p:nvPr/>
        </p:nvSpPr>
        <p:spPr>
          <a:xfrm>
            <a:off x="8268005" y="2468880"/>
            <a:ext cx="3064154" cy="512064"/>
          </a:xfrm>
          <a:prstGeom prst="roundRect">
            <a:avLst>
              <a:gd name="adj" fmla="val 14286"/>
            </a:avLst>
          </a:prstGeom>
          <a:solidFill>
            <a:schemeClr val="bg1"/>
          </a:solidFill>
          <a:ln w="12700">
            <a:solidFill>
              <a:schemeClr val="accent5"/>
            </a:solidFill>
            <a:prstDash val="solid"/>
          </a:ln>
        </p:spPr>
      </p:sp>
      <p:sp>
        <p:nvSpPr>
          <p:cNvPr id="24" name="Text 22"/>
          <p:cNvSpPr txBox="1"/>
          <p:nvPr/>
        </p:nvSpPr>
        <p:spPr>
          <a:xfrm>
            <a:off x="8450885"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Phone contact with candidates &amp; clients</a:t>
            </a:r>
            <a:endParaRPr lang="en-US" sz="1200" dirty="0"/>
          </a:p>
        </p:txBody>
      </p:sp>
      <p:sp>
        <p:nvSpPr>
          <p:cNvPr id="25" name="card"/>
          <p:cNvSpPr/>
          <p:nvPr/>
        </p:nvSpPr>
        <p:spPr>
          <a:xfrm>
            <a:off x="8268005" y="3090672"/>
            <a:ext cx="3064154" cy="512064"/>
          </a:xfrm>
          <a:prstGeom prst="roundRect">
            <a:avLst>
              <a:gd name="adj" fmla="val 14286"/>
            </a:avLst>
          </a:prstGeom>
          <a:solidFill>
            <a:schemeClr val="bg1"/>
          </a:solidFill>
          <a:ln w="12700">
            <a:solidFill>
              <a:schemeClr val="accent5"/>
            </a:solidFill>
            <a:prstDash val="solid"/>
          </a:ln>
        </p:spPr>
      </p:sp>
      <p:sp>
        <p:nvSpPr>
          <p:cNvPr id="26" name="Text 24"/>
          <p:cNvSpPr txBox="1"/>
          <p:nvPr/>
        </p:nvSpPr>
        <p:spPr>
          <a:xfrm>
            <a:off x="8450885"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Ad hoc personal tasks</a:t>
            </a:r>
            <a:endParaRPr lang="en-US" sz="1200" dirty="0"/>
          </a:p>
        </p:txBody>
      </p:sp>
      <p:sp>
        <p:nvSpPr>
          <p:cNvPr id="27" name="card"/>
          <p:cNvSpPr/>
          <p:nvPr/>
        </p:nvSpPr>
        <p:spPr>
          <a:xfrm>
            <a:off x="8268005" y="3712464"/>
            <a:ext cx="3064154" cy="512064"/>
          </a:xfrm>
          <a:prstGeom prst="roundRect">
            <a:avLst>
              <a:gd name="adj" fmla="val 14286"/>
            </a:avLst>
          </a:prstGeom>
          <a:solidFill>
            <a:schemeClr val="bg1"/>
          </a:solidFill>
          <a:ln w="12700">
            <a:solidFill>
              <a:schemeClr val="accent5"/>
            </a:solidFill>
            <a:prstDash val="solid"/>
          </a:ln>
        </p:spPr>
      </p:sp>
      <p:sp>
        <p:nvSpPr>
          <p:cNvPr id="28" name="Text 26"/>
          <p:cNvSpPr txBox="1"/>
          <p:nvPr/>
        </p:nvSpPr>
        <p:spPr>
          <a:xfrm>
            <a:off x="8450885"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Ad hoc business support</a:t>
            </a:r>
            <a:endParaRPr lang="en-US" sz="1200" dirty="0"/>
          </a:p>
        </p:txBody>
      </p:sp>
      <p:sp>
        <p:nvSpPr>
          <p:cNvPr id="29" name="card"/>
          <p:cNvSpPr/>
          <p:nvPr/>
        </p:nvSpPr>
        <p:spPr>
          <a:xfrm>
            <a:off x="8268005" y="4334256"/>
            <a:ext cx="3064154" cy="512064"/>
          </a:xfrm>
          <a:prstGeom prst="roundRect">
            <a:avLst>
              <a:gd name="adj" fmla="val 14286"/>
            </a:avLst>
          </a:prstGeom>
          <a:solidFill>
            <a:schemeClr val="bg1"/>
          </a:solidFill>
          <a:ln w="12700">
            <a:solidFill>
              <a:schemeClr val="accent5"/>
            </a:solidFill>
            <a:prstDash val="solid"/>
          </a:ln>
        </p:spPr>
      </p:sp>
      <p:sp>
        <p:nvSpPr>
          <p:cNvPr id="30" name="Text 28"/>
          <p:cNvSpPr txBox="1"/>
          <p:nvPr/>
        </p:nvSpPr>
        <p:spPr>
          <a:xfrm>
            <a:off x="8450885" y="4334256"/>
            <a:ext cx="2698394" cy="512064"/>
          </a:xfrm>
          <a:prstGeom prst="rect">
            <a:avLst/>
          </a:prstGeom>
          <a:noFill/>
          <a:ln/>
        </p:spPr>
        <p:txBody>
          <a:bodyPr wrap="square" lIns="0" tIns="0" rIns="0" bIns="0" rtlCol="0" anchor="ctr"/>
          <a:lstStyle/>
          <a:p>
            <a:pPr indent="0" marL="0">
              <a:buNone/>
            </a:pPr>
            <a:r>
              <a:rPr lang="en-US" sz="1200" i="1" dirty="0">
                <a:solidFill>
                  <a:schemeClr val="accent3"/>
                </a:solidFill>
              </a:rPr>
              <a:t>Add new items here at each review</a:t>
            </a:r>
            <a:endParaRPr lang="en-US" sz="1200" dirty="0"/>
          </a:p>
        </p:txBody>
      </p:sp>
      <p:sp>
        <p:nvSpPr>
          <p:cNvPr id="31" name="callout"/>
          <p:cNvSpPr/>
          <p:nvPr/>
        </p:nvSpPr>
        <p:spPr>
          <a:xfrm>
            <a:off x="630936" y="5394960"/>
            <a:ext cx="10929823" cy="548640"/>
          </a:xfrm>
          <a:prstGeom prst="roundRect">
            <a:avLst>
              <a:gd name="adj" fmla="val 13333"/>
            </a:avLst>
          </a:prstGeom>
          <a:solidFill>
            <a:schemeClr val="accent4"/>
          </a:solidFill>
          <a:ln/>
        </p:spPr>
      </p:sp>
      <p:sp>
        <p:nvSpPr>
          <p:cNvPr id="32" name="Text 30"/>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When “Next to delegate” outgrows one Associate’s hours, it’s time to talk about more hours or a second Angel. We’ll plan it with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10</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SOP &amp; Knowledge Library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Every process your Associate documents is linked here. Over time this becomes EGM’s operating manual, and it protects you if anything ever changes.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30936" y="2057400"/>
          <a:ext cx="10929823" cy="914400"/>
        </p:xfrm>
        <a:graphic>
          <a:graphicData uri="http://schemas.openxmlformats.org/drawingml/2006/table">
            <a:tbl>
              <a:tblPr/>
              <a:tblGrid>
                <a:gridCol w="4206240"/>
                <a:gridCol w="2194560"/>
                <a:gridCol w="2926080"/>
                <a:gridCol w="160020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LINK TO SOP</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LAST UPDATED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Diary &amp; meeting booking rules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Associate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Inbox triage &amp; priority flags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Associate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CRM note standards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Associate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Candidate suitability report template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Associate + Yasmine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Client proposal template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Associate + Yasmine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Advisory board paper checklist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Associate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Event run sheet (invites, RSVPs, catering)</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Associate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Wins Log &amp; Review Notes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Capture the moments that show the plan is working, and what we agreed at each review.</a:t>
            </a:r>
            <a:endParaRPr lang="en-US" sz="1300" dirty="0"/>
          </a:p>
        </p:txBody>
      </p:sp>
      <p:sp>
        <p:nvSpPr>
          <p:cNvPr id="5" name="Text 3"/>
          <p:cNvSpPr txBox="1"/>
          <p:nvPr/>
        </p:nvSpPr>
        <p:spPr>
          <a:xfrm>
            <a:off x="63093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WINS LOG</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30936" y="2194560"/>
          <a:ext cx="5577840" cy="914400"/>
        </p:xfrm>
        <a:graphic>
          <a:graphicData uri="http://schemas.openxmlformats.org/drawingml/2006/table">
            <a:tbl>
              <a:tblPr/>
              <a:tblGrid>
                <a:gridCol w="1005840"/>
                <a:gridCol w="3291840"/>
                <a:gridCol w="128016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ADDED BY</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week with no 5am admin start</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event run end to end by the Associate</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7" name="Text 4"/>
          <p:cNvSpPr txBox="1"/>
          <p:nvPr/>
        </p:nvSpPr>
        <p:spPr>
          <a:xfrm>
            <a:off x="643737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REVIEW NOTES</a:t>
            </a:r>
            <a:endParaRPr lang="en-US" sz="10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437376" y="2194560"/>
          <a:ext cx="5123383" cy="914400"/>
        </p:xfrm>
        <a:graphic>
          <a:graphicData uri="http://schemas.openxmlformats.org/drawingml/2006/table">
            <a:tbl>
              <a:tblPr/>
              <a:tblGrid>
                <a:gridCol w="1280160"/>
                <a:gridCol w="3843223"/>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AGREED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12  ·  ONGOING COLLABORATION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CAX Framework</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“This is where we support you and your Angel.” Not a transaction: the start of a long-term partnership.</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cax C"/>
          <p:cNvSpPr/>
          <p:nvPr/>
        </p:nvSpPr>
        <p:spPr>
          <a:xfrm>
            <a:off x="905256" y="2240280"/>
            <a:ext cx="685800" cy="685800"/>
          </a:xfrm>
          <a:prstGeom prst="roundRect">
            <a:avLst>
              <a:gd name="adj" fmla="val 13333"/>
            </a:avLst>
          </a:prstGeom>
          <a:solidFill>
            <a:schemeClr val="accent1"/>
          </a:solidFill>
          <a:ln/>
        </p:spPr>
      </p:sp>
      <p:sp>
        <p:nvSpPr>
          <p:cNvPr id="7" name="Text 5"/>
          <p:cNvSpPr txBox="1"/>
          <p:nvPr/>
        </p:nvSpPr>
        <p:spPr>
          <a:xfrm>
            <a:off x="905256"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8" name="Text 6"/>
          <p:cNvSpPr txBox="1"/>
          <p:nvPr/>
        </p:nvSpPr>
        <p:spPr>
          <a:xfrm>
            <a:off x="1819656"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Clarity</a:t>
            </a:r>
            <a:endParaRPr lang="en-US" sz="1600" dirty="0"/>
          </a:p>
        </p:txBody>
      </p:sp>
      <p:sp>
        <p:nvSpPr>
          <p:cNvPr id="9" name="Text 7"/>
          <p:cNvSpPr txBox="1"/>
          <p:nvPr/>
        </p:nvSpPr>
        <p:spPr>
          <a:xfrm>
            <a:off x="1819656"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Clear priorities across diary, CRM, reporting and events, with expectations kept aligned as trust builds.</a:t>
            </a:r>
            <a:endParaRPr lang="en-US" sz="1200" dirty="0"/>
          </a:p>
        </p:txBody>
      </p:sp>
      <p:sp>
        <p:nvSpPr>
          <p:cNvPr id="10"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11" name="cax A"/>
          <p:cNvSpPr/>
          <p:nvPr/>
        </p:nvSpPr>
        <p:spPr>
          <a:xfrm>
            <a:off x="6461608" y="2240280"/>
            <a:ext cx="685800" cy="685800"/>
          </a:xfrm>
          <a:prstGeom prst="roundRect">
            <a:avLst>
              <a:gd name="adj" fmla="val 13333"/>
            </a:avLst>
          </a:prstGeom>
          <a:solidFill>
            <a:schemeClr val="accent1"/>
          </a:solidFill>
          <a:ln/>
        </p:spPr>
      </p:sp>
      <p:sp>
        <p:nvSpPr>
          <p:cNvPr id="12" name="Text 10"/>
          <p:cNvSpPr txBox="1"/>
          <p:nvPr/>
        </p:nvSpPr>
        <p:spPr>
          <a:xfrm>
            <a:off x="6461608"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A</a:t>
            </a:r>
            <a:endParaRPr lang="en-US" sz="2600" dirty="0"/>
          </a:p>
        </p:txBody>
      </p:sp>
      <p:sp>
        <p:nvSpPr>
          <p:cNvPr id="13" name="Text 11"/>
          <p:cNvSpPr txBox="1"/>
          <p:nvPr/>
        </p:nvSpPr>
        <p:spPr>
          <a:xfrm>
            <a:off x="7376008"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Accountability</a:t>
            </a:r>
            <a:endParaRPr lang="en-US" sz="1600" dirty="0"/>
          </a:p>
        </p:txBody>
      </p:sp>
      <p:sp>
        <p:nvSpPr>
          <p:cNvPr id="14" name="Text 12"/>
          <p:cNvSpPr txBox="1"/>
          <p:nvPr/>
        </p:nvSpPr>
        <p:spPr>
          <a:xfrm>
            <a:off x="7376008"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Regular check-ins on responsiveness, CRM accuracy and reporting turnaround. Gaps are addressed quickly through coaching.</a:t>
            </a:r>
            <a:endParaRPr lang="en-US" sz="1200" dirty="0"/>
          </a:p>
        </p:txBody>
      </p:sp>
      <p:sp>
        <p:nvSpPr>
          <p:cNvPr id="15"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6" name="cax E"/>
          <p:cNvSpPr/>
          <p:nvPr/>
        </p:nvSpPr>
        <p:spPr>
          <a:xfrm>
            <a:off x="905256" y="4114800"/>
            <a:ext cx="685800" cy="685800"/>
          </a:xfrm>
          <a:prstGeom prst="roundRect">
            <a:avLst>
              <a:gd name="adj" fmla="val 13333"/>
            </a:avLst>
          </a:prstGeom>
          <a:solidFill>
            <a:schemeClr val="accent1"/>
          </a:solidFill>
          <a:ln/>
        </p:spPr>
      </p:sp>
      <p:sp>
        <p:nvSpPr>
          <p:cNvPr id="17" name="Text 15"/>
          <p:cNvSpPr txBox="1"/>
          <p:nvPr/>
        </p:nvSpPr>
        <p:spPr>
          <a:xfrm>
            <a:off x="905256"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E</a:t>
            </a:r>
            <a:endParaRPr lang="en-US" sz="2600" dirty="0"/>
          </a:p>
        </p:txBody>
      </p:sp>
      <p:sp>
        <p:nvSpPr>
          <p:cNvPr id="18" name="Text 16"/>
          <p:cNvSpPr txBox="1"/>
          <p:nvPr/>
        </p:nvSpPr>
        <p:spPr>
          <a:xfrm>
            <a:off x="1819656"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Execution</a:t>
            </a:r>
            <a:endParaRPr lang="en-US" sz="1600" dirty="0"/>
          </a:p>
        </p:txBody>
      </p:sp>
      <p:sp>
        <p:nvSpPr>
          <p:cNvPr id="19" name="Text 17"/>
          <p:cNvSpPr txBox="1"/>
          <p:nvPr/>
        </p:nvSpPr>
        <p:spPr>
          <a:xfrm>
            <a:off x="1819656"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Structured workflows for diary, inbox, CRM and reporting, so delivery stays consistent as scope expands.</a:t>
            </a:r>
            <a:endParaRPr lang="en-US" sz="1200" dirty="0"/>
          </a:p>
        </p:txBody>
      </p:sp>
      <p:sp>
        <p:nvSpPr>
          <p:cNvPr id="20"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21" name="cax X"/>
          <p:cNvSpPr/>
          <p:nvPr/>
        </p:nvSpPr>
        <p:spPr>
          <a:xfrm>
            <a:off x="6461608" y="4114800"/>
            <a:ext cx="685800" cy="685800"/>
          </a:xfrm>
          <a:prstGeom prst="roundRect">
            <a:avLst>
              <a:gd name="adj" fmla="val 13333"/>
            </a:avLst>
          </a:prstGeom>
          <a:solidFill>
            <a:schemeClr val="accent1"/>
          </a:solidFill>
          <a:ln/>
        </p:spPr>
      </p:sp>
      <p:sp>
        <p:nvSpPr>
          <p:cNvPr id="22" name="Text 20"/>
          <p:cNvSpPr txBox="1"/>
          <p:nvPr/>
        </p:nvSpPr>
        <p:spPr>
          <a:xfrm>
            <a:off x="6461608"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X</a:t>
            </a:r>
            <a:endParaRPr lang="en-US" sz="2600" dirty="0"/>
          </a:p>
        </p:txBody>
      </p:sp>
      <p:sp>
        <p:nvSpPr>
          <p:cNvPr id="23" name="Text 21"/>
          <p:cNvSpPr txBox="1"/>
          <p:nvPr/>
        </p:nvSpPr>
        <p:spPr>
          <a:xfrm>
            <a:off x="7376008"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Performance Support</a:t>
            </a:r>
            <a:endParaRPr lang="en-US" sz="1600" dirty="0"/>
          </a:p>
        </p:txBody>
      </p:sp>
      <p:sp>
        <p:nvSpPr>
          <p:cNvPr id="24" name="Text 22"/>
          <p:cNvSpPr txBox="1"/>
          <p:nvPr/>
        </p:nvSpPr>
        <p:spPr>
          <a:xfrm>
            <a:off x="7376008"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If needed, targeted coaching and retraining. We step in fast to reset standards.</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13  ·  YOUR TEAM</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Outsourcing Angel Supports You</a:t>
            </a:r>
            <a:endParaRPr lang="en-US" sz="3000" dirty="0"/>
          </a:p>
        </p:txBody>
      </p:sp>
      <p:sp>
        <p:nvSpPr>
          <p:cNvPr id="4" name="card"/>
          <p:cNvSpPr/>
          <p:nvPr/>
        </p:nvSpPr>
        <p:spPr>
          <a:xfrm>
            <a:off x="630936" y="1508760"/>
            <a:ext cx="3521354" cy="3657600"/>
          </a:xfrm>
          <a:prstGeom prst="roundRect">
            <a:avLst>
              <a:gd name="adj" fmla="val 2077"/>
            </a:avLst>
          </a:prstGeom>
          <a:solidFill>
            <a:schemeClr val="bg1"/>
          </a:solidFill>
          <a:ln w="12700">
            <a:solidFill>
              <a:schemeClr val="accent5"/>
            </a:solidFill>
            <a:prstDash val="solid"/>
          </a:ln>
        </p:spPr>
      </p:sp>
      <p:sp>
        <p:nvSpPr>
          <p:cNvPr id="5" name="Text 3"/>
          <p:cNvSpPr txBox="1"/>
          <p:nvPr/>
        </p:nvSpPr>
        <p:spPr>
          <a:xfrm>
            <a:off x="905256"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SUPPORT TEAM</a:t>
            </a:r>
            <a:endParaRPr lang="en-US" sz="1050" dirty="0"/>
          </a:p>
        </p:txBody>
      </p:sp>
      <p:sp>
        <p:nvSpPr>
          <p:cNvPr id="6" name="Text 4"/>
          <p:cNvSpPr txBox="1"/>
          <p:nvPr/>
        </p:nvSpPr>
        <p:spPr>
          <a:xfrm>
            <a:off x="905256"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Account Manager</a:t>
            </a:r>
            <a:endParaRPr lang="en-US" sz="1250" dirty="0"/>
          </a:p>
          <a:p>
            <a:pPr indent="0" marL="0">
              <a:buNone/>
            </a:pPr>
            <a:r>
              <a:rPr lang="en-US" sz="1250" dirty="0">
                <a:solidFill>
                  <a:schemeClr val="accent3"/>
                </a:solidFill>
              </a:rPr>
              <a:t>your main contact for strategy and escalations</a:t>
            </a:r>
            <a:endParaRPr lang="en-US" sz="1250" dirty="0"/>
          </a:p>
        </p:txBody>
      </p:sp>
      <p:sp>
        <p:nvSpPr>
          <p:cNvPr id="7" name="Text 5"/>
          <p:cNvSpPr txBox="1"/>
          <p:nvPr/>
        </p:nvSpPr>
        <p:spPr>
          <a:xfrm>
            <a:off x="905256"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CAX team</a:t>
            </a:r>
            <a:endParaRPr lang="en-US" sz="1250" dirty="0"/>
          </a:p>
          <a:p>
            <a:pPr indent="0" marL="0">
              <a:buNone/>
            </a:pPr>
            <a:r>
              <a:rPr lang="en-US" sz="1250" dirty="0">
                <a:solidFill>
                  <a:schemeClr val="accent3"/>
                </a:solidFill>
              </a:rPr>
              <a:t>check-ins and relationship support</a:t>
            </a:r>
            <a:endParaRPr lang="en-US" sz="1250" dirty="0"/>
          </a:p>
        </p:txBody>
      </p:sp>
      <p:sp>
        <p:nvSpPr>
          <p:cNvPr id="8" name="Text 6"/>
          <p:cNvSpPr txBox="1"/>
          <p:nvPr/>
        </p:nvSpPr>
        <p:spPr>
          <a:xfrm>
            <a:off x="905256"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Team Leader</a:t>
            </a:r>
            <a:endParaRPr lang="en-US" sz="1250" dirty="0"/>
          </a:p>
          <a:p>
            <a:pPr indent="0" marL="0">
              <a:buNone/>
            </a:pPr>
            <a:r>
              <a:rPr lang="en-US" sz="1250" dirty="0">
                <a:solidFill>
                  <a:schemeClr val="accent3"/>
                </a:solidFill>
              </a:rPr>
              <a:t>works with your Associate directly, including training</a:t>
            </a:r>
            <a:endParaRPr lang="en-US" sz="1250" dirty="0"/>
          </a:p>
        </p:txBody>
      </p:sp>
      <p:sp>
        <p:nvSpPr>
          <p:cNvPr id="9" name="card"/>
          <p:cNvSpPr/>
          <p:nvPr/>
        </p:nvSpPr>
        <p:spPr>
          <a:xfrm>
            <a:off x="4335170" y="1508760"/>
            <a:ext cx="3521354" cy="3657600"/>
          </a:xfrm>
          <a:prstGeom prst="roundRect">
            <a:avLst>
              <a:gd name="adj" fmla="val 2077"/>
            </a:avLst>
          </a:prstGeom>
          <a:solidFill>
            <a:schemeClr val="bg1"/>
          </a:solidFill>
          <a:ln w="12700">
            <a:solidFill>
              <a:schemeClr val="accent5"/>
            </a:solidFill>
            <a:prstDash val="solid"/>
          </a:ln>
        </p:spPr>
      </p:sp>
      <p:sp>
        <p:nvSpPr>
          <p:cNvPr id="10" name="Text 8"/>
          <p:cNvSpPr txBox="1"/>
          <p:nvPr/>
        </p:nvSpPr>
        <p:spPr>
          <a:xfrm>
            <a:off x="4609490"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ISN’T WORKING</a:t>
            </a:r>
            <a:endParaRPr lang="en-US" sz="1050" dirty="0"/>
          </a:p>
        </p:txBody>
      </p:sp>
      <p:sp>
        <p:nvSpPr>
          <p:cNvPr id="11" name="Text 9"/>
          <p:cNvSpPr txBox="1"/>
          <p:nvPr/>
        </p:nvSpPr>
        <p:spPr>
          <a:xfrm>
            <a:off x="4609490"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Raise it any time</a:t>
            </a:r>
            <a:endParaRPr lang="en-US" sz="1250" dirty="0"/>
          </a:p>
          <a:p>
            <a:pPr indent="0" marL="0">
              <a:buNone/>
            </a:pPr>
            <a:r>
              <a:rPr lang="en-US" sz="1250" dirty="0">
                <a:solidFill>
                  <a:schemeClr val="accent3"/>
                </a:solidFill>
              </a:rPr>
              <a:t>no need to wait for a check-in</a:t>
            </a:r>
            <a:endParaRPr lang="en-US" sz="1250" dirty="0"/>
          </a:p>
        </p:txBody>
      </p:sp>
      <p:sp>
        <p:nvSpPr>
          <p:cNvPr id="12" name="Text 10"/>
          <p:cNvSpPr txBox="1"/>
          <p:nvPr/>
        </p:nvSpPr>
        <p:spPr>
          <a:xfrm>
            <a:off x="4609490"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fix it together</a:t>
            </a:r>
            <a:endParaRPr lang="en-US" sz="1250" dirty="0"/>
          </a:p>
          <a:p>
            <a:pPr indent="0" marL="0">
              <a:buNone/>
            </a:pPr>
            <a:r>
              <a:rPr lang="en-US" sz="1250" dirty="0">
                <a:solidFill>
                  <a:schemeClr val="accent3"/>
                </a:solidFill>
              </a:rPr>
              <a:t>investigate, coach and adjust this plan</a:t>
            </a:r>
            <a:endParaRPr lang="en-US" sz="1250" dirty="0"/>
          </a:p>
        </p:txBody>
      </p:sp>
      <p:sp>
        <p:nvSpPr>
          <p:cNvPr id="13" name="Text 11"/>
          <p:cNvSpPr txBox="1"/>
          <p:nvPr/>
        </p:nvSpPr>
        <p:spPr>
          <a:xfrm>
            <a:off x="4609490"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Not the right fit?</a:t>
            </a:r>
            <a:endParaRPr lang="en-US" sz="1250" dirty="0"/>
          </a:p>
          <a:p>
            <a:pPr indent="0" marL="0">
              <a:buNone/>
            </a:pPr>
            <a:r>
              <a:rPr lang="en-US" sz="1250" dirty="0">
                <a:solidFill>
                  <a:schemeClr val="accent3"/>
                </a:solidFill>
              </a:rPr>
              <a:t>free replacement any time, with a 1-week trial</a:t>
            </a:r>
            <a:endParaRPr lang="en-US" sz="1250" dirty="0"/>
          </a:p>
        </p:txBody>
      </p:sp>
      <p:sp>
        <p:nvSpPr>
          <p:cNvPr id="14" name="card"/>
          <p:cNvSpPr/>
          <p:nvPr/>
        </p:nvSpPr>
        <p:spPr>
          <a:xfrm>
            <a:off x="8039405" y="1508760"/>
            <a:ext cx="3521354" cy="3657600"/>
          </a:xfrm>
          <a:prstGeom prst="roundRect">
            <a:avLst>
              <a:gd name="adj" fmla="val 2077"/>
            </a:avLst>
          </a:prstGeom>
          <a:solidFill>
            <a:schemeClr val="accent4"/>
          </a:solidFill>
          <a:ln/>
        </p:spPr>
      </p:sp>
      <p:sp>
        <p:nvSpPr>
          <p:cNvPr id="15" name="Text 13"/>
          <p:cNvSpPr txBox="1"/>
          <p:nvPr/>
        </p:nvSpPr>
        <p:spPr>
          <a:xfrm>
            <a:off x="8313725"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 WORKING</a:t>
            </a:r>
            <a:endParaRPr lang="en-US" sz="1050" dirty="0"/>
          </a:p>
        </p:txBody>
      </p:sp>
      <p:sp>
        <p:nvSpPr>
          <p:cNvPr id="16" name="Text 14"/>
          <p:cNvSpPr txBox="1"/>
          <p:nvPr/>
        </p:nvSpPr>
        <p:spPr>
          <a:xfrm>
            <a:off x="8313725"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build on it</a:t>
            </a:r>
            <a:endParaRPr lang="en-US" sz="1250" dirty="0"/>
          </a:p>
          <a:p>
            <a:pPr indent="0" marL="0">
              <a:buNone/>
            </a:pPr>
            <a:r>
              <a:rPr lang="en-US" sz="1250" dirty="0">
                <a:solidFill>
                  <a:schemeClr val="accent3"/>
                </a:solidFill>
              </a:rPr>
              <a:t>phone contact, board support and events as trust grows</a:t>
            </a:r>
            <a:endParaRPr lang="en-US" sz="1250" dirty="0"/>
          </a:p>
        </p:txBody>
      </p:sp>
      <p:sp>
        <p:nvSpPr>
          <p:cNvPr id="17" name="Text 15"/>
          <p:cNvSpPr txBox="1"/>
          <p:nvPr/>
        </p:nvSpPr>
        <p:spPr>
          <a:xfrm>
            <a:off x="8313725"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plan growth</a:t>
            </a:r>
            <a:endParaRPr lang="en-US" sz="1250" dirty="0"/>
          </a:p>
          <a:p>
            <a:pPr indent="0" marL="0">
              <a:buNone/>
            </a:pPr>
            <a:r>
              <a:rPr lang="en-US" sz="1250" dirty="0">
                <a:solidFill>
                  <a:schemeClr val="accent3"/>
                </a:solidFill>
              </a:rPr>
              <a:t>more hours or a second Angel as EGM grows</a:t>
            </a:r>
            <a:endParaRPr lang="en-US" sz="1250" dirty="0"/>
          </a:p>
        </p:txBody>
      </p:sp>
      <p:sp>
        <p:nvSpPr>
          <p:cNvPr id="18" name="Text 16"/>
          <p:cNvSpPr txBox="1"/>
          <p:nvPr/>
        </p:nvSpPr>
        <p:spPr>
          <a:xfrm>
            <a:off x="8313725"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celebrate it</a:t>
            </a:r>
            <a:endParaRPr lang="en-US" sz="1250" dirty="0"/>
          </a:p>
          <a:p>
            <a:pPr indent="0" marL="0">
              <a:buNone/>
            </a:pPr>
            <a:r>
              <a:rPr lang="en-US" sz="1250" dirty="0">
                <a:solidFill>
                  <a:schemeClr val="accent3"/>
                </a:solidFill>
              </a:rPr>
              <a:t>add it to your Wins Log</a:t>
            </a:r>
            <a:endParaRPr lang="en-US" sz="1250" dirty="0"/>
          </a:p>
        </p:txBody>
      </p:sp>
      <p:sp>
        <p:nvSpPr>
          <p:cNvPr id="19" name="callout"/>
          <p:cNvSpPr/>
          <p:nvPr/>
        </p:nvSpPr>
        <p:spPr>
          <a:xfrm>
            <a:off x="630936" y="5394960"/>
            <a:ext cx="10929823" cy="548640"/>
          </a:xfrm>
          <a:prstGeom prst="roundRect">
            <a:avLst>
              <a:gd name="adj" fmla="val 13333"/>
            </a:avLst>
          </a:prstGeom>
          <a:solidFill>
            <a:schemeClr val="accent4"/>
          </a:solidFill>
          <a:ln/>
        </p:spPr>
      </p:sp>
      <p:sp>
        <p:nvSpPr>
          <p:cNvPr id="20" name="Text 18"/>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Included, ongoing: Angel Happiness Lifetime Guarantee, plus payroll, HR and insurance handled for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THE GOAL</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More time for what only Yasmine can do</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Not someone to just answer emails, but a trusted right hand. Yasmine spends her time on strategy, clients and growth, while her Associate keeps EGM running smoothly.</a:t>
            </a:r>
            <a:endParaRPr lang="en-US" sz="1500" dirty="0"/>
          </a:p>
          <a:p>
            <a:pPr indent="0" marL="0">
              <a:buNone/>
            </a:pPr>
            <a:endParaRPr lang="en-US" sz="1500" dirty="0"/>
          </a:p>
          <a:p>
            <a:pPr indent="0" marL="0">
              <a:buNone/>
            </a:pPr>
            <a:r>
              <a:rPr lang="en-US" sz="1500" dirty="0">
                <a:solidFill>
                  <a:srgbClr val="DBE3E6"/>
                </a:solidFill>
              </a:rPr>
              <a:t>This plan grows with you. See you at Day 30.</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OA Freedom Plan">
  <a:themeElements>
    <a:clrScheme name="OA Freedom Plan">
      <a:dk1>
        <a:srgbClr val="212B35"/>
      </a:dk1>
      <a:lt1>
        <a:srgbClr val="FFFFFF"/>
      </a:lt1>
      <a:dk2>
        <a:srgbClr val="1B2530"/>
      </a:dk2>
      <a:lt2>
        <a:srgbClr val="F4F6F6"/>
      </a:lt2>
      <a:accent1>
        <a:srgbClr val="1F8A6D"/>
      </a:accent1>
      <a:accent2>
        <a:srgbClr val="2FAE8B"/>
      </a:accent2>
      <a:accent3>
        <a:srgbClr val="6B7684"/>
      </a:accent3>
      <a:accent4>
        <a:srgbClr val="E1F3EC"/>
      </a:accent4>
      <a:accent5>
        <a:srgbClr val="E6E9EA"/>
      </a:accent5>
      <a:accent6>
        <a:srgbClr val="E2A53D"/>
      </a:accent6>
      <a:hlink>
        <a:srgbClr val="1F8A6D"/>
      </a:hlink>
      <a:folHlink>
        <a:srgbClr val="6B7684"/>
      </a:folHlink>
    </a:clrScheme>
    <a:fontScheme name="OA Freedom Pl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Freedom Plan: Yasmine, EGM Search &amp; Recruit</dc:title>
  <dc:subject>PptxGenJS Presentation</dc:subject>
  <dc:creator>Gail Galima-Mendoza</dc:creator>
  <cp:lastModifiedBy>Gail Galima-Mendoza</cp:lastModifiedBy>
  <cp:revision>1</cp:revision>
  <dcterms:created xsi:type="dcterms:W3CDTF">2026-10-13T04:45:00Z</dcterms:created>
  <dcterms:modified xsi:type="dcterms:W3CDTF">2026-10-13T04:45:00Z</dcterms:modified>
</cp:coreProperties>
</file>