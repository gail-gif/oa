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86" r:id="rId37"/>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17e0172-c641-9f94-7c44-aaac5bea8d6c}">
          <p14:sldIdLst>
            <p14:sldId id="256"/>
          </p14:sldIdLst>
        </p14:section>
        <p14:section name="Getting oriented" id="{fb90ef12-b11e-0163-bfcc-ebd09ec4c9f1}">
          <p14:sldIdLst>
            <p14:sldId id="257"/>
          </p14:sldIdLst>
        </p14:section>
        <p14:section name="Part A: Our Recommendation" id="{44ac627f-39ca-05da-1752-eb783245ef15}">
          <p14:sldIdLst>
            <p14:sldId id="258"/>
            <p14:sldId id="259"/>
            <p14:sldId id="260"/>
            <p14:sldId id="261"/>
            <p14:sldId id="262"/>
            <p14:sldId id="263"/>
            <p14:sldId id="264"/>
            <p14:sldId id="265"/>
            <p14:sldId id="266"/>
          </p14:sldIdLst>
        </p14:section>
        <p14:section name="Part B: Your Freedom Playbook" id="{ed8888ad-7452-6a93-a7f1-06a5ab604da6}">
          <p14:sldIdLst>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  <Relationship Id="rId37" Type="http://schemas.openxmlformats.org/officeDocument/2006/relationships/slide" Target="slides/slide3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 of May Ly’s Freedom Plan for the Administration Coordinator role at Conscious Ground Organics, built from the 12 October 2026 Freedom Audit, the 15 October 2026 Alignment Session, the position description, the VA admin schedule and the Admin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‘user manual’ for working with May. The first column is pre-filled from the Freedom Audit and Alignment Session; the rest is completed together in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P 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P Divider">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630936" y="6446520"/>
            <a:ext cx="5486400" cy="228600"/>
          </a:xfrm>
          <a:prstGeom prst="rect">
            <a:avLst/>
          </a:prstGeom>
          <a:noFill/>
          <a:ln/>
        </p:spPr>
        <p:txBody>
          <a:bodyPr wrap="square" lIns="0" tIns="0" rIns="0" bIns="0" rtlCol="0" anchor="ctr"/>
          <a:lstStyle/>
          <a:p>
            <a:pPr indent="0" marL="0">
              <a:buNone/>
            </a:pPr>
            <a:r>
              <a:rPr lang="en-US" sz="800" spc="200" kern="0" dirty="0">
                <a:solidFill>
                  <a:srgbClr val="AEB9BD"/>
                </a:solidFill>
              </a:rPr>
              <a:t>OUTSOURCING ANGEL  ·  THE FREEDOM PLAN™</a:t>
            </a:r>
            <a:endParaRPr lang="en-US" sz="800" dirty="0"/>
          </a:p>
        </p:txBody>
      </p:sp>
      <p:sp>
        <p:nvSpPr>
          <p:cNvPr id="3" name="Text 1"/>
          <p:cNvSpPr/>
          <p:nvPr>
            <p:ph idx="101" type="body" hasCustomPrompt="1"/>
          </p:nvPr>
        </p:nvSpPr>
        <p:spPr>
          <a:xfrm>
            <a:off x="630936" y="2148840"/>
            <a:ext cx="8229600" cy="320040"/>
          </a:xfrm>
          <a:prstGeom prst="rect">
            <a:avLst/>
          </a:prstGeom>
          <a:noFill/>
          <a:ln/>
        </p:spPr>
        <p:txBody>
          <a:bodyPr wrap="square" rtlCol="0"/>
          <a:lstStyle>
            <a:lvl1pPr indent="0" marL="0">
              <a:buNone/>
              <a:defRPr lang="en-US" sz="1200" b="1" spc="300" kern="0" dirty="0">
                <a:solidFill>
                  <a:srgbClr val="7FE0C2"/>
                </a:solidFill>
              </a:defRPr>
            </a:lvl1pPr>
          </a:lstStyle>
          <a:p>
            <a:pPr indent="0" marL="0">
              <a:buNone/>
            </a:pPr>
            <a:endParaRPr lang="en-US" sz="1200" dirty="0"/>
          </a:p>
        </p:txBody>
      </p:sp>
      <p:sp>
        <p:nvSpPr>
          <p:cNvPr id="4" name="Text 1"/>
          <p:cNvSpPr/>
          <p:nvPr>
            <p:ph idx="102" type="title" hasCustomPrompt="1"/>
          </p:nvPr>
        </p:nvSpPr>
        <p:spPr>
          <a:xfrm>
            <a:off x="630936" y="2560320"/>
            <a:ext cx="9144000"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5" name="Text 1"/>
          <p:cNvSpPr/>
          <p:nvPr>
            <p:ph idx="103" type="body" hasCustomPrompt="1"/>
          </p:nvPr>
        </p:nvSpPr>
        <p:spPr>
          <a:xfrm>
            <a:off x="630936" y="3611880"/>
            <a:ext cx="7863840" cy="1005840"/>
          </a:xfrm>
          <a:prstGeom prst="rect">
            <a:avLst/>
          </a:prstGeom>
          <a:noFill/>
          <a:ln/>
        </p:spPr>
        <p:txBody>
          <a:bodyPr wrap="square" rtlCol="0"/>
          <a:lstStyle>
            <a:lvl1pPr indent="0" marL="0">
              <a:buNone/>
              <a:defRPr lang="en-US" sz="1500" dirty="0">
                <a:solidFill>
                  <a:srgbClr val="DBE3E6"/>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P 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630936" y="6446520"/>
            <a:ext cx="5486400" cy="228600"/>
          </a:xfrm>
          <a:prstGeom prst="rect">
            <a:avLst/>
          </a:prstGeom>
          <a:noFill/>
          <a:ln/>
        </p:spPr>
        <p:txBody>
          <a:bodyPr wrap="square" lIns="0" tIns="0" rIns="0" bIns="0" rtlCol="0" anchor="ctr"/>
          <a:lstStyle/>
          <a:p>
            <a:pPr indent="0" marL="0">
              <a:buNone/>
            </a:pPr>
            <a:r>
              <a:rPr lang="en-US" sz="800" spc="200" kern="0" dirty="0">
                <a:solidFill>
                  <a:schemeClr val="accent3"/>
                </a:solidFill>
              </a:rPr>
              <a:t>OUTSOURCING ANGEL  ·  THE FREEDOM PLAN™</a:t>
            </a:r>
            <a:endParaRPr lang="en-US" sz="800" dirty="0"/>
          </a:p>
        </p:txBody>
      </p:sp>
      <p:sp>
        <p:nvSpPr>
          <p:cNvPr id="3" name="Text 1"/>
          <p:cNvSpPr/>
          <p:nvPr>
            <p:ph idx="101" type="body" hasCustomPrompt="1"/>
          </p:nvPr>
        </p:nvSpPr>
        <p:spPr>
          <a:xfrm>
            <a:off x="630936" y="411480"/>
            <a:ext cx="100584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630936" y="731520"/>
            <a:ext cx="10515600" cy="59436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circle top"/>
          <p:cNvSpPr/>
          <p:nvPr/>
        </p:nvSpPr>
        <p:spPr>
          <a:xfrm>
            <a:off x="9966960" y="-1463040"/>
            <a:ext cx="4023360" cy="4023360"/>
          </a:xfrm>
          <a:prstGeom prst="ellipse">
            <a:avLst/>
          </a:prstGeom>
          <a:solidFill>
            <a:srgbClr val="263240"/>
          </a:solidFill>
          <a:ln/>
        </p:spPr>
      </p:sp>
      <p:sp>
        <p:nvSpPr>
          <p:cNvPr id="3" name="cover circle"/>
          <p:cNvSpPr/>
          <p:nvPr/>
        </p:nvSpPr>
        <p:spPr>
          <a:xfrm>
            <a:off x="-1280160" y="4937760"/>
            <a:ext cx="3291840" cy="3291840"/>
          </a:xfrm>
          <a:prstGeom prst="ellipse">
            <a:avLst/>
          </a:prstGeom>
          <a:solidFill>
            <a:srgbClr val="263240"/>
          </a:solidFill>
          <a:ln/>
        </p:spPr>
      </p:sp>
      <p:sp>
        <p:nvSpPr>
          <p:cNvPr id="4" name="logo plate"/>
          <p:cNvSpPr/>
          <p:nvPr/>
        </p:nvSpPr>
        <p:spPr>
          <a:xfrm>
            <a:off x="630936" y="566928"/>
            <a:ext cx="2468880" cy="502920"/>
          </a:xfrm>
          <a:prstGeom prst="roundRect">
            <a:avLst>
              <a:gd name="adj" fmla="val 14545"/>
            </a:avLst>
          </a:prstGeom>
          <a:solidFill>
            <a:schemeClr val="bg1"/>
          </a:solidFill>
          <a:ln/>
        </p:spPr>
      </p:sp>
      <p:sp>
        <p:nvSpPr>
          <p:cNvPr id="5" name="Text 3"/>
          <p:cNvSpPr txBox="1"/>
          <p:nvPr/>
        </p:nvSpPr>
        <p:spPr>
          <a:xfrm>
            <a:off x="630936" y="566928"/>
            <a:ext cx="2468880" cy="502920"/>
          </a:xfrm>
          <a:prstGeom prst="rect">
            <a:avLst/>
          </a:prstGeom>
          <a:noFill/>
          <a:ln/>
        </p:spPr>
        <p:txBody>
          <a:bodyPr wrap="square" lIns="0" tIns="0" rIns="0" bIns="0" rtlCol="0" anchor="ctr"/>
          <a:lstStyle/>
          <a:p>
            <a:pPr algn="ctr" indent="0" marL="0">
              <a:buNone/>
            </a:pPr>
            <a:r>
              <a:rPr lang="en-US" sz="1300" b="1" dirty="0">
                <a:solidFill>
                  <a:schemeClr val="accent1"/>
                </a:solidFill>
              </a:rPr>
              <a:t>OUTSOURCING</a:t>
            </a:r>
            <a:pPr algn="ctr" indent="0" marL="0">
              <a:buNone/>
            </a:pPr>
            <a:r>
              <a:rPr lang="en-US" sz="1300" b="1" dirty="0">
                <a:solidFill>
                  <a:schemeClr val="tx1"/>
                </a:solidFill>
              </a:rPr>
              <a:t>ANGEL</a:t>
            </a:r>
            <a:endParaRPr lang="en-US" sz="1300" dirty="0"/>
          </a:p>
        </p:txBody>
      </p:sp>
      <p:sp>
        <p:nvSpPr>
          <p:cNvPr id="6" name="Text 4"/>
          <p:cNvSpPr txBox="1"/>
          <p:nvPr/>
        </p:nvSpPr>
        <p:spPr>
          <a:xfrm>
            <a:off x="630936" y="1417320"/>
            <a:ext cx="7315200" cy="274320"/>
          </a:xfrm>
          <a:prstGeom prst="rect">
            <a:avLst/>
          </a:prstGeom>
          <a:noFill/>
          <a:ln/>
        </p:spPr>
        <p:txBody>
          <a:bodyPr wrap="square" lIns="0" tIns="0" rIns="0" bIns="0" rtlCol="0" anchor="ctr"/>
          <a:lstStyle/>
          <a:p>
            <a:pPr indent="0" marL="0">
              <a:buNone/>
            </a:pPr>
            <a:r>
              <a:rPr lang="en-US" sz="1200" b="1" spc="300" kern="0" dirty="0">
                <a:solidFill>
                  <a:srgbClr val="7FE0C2"/>
                </a:solidFill>
              </a:rPr>
              <a:t>A LIVING DOCUMENT  ·  VERSION 1</a:t>
            </a:r>
            <a:endParaRPr lang="en-US" sz="1200" dirty="0"/>
          </a:p>
        </p:txBody>
      </p:sp>
      <p:sp>
        <p:nvSpPr>
          <p:cNvPr id="7" name="Text 5"/>
          <p:cNvSpPr txBox="1"/>
          <p:nvPr/>
        </p:nvSpPr>
        <p:spPr>
          <a:xfrm>
            <a:off x="630936" y="1783080"/>
            <a:ext cx="7315200" cy="141732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THE FREEDOM</a:t>
            </a:r>
            <a:endParaRPr lang="en-US" sz="4800" dirty="0"/>
          </a:p>
          <a:p>
            <a:pPr indent="0" marL="0">
              <a:buNone/>
            </a:pPr>
            <a:r>
              <a:rPr lang="en-US" sz="4800" b="1" dirty="0">
                <a:solidFill>
                  <a:schemeClr val="accent2"/>
                </a:solidFill>
                <a:latin typeface="Cambria" pitchFamily="34" charset="0"/>
                <a:ea typeface="Cambria" pitchFamily="34" charset="-122"/>
                <a:cs typeface="Cambria" pitchFamily="34" charset="-120"/>
              </a:rPr>
              <a:t>PLAN™</a:t>
            </a:r>
            <a:endParaRPr lang="en-US" sz="4800" dirty="0"/>
          </a:p>
        </p:txBody>
      </p:sp>
      <p:sp>
        <p:nvSpPr>
          <p:cNvPr id="8" name="Text 6"/>
          <p:cNvSpPr txBox="1"/>
          <p:nvPr/>
        </p:nvSpPr>
        <p:spPr>
          <a:xfrm>
            <a:off x="630936" y="3383280"/>
            <a:ext cx="8229600" cy="365760"/>
          </a:xfrm>
          <a:prstGeom prst="rect">
            <a:avLst/>
          </a:prstGeom>
          <a:noFill/>
          <a:ln/>
        </p:spPr>
        <p:txBody>
          <a:bodyPr wrap="square" lIns="0" tIns="0" rIns="0" bIns="0" rtlCol="0" anchor="ctr"/>
          <a:lstStyle/>
          <a:p>
            <a:pPr indent="0" marL="0">
              <a:buNone/>
            </a:pPr>
            <a:r>
              <a:rPr lang="en-US" sz="1700" dirty="0">
                <a:solidFill>
                  <a:schemeClr val="bg1"/>
                </a:solidFill>
              </a:rPr>
              <a:t>Prepared for </a:t>
            </a:r>
            <a:pPr indent="0" marL="0">
              <a:buNone/>
            </a:pPr>
            <a:r>
              <a:rPr lang="en-US" sz="1700" b="1" dirty="0">
                <a:solidFill>
                  <a:schemeClr val="bg1"/>
                </a:solidFill>
              </a:rPr>
              <a:t>May Ly</a:t>
            </a:r>
            <a:pPr indent="0" marL="0">
              <a:buNone/>
            </a:pPr>
            <a:r>
              <a:rPr lang="en-US" sz="1700" dirty="0">
                <a:solidFill>
                  <a:schemeClr val="bg1"/>
                </a:solidFill>
              </a:rPr>
              <a:t>  |  </a:t>
            </a:r>
            <a:pPr indent="0" marL="0">
              <a:buNone/>
            </a:pPr>
            <a:r>
              <a:rPr lang="en-US" sz="1700" b="1" dirty="0">
                <a:solidFill>
                  <a:schemeClr val="bg1"/>
                </a:solidFill>
              </a:rPr>
              <a:t>Conscious Ground Organics</a:t>
            </a:r>
            <a:endParaRPr lang="en-US" sz="1700" dirty="0"/>
          </a:p>
        </p:txBody>
      </p:sp>
      <p:sp>
        <p:nvSpPr>
          <p:cNvPr id="9" name="Text 7"/>
          <p:cNvSpPr txBox="1"/>
          <p:nvPr/>
        </p:nvSpPr>
        <p:spPr>
          <a:xfrm>
            <a:off x="630936" y="3931920"/>
            <a:ext cx="7589520" cy="914400"/>
          </a:xfrm>
          <a:prstGeom prst="rect">
            <a:avLst/>
          </a:prstGeom>
          <a:noFill/>
          <a:ln/>
        </p:spPr>
        <p:txBody>
          <a:bodyPr wrap="square" lIns="0" tIns="0" rIns="0" bIns="0" rtlCol="0" anchor="t"/>
          <a:lstStyle/>
          <a:p>
            <a:pPr indent="0" marL="0">
              <a:buNone/>
            </a:pPr>
            <a:r>
              <a:rPr lang="en-US" sz="1300" dirty="0">
                <a:solidFill>
                  <a:srgbClr val="AEB9BD"/>
                </a:solidFill>
              </a:rPr>
              <a:t>Your plan for building a trusted Administration Coordinator through Outsourcing Angel’s 5D Freedom Staffing System™. Part A is our recommendation. Part B is your Freedom Playbook: the part you, your Coordinator and our team keep using for the whole relationship.</a:t>
            </a:r>
            <a:endParaRPr lang="en-US" sz="1300" dirty="0"/>
          </a:p>
        </p:txBody>
      </p:sp>
      <p:sp>
        <p:nvSpPr>
          <p:cNvPr id="10" name="Text 8"/>
          <p:cNvSpPr txBox="1"/>
          <p:nvPr/>
        </p:nvSpPr>
        <p:spPr>
          <a:xfrm>
            <a:off x="630936" y="6263640"/>
            <a:ext cx="8229600" cy="274320"/>
          </a:xfrm>
          <a:prstGeom prst="rect">
            <a:avLst/>
          </a:prstGeom>
          <a:noFill/>
          <a:ln/>
        </p:spPr>
        <p:txBody>
          <a:bodyPr wrap="square" lIns="0" tIns="0" rIns="0" bIns="0" rtlCol="0" anchor="ctr"/>
          <a:lstStyle/>
          <a:p>
            <a:pPr indent="0" marL="0">
              <a:buNone/>
            </a:pPr>
            <a:r>
              <a:rPr lang="en-US" sz="1000" dirty="0">
                <a:solidFill>
                  <a:srgbClr val="AEB9BD"/>
                </a:solidFill>
              </a:rPr>
              <a:t>Version 1  ·  October 2026  ·  Prepared by Gail Galima-Mendoza, Outsourcing Angel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GETTING ORIENTED</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to use your Freedom Plan</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Built from your Freedom Audit: your time, your bottlenecks and your goals. It has two parts, and one of them grows with you.</a:t>
            </a:r>
            <a:endParaRPr lang="en-US" sz="1300" dirty="0"/>
          </a:p>
        </p:txBody>
      </p:sp>
      <p:sp>
        <p:nvSpPr>
          <p:cNvPr id="5" name="card"/>
          <p:cNvSpPr/>
          <p:nvPr/>
        </p:nvSpPr>
        <p:spPr>
          <a:xfrm>
            <a:off x="630936" y="1965960"/>
            <a:ext cx="5327752" cy="1965960"/>
          </a:xfrm>
          <a:prstGeom prst="roundRect">
            <a:avLst>
              <a:gd name="adj" fmla="val 3721"/>
            </a:avLst>
          </a:prstGeom>
          <a:solidFill>
            <a:schemeClr val="bg1"/>
          </a:solidFill>
          <a:ln w="12700">
            <a:solidFill>
              <a:schemeClr val="accent5"/>
            </a:solidFill>
            <a:prstDash val="solid"/>
          </a:ln>
        </p:spPr>
      </p:sp>
      <p:sp>
        <p:nvSpPr>
          <p:cNvPr id="6" name="Text 4"/>
          <p:cNvSpPr txBox="1"/>
          <p:nvPr/>
        </p:nvSpPr>
        <p:spPr>
          <a:xfrm>
            <a:off x="950976" y="219456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PART A</a:t>
            </a:r>
            <a:endParaRPr lang="en-US" sz="1050" dirty="0"/>
          </a:p>
        </p:txBody>
      </p:sp>
      <p:sp>
        <p:nvSpPr>
          <p:cNvPr id="7" name="Text 5"/>
          <p:cNvSpPr txBox="1"/>
          <p:nvPr/>
        </p:nvSpPr>
        <p:spPr>
          <a:xfrm>
            <a:off x="950976" y="2468880"/>
            <a:ext cx="4687672"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Our Recommendation</a:t>
            </a:r>
            <a:endParaRPr lang="en-US" sz="2000" dirty="0"/>
          </a:p>
        </p:txBody>
      </p:sp>
      <p:sp>
        <p:nvSpPr>
          <p:cNvPr id="8" name="Text 6"/>
          <p:cNvSpPr txBox="1"/>
          <p:nvPr/>
        </p:nvSpPr>
        <p:spPr>
          <a:xfrm>
            <a:off x="950976" y="2971800"/>
            <a:ext cx="4687672" cy="548640"/>
          </a:xfrm>
          <a:prstGeom prst="rect">
            <a:avLst/>
          </a:prstGeom>
          <a:noFill/>
          <a:ln/>
        </p:spPr>
        <p:txBody>
          <a:bodyPr wrap="square" lIns="0" tIns="0" rIns="0" bIns="0" rtlCol="0" anchor="t"/>
          <a:lstStyle/>
          <a:p>
            <a:pPr indent="0" marL="0">
              <a:buNone/>
            </a:pPr>
            <a:r>
              <a:rPr lang="en-US" sz="1250" dirty="0">
                <a:solidFill>
                  <a:schemeClr val="accent3"/>
                </a:solidFill>
              </a:rPr>
              <a:t>What we heard, the role we recommend, safeguards and investment. Read it once, use it to decide.</a:t>
            </a:r>
            <a:endParaRPr lang="en-US" sz="1250" dirty="0"/>
          </a:p>
        </p:txBody>
      </p:sp>
      <p:sp>
        <p:nvSpPr>
          <p:cNvPr id="9" name="Text 7"/>
          <p:cNvSpPr txBox="1"/>
          <p:nvPr/>
        </p:nvSpPr>
        <p:spPr>
          <a:xfrm>
            <a:off x="950976" y="3520440"/>
            <a:ext cx="4687672" cy="274320"/>
          </a:xfrm>
          <a:prstGeom prst="rect">
            <a:avLst/>
          </a:prstGeom>
          <a:noFill/>
          <a:ln/>
        </p:spPr>
        <p:txBody>
          <a:bodyPr wrap="square" lIns="0" tIns="0" rIns="0" bIns="0" rtlCol="0" anchor="ctr"/>
          <a:lstStyle/>
          <a:p>
            <a:pPr indent="0" marL="0">
              <a:buNone/>
            </a:pPr>
            <a:r>
              <a:rPr lang="en-US" sz="1150" b="1" dirty="0">
                <a:solidFill>
                  <a:schemeClr val="accent1"/>
                </a:solidFill>
              </a:rPr>
              <a:t>Used once, before you hire</a:t>
            </a:r>
            <a:endParaRPr lang="en-US" sz="1150" dirty="0"/>
          </a:p>
        </p:txBody>
      </p:sp>
      <p:sp>
        <p:nvSpPr>
          <p:cNvPr id="10" name="card"/>
          <p:cNvSpPr/>
          <p:nvPr/>
        </p:nvSpPr>
        <p:spPr>
          <a:xfrm>
            <a:off x="6233008" y="1965960"/>
            <a:ext cx="5327752" cy="1965960"/>
          </a:xfrm>
          <a:prstGeom prst="roundRect">
            <a:avLst>
              <a:gd name="adj" fmla="val 3721"/>
            </a:avLst>
          </a:prstGeom>
          <a:solidFill>
            <a:schemeClr val="accent4"/>
          </a:solidFill>
          <a:ln/>
        </p:spPr>
      </p:sp>
      <p:sp>
        <p:nvSpPr>
          <p:cNvPr id="11" name="Text 9"/>
          <p:cNvSpPr txBox="1"/>
          <p:nvPr/>
        </p:nvSpPr>
        <p:spPr>
          <a:xfrm>
            <a:off x="6553048" y="219456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PART B</a:t>
            </a:r>
            <a:endParaRPr lang="en-US" sz="1050" dirty="0"/>
          </a:p>
        </p:txBody>
      </p:sp>
      <p:sp>
        <p:nvSpPr>
          <p:cNvPr id="12" name="Text 10"/>
          <p:cNvSpPr txBox="1"/>
          <p:nvPr/>
        </p:nvSpPr>
        <p:spPr>
          <a:xfrm>
            <a:off x="6553048" y="2468880"/>
            <a:ext cx="4687672"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Your Freedom Playbook</a:t>
            </a:r>
            <a:endParaRPr lang="en-US" sz="2000" dirty="0"/>
          </a:p>
        </p:txBody>
      </p:sp>
      <p:sp>
        <p:nvSpPr>
          <p:cNvPr id="13" name="Text 11"/>
          <p:cNvSpPr txBox="1"/>
          <p:nvPr/>
        </p:nvSpPr>
        <p:spPr>
          <a:xfrm>
            <a:off x="6553048" y="2971800"/>
            <a:ext cx="4687672" cy="548640"/>
          </a:xfrm>
          <a:prstGeom prst="rect">
            <a:avLst/>
          </a:prstGeom>
          <a:noFill/>
          <a:ln/>
        </p:spPr>
        <p:txBody>
          <a:bodyPr wrap="square" lIns="0" tIns="0" rIns="0" bIns="0" rtlCol="0" anchor="t"/>
          <a:lstStyle/>
          <a:p>
            <a:pPr indent="0" marL="0">
              <a:buNone/>
            </a:pPr>
            <a:r>
              <a:rPr lang="en-US" sz="1250" dirty="0">
                <a:solidFill>
                  <a:schemeClr val="accent3"/>
                </a:solidFill>
              </a:rPr>
              <a:t>A first-time starter pack, your 12-month journey, scorecard, KPIs, delegation list, SOP library and wins.</a:t>
            </a:r>
            <a:endParaRPr lang="en-US" sz="1250" dirty="0"/>
          </a:p>
        </p:txBody>
      </p:sp>
      <p:sp>
        <p:nvSpPr>
          <p:cNvPr id="14" name="Text 12"/>
          <p:cNvSpPr txBox="1"/>
          <p:nvPr/>
        </p:nvSpPr>
        <p:spPr>
          <a:xfrm>
            <a:off x="6553048" y="3520440"/>
            <a:ext cx="4687672" cy="274320"/>
          </a:xfrm>
          <a:prstGeom prst="rect">
            <a:avLst/>
          </a:prstGeom>
          <a:noFill/>
          <a:ln/>
        </p:spPr>
        <p:txBody>
          <a:bodyPr wrap="square" lIns="0" tIns="0" rIns="0" bIns="0" rtlCol="0" anchor="ctr"/>
          <a:lstStyle/>
          <a:p>
            <a:pPr indent="0" marL="0">
              <a:buNone/>
            </a:pPr>
            <a:r>
              <a:rPr lang="en-US" sz="1150" b="1" dirty="0">
                <a:solidFill>
                  <a:schemeClr val="accent1"/>
                </a:solidFill>
              </a:rPr>
              <a:t>Used for the whole relationship</a:t>
            </a:r>
            <a:endParaRPr lang="en-US" sz="1150" dirty="0"/>
          </a:p>
        </p:txBody>
      </p:sp>
      <p:sp>
        <p:nvSpPr>
          <p:cNvPr id="15" name="Text 13"/>
          <p:cNvSpPr txBox="1"/>
          <p:nvPr/>
        </p:nvSpPr>
        <p:spPr>
          <a:xfrm>
            <a:off x="630936" y="4206240"/>
            <a:ext cx="45720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WHO KEEPS IT ALIVE</a:t>
            </a:r>
            <a:endParaRPr lang="en-US" sz="1050" dirty="0"/>
          </a:p>
        </p:txBody>
      </p:sp>
      <p:sp>
        <p:nvSpPr>
          <p:cNvPr id="16" name="who 1 circle"/>
          <p:cNvSpPr/>
          <p:nvPr/>
        </p:nvSpPr>
        <p:spPr>
          <a:xfrm>
            <a:off x="630936" y="4572000"/>
            <a:ext cx="457200" cy="457200"/>
          </a:xfrm>
          <a:prstGeom prst="ellipse">
            <a:avLst/>
          </a:prstGeom>
          <a:solidFill>
            <a:schemeClr val="accent1"/>
          </a:solidFill>
          <a:ln/>
        </p:spPr>
      </p:sp>
      <p:pic>
        <p:nvPicPr>
          <p:cNvPr id="17" name="who 1" descr="who 1">    </p:cNvPr>
          <p:cNvPicPr>
            <a:picLocks noChangeAspect="1"/>
          </p:cNvPicPr>
          <p:nvPr/>
        </p:nvPicPr>
        <p:blipFill>
          <a:blip r:embed="rId1"/>
          <a:stretch>
            <a:fillRect/>
          </a:stretch>
        </p:blipFill>
        <p:spPr>
          <a:xfrm>
            <a:off x="745236" y="4686300"/>
            <a:ext cx="228600" cy="228600"/>
          </a:xfrm>
          <a:prstGeom prst="rect">
            <a:avLst/>
          </a:prstGeom>
        </p:spPr>
      </p:pic>
      <p:sp>
        <p:nvSpPr>
          <p:cNvPr id="18" name="Text 15"/>
          <p:cNvSpPr txBox="1"/>
          <p:nvPr/>
        </p:nvSpPr>
        <p:spPr>
          <a:xfrm>
            <a:off x="1225296"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May</a:t>
            </a:r>
            <a:endParaRPr lang="en-US" sz="1300" dirty="0"/>
          </a:p>
        </p:txBody>
      </p:sp>
      <p:sp>
        <p:nvSpPr>
          <p:cNvPr id="19" name="Text 16"/>
          <p:cNvSpPr txBox="1"/>
          <p:nvPr/>
        </p:nvSpPr>
        <p:spPr>
          <a:xfrm>
            <a:off x="1225296"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Brings it to every check-in and adds to the “Next to delegate” list</a:t>
            </a:r>
            <a:endParaRPr lang="en-US" sz="1150" dirty="0"/>
          </a:p>
        </p:txBody>
      </p:sp>
      <p:sp>
        <p:nvSpPr>
          <p:cNvPr id="20" name="who 2 circle"/>
          <p:cNvSpPr/>
          <p:nvPr/>
        </p:nvSpPr>
        <p:spPr>
          <a:xfrm>
            <a:off x="4319930" y="4572000"/>
            <a:ext cx="457200" cy="457200"/>
          </a:xfrm>
          <a:prstGeom prst="ellipse">
            <a:avLst/>
          </a:prstGeom>
          <a:solidFill>
            <a:schemeClr val="accent1"/>
          </a:solidFill>
          <a:ln/>
        </p:spPr>
      </p:sp>
      <p:pic>
        <p:nvPicPr>
          <p:cNvPr id="21" name="who 2" descr="who 2">    </p:cNvPr>
          <p:cNvPicPr>
            <a:picLocks noChangeAspect="1"/>
          </p:cNvPicPr>
          <p:nvPr/>
        </p:nvPicPr>
        <p:blipFill>
          <a:blip r:embed="rId2"/>
          <a:stretch>
            <a:fillRect/>
          </a:stretch>
        </p:blipFill>
        <p:spPr>
          <a:xfrm>
            <a:off x="4434230" y="4686300"/>
            <a:ext cx="228600" cy="228600"/>
          </a:xfrm>
          <a:prstGeom prst="rect">
            <a:avLst/>
          </a:prstGeom>
        </p:spPr>
      </p:pic>
      <p:sp>
        <p:nvSpPr>
          <p:cNvPr id="22" name="Text 18"/>
          <p:cNvSpPr txBox="1"/>
          <p:nvPr/>
        </p:nvSpPr>
        <p:spPr>
          <a:xfrm>
            <a:off x="4914290"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Your Coordinator</a:t>
            </a:r>
            <a:endParaRPr lang="en-US" sz="1300" dirty="0"/>
          </a:p>
        </p:txBody>
      </p:sp>
      <p:sp>
        <p:nvSpPr>
          <p:cNvPr id="23" name="Text 19"/>
          <p:cNvSpPr txBox="1"/>
          <p:nvPr/>
        </p:nvSpPr>
        <p:spPr>
          <a:xfrm>
            <a:off x="4914290"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Updates the SOP library and wins log, and self-assesses at each review</a:t>
            </a:r>
            <a:endParaRPr lang="en-US" sz="1150" dirty="0"/>
          </a:p>
        </p:txBody>
      </p:sp>
      <p:sp>
        <p:nvSpPr>
          <p:cNvPr id="24" name="who 3 circle"/>
          <p:cNvSpPr/>
          <p:nvPr/>
        </p:nvSpPr>
        <p:spPr>
          <a:xfrm>
            <a:off x="8008925" y="4572000"/>
            <a:ext cx="457200" cy="457200"/>
          </a:xfrm>
          <a:prstGeom prst="ellipse">
            <a:avLst/>
          </a:prstGeom>
          <a:solidFill>
            <a:schemeClr val="accent1"/>
          </a:solidFill>
          <a:ln/>
        </p:spPr>
      </p:sp>
      <p:pic>
        <p:nvPicPr>
          <p:cNvPr id="25" name="who 3" descr="who 3">    </p:cNvPr>
          <p:cNvPicPr>
            <a:picLocks noChangeAspect="1"/>
          </p:cNvPicPr>
          <p:nvPr/>
        </p:nvPicPr>
        <p:blipFill>
          <a:blip r:embed="rId3"/>
          <a:stretch>
            <a:fillRect/>
          </a:stretch>
        </p:blipFill>
        <p:spPr>
          <a:xfrm>
            <a:off x="8123225" y="4686300"/>
            <a:ext cx="228600" cy="228600"/>
          </a:xfrm>
          <a:prstGeom prst="rect">
            <a:avLst/>
          </a:prstGeom>
        </p:spPr>
      </p:pic>
      <p:sp>
        <p:nvSpPr>
          <p:cNvPr id="26" name="Text 21"/>
          <p:cNvSpPr txBox="1"/>
          <p:nvPr/>
        </p:nvSpPr>
        <p:spPr>
          <a:xfrm>
            <a:off x="8603285"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Outsourcing Angel</a:t>
            </a:r>
            <a:endParaRPr lang="en-US" sz="1300" dirty="0"/>
          </a:p>
        </p:txBody>
      </p:sp>
      <p:sp>
        <p:nvSpPr>
          <p:cNvPr id="27" name="Text 22"/>
          <p:cNvSpPr txBox="1"/>
          <p:nvPr/>
        </p:nvSpPr>
        <p:spPr>
          <a:xfrm>
            <a:off x="8603285"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Leads the Day 30, Day 90, Month 6 and Month 12 reviews and updates the scorecard</a:t>
            </a:r>
            <a:endParaRPr lang="en-US" sz="1150" dirty="0"/>
          </a:p>
        </p:txBody>
      </p:sp>
      <p:sp>
        <p:nvSpPr>
          <p:cNvPr id="28" name="callout"/>
          <p:cNvSpPr/>
          <p:nvPr/>
        </p:nvSpPr>
        <p:spPr>
          <a:xfrm>
            <a:off x="630936" y="5669280"/>
            <a:ext cx="10929823" cy="502920"/>
          </a:xfrm>
          <a:prstGeom prst="roundRect">
            <a:avLst>
              <a:gd name="adj" fmla="val 14545"/>
            </a:avLst>
          </a:prstGeom>
          <a:solidFill>
            <a:schemeClr val="accent4"/>
          </a:solidFill>
          <a:ln/>
        </p:spPr>
      </p:sp>
      <p:sp>
        <p:nvSpPr>
          <p:cNvPr id="29" name="Text 24"/>
          <p:cNvSpPr txBox="1"/>
          <p:nvPr/>
        </p:nvSpPr>
        <p:spPr>
          <a:xfrm>
            <a:off x="859536" y="5669280"/>
            <a:ext cx="10472623" cy="502920"/>
          </a:xfrm>
          <a:prstGeom prst="rect">
            <a:avLst/>
          </a:prstGeom>
          <a:noFill/>
          <a:ln/>
        </p:spPr>
        <p:txBody>
          <a:bodyPr wrap="square" lIns="0" tIns="0" rIns="0" bIns="0" rtlCol="0" anchor="ctr"/>
          <a:lstStyle/>
          <a:p>
            <a:pPr indent="0" marL="0">
              <a:buNone/>
            </a:pPr>
            <a:r>
              <a:rPr lang="en-US" sz="1250" b="1" dirty="0">
                <a:solidFill>
                  <a:schemeClr val="accent1"/>
                </a:solidFill>
              </a:rPr>
              <a:t>Your live copy sits in a shared folder that you, your Coordinator and your Outsourcing Angel team can all open and update.</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PART A</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Our Recommendation</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What we heard in your Freedom Audit, the role we recommend, and how we’ll find the right person. Use this part to decide.</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Key Observations</a:t>
            </a:r>
            <a:endParaRPr lang="en-US" sz="3000" dirty="0"/>
          </a:p>
        </p:txBody>
      </p:sp>
      <p:sp>
        <p:nvSpPr>
          <p:cNvPr id="4" name="Text 2"/>
          <p:cNvSpPr txBox="1"/>
          <p:nvPr/>
        </p:nvSpPr>
        <p:spPr>
          <a:xfrm>
            <a:off x="630936" y="1417320"/>
            <a:ext cx="10929823" cy="960120"/>
          </a:xfrm>
          <a:prstGeom prst="rect">
            <a:avLst/>
          </a:prstGeom>
          <a:noFill/>
          <a:ln/>
        </p:spPr>
        <p:txBody>
          <a:bodyPr wrap="square" lIns="0" tIns="0" rIns="0" bIns="0" rtlCol="0" anchor="t"/>
          <a:lstStyle/>
          <a:p>
            <a:pPr indent="0" marL="0">
              <a:buNone/>
            </a:pPr>
            <a:r>
              <a:rPr lang="en-US" sz="1350" dirty="0">
                <a:solidFill>
                  <a:schemeClr val="accent3"/>
                </a:solidFill>
              </a:rPr>
              <a:t>Conscious Ground is a regenerative family farm in the Byron Shire: wholesale and market produce, an in-house kitchen, events and a growing team. May’s Australian admin has moved on, and the farm’s admin now runs across Xero, Employment Hero, Slack (around 40 channels), Mailchimp and four inboxes.</a:t>
            </a:r>
            <a:endParaRPr lang="en-US" sz="1350" dirty="0"/>
          </a:p>
        </p:txBody>
      </p:sp>
      <p:sp>
        <p:nvSpPr>
          <p:cNvPr id="5" name="card"/>
          <p:cNvSpPr/>
          <p:nvPr/>
        </p:nvSpPr>
        <p:spPr>
          <a:xfrm>
            <a:off x="630936" y="2560320"/>
            <a:ext cx="5327752" cy="2057400"/>
          </a:xfrm>
          <a:prstGeom prst="roundRect">
            <a:avLst>
              <a:gd name="adj" fmla="val 3556"/>
            </a:avLst>
          </a:prstGeom>
          <a:solidFill>
            <a:schemeClr val="bg1"/>
          </a:solidFill>
          <a:ln w="12700">
            <a:solidFill>
              <a:schemeClr val="accent5"/>
            </a:solidFill>
            <a:prstDash val="solid"/>
          </a:ln>
        </p:spPr>
      </p:sp>
      <p:sp>
        <p:nvSpPr>
          <p:cNvPr id="6" name="Text 4"/>
          <p:cNvSpPr txBox="1"/>
          <p:nvPr/>
        </p:nvSpPr>
        <p:spPr>
          <a:xfrm>
            <a:off x="905256" y="2743200"/>
            <a:ext cx="477911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WE HEARD</a:t>
            </a:r>
            <a:endParaRPr lang="en-US" sz="1050" dirty="0"/>
          </a:p>
        </p:txBody>
      </p:sp>
      <p:sp>
        <p:nvSpPr>
          <p:cNvPr id="7" name="Text 5"/>
          <p:cNvSpPr txBox="1"/>
          <p:nvPr/>
        </p:nvSpPr>
        <p:spPr>
          <a:xfrm>
            <a:off x="905256" y="3063240"/>
            <a:ext cx="4779112" cy="1463040"/>
          </a:xfrm>
          <a:prstGeom prst="rect">
            <a:avLst/>
          </a:prstGeom>
          <a:noFill/>
          <a:ln/>
        </p:spPr>
        <p:txBody>
          <a:bodyPr wrap="square" lIns="0" tIns="0" rIns="0" bIns="0" rtlCol="0" anchor="t"/>
          <a:lstStyle/>
          <a:p>
            <a:pPr indent="0" marL="0">
              <a:buNone/>
            </a:pPr>
            <a:r>
              <a:rPr lang="en-US" sz="1250" dirty="0">
                <a:solidFill>
                  <a:schemeClr val="accent3"/>
                </a:solidFill>
              </a:rPr>
              <a:t>Mon–Wed are the busy days, supporting harvesters and customer orders · invoices and picklists sent by 2pm Tuesday · timesheets checked every week · organic certification logs to keep audit-ready · a detailed Admin Handbook already in place.</a:t>
            </a:r>
            <a:endParaRPr lang="en-US" sz="1250" dirty="0"/>
          </a:p>
        </p:txBody>
      </p:sp>
      <p:sp>
        <p:nvSpPr>
          <p:cNvPr id="8" name="card"/>
          <p:cNvSpPr/>
          <p:nvPr/>
        </p:nvSpPr>
        <p:spPr>
          <a:xfrm>
            <a:off x="6233008" y="2560320"/>
            <a:ext cx="5327752" cy="2057400"/>
          </a:xfrm>
          <a:prstGeom prst="roundRect">
            <a:avLst>
              <a:gd name="adj" fmla="val 3556"/>
            </a:avLst>
          </a:prstGeom>
          <a:solidFill>
            <a:schemeClr val="bg1"/>
          </a:solidFill>
          <a:ln w="12700">
            <a:solidFill>
              <a:schemeClr val="accent5"/>
            </a:solidFill>
            <a:prstDash val="solid"/>
          </a:ln>
        </p:spPr>
      </p:sp>
      <p:sp>
        <p:nvSpPr>
          <p:cNvPr id="9" name="Text 7"/>
          <p:cNvSpPr txBox="1"/>
          <p:nvPr/>
        </p:nvSpPr>
        <p:spPr>
          <a:xfrm>
            <a:off x="6507328" y="2743200"/>
            <a:ext cx="477911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HIRING INSIGHT</a:t>
            </a:r>
            <a:endParaRPr lang="en-US" sz="1050" dirty="0"/>
          </a:p>
        </p:txBody>
      </p:sp>
      <p:sp>
        <p:nvSpPr>
          <p:cNvPr id="10" name="Text 8"/>
          <p:cNvSpPr txBox="1"/>
          <p:nvPr/>
        </p:nvSpPr>
        <p:spPr>
          <a:xfrm>
            <a:off x="6507328" y="3063240"/>
            <a:ext cx="4779112" cy="1463040"/>
          </a:xfrm>
          <a:prstGeom prst="rect">
            <a:avLst/>
          </a:prstGeom>
          <a:noFill/>
          <a:ln/>
        </p:spPr>
        <p:txBody>
          <a:bodyPr wrap="square" lIns="0" tIns="0" rIns="0" bIns="0" rtlCol="0" anchor="t"/>
          <a:lstStyle/>
          <a:p>
            <a:pPr indent="0" marL="0">
              <a:buNone/>
            </a:pPr>
            <a:r>
              <a:rPr lang="en-US" sz="1250" dirty="0">
                <a:solidFill>
                  <a:schemeClr val="accent3"/>
                </a:solidFill>
              </a:rPr>
              <a:t>May already works with an exceptional Philippines-based marketing VA and wants an admin specialist at the same level. She values ethical sourcing, warmth and real accountability: check your own work, and never repeat the same mistake.</a:t>
            </a:r>
            <a:endParaRPr lang="en-US" sz="1250" dirty="0"/>
          </a:p>
        </p:txBody>
      </p:sp>
      <p:sp>
        <p:nvSpPr>
          <p:cNvPr id="11" name="callout"/>
          <p:cNvSpPr/>
          <p:nvPr/>
        </p:nvSpPr>
        <p:spPr>
          <a:xfrm>
            <a:off x="630936" y="4846320"/>
            <a:ext cx="10929823" cy="868680"/>
          </a:xfrm>
          <a:prstGeom prst="roundRect">
            <a:avLst>
              <a:gd name="adj" fmla="val 8421"/>
            </a:avLst>
          </a:prstGeom>
          <a:solidFill>
            <a:schemeClr val="accent4"/>
          </a:solidFill>
          <a:ln/>
        </p:spPr>
      </p:sp>
      <p:sp>
        <p:nvSpPr>
          <p:cNvPr id="12" name="Text 10"/>
          <p:cNvSpPr txBox="1"/>
          <p:nvPr/>
        </p:nvSpPr>
        <p:spPr>
          <a:xfrm>
            <a:off x="859536" y="4846320"/>
            <a:ext cx="10472623" cy="868680"/>
          </a:xfrm>
          <a:prstGeom prst="rect">
            <a:avLst/>
          </a:prstGeom>
          <a:noFill/>
          <a:ln/>
        </p:spPr>
        <p:txBody>
          <a:bodyPr wrap="square" lIns="0" tIns="0" rIns="0" bIns="0" rtlCol="0" anchor="ctr"/>
          <a:lstStyle/>
          <a:p>
            <a:pPr indent="0" marL="0">
              <a:buNone/>
            </a:pPr>
            <a:r>
              <a:rPr lang="en-US" sz="1250" b="1" dirty="0">
                <a:solidFill>
                  <a:schemeClr val="accent1"/>
                </a:solidFill>
              </a:rPr>
              <a:t>Our recommendation: a senior Administration Coordinator who owns sales admin, accounts and timesheets, HR records and compliance, keeps the Admin Handbook current, and gives May back her time to lead the farm.</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02</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Leverage Gap Analysis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Conscious Ground’s biggest leverage point: one self-managing Coordinator who keeps every channel, order and record on track without May chasing.</a:t>
            </a:r>
            <a:endParaRPr lang="en-US" sz="1300" dirty="0"/>
          </a:p>
        </p:txBody>
      </p:sp>
      <p:sp>
        <p:nvSpPr>
          <p:cNvPr id="5" name="card"/>
          <p:cNvSpPr/>
          <p:nvPr/>
        </p:nvSpPr>
        <p:spPr>
          <a:xfrm>
            <a:off x="630936" y="2011680"/>
            <a:ext cx="5327752" cy="3566160"/>
          </a:xfrm>
          <a:prstGeom prst="roundRect">
            <a:avLst>
              <a:gd name="adj" fmla="val 2051"/>
            </a:avLst>
          </a:prstGeom>
          <a:solidFill>
            <a:schemeClr val="bg1"/>
          </a:solidFill>
          <a:ln w="12700">
            <a:solidFill>
              <a:schemeClr val="accent5"/>
            </a:solidFill>
            <a:prstDash val="solid"/>
          </a:ln>
        </p:spPr>
      </p:sp>
      <p:sp>
        <p:nvSpPr>
          <p:cNvPr id="6" name="Text 4"/>
          <p:cNvSpPr txBox="1"/>
          <p:nvPr/>
        </p:nvSpPr>
        <p:spPr>
          <a:xfrm>
            <a:off x="950976" y="224028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TODAY</a:t>
            </a:r>
            <a:endParaRPr lang="en-US" sz="1050" dirty="0"/>
          </a:p>
        </p:txBody>
      </p:sp>
      <p:sp>
        <p:nvSpPr>
          <p:cNvPr id="7" name="Text 5"/>
          <p:cNvSpPr txBox="1"/>
          <p:nvPr/>
        </p:nvSpPr>
        <p:spPr>
          <a:xfrm>
            <a:off x="950976" y="2606040"/>
            <a:ext cx="4687672" cy="2743200"/>
          </a:xfrm>
          <a:prstGeom prst="rect">
            <a:avLst/>
          </a:prstGeom>
          <a:noFill/>
          <a:ln/>
        </p:spPr>
        <p:txBody>
          <a:bodyPr wrap="square" lIns="0" tIns="0" rIns="0" bIns="0" rtlCol="0" anchor="t"/>
          <a:lstStyle/>
          <a:p>
            <a:pPr marL="203200" indent="-203200">
              <a:spcAft>
                <a:spcPts val="1400"/>
              </a:spcAft>
              <a:buSzPct val="100000"/>
              <a:buChar char="•"/>
            </a:pPr>
            <a:r>
              <a:rPr lang="en-US" sz="1350" dirty="0">
                <a:solidFill>
                  <a:schemeClr val="accent3"/>
                </a:solidFill>
              </a:rPr>
              <a:t>Admin role vacant: May is back to doing the admin herself</a:t>
            </a:r>
            <a:endParaRPr lang="en-US" sz="1350" dirty="0"/>
          </a:p>
          <a:p>
            <a:pPr marL="203200" indent="-203200">
              <a:spcAft>
                <a:spcPts val="1400"/>
              </a:spcAft>
              <a:buSzPct val="100000"/>
              <a:buChar char="•"/>
            </a:pPr>
            <a:r>
              <a:rPr lang="en-US" sz="1350" dirty="0">
                <a:solidFill>
                  <a:schemeClr val="accent3"/>
                </a:solidFill>
              </a:rPr>
              <a:t>Orders, timesheets and AR spread across Slack, email, Mailchimp and phone</a:t>
            </a:r>
            <a:endParaRPr lang="en-US" sz="1350" dirty="0"/>
          </a:p>
          <a:p>
            <a:pPr marL="203200" indent="-203200">
              <a:spcAft>
                <a:spcPts val="1400"/>
              </a:spcAft>
              <a:buSzPct val="100000"/>
              <a:buChar char="•"/>
            </a:pPr>
            <a:r>
              <a:rPr lang="en-US" sz="1350" dirty="0">
                <a:solidFill>
                  <a:schemeClr val="accent3"/>
                </a:solidFill>
              </a:rPr>
              <a:t>Certification, insurance and renewal dates rely on memory</a:t>
            </a:r>
            <a:endParaRPr lang="en-US" sz="1350" dirty="0"/>
          </a:p>
        </p:txBody>
      </p:sp>
      <p:sp>
        <p:nvSpPr>
          <p:cNvPr id="8" name="card"/>
          <p:cNvSpPr/>
          <p:nvPr/>
        </p:nvSpPr>
        <p:spPr>
          <a:xfrm>
            <a:off x="6233008" y="2011680"/>
            <a:ext cx="5327752" cy="3566160"/>
          </a:xfrm>
          <a:prstGeom prst="roundRect">
            <a:avLst>
              <a:gd name="adj" fmla="val 2051"/>
            </a:avLst>
          </a:prstGeom>
          <a:solidFill>
            <a:schemeClr val="accent4"/>
          </a:solidFill>
          <a:ln/>
        </p:spPr>
      </p:sp>
      <p:sp>
        <p:nvSpPr>
          <p:cNvPr id="9" name="Text 7"/>
          <p:cNvSpPr txBox="1"/>
          <p:nvPr/>
        </p:nvSpPr>
        <p:spPr>
          <a:xfrm>
            <a:off x="6553048" y="224028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WHERE WE’RE GOING</a:t>
            </a:r>
            <a:endParaRPr lang="en-US" sz="1050" dirty="0"/>
          </a:p>
        </p:txBody>
      </p:sp>
      <p:sp>
        <p:nvSpPr>
          <p:cNvPr id="10" name="Text 8"/>
          <p:cNvSpPr txBox="1"/>
          <p:nvPr/>
        </p:nvSpPr>
        <p:spPr>
          <a:xfrm>
            <a:off x="6553048" y="2606040"/>
            <a:ext cx="4687672" cy="2743200"/>
          </a:xfrm>
          <a:prstGeom prst="rect">
            <a:avLst/>
          </a:prstGeom>
          <a:noFill/>
          <a:ln/>
        </p:spPr>
        <p:txBody>
          <a:bodyPr wrap="square" lIns="0" tIns="0" rIns="0" bIns="0" rtlCol="0" anchor="t"/>
          <a:lstStyle/>
          <a:p>
            <a:pPr marL="203200" indent="-203200">
              <a:spcAft>
                <a:spcPts val="1400"/>
              </a:spcAft>
              <a:buSzPct val="100000"/>
              <a:buChar char="•"/>
            </a:pPr>
            <a:r>
              <a:rPr lang="en-US" sz="1350" dirty="0">
                <a:solidFill>
                  <a:schemeClr val="tx1"/>
                </a:solidFill>
              </a:rPr>
              <a:t>Every inbox and Slack channel monitored, with actions tracked to completion</a:t>
            </a:r>
            <a:endParaRPr lang="en-US" sz="1350" dirty="0"/>
          </a:p>
          <a:p>
            <a:pPr marL="203200" indent="-203200">
              <a:spcAft>
                <a:spcPts val="1400"/>
              </a:spcAft>
              <a:buSzPct val="100000"/>
              <a:buChar char="•"/>
            </a:pPr>
            <a:r>
              <a:rPr lang="en-US" sz="1350" dirty="0">
                <a:solidFill>
                  <a:schemeClr val="tx1"/>
                </a:solidFill>
              </a:rPr>
              <a:t>Invoices, picklists and timesheets accurate and on time, checked before sending</a:t>
            </a:r>
            <a:endParaRPr lang="en-US" sz="1350" dirty="0"/>
          </a:p>
          <a:p>
            <a:pPr marL="203200" indent="-203200">
              <a:spcAft>
                <a:spcPts val="1400"/>
              </a:spcAft>
              <a:buSzPct val="100000"/>
              <a:buChar char="•"/>
            </a:pPr>
            <a:r>
              <a:rPr lang="en-US" sz="1350" dirty="0">
                <a:solidFill>
                  <a:schemeClr val="tx1"/>
                </a:solidFill>
              </a:rPr>
              <a:t>Renewals and audit logs visible weeks ahead, with the Handbook kept current</a:t>
            </a:r>
            <a:endParaRPr lang="en-US" sz="13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03</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Freedom Stage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Where the business is today, and the path this plan takes. We revisit this at every review in Part B.</a:t>
            </a:r>
            <a:endParaRPr lang="en-US" sz="1300" dirty="0"/>
          </a:p>
        </p:txBody>
      </p:sp>
      <p:sp>
        <p:nvSpPr>
          <p:cNvPr id="5" name="stage line"/>
          <p:cNvSpPr/>
          <p:nvPr/>
        </p:nvSpPr>
        <p:spPr>
          <a:xfrm>
            <a:off x="1088136" y="3063240"/>
            <a:ext cx="10015423" cy="0"/>
          </a:xfrm>
          <a:prstGeom prst="line">
            <a:avLst/>
          </a:prstGeom>
          <a:noFill/>
          <a:ln w="38100">
            <a:solidFill>
              <a:schemeClr val="accent5"/>
            </a:solidFill>
            <a:prstDash val="solid"/>
          </a:ln>
        </p:spPr>
      </p:sp>
      <p:sp>
        <p:nvSpPr>
          <p:cNvPr id="6" name="stage 1"/>
          <p:cNvSpPr/>
          <p:nvPr/>
        </p:nvSpPr>
        <p:spPr>
          <a:xfrm>
            <a:off x="768096" y="2743200"/>
            <a:ext cx="640080" cy="640080"/>
          </a:xfrm>
          <a:prstGeom prst="ellipse">
            <a:avLst/>
          </a:prstGeom>
          <a:solidFill>
            <a:schemeClr val="tx1"/>
          </a:solidFill>
          <a:ln w="25400">
            <a:solidFill>
              <a:schemeClr val="tx1"/>
            </a:solidFill>
            <a:prstDash val="solid"/>
          </a:ln>
        </p:spPr>
      </p:sp>
      <p:sp>
        <p:nvSpPr>
          <p:cNvPr id="7" name="Text 5"/>
          <p:cNvSpPr txBox="1"/>
          <p:nvPr/>
        </p:nvSpPr>
        <p:spPr>
          <a:xfrm>
            <a:off x="768096"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173736"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Task Delegator</a:t>
            </a:r>
            <a:endParaRPr lang="en-US" sz="1300" dirty="0"/>
          </a:p>
        </p:txBody>
      </p:sp>
      <p:sp>
        <p:nvSpPr>
          <p:cNvPr id="9" name="Text 7"/>
          <p:cNvSpPr txBox="1"/>
          <p:nvPr/>
        </p:nvSpPr>
        <p:spPr>
          <a:xfrm>
            <a:off x="173736"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3"/>
                </a:solidFill>
              </a:rPr>
              <a:t>TODAY</a:t>
            </a:r>
            <a:endParaRPr lang="en-US" sz="1000" dirty="0"/>
          </a:p>
        </p:txBody>
      </p:sp>
      <p:sp>
        <p:nvSpPr>
          <p:cNvPr id="10" name="stage 2"/>
          <p:cNvSpPr/>
          <p:nvPr/>
        </p:nvSpPr>
        <p:spPr>
          <a:xfrm>
            <a:off x="3271952" y="2743200"/>
            <a:ext cx="640080" cy="640080"/>
          </a:xfrm>
          <a:prstGeom prst="ellipse">
            <a:avLst/>
          </a:prstGeom>
          <a:solidFill>
            <a:schemeClr val="bg1"/>
          </a:solidFill>
          <a:ln w="25400">
            <a:solidFill>
              <a:schemeClr val="accent5"/>
            </a:solidFill>
            <a:prstDash val="solid"/>
          </a:ln>
        </p:spPr>
      </p:sp>
      <p:sp>
        <p:nvSpPr>
          <p:cNvPr id="11" name="Text 9"/>
          <p:cNvSpPr txBox="1"/>
          <p:nvPr/>
        </p:nvSpPr>
        <p:spPr>
          <a:xfrm>
            <a:off x="3271952" y="2743200"/>
            <a:ext cx="640080" cy="640080"/>
          </a:xfrm>
          <a:prstGeom prst="rect">
            <a:avLst/>
          </a:prstGeom>
          <a:noFill/>
          <a:ln/>
        </p:spPr>
        <p:txBody>
          <a:bodyPr wrap="square" lIns="0" tIns="0" rIns="0" bIns="0" rtlCol="0" anchor="ctr"/>
          <a:lstStyle/>
          <a:p>
            <a:pPr algn="ctr" indent="0" marL="0">
              <a:buNone/>
            </a:pPr>
            <a:r>
              <a:rPr lang="en-US" sz="1600" b="1" dirty="0">
                <a:solidFill>
                  <a:schemeClr val="accent3"/>
                </a:solidFill>
              </a:rPr>
              <a:t>2</a:t>
            </a:r>
            <a:endParaRPr lang="en-US" sz="1600" dirty="0"/>
          </a:p>
        </p:txBody>
      </p:sp>
      <p:sp>
        <p:nvSpPr>
          <p:cNvPr id="12" name="Text 10"/>
          <p:cNvSpPr txBox="1"/>
          <p:nvPr/>
        </p:nvSpPr>
        <p:spPr>
          <a:xfrm>
            <a:off x="2677592"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Process Builder</a:t>
            </a:r>
            <a:endParaRPr lang="en-US" sz="1300" dirty="0"/>
          </a:p>
        </p:txBody>
      </p:sp>
      <p:sp>
        <p:nvSpPr>
          <p:cNvPr id="13" name="stage 3"/>
          <p:cNvSpPr/>
          <p:nvPr/>
        </p:nvSpPr>
        <p:spPr>
          <a:xfrm>
            <a:off x="5775808" y="2743200"/>
            <a:ext cx="640080" cy="640080"/>
          </a:xfrm>
          <a:prstGeom prst="ellipse">
            <a:avLst/>
          </a:prstGeom>
          <a:solidFill>
            <a:schemeClr val="accent2"/>
          </a:solidFill>
          <a:ln w="25400">
            <a:solidFill>
              <a:schemeClr val="accent2"/>
            </a:solidFill>
            <a:prstDash val="solid"/>
          </a:ln>
        </p:spPr>
      </p:sp>
      <p:sp>
        <p:nvSpPr>
          <p:cNvPr id="14" name="Text 12"/>
          <p:cNvSpPr txBox="1"/>
          <p:nvPr/>
        </p:nvSpPr>
        <p:spPr>
          <a:xfrm>
            <a:off x="5775808"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5181448"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Outcome Owner</a:t>
            </a:r>
            <a:endParaRPr lang="en-US" sz="1300" dirty="0"/>
          </a:p>
        </p:txBody>
      </p:sp>
      <p:sp>
        <p:nvSpPr>
          <p:cNvPr id="16" name="Text 14"/>
          <p:cNvSpPr txBox="1"/>
          <p:nvPr/>
        </p:nvSpPr>
        <p:spPr>
          <a:xfrm>
            <a:off x="5181448"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DAY 90 TARGET</a:t>
            </a:r>
            <a:endParaRPr lang="en-US" sz="1000" dirty="0"/>
          </a:p>
        </p:txBody>
      </p:sp>
      <p:sp>
        <p:nvSpPr>
          <p:cNvPr id="17" name="stage 4"/>
          <p:cNvSpPr/>
          <p:nvPr/>
        </p:nvSpPr>
        <p:spPr>
          <a:xfrm>
            <a:off x="8279663" y="2743200"/>
            <a:ext cx="640080" cy="640080"/>
          </a:xfrm>
          <a:prstGeom prst="ellipse">
            <a:avLst/>
          </a:prstGeom>
          <a:solidFill>
            <a:schemeClr val="bg1"/>
          </a:solidFill>
          <a:ln w="25400">
            <a:solidFill>
              <a:schemeClr val="accent5"/>
            </a:solidFill>
            <a:prstDash val="solid"/>
          </a:ln>
        </p:spPr>
      </p:sp>
      <p:sp>
        <p:nvSpPr>
          <p:cNvPr id="18" name="Text 16"/>
          <p:cNvSpPr txBox="1"/>
          <p:nvPr/>
        </p:nvSpPr>
        <p:spPr>
          <a:xfrm>
            <a:off x="8279663" y="2743200"/>
            <a:ext cx="640080" cy="640080"/>
          </a:xfrm>
          <a:prstGeom prst="rect">
            <a:avLst/>
          </a:prstGeom>
          <a:noFill/>
          <a:ln/>
        </p:spPr>
        <p:txBody>
          <a:bodyPr wrap="square" lIns="0" tIns="0" rIns="0" bIns="0" rtlCol="0" anchor="ctr"/>
          <a:lstStyle/>
          <a:p>
            <a:pPr algn="ctr" indent="0" marL="0">
              <a:buNone/>
            </a:pPr>
            <a:r>
              <a:rPr lang="en-US" sz="1600" b="1" dirty="0">
                <a:solidFill>
                  <a:schemeClr val="accent3"/>
                </a:solidFill>
              </a:rPr>
              <a:t>4</a:t>
            </a:r>
            <a:endParaRPr lang="en-US" sz="1600" dirty="0"/>
          </a:p>
        </p:txBody>
      </p:sp>
      <p:sp>
        <p:nvSpPr>
          <p:cNvPr id="19" name="Text 17"/>
          <p:cNvSpPr txBox="1"/>
          <p:nvPr/>
        </p:nvSpPr>
        <p:spPr>
          <a:xfrm>
            <a:off x="7685303"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Operator</a:t>
            </a:r>
            <a:endParaRPr lang="en-US" sz="1300" dirty="0"/>
          </a:p>
        </p:txBody>
      </p:sp>
      <p:sp>
        <p:nvSpPr>
          <p:cNvPr id="20" name="stage 5"/>
          <p:cNvSpPr/>
          <p:nvPr/>
        </p:nvSpPr>
        <p:spPr>
          <a:xfrm>
            <a:off x="10783519" y="2743200"/>
            <a:ext cx="640080" cy="640080"/>
          </a:xfrm>
          <a:prstGeom prst="ellipse">
            <a:avLst/>
          </a:prstGeom>
          <a:solidFill>
            <a:schemeClr val="accent1"/>
          </a:solidFill>
          <a:ln w="25400">
            <a:solidFill>
              <a:schemeClr val="accent1"/>
            </a:solidFill>
            <a:prstDash val="solid"/>
          </a:ln>
        </p:spPr>
      </p:sp>
      <p:sp>
        <p:nvSpPr>
          <p:cNvPr id="21" name="Text 19"/>
          <p:cNvSpPr txBox="1"/>
          <p:nvPr/>
        </p:nvSpPr>
        <p:spPr>
          <a:xfrm>
            <a:off x="10783519"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20"/>
          <p:cNvSpPr txBox="1"/>
          <p:nvPr/>
        </p:nvSpPr>
        <p:spPr>
          <a:xfrm>
            <a:off x="10189159"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Freedom</a:t>
            </a:r>
            <a:endParaRPr lang="en-US" sz="1300" dirty="0"/>
          </a:p>
        </p:txBody>
      </p:sp>
      <p:sp>
        <p:nvSpPr>
          <p:cNvPr id="23" name="Text 21"/>
          <p:cNvSpPr txBox="1"/>
          <p:nvPr/>
        </p:nvSpPr>
        <p:spPr>
          <a:xfrm>
            <a:off x="10189159"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MONTH 6 TARGET</a:t>
            </a:r>
            <a:endParaRPr lang="en-US" sz="1000" dirty="0"/>
          </a:p>
        </p:txBody>
      </p:sp>
      <p:sp>
        <p:nvSpPr>
          <p:cNvPr id="24" name="callout"/>
          <p:cNvSpPr/>
          <p:nvPr/>
        </p:nvSpPr>
        <p:spPr>
          <a:xfrm>
            <a:off x="630936" y="4572000"/>
            <a:ext cx="10929823" cy="868680"/>
          </a:xfrm>
          <a:prstGeom prst="roundRect">
            <a:avLst>
              <a:gd name="adj" fmla="val 8421"/>
            </a:avLst>
          </a:prstGeom>
          <a:solidFill>
            <a:schemeClr val="accent4"/>
          </a:solidFill>
          <a:ln/>
        </p:spPr>
      </p:sp>
      <p:sp>
        <p:nvSpPr>
          <p:cNvPr id="25" name="Text 23"/>
          <p:cNvSpPr txBox="1"/>
          <p:nvPr/>
        </p:nvSpPr>
        <p:spPr>
          <a:xfrm>
            <a:off x="859536" y="4572000"/>
            <a:ext cx="10472623" cy="868680"/>
          </a:xfrm>
          <a:prstGeom prst="rect">
            <a:avLst/>
          </a:prstGeom>
          <a:noFill/>
          <a:ln/>
        </p:spPr>
        <p:txBody>
          <a:bodyPr wrap="square" lIns="0" tIns="0" rIns="0" bIns="0" rtlCol="0" anchor="ctr"/>
          <a:lstStyle/>
          <a:p>
            <a:pPr indent="0" marL="0">
              <a:buNone/>
            </a:pPr>
            <a:r>
              <a:rPr lang="en-US" sz="1250" b="1" dirty="0">
                <a:solidFill>
                  <a:schemeClr val="accent1"/>
                </a:solidFill>
              </a:rPr>
              <a:t>May wants someone she can trust quickly but won’t compromise on fit. We aim for Outcome Owner by Day 90 and Freedom by Month 6: a Coordinator who runs the weekly admin rhythm independently and catches errors before May does.</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04  ·  DESIGN</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Role We Recommend</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An Administration Coordinator who owns six areas, so May is free to lead the farm.</a:t>
            </a:r>
            <a:endParaRPr lang="en-US" sz="1300" dirty="0"/>
          </a:p>
        </p:txBody>
      </p:sp>
      <p:sp>
        <p:nvSpPr>
          <p:cNvPr id="5" name="card"/>
          <p:cNvSpPr/>
          <p:nvPr/>
        </p:nvSpPr>
        <p:spPr>
          <a:xfrm>
            <a:off x="630936" y="1965960"/>
            <a:ext cx="3521354" cy="1874520"/>
          </a:xfrm>
          <a:prstGeom prst="roundRect">
            <a:avLst>
              <a:gd name="adj" fmla="val 3902"/>
            </a:avLst>
          </a:prstGeom>
          <a:solidFill>
            <a:schemeClr val="bg2"/>
          </a:solidFill>
          <a:ln/>
        </p:spPr>
      </p:sp>
      <p:sp>
        <p:nvSpPr>
          <p:cNvPr id="6" name="area 1 circle"/>
          <p:cNvSpPr/>
          <p:nvPr/>
        </p:nvSpPr>
        <p:spPr>
          <a:xfrm>
            <a:off x="905256" y="2240280"/>
            <a:ext cx="502920" cy="502920"/>
          </a:xfrm>
          <a:prstGeom prst="ellipse">
            <a:avLst/>
          </a:prstGeom>
          <a:solidFill>
            <a:schemeClr val="accent1"/>
          </a:solidFill>
          <a:ln/>
        </p:spPr>
      </p:sp>
      <p:pic>
        <p:nvPicPr>
          <p:cNvPr id="7" name="area 1" descr="area 1">    </p:cNvPr>
          <p:cNvPicPr>
            <a:picLocks noChangeAspect="1"/>
          </p:cNvPicPr>
          <p:nvPr/>
        </p:nvPicPr>
        <p:blipFill>
          <a:blip r:embed="rId1"/>
          <a:stretch>
            <a:fillRect/>
          </a:stretch>
        </p:blipFill>
        <p:spPr>
          <a:xfrm>
            <a:off x="1030986" y="2366010"/>
            <a:ext cx="251460" cy="251460"/>
          </a:xfrm>
          <a:prstGeom prst="rect">
            <a:avLst/>
          </a:prstGeom>
        </p:spPr>
      </p:pic>
      <p:sp>
        <p:nvSpPr>
          <p:cNvPr id="8" name="Text 5"/>
          <p:cNvSpPr txBox="1"/>
          <p:nvPr/>
        </p:nvSpPr>
        <p:spPr>
          <a:xfrm>
            <a:off x="1545336"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Sales Admin &amp; Customers</a:t>
            </a:r>
            <a:endParaRPr lang="en-US" sz="1400" dirty="0"/>
          </a:p>
        </p:txBody>
      </p:sp>
      <p:sp>
        <p:nvSpPr>
          <p:cNvPr id="9" name="Text 6"/>
          <p:cNvSpPr txBox="1"/>
          <p:nvPr/>
        </p:nvSpPr>
        <p:spPr>
          <a:xfrm>
            <a:off x="905256"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Draft invoices, harvest picklists, mailers and warm follow-up on orders.</a:t>
            </a:r>
            <a:endParaRPr lang="en-US" sz="1200" dirty="0"/>
          </a:p>
        </p:txBody>
      </p:sp>
      <p:sp>
        <p:nvSpPr>
          <p:cNvPr id="10" name="card"/>
          <p:cNvSpPr/>
          <p:nvPr/>
        </p:nvSpPr>
        <p:spPr>
          <a:xfrm>
            <a:off x="4335170" y="1965960"/>
            <a:ext cx="3521354" cy="1874520"/>
          </a:xfrm>
          <a:prstGeom prst="roundRect">
            <a:avLst>
              <a:gd name="adj" fmla="val 3902"/>
            </a:avLst>
          </a:prstGeom>
          <a:solidFill>
            <a:schemeClr val="bg2"/>
          </a:solidFill>
          <a:ln/>
        </p:spPr>
      </p:sp>
      <p:sp>
        <p:nvSpPr>
          <p:cNvPr id="11" name="area 2 circle"/>
          <p:cNvSpPr/>
          <p:nvPr/>
        </p:nvSpPr>
        <p:spPr>
          <a:xfrm>
            <a:off x="4609490" y="2240280"/>
            <a:ext cx="502920" cy="502920"/>
          </a:xfrm>
          <a:prstGeom prst="ellipse">
            <a:avLst/>
          </a:prstGeom>
          <a:solidFill>
            <a:schemeClr val="accent1"/>
          </a:solidFill>
          <a:ln/>
        </p:spPr>
      </p:sp>
      <p:pic>
        <p:nvPicPr>
          <p:cNvPr id="12" name="area 2" descr="area 2">    </p:cNvPr>
          <p:cNvPicPr>
            <a:picLocks noChangeAspect="1"/>
          </p:cNvPicPr>
          <p:nvPr/>
        </p:nvPicPr>
        <p:blipFill>
          <a:blip r:embed="rId2"/>
          <a:stretch>
            <a:fillRect/>
          </a:stretch>
        </p:blipFill>
        <p:spPr>
          <a:xfrm>
            <a:off x="4735220" y="2366010"/>
            <a:ext cx="251460" cy="251460"/>
          </a:xfrm>
          <a:prstGeom prst="rect">
            <a:avLst/>
          </a:prstGeom>
        </p:spPr>
      </p:pic>
      <p:sp>
        <p:nvSpPr>
          <p:cNvPr id="13" name="Text 9"/>
          <p:cNvSpPr txBox="1"/>
          <p:nvPr/>
        </p:nvSpPr>
        <p:spPr>
          <a:xfrm>
            <a:off x="5249570"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Accounts &amp; Timesheets</a:t>
            </a:r>
            <a:endParaRPr lang="en-US" sz="1400" dirty="0"/>
          </a:p>
        </p:txBody>
      </p:sp>
      <p:sp>
        <p:nvSpPr>
          <p:cNvPr id="14" name="Text 10"/>
          <p:cNvSpPr txBox="1"/>
          <p:nvPr/>
        </p:nvSpPr>
        <p:spPr>
          <a:xfrm>
            <a:off x="4609490"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Payables lists, AR calls on overdue accounts and weekly timesheet checks.</a:t>
            </a:r>
            <a:endParaRPr lang="en-US" sz="1200" dirty="0"/>
          </a:p>
        </p:txBody>
      </p:sp>
      <p:sp>
        <p:nvSpPr>
          <p:cNvPr id="15" name="card"/>
          <p:cNvSpPr/>
          <p:nvPr/>
        </p:nvSpPr>
        <p:spPr>
          <a:xfrm>
            <a:off x="8039405" y="1965960"/>
            <a:ext cx="3521354" cy="1874520"/>
          </a:xfrm>
          <a:prstGeom prst="roundRect">
            <a:avLst>
              <a:gd name="adj" fmla="val 3902"/>
            </a:avLst>
          </a:prstGeom>
          <a:solidFill>
            <a:schemeClr val="bg2"/>
          </a:solidFill>
          <a:ln/>
        </p:spPr>
      </p:sp>
      <p:sp>
        <p:nvSpPr>
          <p:cNvPr id="16" name="area 3 circle"/>
          <p:cNvSpPr/>
          <p:nvPr/>
        </p:nvSpPr>
        <p:spPr>
          <a:xfrm>
            <a:off x="8313725" y="2240280"/>
            <a:ext cx="502920" cy="502920"/>
          </a:xfrm>
          <a:prstGeom prst="ellipse">
            <a:avLst/>
          </a:prstGeom>
          <a:solidFill>
            <a:schemeClr val="accent1"/>
          </a:solidFill>
          <a:ln/>
        </p:spPr>
      </p:sp>
      <p:pic>
        <p:nvPicPr>
          <p:cNvPr id="17" name="area 3" descr="area 3">    </p:cNvPr>
          <p:cNvPicPr>
            <a:picLocks noChangeAspect="1"/>
          </p:cNvPicPr>
          <p:nvPr/>
        </p:nvPicPr>
        <p:blipFill>
          <a:blip r:embed="rId3"/>
          <a:stretch>
            <a:fillRect/>
          </a:stretch>
        </p:blipFill>
        <p:spPr>
          <a:xfrm>
            <a:off x="8439455" y="2366010"/>
            <a:ext cx="251460" cy="251460"/>
          </a:xfrm>
          <a:prstGeom prst="rect">
            <a:avLst/>
          </a:prstGeom>
        </p:spPr>
      </p:pic>
      <p:sp>
        <p:nvSpPr>
          <p:cNvPr id="18" name="Text 13"/>
          <p:cNvSpPr txBox="1"/>
          <p:nvPr/>
        </p:nvSpPr>
        <p:spPr>
          <a:xfrm>
            <a:off x="8953805"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Payroll &amp; HR Records</a:t>
            </a:r>
            <a:endParaRPr lang="en-US" sz="1400" dirty="0"/>
          </a:p>
        </p:txBody>
      </p:sp>
      <p:sp>
        <p:nvSpPr>
          <p:cNvPr id="19" name="Text 14"/>
          <p:cNvSpPr txBox="1"/>
          <p:nvPr/>
        </p:nvSpPr>
        <p:spPr>
          <a:xfrm>
            <a:off x="8313725"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Timesheets for payroll, contracts and onboarding, handled confidentially.</a:t>
            </a:r>
            <a:endParaRPr lang="en-US" sz="1200" dirty="0"/>
          </a:p>
        </p:txBody>
      </p:sp>
      <p:sp>
        <p:nvSpPr>
          <p:cNvPr id="20" name="card"/>
          <p:cNvSpPr/>
          <p:nvPr/>
        </p:nvSpPr>
        <p:spPr>
          <a:xfrm>
            <a:off x="630936" y="4023360"/>
            <a:ext cx="3521354" cy="1874520"/>
          </a:xfrm>
          <a:prstGeom prst="roundRect">
            <a:avLst>
              <a:gd name="adj" fmla="val 3902"/>
            </a:avLst>
          </a:prstGeom>
          <a:solidFill>
            <a:schemeClr val="bg2"/>
          </a:solidFill>
          <a:ln/>
        </p:spPr>
      </p:sp>
      <p:sp>
        <p:nvSpPr>
          <p:cNvPr id="21" name="area 4 circle"/>
          <p:cNvSpPr/>
          <p:nvPr/>
        </p:nvSpPr>
        <p:spPr>
          <a:xfrm>
            <a:off x="905256" y="4297680"/>
            <a:ext cx="502920" cy="502920"/>
          </a:xfrm>
          <a:prstGeom prst="ellipse">
            <a:avLst/>
          </a:prstGeom>
          <a:solidFill>
            <a:schemeClr val="accent1"/>
          </a:solidFill>
          <a:ln/>
        </p:spPr>
      </p:sp>
      <p:pic>
        <p:nvPicPr>
          <p:cNvPr id="22" name="area 4" descr="area 4">    </p:cNvPr>
          <p:cNvPicPr>
            <a:picLocks noChangeAspect="1"/>
          </p:cNvPicPr>
          <p:nvPr/>
        </p:nvPicPr>
        <p:blipFill>
          <a:blip r:embed="rId4"/>
          <a:stretch>
            <a:fillRect/>
          </a:stretch>
        </p:blipFill>
        <p:spPr>
          <a:xfrm>
            <a:off x="1030986" y="4423410"/>
            <a:ext cx="251460" cy="251460"/>
          </a:xfrm>
          <a:prstGeom prst="rect">
            <a:avLst/>
          </a:prstGeom>
        </p:spPr>
      </p:pic>
      <p:sp>
        <p:nvSpPr>
          <p:cNvPr id="23" name="Text 17"/>
          <p:cNvSpPr txBox="1"/>
          <p:nvPr/>
        </p:nvSpPr>
        <p:spPr>
          <a:xfrm>
            <a:off x="1545336"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Compliance &amp; Certification</a:t>
            </a:r>
            <a:endParaRPr lang="en-US" sz="1400" dirty="0"/>
          </a:p>
        </p:txBody>
      </p:sp>
      <p:sp>
        <p:nvSpPr>
          <p:cNvPr id="24" name="Text 18"/>
          <p:cNvSpPr txBox="1"/>
          <p:nvPr/>
        </p:nvSpPr>
        <p:spPr>
          <a:xfrm>
            <a:off x="905256"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Organic certification logs, renewals, insurance and audit evidence kept current.</a:t>
            </a:r>
            <a:endParaRPr lang="en-US" sz="1200" dirty="0"/>
          </a:p>
        </p:txBody>
      </p:sp>
      <p:sp>
        <p:nvSpPr>
          <p:cNvPr id="25" name="card"/>
          <p:cNvSpPr/>
          <p:nvPr/>
        </p:nvSpPr>
        <p:spPr>
          <a:xfrm>
            <a:off x="4335170" y="4023360"/>
            <a:ext cx="3521354" cy="1874520"/>
          </a:xfrm>
          <a:prstGeom prst="roundRect">
            <a:avLst>
              <a:gd name="adj" fmla="val 3902"/>
            </a:avLst>
          </a:prstGeom>
          <a:solidFill>
            <a:schemeClr val="bg2"/>
          </a:solidFill>
          <a:ln/>
        </p:spPr>
      </p:sp>
      <p:sp>
        <p:nvSpPr>
          <p:cNvPr id="26" name="area 5 circle"/>
          <p:cNvSpPr/>
          <p:nvPr/>
        </p:nvSpPr>
        <p:spPr>
          <a:xfrm>
            <a:off x="4609490" y="4297680"/>
            <a:ext cx="502920" cy="502920"/>
          </a:xfrm>
          <a:prstGeom prst="ellipse">
            <a:avLst/>
          </a:prstGeom>
          <a:solidFill>
            <a:schemeClr val="accent1"/>
          </a:solidFill>
          <a:ln/>
        </p:spPr>
      </p:sp>
      <p:pic>
        <p:nvPicPr>
          <p:cNvPr id="27" name="area 5" descr="area 5">    </p:cNvPr>
          <p:cNvPicPr>
            <a:picLocks noChangeAspect="1"/>
          </p:cNvPicPr>
          <p:nvPr/>
        </p:nvPicPr>
        <p:blipFill>
          <a:blip r:embed="rId5"/>
          <a:stretch>
            <a:fillRect/>
          </a:stretch>
        </p:blipFill>
        <p:spPr>
          <a:xfrm>
            <a:off x="4735220" y="4423410"/>
            <a:ext cx="251460" cy="251460"/>
          </a:xfrm>
          <a:prstGeom prst="rect">
            <a:avLst/>
          </a:prstGeom>
        </p:spPr>
      </p:pic>
      <p:sp>
        <p:nvSpPr>
          <p:cNvPr id="28" name="Text 21"/>
          <p:cNvSpPr txBox="1"/>
          <p:nvPr/>
        </p:nvSpPr>
        <p:spPr>
          <a:xfrm>
            <a:off x="5249570"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Director &amp; Team Support</a:t>
            </a:r>
            <a:endParaRPr lang="en-US" sz="1400" dirty="0"/>
          </a:p>
        </p:txBody>
      </p:sp>
      <p:sp>
        <p:nvSpPr>
          <p:cNvPr id="29" name="Text 22"/>
          <p:cNvSpPr txBox="1"/>
          <p:nvPr/>
        </p:nvSpPr>
        <p:spPr>
          <a:xfrm>
            <a:off x="4609490"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May’s calendar, reminders, team notices, events and meal sign-ups.</a:t>
            </a:r>
            <a:endParaRPr lang="en-US" sz="1200" dirty="0"/>
          </a:p>
        </p:txBody>
      </p:sp>
      <p:sp>
        <p:nvSpPr>
          <p:cNvPr id="30" name="card"/>
          <p:cNvSpPr/>
          <p:nvPr/>
        </p:nvSpPr>
        <p:spPr>
          <a:xfrm>
            <a:off x="8039405" y="4023360"/>
            <a:ext cx="3521354" cy="1874520"/>
          </a:xfrm>
          <a:prstGeom prst="roundRect">
            <a:avLst>
              <a:gd name="adj" fmla="val 3902"/>
            </a:avLst>
          </a:prstGeom>
          <a:solidFill>
            <a:schemeClr val="bg2"/>
          </a:solidFill>
          <a:ln/>
        </p:spPr>
      </p:sp>
      <p:sp>
        <p:nvSpPr>
          <p:cNvPr id="31" name="area 6 circle"/>
          <p:cNvSpPr/>
          <p:nvPr/>
        </p:nvSpPr>
        <p:spPr>
          <a:xfrm>
            <a:off x="8313725" y="4297680"/>
            <a:ext cx="502920" cy="502920"/>
          </a:xfrm>
          <a:prstGeom prst="ellipse">
            <a:avLst/>
          </a:prstGeom>
          <a:solidFill>
            <a:schemeClr val="accent1"/>
          </a:solidFill>
          <a:ln/>
        </p:spPr>
      </p:sp>
      <p:pic>
        <p:nvPicPr>
          <p:cNvPr id="32" name="area 6" descr="area 6">    </p:cNvPr>
          <p:cNvPicPr>
            <a:picLocks noChangeAspect="1"/>
          </p:cNvPicPr>
          <p:nvPr/>
        </p:nvPicPr>
        <p:blipFill>
          <a:blip r:embed="rId6"/>
          <a:stretch>
            <a:fillRect/>
          </a:stretch>
        </p:blipFill>
        <p:spPr>
          <a:xfrm>
            <a:off x="8439455" y="4423410"/>
            <a:ext cx="251460" cy="251460"/>
          </a:xfrm>
          <a:prstGeom prst="rect">
            <a:avLst/>
          </a:prstGeom>
        </p:spPr>
      </p:pic>
      <p:sp>
        <p:nvSpPr>
          <p:cNvPr id="33" name="Text 25"/>
          <p:cNvSpPr txBox="1"/>
          <p:nvPr/>
        </p:nvSpPr>
        <p:spPr>
          <a:xfrm>
            <a:off x="8953805"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Handbook &amp; Systems</a:t>
            </a:r>
            <a:endParaRPr lang="en-US" sz="1400" dirty="0"/>
          </a:p>
        </p:txBody>
      </p:sp>
      <p:sp>
        <p:nvSpPr>
          <p:cNvPr id="34" name="Text 26"/>
          <p:cNvSpPr txBox="1"/>
          <p:nvPr/>
        </p:nvSpPr>
        <p:spPr>
          <a:xfrm>
            <a:off x="8313725"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Updating the Admin Handbook, tidying files and improving processes.</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05  ·  DISCOVER</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Securing the Right Hire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Recommended role: Administration Coordinator (part-time, 20 hrs/week to start; longer days Mon–Wed, Sydney time)</a:t>
            </a:r>
            <a:endParaRPr lang="en-US" sz="1300" dirty="0"/>
          </a:p>
        </p:txBody>
      </p:sp>
      <p:sp>
        <p:nvSpPr>
          <p:cNvPr id="5" name="card"/>
          <p:cNvSpPr/>
          <p:nvPr/>
        </p:nvSpPr>
        <p:spPr>
          <a:xfrm>
            <a:off x="630936" y="1965960"/>
            <a:ext cx="5373472" cy="1691640"/>
          </a:xfrm>
          <a:prstGeom prst="roundRect">
            <a:avLst>
              <a:gd name="adj" fmla="val 4324"/>
            </a:avLst>
          </a:prstGeom>
          <a:solidFill>
            <a:schemeClr val="bg1"/>
          </a:solidFill>
          <a:ln w="12700">
            <a:solidFill>
              <a:schemeClr val="accent5"/>
            </a:solidFill>
            <a:prstDash val="solid"/>
          </a:ln>
        </p:spPr>
      </p:sp>
      <p:sp>
        <p:nvSpPr>
          <p:cNvPr id="6" name="Text 4"/>
          <p:cNvSpPr txBox="1"/>
          <p:nvPr/>
        </p:nvSpPr>
        <p:spPr>
          <a:xfrm>
            <a:off x="905256"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EXPERIENCE</a:t>
            </a:r>
            <a:endParaRPr lang="en-US" sz="1050" dirty="0"/>
          </a:p>
        </p:txBody>
      </p:sp>
      <p:sp>
        <p:nvSpPr>
          <p:cNvPr id="7" name="Text 5"/>
          <p:cNvSpPr txBox="1"/>
          <p:nvPr/>
        </p:nvSpPr>
        <p:spPr>
          <a:xfrm>
            <a:off x="905256"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Senior admin (5+ years) across sales, accounts and HR administration, ideally with Australian businesses. Agriculture or food exposure is a bonus.</a:t>
            </a:r>
            <a:endParaRPr lang="en-US" sz="1250" dirty="0"/>
          </a:p>
        </p:txBody>
      </p:sp>
      <p:sp>
        <p:nvSpPr>
          <p:cNvPr id="8" name="card"/>
          <p:cNvSpPr/>
          <p:nvPr/>
        </p:nvSpPr>
        <p:spPr>
          <a:xfrm>
            <a:off x="6187288" y="1965960"/>
            <a:ext cx="5373472" cy="1691640"/>
          </a:xfrm>
          <a:prstGeom prst="roundRect">
            <a:avLst>
              <a:gd name="adj" fmla="val 4324"/>
            </a:avLst>
          </a:prstGeom>
          <a:solidFill>
            <a:schemeClr val="bg1"/>
          </a:solidFill>
          <a:ln w="12700">
            <a:solidFill>
              <a:schemeClr val="accent5"/>
            </a:solidFill>
            <a:prstDash val="solid"/>
          </a:ln>
        </p:spPr>
      </p:sp>
      <p:sp>
        <p:nvSpPr>
          <p:cNvPr id="9" name="Text 7"/>
          <p:cNvSpPr txBox="1"/>
          <p:nvPr/>
        </p:nvSpPr>
        <p:spPr>
          <a:xfrm>
            <a:off x="6461608"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KEY SKILLS</a:t>
            </a:r>
            <a:endParaRPr lang="en-US" sz="1050" dirty="0"/>
          </a:p>
        </p:txBody>
      </p:sp>
      <p:sp>
        <p:nvSpPr>
          <p:cNvPr id="10" name="Text 8"/>
          <p:cNvSpPr txBox="1"/>
          <p:nvPr/>
        </p:nvSpPr>
        <p:spPr>
          <a:xfrm>
            <a:off x="6461608"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Exceptional attention to detail and self-management across many channels; confident, warm phone manner for AR and customer calls; clear written English.</a:t>
            </a:r>
            <a:endParaRPr lang="en-US" sz="1250" dirty="0"/>
          </a:p>
        </p:txBody>
      </p:sp>
      <p:sp>
        <p:nvSpPr>
          <p:cNvPr id="11" name="card"/>
          <p:cNvSpPr/>
          <p:nvPr/>
        </p:nvSpPr>
        <p:spPr>
          <a:xfrm>
            <a:off x="630936" y="3840480"/>
            <a:ext cx="5373472" cy="1691640"/>
          </a:xfrm>
          <a:prstGeom prst="roundRect">
            <a:avLst>
              <a:gd name="adj" fmla="val 4324"/>
            </a:avLst>
          </a:prstGeom>
          <a:solidFill>
            <a:schemeClr val="bg1"/>
          </a:solidFill>
          <a:ln w="12700">
            <a:solidFill>
              <a:schemeClr val="accent5"/>
            </a:solidFill>
            <a:prstDash val="solid"/>
          </a:ln>
        </p:spPr>
      </p:sp>
      <p:sp>
        <p:nvSpPr>
          <p:cNvPr id="12" name="Text 10"/>
          <p:cNvSpPr txBox="1"/>
          <p:nvPr/>
        </p:nvSpPr>
        <p:spPr>
          <a:xfrm>
            <a:off x="905256"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TOOLS &amp; SYSTEMS</a:t>
            </a:r>
            <a:endParaRPr lang="en-US" sz="1050" dirty="0"/>
          </a:p>
        </p:txBody>
      </p:sp>
      <p:sp>
        <p:nvSpPr>
          <p:cNvPr id="13" name="Text 11"/>
          <p:cNvSpPr txBox="1"/>
          <p:nvPr/>
        </p:nvSpPr>
        <p:spPr>
          <a:xfrm>
            <a:off x="905256"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Xero, Employment Hero, Google Workspace, Slack, Mailchimp, spreadsheets and JustCall; confident using AI tools.</a:t>
            </a:r>
            <a:endParaRPr lang="en-US" sz="1250" dirty="0"/>
          </a:p>
        </p:txBody>
      </p:sp>
      <p:sp>
        <p:nvSpPr>
          <p:cNvPr id="14" name="card"/>
          <p:cNvSpPr/>
          <p:nvPr/>
        </p:nvSpPr>
        <p:spPr>
          <a:xfrm>
            <a:off x="6187288" y="3840480"/>
            <a:ext cx="5373472" cy="1691640"/>
          </a:xfrm>
          <a:prstGeom prst="roundRect">
            <a:avLst>
              <a:gd name="adj" fmla="val 4324"/>
            </a:avLst>
          </a:prstGeom>
          <a:solidFill>
            <a:schemeClr val="bg1"/>
          </a:solidFill>
          <a:ln w="12700">
            <a:solidFill>
              <a:schemeClr val="accent5"/>
            </a:solidFill>
            <a:prstDash val="solid"/>
          </a:ln>
        </p:spPr>
      </p:sp>
      <p:sp>
        <p:nvSpPr>
          <p:cNvPr id="15" name="Text 13"/>
          <p:cNvSpPr txBox="1"/>
          <p:nvPr/>
        </p:nvSpPr>
        <p:spPr>
          <a:xfrm>
            <a:off x="6461608"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PERSONALITY &amp; CULTURE FIT</a:t>
            </a:r>
            <a:endParaRPr lang="en-US" sz="1050" dirty="0"/>
          </a:p>
        </p:txBody>
      </p:sp>
      <p:sp>
        <p:nvSpPr>
          <p:cNvPr id="16" name="Text 14"/>
          <p:cNvSpPr txBox="1"/>
          <p:nvPr/>
        </p:nvSpPr>
        <p:spPr>
          <a:xfrm>
            <a:off x="6461608"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Warm, friendly and joyful; comfortable with direct farm-team communication. Double-checks everything, self-corrects and never repeats a mistake. Female preferred.</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07</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Investment Overview</a:t>
            </a:r>
            <a:endParaRPr lang="en-US" sz="3000" dirty="0"/>
          </a:p>
        </p:txBody>
      </p:sp>
      <p:sp>
        <p:nvSpPr>
          <p:cNvPr id="4" name="card"/>
          <p:cNvSpPr/>
          <p:nvPr/>
        </p:nvSpPr>
        <p:spPr>
          <a:xfrm>
            <a:off x="630936" y="1508760"/>
            <a:ext cx="5327752" cy="1737360"/>
          </a:xfrm>
          <a:prstGeom prst="roundRect">
            <a:avLst>
              <a:gd name="adj" fmla="val 4211"/>
            </a:avLst>
          </a:prstGeom>
          <a:solidFill>
            <a:schemeClr val="bg1"/>
          </a:solidFill>
          <a:ln w="12700">
            <a:solidFill>
              <a:schemeClr val="accent1"/>
            </a:solidFill>
            <a:prstDash val="solid"/>
          </a:ln>
        </p:spPr>
      </p:sp>
      <p:sp>
        <p:nvSpPr>
          <p:cNvPr id="5" name="Text 3"/>
          <p:cNvSpPr txBox="1"/>
          <p:nvPr/>
        </p:nvSpPr>
        <p:spPr>
          <a:xfrm>
            <a:off x="950976" y="173736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PART-TIME  ·  RECOMMENDED START</a:t>
            </a:r>
            <a:endParaRPr lang="en-US" sz="1050" dirty="0"/>
          </a:p>
        </p:txBody>
      </p:sp>
      <p:sp>
        <p:nvSpPr>
          <p:cNvPr id="6" name="Text 4"/>
          <p:cNvSpPr txBox="1"/>
          <p:nvPr/>
        </p:nvSpPr>
        <p:spPr>
          <a:xfrm>
            <a:off x="950976" y="2057400"/>
            <a:ext cx="4687672"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$2,250 – $2,500</a:t>
            </a:r>
            <a:endParaRPr lang="en-US" sz="3200" dirty="0"/>
          </a:p>
        </p:txBody>
      </p:sp>
      <p:sp>
        <p:nvSpPr>
          <p:cNvPr id="7" name="Text 5"/>
          <p:cNvSpPr txBox="1"/>
          <p:nvPr/>
        </p:nvSpPr>
        <p:spPr>
          <a:xfrm>
            <a:off x="950976" y="2697480"/>
            <a:ext cx="4687672" cy="320040"/>
          </a:xfrm>
          <a:prstGeom prst="rect">
            <a:avLst/>
          </a:prstGeom>
          <a:noFill/>
          <a:ln/>
        </p:spPr>
        <p:txBody>
          <a:bodyPr wrap="square" lIns="0" tIns="0" rIns="0" bIns="0" rtlCol="0" anchor="ctr"/>
          <a:lstStyle/>
          <a:p>
            <a:pPr indent="0" marL="0">
              <a:buNone/>
            </a:pPr>
            <a:r>
              <a:rPr lang="en-US" sz="1250" dirty="0">
                <a:solidFill>
                  <a:schemeClr val="accent3"/>
                </a:solidFill>
              </a:rPr>
              <a:t>AUD / month  ·  20 hrs/week  ·  excl. GST</a:t>
            </a:r>
            <a:endParaRPr lang="en-US" sz="1250" dirty="0"/>
          </a:p>
        </p:txBody>
      </p:sp>
      <p:sp>
        <p:nvSpPr>
          <p:cNvPr id="8" name="card"/>
          <p:cNvSpPr/>
          <p:nvPr/>
        </p:nvSpPr>
        <p:spPr>
          <a:xfrm>
            <a:off x="6233008" y="1508760"/>
            <a:ext cx="5327752" cy="1737360"/>
          </a:xfrm>
          <a:prstGeom prst="roundRect">
            <a:avLst>
              <a:gd name="adj" fmla="val 4211"/>
            </a:avLst>
          </a:prstGeom>
          <a:solidFill>
            <a:schemeClr val="bg2"/>
          </a:solidFill>
          <a:ln/>
        </p:spPr>
      </p:sp>
      <p:sp>
        <p:nvSpPr>
          <p:cNvPr id="9" name="Text 7"/>
          <p:cNvSpPr txBox="1"/>
          <p:nvPr/>
        </p:nvSpPr>
        <p:spPr>
          <a:xfrm>
            <a:off x="6553048" y="173736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FULL-TIME  ·  FUTURE FLEX-UP</a:t>
            </a:r>
            <a:endParaRPr lang="en-US" sz="1050" dirty="0"/>
          </a:p>
        </p:txBody>
      </p:sp>
      <p:sp>
        <p:nvSpPr>
          <p:cNvPr id="10" name="Text 8"/>
          <p:cNvSpPr txBox="1"/>
          <p:nvPr/>
        </p:nvSpPr>
        <p:spPr>
          <a:xfrm>
            <a:off x="6553048" y="2057400"/>
            <a:ext cx="4687672" cy="6400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$3,300 – $3,800</a:t>
            </a:r>
            <a:endParaRPr lang="en-US" sz="3200" dirty="0"/>
          </a:p>
        </p:txBody>
      </p:sp>
      <p:sp>
        <p:nvSpPr>
          <p:cNvPr id="11" name="Text 9"/>
          <p:cNvSpPr txBox="1"/>
          <p:nvPr/>
        </p:nvSpPr>
        <p:spPr>
          <a:xfrm>
            <a:off x="6553048" y="2697480"/>
            <a:ext cx="4687672" cy="320040"/>
          </a:xfrm>
          <a:prstGeom prst="rect">
            <a:avLst/>
          </a:prstGeom>
          <a:noFill/>
          <a:ln/>
        </p:spPr>
        <p:txBody>
          <a:bodyPr wrap="square" lIns="0" tIns="0" rIns="0" bIns="0" rtlCol="0" anchor="ctr"/>
          <a:lstStyle/>
          <a:p>
            <a:pPr indent="0" marL="0">
              <a:buNone/>
            </a:pPr>
            <a:r>
              <a:rPr lang="en-US" sz="1250" dirty="0">
                <a:solidFill>
                  <a:schemeClr val="accent3"/>
                </a:solidFill>
              </a:rPr>
              <a:t>AUD / month  ·  40 hrs/week  ·  excl. GST</a:t>
            </a:r>
            <a:endParaRPr lang="en-US" sz="1250" dirty="0"/>
          </a:p>
        </p:txBody>
      </p:sp>
      <p:sp>
        <p:nvSpPr>
          <p:cNvPr id="12" name="card"/>
          <p:cNvSpPr/>
          <p:nvPr/>
        </p:nvSpPr>
        <p:spPr>
          <a:xfrm>
            <a:off x="630936" y="3474720"/>
            <a:ext cx="10929823" cy="1051560"/>
          </a:xfrm>
          <a:prstGeom prst="roundRect">
            <a:avLst>
              <a:gd name="adj" fmla="val 6957"/>
            </a:avLst>
          </a:prstGeom>
          <a:solidFill>
            <a:schemeClr val="bg2"/>
          </a:solidFill>
          <a:ln/>
        </p:spPr>
      </p:sp>
      <p:sp>
        <p:nvSpPr>
          <p:cNvPr id="13" name="Text 11"/>
          <p:cNvSpPr txBox="1"/>
          <p:nvPr/>
        </p:nvSpPr>
        <p:spPr>
          <a:xfrm>
            <a:off x="950976" y="3474720"/>
            <a:ext cx="10289743" cy="1051560"/>
          </a:xfrm>
          <a:prstGeom prst="rect">
            <a:avLst/>
          </a:prstGeom>
          <a:noFill/>
          <a:ln/>
        </p:spPr>
        <p:txBody>
          <a:bodyPr wrap="square" lIns="0" tIns="0" rIns="0" bIns="0" rtlCol="0" anchor="ctr"/>
          <a:lstStyle/>
          <a:p>
            <a:pPr indent="0" marL="0">
              <a:buNone/>
            </a:pPr>
            <a:r>
              <a:rPr lang="en-US" sz="1250" b="1" dirty="0">
                <a:solidFill>
                  <a:schemeClr val="tx1"/>
                </a:solidFill>
              </a:rPr>
              <a:t>Breakdown: </a:t>
            </a:r>
            <a:pPr indent="0" marL="0">
              <a:buNone/>
            </a:pPr>
            <a:r>
              <a:rPr lang="en-US" sz="1250" dirty="0">
                <a:solidFill>
                  <a:schemeClr val="accent3"/>
                </a:solidFill>
              </a:rPr>
              <a:t>$1,200/month is the Outsourcing Angel agency fee (payroll, health vouchers, incentives, bonuses, HR support and meetups for your Coordinator). The rest is your Coordinator’s hourly rate (about $12–$15 AUD), paid in full.</a:t>
            </a:r>
            <a:endParaRPr lang="en-US" sz="1250" dirty="0"/>
          </a:p>
        </p:txBody>
      </p:sp>
      <p:sp>
        <p:nvSpPr>
          <p:cNvPr id="14" name="card"/>
          <p:cNvSpPr/>
          <p:nvPr/>
        </p:nvSpPr>
        <p:spPr>
          <a:xfrm>
            <a:off x="630936" y="4709160"/>
            <a:ext cx="10929823" cy="1051560"/>
          </a:xfrm>
          <a:prstGeom prst="roundRect">
            <a:avLst>
              <a:gd name="adj" fmla="val 6957"/>
            </a:avLst>
          </a:prstGeom>
          <a:solidFill>
            <a:schemeClr val="accent4"/>
          </a:solidFill>
          <a:ln/>
        </p:spPr>
      </p:sp>
      <p:sp>
        <p:nvSpPr>
          <p:cNvPr id="15" name="Text 13"/>
          <p:cNvSpPr txBox="1"/>
          <p:nvPr/>
        </p:nvSpPr>
        <p:spPr>
          <a:xfrm>
            <a:off x="950976" y="4709160"/>
            <a:ext cx="10289743" cy="1051560"/>
          </a:xfrm>
          <a:prstGeom prst="rect">
            <a:avLst/>
          </a:prstGeom>
          <a:noFill/>
          <a:ln/>
        </p:spPr>
        <p:txBody>
          <a:bodyPr wrap="square" lIns="0" tIns="0" rIns="0" bIns="0" rtlCol="0" anchor="ctr"/>
          <a:lstStyle/>
          <a:p>
            <a:pPr indent="0" marL="0">
              <a:buNone/>
            </a:pPr>
            <a:r>
              <a:rPr lang="en-US" sz="1250" b="1" dirty="0">
                <a:solidFill>
                  <a:schemeClr val="accent1"/>
                </a:solidFill>
              </a:rPr>
              <a:t>Terms discussed: </a:t>
            </a:r>
            <a:pPr indent="0" marL="0">
              <a:buNone/>
            </a:pPr>
            <a:r>
              <a:rPr lang="en-US" sz="1250" dirty="0">
                <a:solidFill>
                  <a:schemeClr val="tx1"/>
                </a:solidFill>
              </a:rPr>
              <a:t>$500 refundable deposit (paid 12 October) · 3-month minimum, then 30-day notice · hours flex up from 20/week as trust grows · free replacement any time, with a 1-week trial.</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08</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Next Steps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We check in at every stage. If something isn’t working, we adjust. If it’s working, we build on it.</a:t>
            </a:r>
            <a:endParaRPr lang="en-US" sz="1300" dirty="0"/>
          </a:p>
        </p:txBody>
      </p:sp>
      <p:sp>
        <p:nvSpPr>
          <p:cNvPr id="5" name="card"/>
          <p:cNvSpPr/>
          <p:nvPr/>
        </p:nvSpPr>
        <p:spPr>
          <a:xfrm>
            <a:off x="630936" y="2011680"/>
            <a:ext cx="10929823" cy="640080"/>
          </a:xfrm>
          <a:prstGeom prst="roundRect">
            <a:avLst>
              <a:gd name="adj" fmla="val 11429"/>
            </a:avLst>
          </a:prstGeom>
          <a:solidFill>
            <a:schemeClr val="bg1"/>
          </a:solidFill>
          <a:ln w="12700">
            <a:solidFill>
              <a:schemeClr val="accent5"/>
            </a:solidFill>
            <a:prstDash val="solid"/>
          </a:ln>
        </p:spPr>
      </p:sp>
      <p:sp>
        <p:nvSpPr>
          <p:cNvPr id="6" name="number 1"/>
          <p:cNvSpPr/>
          <p:nvPr/>
        </p:nvSpPr>
        <p:spPr>
          <a:xfrm>
            <a:off x="859536" y="2139696"/>
            <a:ext cx="384048" cy="384048"/>
          </a:xfrm>
          <a:prstGeom prst="ellipse">
            <a:avLst/>
          </a:prstGeom>
          <a:solidFill>
            <a:schemeClr val="accent1"/>
          </a:solidFill>
          <a:ln/>
        </p:spPr>
      </p:sp>
      <p:sp>
        <p:nvSpPr>
          <p:cNvPr id="7" name="Text 5"/>
          <p:cNvSpPr txBox="1"/>
          <p:nvPr/>
        </p:nvSpPr>
        <p:spPr>
          <a:xfrm>
            <a:off x="859536" y="21396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453896" y="2011680"/>
            <a:ext cx="9832543" cy="640080"/>
          </a:xfrm>
          <a:prstGeom prst="rect">
            <a:avLst/>
          </a:prstGeom>
          <a:noFill/>
          <a:ln/>
        </p:spPr>
        <p:txBody>
          <a:bodyPr wrap="square" lIns="0" tIns="0" rIns="0" bIns="0" rtlCol="0" anchor="ctr"/>
          <a:lstStyle/>
          <a:p>
            <a:pPr indent="0" marL="0">
              <a:buNone/>
            </a:pPr>
            <a:r>
              <a:rPr lang="en-US" sz="1400" dirty="0">
                <a:solidFill>
                  <a:schemeClr val="tx1"/>
                </a:solidFill>
              </a:rPr>
              <a:t>Deposit paid (12 October) and Alignment Session held (15 October)</a:t>
            </a:r>
            <a:endParaRPr lang="en-US" sz="1400" dirty="0"/>
          </a:p>
        </p:txBody>
      </p:sp>
      <p:sp>
        <p:nvSpPr>
          <p:cNvPr id="9" name="card"/>
          <p:cNvSpPr/>
          <p:nvPr/>
        </p:nvSpPr>
        <p:spPr>
          <a:xfrm>
            <a:off x="630936" y="2788920"/>
            <a:ext cx="10929823" cy="640080"/>
          </a:xfrm>
          <a:prstGeom prst="roundRect">
            <a:avLst>
              <a:gd name="adj" fmla="val 11429"/>
            </a:avLst>
          </a:prstGeom>
          <a:solidFill>
            <a:schemeClr val="bg1"/>
          </a:solidFill>
          <a:ln w="12700">
            <a:solidFill>
              <a:schemeClr val="accent5"/>
            </a:solidFill>
            <a:prstDash val="solid"/>
          </a:ln>
        </p:spPr>
      </p:sp>
      <p:sp>
        <p:nvSpPr>
          <p:cNvPr id="10" name="number 2"/>
          <p:cNvSpPr/>
          <p:nvPr/>
        </p:nvSpPr>
        <p:spPr>
          <a:xfrm>
            <a:off x="859536" y="2916936"/>
            <a:ext cx="384048" cy="384048"/>
          </a:xfrm>
          <a:prstGeom prst="ellipse">
            <a:avLst/>
          </a:prstGeom>
          <a:solidFill>
            <a:schemeClr val="accent1"/>
          </a:solidFill>
          <a:ln/>
        </p:spPr>
      </p:sp>
      <p:sp>
        <p:nvSpPr>
          <p:cNvPr id="11" name="Text 9"/>
          <p:cNvSpPr txBox="1"/>
          <p:nvPr/>
        </p:nvSpPr>
        <p:spPr>
          <a:xfrm>
            <a:off x="859536" y="29169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1453896" y="2788920"/>
            <a:ext cx="9832543" cy="640080"/>
          </a:xfrm>
          <a:prstGeom prst="rect">
            <a:avLst/>
          </a:prstGeom>
          <a:noFill/>
          <a:ln/>
        </p:spPr>
        <p:txBody>
          <a:bodyPr wrap="square" lIns="0" tIns="0" rIns="0" bIns="0" rtlCol="0" anchor="ctr"/>
          <a:lstStyle/>
          <a:p>
            <a:pPr indent="0" marL="0">
              <a:buNone/>
            </a:pPr>
            <a:r>
              <a:rPr lang="en-US" sz="1400" dirty="0">
                <a:solidFill>
                  <a:schemeClr val="tx1"/>
                </a:solidFill>
              </a:rPr>
              <a:t>Freedom Plan and candidate profiles presented (27 October, 12:30pm)</a:t>
            </a:r>
            <a:endParaRPr lang="en-US" sz="1400" dirty="0"/>
          </a:p>
        </p:txBody>
      </p:sp>
      <p:sp>
        <p:nvSpPr>
          <p:cNvPr id="13" name="card"/>
          <p:cNvSpPr/>
          <p:nvPr/>
        </p:nvSpPr>
        <p:spPr>
          <a:xfrm>
            <a:off x="630936" y="3566160"/>
            <a:ext cx="10929823" cy="640080"/>
          </a:xfrm>
          <a:prstGeom prst="roundRect">
            <a:avLst>
              <a:gd name="adj" fmla="val 11429"/>
            </a:avLst>
          </a:prstGeom>
          <a:solidFill>
            <a:schemeClr val="bg1"/>
          </a:solidFill>
          <a:ln w="12700">
            <a:solidFill>
              <a:schemeClr val="accent5"/>
            </a:solidFill>
            <a:prstDash val="solid"/>
          </a:ln>
        </p:spPr>
      </p:sp>
      <p:sp>
        <p:nvSpPr>
          <p:cNvPr id="14" name="number 3"/>
          <p:cNvSpPr/>
          <p:nvPr/>
        </p:nvSpPr>
        <p:spPr>
          <a:xfrm>
            <a:off x="859536" y="3694176"/>
            <a:ext cx="384048" cy="384048"/>
          </a:xfrm>
          <a:prstGeom prst="ellipse">
            <a:avLst/>
          </a:prstGeom>
          <a:solidFill>
            <a:schemeClr val="accent1"/>
          </a:solidFill>
          <a:ln/>
        </p:spPr>
      </p:sp>
      <p:sp>
        <p:nvSpPr>
          <p:cNvPr id="15" name="Text 13"/>
          <p:cNvSpPr txBox="1"/>
          <p:nvPr/>
        </p:nvSpPr>
        <p:spPr>
          <a:xfrm>
            <a:off x="859536" y="36941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1453896" y="3566160"/>
            <a:ext cx="9832543" cy="640080"/>
          </a:xfrm>
          <a:prstGeom prst="rect">
            <a:avLst/>
          </a:prstGeom>
          <a:noFill/>
          <a:ln/>
        </p:spPr>
        <p:txBody>
          <a:bodyPr wrap="square" lIns="0" tIns="0" rIns="0" bIns="0" rtlCol="0" anchor="ctr"/>
          <a:lstStyle/>
          <a:p>
            <a:pPr indent="0" marL="0">
              <a:buNone/>
            </a:pPr>
            <a:r>
              <a:rPr lang="en-US" sz="1400" dirty="0">
                <a:solidFill>
                  <a:schemeClr val="tx1"/>
                </a:solidFill>
              </a:rPr>
              <a:t>May interviews her shortlist, with an optional skills test first</a:t>
            </a:r>
            <a:endParaRPr lang="en-US" sz="1400" dirty="0"/>
          </a:p>
        </p:txBody>
      </p:sp>
      <p:sp>
        <p:nvSpPr>
          <p:cNvPr id="17" name="card"/>
          <p:cNvSpPr/>
          <p:nvPr/>
        </p:nvSpPr>
        <p:spPr>
          <a:xfrm>
            <a:off x="630936" y="4343400"/>
            <a:ext cx="10929823" cy="640080"/>
          </a:xfrm>
          <a:prstGeom prst="roundRect">
            <a:avLst>
              <a:gd name="adj" fmla="val 11429"/>
            </a:avLst>
          </a:prstGeom>
          <a:solidFill>
            <a:schemeClr val="bg1"/>
          </a:solidFill>
          <a:ln w="12700">
            <a:solidFill>
              <a:schemeClr val="accent5"/>
            </a:solidFill>
            <a:prstDash val="solid"/>
          </a:ln>
        </p:spPr>
      </p:sp>
      <p:sp>
        <p:nvSpPr>
          <p:cNvPr id="18" name="number 4"/>
          <p:cNvSpPr/>
          <p:nvPr/>
        </p:nvSpPr>
        <p:spPr>
          <a:xfrm>
            <a:off x="859536" y="4471416"/>
            <a:ext cx="384048" cy="384048"/>
          </a:xfrm>
          <a:prstGeom prst="ellipse">
            <a:avLst/>
          </a:prstGeom>
          <a:solidFill>
            <a:schemeClr val="accent1"/>
          </a:solidFill>
          <a:ln/>
        </p:spPr>
      </p:sp>
      <p:sp>
        <p:nvSpPr>
          <p:cNvPr id="19" name="Text 17"/>
          <p:cNvSpPr txBox="1"/>
          <p:nvPr/>
        </p:nvSpPr>
        <p:spPr>
          <a:xfrm>
            <a:off x="859536" y="44714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Text 18"/>
          <p:cNvSpPr txBox="1"/>
          <p:nvPr/>
        </p:nvSpPr>
        <p:spPr>
          <a:xfrm>
            <a:off x="1453896" y="4343400"/>
            <a:ext cx="9832543" cy="640080"/>
          </a:xfrm>
          <a:prstGeom prst="rect">
            <a:avLst/>
          </a:prstGeom>
          <a:noFill/>
          <a:ln/>
        </p:spPr>
        <p:txBody>
          <a:bodyPr wrap="square" lIns="0" tIns="0" rIns="0" bIns="0" rtlCol="0" anchor="ctr"/>
          <a:lstStyle/>
          <a:p>
            <a:pPr indent="0" marL="0">
              <a:buNone/>
            </a:pPr>
            <a:r>
              <a:rPr lang="en-US" sz="1400" b="1" dirty="0">
                <a:solidFill>
                  <a:schemeClr val="tx1"/>
                </a:solidFill>
              </a:rPr>
              <a:t>Kick-off: confirm KPIs, access and approvals, and start Part B together</a:t>
            </a:r>
            <a:endParaRPr lang="en-US" sz="1400" dirty="0"/>
          </a:p>
        </p:txBody>
      </p:sp>
      <p:sp>
        <p:nvSpPr>
          <p:cNvPr id="21" name="callout"/>
          <p:cNvSpPr/>
          <p:nvPr/>
        </p:nvSpPr>
        <p:spPr>
          <a:xfrm>
            <a:off x="630936" y="5257800"/>
            <a:ext cx="10929823" cy="548640"/>
          </a:xfrm>
          <a:prstGeom prst="roundRect">
            <a:avLst>
              <a:gd name="adj" fmla="val 13333"/>
            </a:avLst>
          </a:prstGeom>
          <a:solidFill>
            <a:schemeClr val="accent4"/>
          </a:solidFill>
          <a:ln/>
        </p:spPr>
      </p:sp>
      <p:sp>
        <p:nvSpPr>
          <p:cNvPr id="22" name="Text 20"/>
          <p:cNvSpPr txBox="1"/>
          <p:nvPr/>
        </p:nvSpPr>
        <p:spPr>
          <a:xfrm>
            <a:off x="859536" y="525780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From kick-off onwards, Part B becomes your working plan.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PART B</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Your Freedom Playbook</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The part you keep. Use it at every check-in with your Coordinator and your Outsourcing Angel team, from Day 1 to Month 12 and beyond.</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1 OF 4  ·  FIRST-TIME CLIENTS</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Get Ready for Day 1</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Hiring your first admin VA? These four pages help you start strong. Worked with a VA before? Skim them.</a:t>
            </a:r>
            <a:endParaRPr lang="en-US" sz="1300" dirty="0"/>
          </a:p>
        </p:txBody>
      </p:sp>
      <p:sp>
        <p:nvSpPr>
          <p:cNvPr id="5" name="card"/>
          <p:cNvSpPr/>
          <p:nvPr/>
        </p:nvSpPr>
        <p:spPr>
          <a:xfrm>
            <a:off x="630936" y="1965960"/>
            <a:ext cx="5669280" cy="4160520"/>
          </a:xfrm>
          <a:prstGeom prst="roundRect">
            <a:avLst>
              <a:gd name="adj" fmla="val 1758"/>
            </a:avLst>
          </a:prstGeom>
          <a:solidFill>
            <a:schemeClr val="bg1"/>
          </a:solidFill>
          <a:ln w="12700">
            <a:solidFill>
              <a:schemeClr val="accent5"/>
            </a:solidFill>
            <a:prstDash val="solid"/>
          </a:ln>
        </p:spPr>
      </p:sp>
      <p:sp>
        <p:nvSpPr>
          <p:cNvPr id="6" name="Text 4"/>
          <p:cNvSpPr txBox="1"/>
          <p:nvPr/>
        </p:nvSpPr>
        <p:spPr>
          <a:xfrm>
            <a:off x="905256" y="2148840"/>
            <a:ext cx="512064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SETUP CHECKLIST: BEFORE DAY 1</a:t>
            </a:r>
            <a:endParaRPr lang="en-US" sz="1050" dirty="0"/>
          </a:p>
        </p:txBody>
      </p:sp>
      <p:sp>
        <p:nvSpPr>
          <p:cNvPr id="7" name="Text 5"/>
          <p:cNvSpPr txBox="1"/>
          <p:nvPr/>
        </p:nvSpPr>
        <p:spPr>
          <a:xfrm>
            <a:off x="905256" y="2542032"/>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8" name="Text 6"/>
          <p:cNvSpPr txBox="1"/>
          <p:nvPr/>
        </p:nvSpPr>
        <p:spPr>
          <a:xfrm>
            <a:off x="1316736" y="2542032"/>
            <a:ext cx="4754880" cy="365760"/>
          </a:xfrm>
          <a:prstGeom prst="rect">
            <a:avLst/>
          </a:prstGeom>
          <a:noFill/>
          <a:ln/>
        </p:spPr>
        <p:txBody>
          <a:bodyPr wrap="square" lIns="0" tIns="0" rIns="0" bIns="0" rtlCol="0" anchor="ctr"/>
          <a:lstStyle/>
          <a:p>
            <a:pPr indent="0" marL="0">
              <a:buNone/>
            </a:pPr>
            <a:r>
              <a:rPr lang="en-US" sz="1300" dirty="0">
                <a:solidFill>
                  <a:schemeClr val="tx1"/>
                </a:solidFill>
              </a:rPr>
              <a:t>Admin, sales, team and payroll inboxes</a:t>
            </a:r>
            <a:endParaRPr lang="en-US" sz="1300" dirty="0"/>
          </a:p>
        </p:txBody>
      </p:sp>
      <p:sp>
        <p:nvSpPr>
          <p:cNvPr id="9" name="Text 7"/>
          <p:cNvSpPr txBox="1"/>
          <p:nvPr/>
        </p:nvSpPr>
        <p:spPr>
          <a:xfrm>
            <a:off x="905256" y="3035808"/>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0" name="Text 8"/>
          <p:cNvSpPr txBox="1"/>
          <p:nvPr/>
        </p:nvSpPr>
        <p:spPr>
          <a:xfrm>
            <a:off x="1316736" y="3035808"/>
            <a:ext cx="4754880" cy="365760"/>
          </a:xfrm>
          <a:prstGeom prst="rect">
            <a:avLst/>
          </a:prstGeom>
          <a:noFill/>
          <a:ln/>
        </p:spPr>
        <p:txBody>
          <a:bodyPr wrap="square" lIns="0" tIns="0" rIns="0" bIns="0" rtlCol="0" anchor="ctr"/>
          <a:lstStyle/>
          <a:p>
            <a:pPr indent="0" marL="0">
              <a:buNone/>
            </a:pPr>
            <a:r>
              <a:rPr lang="en-US" sz="1300" dirty="0">
                <a:solidFill>
                  <a:schemeClr val="tx1"/>
                </a:solidFill>
              </a:rPr>
              <a:t>Xero and Employment Hero access, right permissions</a:t>
            </a:r>
            <a:endParaRPr lang="en-US" sz="1300" dirty="0"/>
          </a:p>
        </p:txBody>
      </p:sp>
      <p:sp>
        <p:nvSpPr>
          <p:cNvPr id="11" name="Text 9"/>
          <p:cNvSpPr txBox="1"/>
          <p:nvPr/>
        </p:nvSpPr>
        <p:spPr>
          <a:xfrm>
            <a:off x="905256" y="3529584"/>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2" name="Text 10"/>
          <p:cNvSpPr txBox="1"/>
          <p:nvPr/>
        </p:nvSpPr>
        <p:spPr>
          <a:xfrm>
            <a:off x="1316736" y="3529584"/>
            <a:ext cx="4754880" cy="365760"/>
          </a:xfrm>
          <a:prstGeom prst="rect">
            <a:avLst/>
          </a:prstGeom>
          <a:noFill/>
          <a:ln/>
        </p:spPr>
        <p:txBody>
          <a:bodyPr wrap="square" lIns="0" tIns="0" rIns="0" bIns="0" rtlCol="0" anchor="ctr"/>
          <a:lstStyle/>
          <a:p>
            <a:pPr indent="0" marL="0">
              <a:buNone/>
            </a:pPr>
            <a:r>
              <a:rPr lang="en-US" sz="1300" dirty="0">
                <a:solidFill>
                  <a:schemeClr val="tx1"/>
                </a:solidFill>
              </a:rPr>
              <a:t>A password manager to share logins safely</a:t>
            </a:r>
            <a:endParaRPr lang="en-US" sz="1300" dirty="0"/>
          </a:p>
        </p:txBody>
      </p:sp>
      <p:sp>
        <p:nvSpPr>
          <p:cNvPr id="13" name="Text 11"/>
          <p:cNvSpPr txBox="1"/>
          <p:nvPr/>
        </p:nvSpPr>
        <p:spPr>
          <a:xfrm>
            <a:off x="905256" y="4023360"/>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4" name="Text 12"/>
          <p:cNvSpPr txBox="1"/>
          <p:nvPr/>
        </p:nvSpPr>
        <p:spPr>
          <a:xfrm>
            <a:off x="1316736" y="4023360"/>
            <a:ext cx="4754880" cy="365760"/>
          </a:xfrm>
          <a:prstGeom prst="rect">
            <a:avLst/>
          </a:prstGeom>
          <a:noFill/>
          <a:ln/>
        </p:spPr>
        <p:txBody>
          <a:bodyPr wrap="square" lIns="0" tIns="0" rIns="0" bIns="0" rtlCol="0" anchor="ctr"/>
          <a:lstStyle/>
          <a:p>
            <a:pPr indent="0" marL="0">
              <a:buNone/>
            </a:pPr>
            <a:r>
              <a:rPr lang="en-US" sz="1300" dirty="0">
                <a:solidFill>
                  <a:schemeClr val="tx1"/>
                </a:solidFill>
              </a:rPr>
              <a:t>Two-factor authentication switched on</a:t>
            </a:r>
            <a:endParaRPr lang="en-US" sz="1300" dirty="0"/>
          </a:p>
        </p:txBody>
      </p:sp>
      <p:sp>
        <p:nvSpPr>
          <p:cNvPr id="15" name="Text 13"/>
          <p:cNvSpPr txBox="1"/>
          <p:nvPr/>
        </p:nvSpPr>
        <p:spPr>
          <a:xfrm>
            <a:off x="905256" y="4517136"/>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6" name="Text 14"/>
          <p:cNvSpPr txBox="1"/>
          <p:nvPr/>
        </p:nvSpPr>
        <p:spPr>
          <a:xfrm>
            <a:off x="1316736" y="4517136"/>
            <a:ext cx="4754880" cy="365760"/>
          </a:xfrm>
          <a:prstGeom prst="rect">
            <a:avLst/>
          </a:prstGeom>
          <a:noFill/>
          <a:ln/>
        </p:spPr>
        <p:txBody>
          <a:bodyPr wrap="square" lIns="0" tIns="0" rIns="0" bIns="0" rtlCol="0" anchor="ctr"/>
          <a:lstStyle/>
          <a:p>
            <a:pPr indent="0" marL="0">
              <a:buNone/>
            </a:pPr>
            <a:r>
              <a:rPr lang="en-US" sz="1300" dirty="0">
                <a:solidFill>
                  <a:schemeClr val="tx1"/>
                </a:solidFill>
              </a:rPr>
              <a:t>Admin Handbook and Google Drive folders shared</a:t>
            </a:r>
            <a:endParaRPr lang="en-US" sz="1300" dirty="0"/>
          </a:p>
        </p:txBody>
      </p:sp>
      <p:sp>
        <p:nvSpPr>
          <p:cNvPr id="17" name="Text 15"/>
          <p:cNvSpPr txBox="1"/>
          <p:nvPr/>
        </p:nvSpPr>
        <p:spPr>
          <a:xfrm>
            <a:off x="905256" y="5010912"/>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8" name="Text 16"/>
          <p:cNvSpPr txBox="1"/>
          <p:nvPr/>
        </p:nvSpPr>
        <p:spPr>
          <a:xfrm>
            <a:off x="1316736" y="5010912"/>
            <a:ext cx="4754880" cy="365760"/>
          </a:xfrm>
          <a:prstGeom prst="rect">
            <a:avLst/>
          </a:prstGeom>
          <a:noFill/>
          <a:ln/>
        </p:spPr>
        <p:txBody>
          <a:bodyPr wrap="square" lIns="0" tIns="0" rIns="0" bIns="0" rtlCol="0" anchor="ctr"/>
          <a:lstStyle/>
          <a:p>
            <a:pPr indent="0" marL="0">
              <a:buNone/>
            </a:pPr>
            <a:r>
              <a:rPr lang="en-US" sz="1300" dirty="0">
                <a:solidFill>
                  <a:schemeClr val="tx1"/>
                </a:solidFill>
              </a:rPr>
              <a:t>Slack channels joined (Admin Private, Sales, All Team)</a:t>
            </a:r>
            <a:endParaRPr lang="en-US" sz="1300" dirty="0"/>
          </a:p>
        </p:txBody>
      </p:sp>
      <p:sp>
        <p:nvSpPr>
          <p:cNvPr id="19" name="Text 17"/>
          <p:cNvSpPr txBox="1"/>
          <p:nvPr/>
        </p:nvSpPr>
        <p:spPr>
          <a:xfrm>
            <a:off x="905256" y="5504688"/>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20" name="Text 18"/>
          <p:cNvSpPr txBox="1"/>
          <p:nvPr/>
        </p:nvSpPr>
        <p:spPr>
          <a:xfrm>
            <a:off x="1316736" y="5504688"/>
            <a:ext cx="4754880" cy="365760"/>
          </a:xfrm>
          <a:prstGeom prst="rect">
            <a:avLst/>
          </a:prstGeom>
          <a:noFill/>
          <a:ln/>
        </p:spPr>
        <p:txBody>
          <a:bodyPr wrap="square" lIns="0" tIns="0" rIns="0" bIns="0" rtlCol="0" anchor="ctr"/>
          <a:lstStyle/>
          <a:p>
            <a:pPr indent="0" marL="0">
              <a:buNone/>
            </a:pPr>
            <a:r>
              <a:rPr lang="en-US" sz="1300" dirty="0">
                <a:solidFill>
                  <a:schemeClr val="tx1"/>
                </a:solidFill>
              </a:rPr>
              <a:t>Confidentiality agreement signed</a:t>
            </a:r>
            <a:endParaRPr lang="en-US" sz="1300" dirty="0"/>
          </a:p>
        </p:txBody>
      </p:sp>
      <p:sp>
        <p:nvSpPr>
          <p:cNvPr id="21" name="card"/>
          <p:cNvSpPr/>
          <p:nvPr/>
        </p:nvSpPr>
        <p:spPr>
          <a:xfrm>
            <a:off x="6528816" y="1965960"/>
            <a:ext cx="5031943" cy="1920240"/>
          </a:xfrm>
          <a:prstGeom prst="roundRect">
            <a:avLst>
              <a:gd name="adj" fmla="val 3810"/>
            </a:avLst>
          </a:prstGeom>
          <a:solidFill>
            <a:schemeClr val="accent4"/>
          </a:solidFill>
          <a:ln/>
        </p:spPr>
      </p:sp>
      <p:sp>
        <p:nvSpPr>
          <p:cNvPr id="22" name="Text 20"/>
          <p:cNvSpPr txBox="1"/>
          <p:nvPr/>
        </p:nvSpPr>
        <p:spPr>
          <a:xfrm>
            <a:off x="6803136" y="2148840"/>
            <a:ext cx="448330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TIME COMMITMENT</a:t>
            </a:r>
            <a:endParaRPr lang="en-US" sz="1050" dirty="0"/>
          </a:p>
        </p:txBody>
      </p:sp>
      <p:sp>
        <p:nvSpPr>
          <p:cNvPr id="23" name="Text 21"/>
          <p:cNvSpPr txBox="1"/>
          <p:nvPr/>
        </p:nvSpPr>
        <p:spPr>
          <a:xfrm>
            <a:off x="6803136" y="2468880"/>
            <a:ext cx="4483303"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30 minutes a day</a:t>
            </a:r>
            <a:endParaRPr lang="en-US" sz="2400" dirty="0"/>
          </a:p>
        </p:txBody>
      </p:sp>
      <p:sp>
        <p:nvSpPr>
          <p:cNvPr id="24" name="Text 22"/>
          <p:cNvSpPr txBox="1"/>
          <p:nvPr/>
        </p:nvSpPr>
        <p:spPr>
          <a:xfrm>
            <a:off x="6803136" y="3017520"/>
            <a:ext cx="4483303" cy="731520"/>
          </a:xfrm>
          <a:prstGeom prst="rect">
            <a:avLst/>
          </a:prstGeom>
          <a:noFill/>
          <a:ln/>
        </p:spPr>
        <p:txBody>
          <a:bodyPr wrap="square" lIns="0" tIns="0" rIns="0" bIns="0" rtlCol="0" anchor="t"/>
          <a:lstStyle/>
          <a:p>
            <a:pPr indent="0" marL="0">
              <a:buNone/>
            </a:pPr>
            <a:r>
              <a:rPr lang="en-US" sz="1250" dirty="0">
                <a:solidFill>
                  <a:schemeClr val="tx1"/>
                </a:solidFill>
              </a:rPr>
              <a:t>for the first 2 weeks: briefing, answering questions and reviewing work. It pays back many times over.</a:t>
            </a:r>
            <a:endParaRPr lang="en-US" sz="1250" dirty="0"/>
          </a:p>
        </p:txBody>
      </p:sp>
      <p:sp>
        <p:nvSpPr>
          <p:cNvPr id="25" name="card"/>
          <p:cNvSpPr/>
          <p:nvPr/>
        </p:nvSpPr>
        <p:spPr>
          <a:xfrm>
            <a:off x="6528816" y="4069080"/>
            <a:ext cx="5031943" cy="2057400"/>
          </a:xfrm>
          <a:prstGeom prst="roundRect">
            <a:avLst>
              <a:gd name="adj" fmla="val 3556"/>
            </a:avLst>
          </a:prstGeom>
          <a:solidFill>
            <a:schemeClr val="bg1"/>
          </a:solidFill>
          <a:ln w="12700">
            <a:solidFill>
              <a:schemeClr val="accent5"/>
            </a:solidFill>
            <a:prstDash val="solid"/>
          </a:ln>
        </p:spPr>
      </p:sp>
      <p:sp>
        <p:nvSpPr>
          <p:cNvPr id="26" name="Text 24"/>
          <p:cNvSpPr txBox="1"/>
          <p:nvPr/>
        </p:nvSpPr>
        <p:spPr>
          <a:xfrm>
            <a:off x="6803136" y="4251960"/>
            <a:ext cx="448330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HOURS, TIME ZONES &amp; LEAVE</a:t>
            </a:r>
            <a:endParaRPr lang="en-US" sz="1050" dirty="0"/>
          </a:p>
        </p:txBody>
      </p:sp>
      <p:sp>
        <p:nvSpPr>
          <p:cNvPr id="27" name="Text 25"/>
          <p:cNvSpPr txBox="1"/>
          <p:nvPr/>
        </p:nvSpPr>
        <p:spPr>
          <a:xfrm>
            <a:off x="6803136" y="4572000"/>
            <a:ext cx="4483303" cy="822960"/>
          </a:xfrm>
          <a:prstGeom prst="rect">
            <a:avLst/>
          </a:prstGeom>
          <a:noFill/>
          <a:ln/>
        </p:spPr>
        <p:txBody>
          <a:bodyPr wrap="square" lIns="0" tIns="0" rIns="0" bIns="0" rtlCol="0" anchor="t"/>
          <a:lstStyle/>
          <a:p>
            <a:pPr indent="0" marL="0">
              <a:buNone/>
            </a:pPr>
            <a:r>
              <a:rPr lang="en-US" sz="1250" dirty="0">
                <a:solidFill>
                  <a:schemeClr val="accent3"/>
                </a:solidFill>
              </a:rPr>
              <a:t>Agree the weekly schedule in Week 1: longer days Mon–Wed, short days Thu–Fri, 30-min unpaid lunch. The farm follows Australian public holidays, so plan leave two weeks ahead.</a:t>
            </a:r>
            <a:endParaRPr lang="en-US" sz="1250" dirty="0"/>
          </a:p>
        </p:txBody>
      </p:sp>
      <p:sp>
        <p:nvSpPr>
          <p:cNvPr id="28" name="Text 26"/>
          <p:cNvSpPr txBox="1"/>
          <p:nvPr/>
        </p:nvSpPr>
        <p:spPr>
          <a:xfrm>
            <a:off x="6803136" y="5577840"/>
            <a:ext cx="4483303" cy="320040"/>
          </a:xfrm>
          <a:prstGeom prst="rect">
            <a:avLst/>
          </a:prstGeom>
          <a:noFill/>
          <a:ln/>
        </p:spPr>
        <p:txBody>
          <a:bodyPr wrap="square" lIns="0" tIns="0" rIns="0" bIns="0" rtlCol="0" anchor="ctr"/>
          <a:lstStyle/>
          <a:p>
            <a:pPr indent="0" marL="0">
              <a:buNone/>
            </a:pPr>
            <a:r>
              <a:rPr lang="en-US" sz="1200" b="1" dirty="0">
                <a:solidFill>
                  <a:schemeClr val="tx1"/>
                </a:solidFill>
              </a:rPr>
              <a:t>Coordinator’s hours: </a:t>
            </a:r>
            <a:pPr indent="0" marL="0">
              <a:buNone/>
            </a:pPr>
            <a:r>
              <a:rPr lang="en-US" sz="1200" dirty="0">
                <a:solidFill>
                  <a:schemeClr val="accent3"/>
                </a:solidFill>
              </a:rPr>
              <a:t>________________     </a:t>
            </a:r>
            <a:pPr indent="0" marL="0">
              <a:buNone/>
            </a:pPr>
            <a:r>
              <a:rPr lang="en-US" sz="1200" b="1" dirty="0">
                <a:solidFill>
                  <a:schemeClr val="tx1"/>
                </a:solidFill>
              </a:rPr>
              <a:t>Escalate to: </a:t>
            </a:r>
            <a:pPr indent="0" marL="0">
              <a:buNone/>
            </a:pPr>
            <a:r>
              <a:rPr lang="en-US" sz="1200" dirty="0">
                <a:solidFill>
                  <a:schemeClr val="accent3"/>
                </a:solidFill>
              </a:rPr>
              <a:t>____________</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2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to Delegate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Clear briefs are the single biggest factor in a great first month.</a:t>
            </a:r>
            <a:endParaRPr lang="en-US" sz="1300" dirty="0"/>
          </a:p>
        </p:txBody>
      </p:sp>
      <p:sp>
        <p:nvSpPr>
          <p:cNvPr id="5" name="card"/>
          <p:cNvSpPr/>
          <p:nvPr/>
        </p:nvSpPr>
        <p:spPr>
          <a:xfrm>
            <a:off x="630936" y="1920240"/>
            <a:ext cx="5120640" cy="3383280"/>
          </a:xfrm>
          <a:prstGeom prst="roundRect">
            <a:avLst>
              <a:gd name="adj" fmla="val 2162"/>
            </a:avLst>
          </a:prstGeom>
          <a:solidFill>
            <a:schemeClr val="bg1"/>
          </a:solidFill>
          <a:ln w="12700">
            <a:solidFill>
              <a:schemeClr val="accent5"/>
            </a:solidFill>
            <a:prstDash val="solid"/>
          </a:ln>
        </p:spPr>
      </p:sp>
      <p:sp>
        <p:nvSpPr>
          <p:cNvPr id="6" name="Text 4"/>
          <p:cNvSpPr txBox="1"/>
          <p:nvPr/>
        </p:nvSpPr>
        <p:spPr>
          <a:xfrm>
            <a:off x="905256" y="2103120"/>
            <a:ext cx="45720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THE 5-PART BRIEF: USE IT FOR EVERY TASK</a:t>
            </a:r>
            <a:endParaRPr lang="en-US" sz="1050" dirty="0"/>
          </a:p>
        </p:txBody>
      </p:sp>
      <p:sp>
        <p:nvSpPr>
          <p:cNvPr id="7" name="number 1"/>
          <p:cNvSpPr/>
          <p:nvPr/>
        </p:nvSpPr>
        <p:spPr>
          <a:xfrm>
            <a:off x="905256" y="2514600"/>
            <a:ext cx="365760" cy="365760"/>
          </a:xfrm>
          <a:prstGeom prst="ellipse">
            <a:avLst/>
          </a:prstGeom>
          <a:solidFill>
            <a:schemeClr val="accent1"/>
          </a:solidFill>
          <a:ln/>
        </p:spPr>
      </p:sp>
      <p:sp>
        <p:nvSpPr>
          <p:cNvPr id="8" name="Text 6"/>
          <p:cNvSpPr txBox="1"/>
          <p:nvPr/>
        </p:nvSpPr>
        <p:spPr>
          <a:xfrm>
            <a:off x="905256" y="25146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7"/>
          <p:cNvSpPr txBox="1"/>
          <p:nvPr/>
        </p:nvSpPr>
        <p:spPr>
          <a:xfrm>
            <a:off x="1408176" y="251460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Outcome: </a:t>
            </a:r>
            <a:pPr indent="0" marL="0">
              <a:buNone/>
            </a:pPr>
            <a:r>
              <a:rPr lang="en-US" sz="1300" dirty="0">
                <a:solidFill>
                  <a:schemeClr val="accent3"/>
                </a:solidFill>
              </a:rPr>
              <a:t>what “done” looks like</a:t>
            </a:r>
            <a:endParaRPr lang="en-US" sz="1300" dirty="0"/>
          </a:p>
        </p:txBody>
      </p:sp>
      <p:sp>
        <p:nvSpPr>
          <p:cNvPr id="10" name="number 2"/>
          <p:cNvSpPr/>
          <p:nvPr/>
        </p:nvSpPr>
        <p:spPr>
          <a:xfrm>
            <a:off x="905256" y="3063240"/>
            <a:ext cx="365760" cy="365760"/>
          </a:xfrm>
          <a:prstGeom prst="ellipse">
            <a:avLst/>
          </a:prstGeom>
          <a:solidFill>
            <a:schemeClr val="accent1"/>
          </a:solidFill>
          <a:ln/>
        </p:spPr>
      </p:sp>
      <p:sp>
        <p:nvSpPr>
          <p:cNvPr id="11" name="Text 9"/>
          <p:cNvSpPr txBox="1"/>
          <p:nvPr/>
        </p:nvSpPr>
        <p:spPr>
          <a:xfrm>
            <a:off x="905256" y="30632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1408176" y="306324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Context: </a:t>
            </a:r>
            <a:pPr indent="0" marL="0">
              <a:buNone/>
            </a:pPr>
            <a:r>
              <a:rPr lang="en-US" sz="1300" dirty="0">
                <a:solidFill>
                  <a:schemeClr val="accent3"/>
                </a:solidFill>
              </a:rPr>
              <a:t>why it matters</a:t>
            </a:r>
            <a:endParaRPr lang="en-US" sz="1300" dirty="0"/>
          </a:p>
        </p:txBody>
      </p:sp>
      <p:sp>
        <p:nvSpPr>
          <p:cNvPr id="13" name="number 3"/>
          <p:cNvSpPr/>
          <p:nvPr/>
        </p:nvSpPr>
        <p:spPr>
          <a:xfrm>
            <a:off x="905256" y="3611880"/>
            <a:ext cx="365760" cy="365760"/>
          </a:xfrm>
          <a:prstGeom prst="ellipse">
            <a:avLst/>
          </a:prstGeom>
          <a:solidFill>
            <a:schemeClr val="accent1"/>
          </a:solidFill>
          <a:ln/>
        </p:spPr>
      </p:sp>
      <p:sp>
        <p:nvSpPr>
          <p:cNvPr id="14" name="Text 12"/>
          <p:cNvSpPr txBox="1"/>
          <p:nvPr/>
        </p:nvSpPr>
        <p:spPr>
          <a:xfrm>
            <a:off x="905256" y="36118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3"/>
          <p:cNvSpPr txBox="1"/>
          <p:nvPr/>
        </p:nvSpPr>
        <p:spPr>
          <a:xfrm>
            <a:off x="1408176" y="361188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Deadline: </a:t>
            </a:r>
            <a:pPr indent="0" marL="0">
              <a:buNone/>
            </a:pPr>
            <a:r>
              <a:rPr lang="en-US" sz="1300" dirty="0">
                <a:solidFill>
                  <a:schemeClr val="accent3"/>
                </a:solidFill>
              </a:rPr>
              <a:t>when you need it</a:t>
            </a:r>
            <a:endParaRPr lang="en-US" sz="1300" dirty="0"/>
          </a:p>
        </p:txBody>
      </p:sp>
      <p:sp>
        <p:nvSpPr>
          <p:cNvPr id="16" name="number 4"/>
          <p:cNvSpPr/>
          <p:nvPr/>
        </p:nvSpPr>
        <p:spPr>
          <a:xfrm>
            <a:off x="905256" y="4160520"/>
            <a:ext cx="365760" cy="365760"/>
          </a:xfrm>
          <a:prstGeom prst="ellipse">
            <a:avLst/>
          </a:prstGeom>
          <a:solidFill>
            <a:schemeClr val="accent1"/>
          </a:solidFill>
          <a:ln/>
        </p:spPr>
      </p:sp>
      <p:sp>
        <p:nvSpPr>
          <p:cNvPr id="17" name="Text 15"/>
          <p:cNvSpPr txBox="1"/>
          <p:nvPr/>
        </p:nvSpPr>
        <p:spPr>
          <a:xfrm>
            <a:off x="905256" y="41605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1408176" y="416052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Example: </a:t>
            </a:r>
            <a:pPr indent="0" marL="0">
              <a:buNone/>
            </a:pPr>
            <a:r>
              <a:rPr lang="en-US" sz="1300" dirty="0">
                <a:solidFill>
                  <a:schemeClr val="accent3"/>
                </a:solidFill>
              </a:rPr>
              <a:t>show what good looks like</a:t>
            </a:r>
            <a:endParaRPr lang="en-US" sz="1300" dirty="0"/>
          </a:p>
        </p:txBody>
      </p:sp>
      <p:sp>
        <p:nvSpPr>
          <p:cNvPr id="19" name="number 5"/>
          <p:cNvSpPr/>
          <p:nvPr/>
        </p:nvSpPr>
        <p:spPr>
          <a:xfrm>
            <a:off x="905256" y="4709160"/>
            <a:ext cx="365760" cy="365760"/>
          </a:xfrm>
          <a:prstGeom prst="ellipse">
            <a:avLst/>
          </a:prstGeom>
          <a:solidFill>
            <a:schemeClr val="accent1"/>
          </a:solidFill>
          <a:ln/>
        </p:spPr>
      </p:sp>
      <p:sp>
        <p:nvSpPr>
          <p:cNvPr id="20" name="Text 18"/>
          <p:cNvSpPr txBox="1"/>
          <p:nvPr/>
        </p:nvSpPr>
        <p:spPr>
          <a:xfrm>
            <a:off x="905256" y="4709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Text 19"/>
          <p:cNvSpPr txBox="1"/>
          <p:nvPr/>
        </p:nvSpPr>
        <p:spPr>
          <a:xfrm>
            <a:off x="1408176" y="470916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Who to ask: </a:t>
            </a:r>
            <a:pPr indent="0" marL="0">
              <a:buNone/>
            </a:pPr>
            <a:r>
              <a:rPr lang="en-US" sz="1300" dirty="0">
                <a:solidFill>
                  <a:schemeClr val="accent3"/>
                </a:solidFill>
              </a:rPr>
              <a:t>if they get stuck</a:t>
            </a:r>
            <a:endParaRPr lang="en-US" sz="1300" dirty="0"/>
          </a:p>
        </p:txBody>
      </p:sp>
      <p:sp>
        <p:nvSpPr>
          <p:cNvPr id="22" name="callout"/>
          <p:cNvSpPr/>
          <p:nvPr/>
        </p:nvSpPr>
        <p:spPr>
          <a:xfrm>
            <a:off x="630936" y="5440680"/>
            <a:ext cx="5120640" cy="731520"/>
          </a:xfrm>
          <a:prstGeom prst="roundRect">
            <a:avLst>
              <a:gd name="adj" fmla="val 10000"/>
            </a:avLst>
          </a:prstGeom>
          <a:solidFill>
            <a:schemeClr val="accent4"/>
          </a:solidFill>
          <a:ln/>
        </p:spPr>
      </p:sp>
      <p:sp>
        <p:nvSpPr>
          <p:cNvPr id="23" name="Text 21"/>
          <p:cNvSpPr txBox="1"/>
          <p:nvPr/>
        </p:nvSpPr>
        <p:spPr>
          <a:xfrm>
            <a:off x="859536" y="5440680"/>
            <a:ext cx="4663440" cy="731520"/>
          </a:xfrm>
          <a:prstGeom prst="rect">
            <a:avLst/>
          </a:prstGeom>
          <a:noFill/>
          <a:ln/>
        </p:spPr>
        <p:txBody>
          <a:bodyPr wrap="square" lIns="0" tIns="0" rIns="0" bIns="0" rtlCol="0" anchor="ctr"/>
          <a:lstStyle/>
          <a:p>
            <a:pPr indent="0" marL="0">
              <a:buNone/>
            </a:pPr>
            <a:r>
              <a:rPr lang="en-US" sz="1250" b="1" dirty="0">
                <a:solidFill>
                  <a:schemeClr val="accent1"/>
                </a:solidFill>
              </a:rPr>
              <a:t>Golden rule: record yourself doing a task once (Loom or a screen recording). Your Coordinator turns it into an SOP for your library.</a:t>
            </a:r>
            <a:endParaRPr lang="en-US" sz="1250" dirty="0"/>
          </a:p>
        </p:txBody>
      </p:sp>
      <p:sp>
        <p:nvSpPr>
          <p:cNvPr id="24" name="card"/>
          <p:cNvSpPr/>
          <p:nvPr/>
        </p:nvSpPr>
        <p:spPr>
          <a:xfrm>
            <a:off x="5980176" y="1920240"/>
            <a:ext cx="5580583" cy="4251960"/>
          </a:xfrm>
          <a:prstGeom prst="roundRect">
            <a:avLst>
              <a:gd name="adj" fmla="val 1720"/>
            </a:avLst>
          </a:prstGeom>
          <a:solidFill>
            <a:schemeClr val="bg2"/>
          </a:solidFill>
          <a:ln/>
        </p:spPr>
      </p:sp>
      <p:sp>
        <p:nvSpPr>
          <p:cNvPr id="25" name="Text 23"/>
          <p:cNvSpPr txBox="1"/>
          <p:nvPr/>
        </p:nvSpPr>
        <p:spPr>
          <a:xfrm>
            <a:off x="6254496" y="2103120"/>
            <a:ext cx="503194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FIRST 10 TASKS: QUICK WINS FOR WEEK 1</a:t>
            </a:r>
            <a:endParaRPr lang="en-US" sz="1050" dirty="0"/>
          </a:p>
        </p:txBody>
      </p:sp>
      <p:sp>
        <p:nvSpPr>
          <p:cNvPr id="26" name="task 1"/>
          <p:cNvSpPr/>
          <p:nvPr/>
        </p:nvSpPr>
        <p:spPr>
          <a:xfrm>
            <a:off x="6254496" y="2514600"/>
            <a:ext cx="2424532" cy="603504"/>
          </a:xfrm>
          <a:prstGeom prst="roundRect">
            <a:avLst>
              <a:gd name="adj" fmla="val 12121"/>
            </a:avLst>
          </a:prstGeom>
          <a:solidFill>
            <a:schemeClr val="bg1"/>
          </a:solidFill>
          <a:ln w="12700">
            <a:solidFill>
              <a:schemeClr val="accent5"/>
            </a:solidFill>
            <a:prstDash val="solid"/>
          </a:ln>
        </p:spPr>
      </p:sp>
      <p:sp>
        <p:nvSpPr>
          <p:cNvPr id="27" name="Text 25"/>
          <p:cNvSpPr txBox="1"/>
          <p:nvPr/>
        </p:nvSpPr>
        <p:spPr>
          <a:xfrm>
            <a:off x="6364224" y="2514600"/>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1</a:t>
            </a:r>
            <a:endParaRPr lang="en-US" sz="1400" dirty="0"/>
          </a:p>
        </p:txBody>
      </p:sp>
      <p:sp>
        <p:nvSpPr>
          <p:cNvPr id="28" name="Text 26"/>
          <p:cNvSpPr txBox="1"/>
          <p:nvPr/>
        </p:nvSpPr>
        <p:spPr>
          <a:xfrm>
            <a:off x="6711696" y="2514600"/>
            <a:ext cx="1875892" cy="603504"/>
          </a:xfrm>
          <a:prstGeom prst="rect">
            <a:avLst/>
          </a:prstGeom>
          <a:noFill/>
          <a:ln/>
        </p:spPr>
        <p:txBody>
          <a:bodyPr wrap="square" lIns="0" tIns="0" rIns="0" bIns="0" rtlCol="0" anchor="ctr"/>
          <a:lstStyle/>
          <a:p>
            <a:pPr indent="0" marL="0">
              <a:buNone/>
            </a:pPr>
            <a:r>
              <a:rPr lang="en-US" sz="1150" dirty="0">
                <a:solidFill>
                  <a:schemeClr val="tx1"/>
                </a:solidFill>
              </a:rPr>
              <a:t>Read the Admin Handbook end to end</a:t>
            </a:r>
            <a:endParaRPr lang="en-US" sz="1150" dirty="0"/>
          </a:p>
        </p:txBody>
      </p:sp>
      <p:sp>
        <p:nvSpPr>
          <p:cNvPr id="29" name="task 2"/>
          <p:cNvSpPr/>
          <p:nvPr/>
        </p:nvSpPr>
        <p:spPr>
          <a:xfrm>
            <a:off x="6254496" y="3227832"/>
            <a:ext cx="2424532" cy="603504"/>
          </a:xfrm>
          <a:prstGeom prst="roundRect">
            <a:avLst>
              <a:gd name="adj" fmla="val 12121"/>
            </a:avLst>
          </a:prstGeom>
          <a:solidFill>
            <a:schemeClr val="bg1"/>
          </a:solidFill>
          <a:ln w="12700">
            <a:solidFill>
              <a:schemeClr val="accent5"/>
            </a:solidFill>
            <a:prstDash val="solid"/>
          </a:ln>
        </p:spPr>
      </p:sp>
      <p:sp>
        <p:nvSpPr>
          <p:cNvPr id="30" name="Text 28"/>
          <p:cNvSpPr txBox="1"/>
          <p:nvPr/>
        </p:nvSpPr>
        <p:spPr>
          <a:xfrm>
            <a:off x="6364224" y="3227832"/>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2</a:t>
            </a:r>
            <a:endParaRPr lang="en-US" sz="1400" dirty="0"/>
          </a:p>
        </p:txBody>
      </p:sp>
      <p:sp>
        <p:nvSpPr>
          <p:cNvPr id="31" name="Text 29"/>
          <p:cNvSpPr txBox="1"/>
          <p:nvPr/>
        </p:nvSpPr>
        <p:spPr>
          <a:xfrm>
            <a:off x="6711696" y="3227832"/>
            <a:ext cx="1875892" cy="603504"/>
          </a:xfrm>
          <a:prstGeom prst="rect">
            <a:avLst/>
          </a:prstGeom>
          <a:noFill/>
          <a:ln/>
        </p:spPr>
        <p:txBody>
          <a:bodyPr wrap="square" lIns="0" tIns="0" rIns="0" bIns="0" rtlCol="0" anchor="ctr"/>
          <a:lstStyle/>
          <a:p>
            <a:pPr indent="0" marL="0">
              <a:buNone/>
            </a:pPr>
            <a:r>
              <a:rPr lang="en-US" sz="1150" dirty="0">
                <a:solidFill>
                  <a:schemeClr val="tx1"/>
                </a:solidFill>
              </a:rPr>
              <a:t>Learn the Slack channels and inboxes</a:t>
            </a:r>
            <a:endParaRPr lang="en-US" sz="1150" dirty="0"/>
          </a:p>
        </p:txBody>
      </p:sp>
      <p:sp>
        <p:nvSpPr>
          <p:cNvPr id="32" name="task 3"/>
          <p:cNvSpPr/>
          <p:nvPr/>
        </p:nvSpPr>
        <p:spPr>
          <a:xfrm>
            <a:off x="6254496" y="3941064"/>
            <a:ext cx="2424532" cy="603504"/>
          </a:xfrm>
          <a:prstGeom prst="roundRect">
            <a:avLst>
              <a:gd name="adj" fmla="val 12121"/>
            </a:avLst>
          </a:prstGeom>
          <a:solidFill>
            <a:schemeClr val="bg1"/>
          </a:solidFill>
          <a:ln w="12700">
            <a:solidFill>
              <a:schemeClr val="accent5"/>
            </a:solidFill>
            <a:prstDash val="solid"/>
          </a:ln>
        </p:spPr>
      </p:sp>
      <p:sp>
        <p:nvSpPr>
          <p:cNvPr id="33" name="Text 31"/>
          <p:cNvSpPr txBox="1"/>
          <p:nvPr/>
        </p:nvSpPr>
        <p:spPr>
          <a:xfrm>
            <a:off x="6364224" y="3941064"/>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3</a:t>
            </a:r>
            <a:endParaRPr lang="en-US" sz="1400" dirty="0"/>
          </a:p>
        </p:txBody>
      </p:sp>
      <p:sp>
        <p:nvSpPr>
          <p:cNvPr id="34" name="Text 32"/>
          <p:cNvSpPr txBox="1"/>
          <p:nvPr/>
        </p:nvSpPr>
        <p:spPr>
          <a:xfrm>
            <a:off x="6711696" y="3941064"/>
            <a:ext cx="1875892" cy="603504"/>
          </a:xfrm>
          <a:prstGeom prst="rect">
            <a:avLst/>
          </a:prstGeom>
          <a:noFill/>
          <a:ln/>
        </p:spPr>
        <p:txBody>
          <a:bodyPr wrap="square" lIns="0" tIns="0" rIns="0" bIns="0" rtlCol="0" anchor="ctr"/>
          <a:lstStyle/>
          <a:p>
            <a:pPr indent="0" marL="0">
              <a:buNone/>
            </a:pPr>
            <a:r>
              <a:rPr lang="en-US" sz="1150" dirty="0">
                <a:solidFill>
                  <a:schemeClr val="tx1"/>
                </a:solidFill>
              </a:rPr>
              <a:t>Shadow a Monday–Wednesday order cycle</a:t>
            </a:r>
            <a:endParaRPr lang="en-US" sz="1150" dirty="0"/>
          </a:p>
        </p:txBody>
      </p:sp>
      <p:sp>
        <p:nvSpPr>
          <p:cNvPr id="35" name="task 4"/>
          <p:cNvSpPr/>
          <p:nvPr/>
        </p:nvSpPr>
        <p:spPr>
          <a:xfrm>
            <a:off x="6254496" y="4654296"/>
            <a:ext cx="2424532" cy="603504"/>
          </a:xfrm>
          <a:prstGeom prst="roundRect">
            <a:avLst>
              <a:gd name="adj" fmla="val 12121"/>
            </a:avLst>
          </a:prstGeom>
          <a:solidFill>
            <a:schemeClr val="bg1"/>
          </a:solidFill>
          <a:ln w="12700">
            <a:solidFill>
              <a:schemeClr val="accent5"/>
            </a:solidFill>
            <a:prstDash val="solid"/>
          </a:ln>
        </p:spPr>
      </p:sp>
      <p:sp>
        <p:nvSpPr>
          <p:cNvPr id="36" name="Text 34"/>
          <p:cNvSpPr txBox="1"/>
          <p:nvPr/>
        </p:nvSpPr>
        <p:spPr>
          <a:xfrm>
            <a:off x="6364224" y="4654296"/>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4</a:t>
            </a:r>
            <a:endParaRPr lang="en-US" sz="1400" dirty="0"/>
          </a:p>
        </p:txBody>
      </p:sp>
      <p:sp>
        <p:nvSpPr>
          <p:cNvPr id="37" name="Text 35"/>
          <p:cNvSpPr txBox="1"/>
          <p:nvPr/>
        </p:nvSpPr>
        <p:spPr>
          <a:xfrm>
            <a:off x="6711696" y="4654296"/>
            <a:ext cx="1875892" cy="603504"/>
          </a:xfrm>
          <a:prstGeom prst="rect">
            <a:avLst/>
          </a:prstGeom>
          <a:noFill/>
          <a:ln/>
        </p:spPr>
        <p:txBody>
          <a:bodyPr wrap="square" lIns="0" tIns="0" rIns="0" bIns="0" rtlCol="0" anchor="ctr"/>
          <a:lstStyle/>
          <a:p>
            <a:pPr indent="0" marL="0">
              <a:buNone/>
            </a:pPr>
            <a:r>
              <a:rPr lang="en-US" sz="1150" dirty="0">
                <a:solidFill>
                  <a:schemeClr val="tx1"/>
                </a:solidFill>
              </a:rPr>
              <a:t>Draft invoices in Xero for review</a:t>
            </a:r>
            <a:endParaRPr lang="en-US" sz="1150" dirty="0"/>
          </a:p>
        </p:txBody>
      </p:sp>
      <p:sp>
        <p:nvSpPr>
          <p:cNvPr id="38" name="task 5"/>
          <p:cNvSpPr/>
          <p:nvPr/>
        </p:nvSpPr>
        <p:spPr>
          <a:xfrm>
            <a:off x="6254496" y="5367528"/>
            <a:ext cx="2424532" cy="603504"/>
          </a:xfrm>
          <a:prstGeom prst="roundRect">
            <a:avLst>
              <a:gd name="adj" fmla="val 12121"/>
            </a:avLst>
          </a:prstGeom>
          <a:solidFill>
            <a:schemeClr val="bg1"/>
          </a:solidFill>
          <a:ln w="12700">
            <a:solidFill>
              <a:schemeClr val="accent5"/>
            </a:solidFill>
            <a:prstDash val="solid"/>
          </a:ln>
        </p:spPr>
      </p:sp>
      <p:sp>
        <p:nvSpPr>
          <p:cNvPr id="39" name="Text 37"/>
          <p:cNvSpPr txBox="1"/>
          <p:nvPr/>
        </p:nvSpPr>
        <p:spPr>
          <a:xfrm>
            <a:off x="6364224" y="5367528"/>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5</a:t>
            </a:r>
            <a:endParaRPr lang="en-US" sz="1400" dirty="0"/>
          </a:p>
        </p:txBody>
      </p:sp>
      <p:sp>
        <p:nvSpPr>
          <p:cNvPr id="40" name="Text 38"/>
          <p:cNvSpPr txBox="1"/>
          <p:nvPr/>
        </p:nvSpPr>
        <p:spPr>
          <a:xfrm>
            <a:off x="6711696" y="5367528"/>
            <a:ext cx="1875892" cy="603504"/>
          </a:xfrm>
          <a:prstGeom prst="rect">
            <a:avLst/>
          </a:prstGeom>
          <a:noFill/>
          <a:ln/>
        </p:spPr>
        <p:txBody>
          <a:bodyPr wrap="square" lIns="0" tIns="0" rIns="0" bIns="0" rtlCol="0" anchor="ctr"/>
          <a:lstStyle/>
          <a:p>
            <a:pPr indent="0" marL="0">
              <a:buNone/>
            </a:pPr>
            <a:r>
              <a:rPr lang="en-US" sz="1150" dirty="0">
                <a:solidFill>
                  <a:schemeClr val="tx1"/>
                </a:solidFill>
              </a:rPr>
              <a:t>Build a Tuesday harvest picklist</a:t>
            </a:r>
            <a:endParaRPr lang="en-US" sz="1150" dirty="0"/>
          </a:p>
        </p:txBody>
      </p:sp>
      <p:sp>
        <p:nvSpPr>
          <p:cNvPr id="41" name="task 6"/>
          <p:cNvSpPr/>
          <p:nvPr/>
        </p:nvSpPr>
        <p:spPr>
          <a:xfrm>
            <a:off x="8861908" y="2514600"/>
            <a:ext cx="2424532" cy="603504"/>
          </a:xfrm>
          <a:prstGeom prst="roundRect">
            <a:avLst>
              <a:gd name="adj" fmla="val 12121"/>
            </a:avLst>
          </a:prstGeom>
          <a:solidFill>
            <a:schemeClr val="bg1"/>
          </a:solidFill>
          <a:ln w="12700">
            <a:solidFill>
              <a:schemeClr val="accent5"/>
            </a:solidFill>
            <a:prstDash val="solid"/>
          </a:ln>
        </p:spPr>
      </p:sp>
      <p:sp>
        <p:nvSpPr>
          <p:cNvPr id="42" name="Text 40"/>
          <p:cNvSpPr txBox="1"/>
          <p:nvPr/>
        </p:nvSpPr>
        <p:spPr>
          <a:xfrm>
            <a:off x="8971636" y="2514600"/>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6</a:t>
            </a:r>
            <a:endParaRPr lang="en-US" sz="1400" dirty="0"/>
          </a:p>
        </p:txBody>
      </p:sp>
      <p:sp>
        <p:nvSpPr>
          <p:cNvPr id="43" name="Text 41"/>
          <p:cNvSpPr txBox="1"/>
          <p:nvPr/>
        </p:nvSpPr>
        <p:spPr>
          <a:xfrm>
            <a:off x="9319108" y="2514600"/>
            <a:ext cx="1875892" cy="603504"/>
          </a:xfrm>
          <a:prstGeom prst="rect">
            <a:avLst/>
          </a:prstGeom>
          <a:noFill/>
          <a:ln/>
        </p:spPr>
        <p:txBody>
          <a:bodyPr wrap="square" lIns="0" tIns="0" rIns="0" bIns="0" rtlCol="0" anchor="ctr"/>
          <a:lstStyle/>
          <a:p>
            <a:pPr indent="0" marL="0">
              <a:buNone/>
            </a:pPr>
            <a:r>
              <a:rPr lang="en-US" sz="1150" dirty="0">
                <a:solidFill>
                  <a:schemeClr val="tx1"/>
                </a:solidFill>
              </a:rPr>
              <a:t>Check a week of timesheets</a:t>
            </a:r>
            <a:endParaRPr lang="en-US" sz="1150" dirty="0"/>
          </a:p>
        </p:txBody>
      </p:sp>
      <p:sp>
        <p:nvSpPr>
          <p:cNvPr id="44" name="task 7"/>
          <p:cNvSpPr/>
          <p:nvPr/>
        </p:nvSpPr>
        <p:spPr>
          <a:xfrm>
            <a:off x="8861908" y="3227832"/>
            <a:ext cx="2424532" cy="603504"/>
          </a:xfrm>
          <a:prstGeom prst="roundRect">
            <a:avLst>
              <a:gd name="adj" fmla="val 12121"/>
            </a:avLst>
          </a:prstGeom>
          <a:solidFill>
            <a:schemeClr val="bg1"/>
          </a:solidFill>
          <a:ln w="12700">
            <a:solidFill>
              <a:schemeClr val="accent5"/>
            </a:solidFill>
            <a:prstDash val="solid"/>
          </a:ln>
        </p:spPr>
      </p:sp>
      <p:sp>
        <p:nvSpPr>
          <p:cNvPr id="45" name="Text 43"/>
          <p:cNvSpPr txBox="1"/>
          <p:nvPr/>
        </p:nvSpPr>
        <p:spPr>
          <a:xfrm>
            <a:off x="8971636" y="3227832"/>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7</a:t>
            </a:r>
            <a:endParaRPr lang="en-US" sz="1400" dirty="0"/>
          </a:p>
        </p:txBody>
      </p:sp>
      <p:sp>
        <p:nvSpPr>
          <p:cNvPr id="46" name="Text 44"/>
          <p:cNvSpPr txBox="1"/>
          <p:nvPr/>
        </p:nvSpPr>
        <p:spPr>
          <a:xfrm>
            <a:off x="9319108" y="3227832"/>
            <a:ext cx="1875892" cy="603504"/>
          </a:xfrm>
          <a:prstGeom prst="rect">
            <a:avLst/>
          </a:prstGeom>
          <a:noFill/>
          <a:ln/>
        </p:spPr>
        <p:txBody>
          <a:bodyPr wrap="square" lIns="0" tIns="0" rIns="0" bIns="0" rtlCol="0" anchor="ctr"/>
          <a:lstStyle/>
          <a:p>
            <a:pPr indent="0" marL="0">
              <a:buNone/>
            </a:pPr>
            <a:r>
              <a:rPr lang="en-US" sz="1150" dirty="0">
                <a:solidFill>
                  <a:schemeClr val="tx1"/>
                </a:solidFill>
              </a:rPr>
              <a:t>Schedule the Friday and Monday mailers</a:t>
            </a:r>
            <a:endParaRPr lang="en-US" sz="1150" dirty="0"/>
          </a:p>
        </p:txBody>
      </p:sp>
      <p:sp>
        <p:nvSpPr>
          <p:cNvPr id="47" name="task 8"/>
          <p:cNvSpPr/>
          <p:nvPr/>
        </p:nvSpPr>
        <p:spPr>
          <a:xfrm>
            <a:off x="8861908" y="3941064"/>
            <a:ext cx="2424532" cy="603504"/>
          </a:xfrm>
          <a:prstGeom prst="roundRect">
            <a:avLst>
              <a:gd name="adj" fmla="val 12121"/>
            </a:avLst>
          </a:prstGeom>
          <a:solidFill>
            <a:schemeClr val="bg1"/>
          </a:solidFill>
          <a:ln w="12700">
            <a:solidFill>
              <a:schemeClr val="accent5"/>
            </a:solidFill>
            <a:prstDash val="solid"/>
          </a:ln>
        </p:spPr>
      </p:sp>
      <p:sp>
        <p:nvSpPr>
          <p:cNvPr id="48" name="Text 46"/>
          <p:cNvSpPr txBox="1"/>
          <p:nvPr/>
        </p:nvSpPr>
        <p:spPr>
          <a:xfrm>
            <a:off x="8971636" y="3941064"/>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8</a:t>
            </a:r>
            <a:endParaRPr lang="en-US" sz="1400" dirty="0"/>
          </a:p>
        </p:txBody>
      </p:sp>
      <p:sp>
        <p:nvSpPr>
          <p:cNvPr id="49" name="Text 47"/>
          <p:cNvSpPr txBox="1"/>
          <p:nvPr/>
        </p:nvSpPr>
        <p:spPr>
          <a:xfrm>
            <a:off x="9319108" y="3941064"/>
            <a:ext cx="1875892" cy="603504"/>
          </a:xfrm>
          <a:prstGeom prst="rect">
            <a:avLst/>
          </a:prstGeom>
          <a:noFill/>
          <a:ln/>
        </p:spPr>
        <p:txBody>
          <a:bodyPr wrap="square" lIns="0" tIns="0" rIns="0" bIns="0" rtlCol="0" anchor="ctr"/>
          <a:lstStyle/>
          <a:p>
            <a:pPr indent="0" marL="0">
              <a:buNone/>
            </a:pPr>
            <a:r>
              <a:rPr lang="en-US" sz="1150" dirty="0">
                <a:solidFill>
                  <a:schemeClr val="tx1"/>
                </a:solidFill>
              </a:rPr>
              <a:t>List upcoming renewals and expiries</a:t>
            </a:r>
            <a:endParaRPr lang="en-US" sz="1150" dirty="0"/>
          </a:p>
        </p:txBody>
      </p:sp>
      <p:sp>
        <p:nvSpPr>
          <p:cNvPr id="50" name="task 9"/>
          <p:cNvSpPr/>
          <p:nvPr/>
        </p:nvSpPr>
        <p:spPr>
          <a:xfrm>
            <a:off x="8861908" y="4654296"/>
            <a:ext cx="2424532" cy="603504"/>
          </a:xfrm>
          <a:prstGeom prst="roundRect">
            <a:avLst>
              <a:gd name="adj" fmla="val 12121"/>
            </a:avLst>
          </a:prstGeom>
          <a:solidFill>
            <a:schemeClr val="bg1"/>
          </a:solidFill>
          <a:ln w="12700">
            <a:solidFill>
              <a:schemeClr val="accent5"/>
            </a:solidFill>
            <a:prstDash val="solid"/>
          </a:ln>
        </p:spPr>
      </p:sp>
      <p:sp>
        <p:nvSpPr>
          <p:cNvPr id="51" name="Text 49"/>
          <p:cNvSpPr txBox="1"/>
          <p:nvPr/>
        </p:nvSpPr>
        <p:spPr>
          <a:xfrm>
            <a:off x="8971636" y="4654296"/>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9</a:t>
            </a:r>
            <a:endParaRPr lang="en-US" sz="1400" dirty="0"/>
          </a:p>
        </p:txBody>
      </p:sp>
      <p:sp>
        <p:nvSpPr>
          <p:cNvPr id="52" name="Text 50"/>
          <p:cNvSpPr txBox="1"/>
          <p:nvPr/>
        </p:nvSpPr>
        <p:spPr>
          <a:xfrm>
            <a:off x="9319108" y="4654296"/>
            <a:ext cx="1875892" cy="603504"/>
          </a:xfrm>
          <a:prstGeom prst="rect">
            <a:avLst/>
          </a:prstGeom>
          <a:noFill/>
          <a:ln/>
        </p:spPr>
        <p:txBody>
          <a:bodyPr wrap="square" lIns="0" tIns="0" rIns="0" bIns="0" rtlCol="0" anchor="ctr"/>
          <a:lstStyle/>
          <a:p>
            <a:pPr indent="0" marL="0">
              <a:buNone/>
            </a:pPr>
            <a:r>
              <a:rPr lang="en-US" sz="1150" dirty="0">
                <a:solidFill>
                  <a:schemeClr val="tx1"/>
                </a:solidFill>
              </a:rPr>
              <a:t>Agree screenshot check-ins with May</a:t>
            </a:r>
            <a:endParaRPr lang="en-US" sz="1150" dirty="0"/>
          </a:p>
        </p:txBody>
      </p:sp>
      <p:sp>
        <p:nvSpPr>
          <p:cNvPr id="53" name="task 10"/>
          <p:cNvSpPr/>
          <p:nvPr/>
        </p:nvSpPr>
        <p:spPr>
          <a:xfrm>
            <a:off x="8861908" y="5367528"/>
            <a:ext cx="2424532" cy="603504"/>
          </a:xfrm>
          <a:prstGeom prst="roundRect">
            <a:avLst>
              <a:gd name="adj" fmla="val 12121"/>
            </a:avLst>
          </a:prstGeom>
          <a:solidFill>
            <a:schemeClr val="bg1"/>
          </a:solidFill>
          <a:ln w="12700">
            <a:solidFill>
              <a:schemeClr val="accent5"/>
            </a:solidFill>
            <a:prstDash val="solid"/>
          </a:ln>
        </p:spPr>
      </p:sp>
      <p:sp>
        <p:nvSpPr>
          <p:cNvPr id="54" name="Text 52"/>
          <p:cNvSpPr txBox="1"/>
          <p:nvPr/>
        </p:nvSpPr>
        <p:spPr>
          <a:xfrm>
            <a:off x="8971636" y="5367528"/>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10</a:t>
            </a:r>
            <a:endParaRPr lang="en-US" sz="1400" dirty="0"/>
          </a:p>
        </p:txBody>
      </p:sp>
      <p:sp>
        <p:nvSpPr>
          <p:cNvPr id="55" name="Text 53"/>
          <p:cNvSpPr txBox="1"/>
          <p:nvPr/>
        </p:nvSpPr>
        <p:spPr>
          <a:xfrm>
            <a:off x="9319108" y="5367528"/>
            <a:ext cx="1875892" cy="603504"/>
          </a:xfrm>
          <a:prstGeom prst="rect">
            <a:avLst/>
          </a:prstGeom>
          <a:noFill/>
          <a:ln/>
        </p:spPr>
        <p:txBody>
          <a:bodyPr wrap="square" lIns="0" tIns="0" rIns="0" bIns="0" rtlCol="0" anchor="ctr"/>
          <a:lstStyle/>
          <a:p>
            <a:pPr indent="0" marL="0">
              <a:buNone/>
            </a:pPr>
            <a:r>
              <a:rPr lang="en-US" sz="1150" dirty="0">
                <a:solidFill>
                  <a:schemeClr val="tx1"/>
                </a:solidFill>
              </a:rPr>
              <a:t>List recurring tasks to turn into SOPs</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3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First Month</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What to expect, how to read your daily report, and how to give feedback.</a:t>
            </a:r>
            <a:endParaRPr lang="en-US" sz="1300" dirty="0"/>
          </a:p>
        </p:txBody>
      </p:sp>
      <p:sp>
        <p:nvSpPr>
          <p:cNvPr id="5" name="Text 3"/>
          <p:cNvSpPr txBox="1"/>
          <p:nvPr/>
        </p:nvSpPr>
        <p:spPr>
          <a:xfrm>
            <a:off x="630936" y="1828800"/>
            <a:ext cx="54864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THE HONEST FIRST MONTH</a:t>
            </a:r>
            <a:endParaRPr lang="en-US" sz="1050" dirty="0"/>
          </a:p>
        </p:txBody>
      </p:sp>
      <p:sp>
        <p:nvSpPr>
          <p:cNvPr id="6" name="card"/>
          <p:cNvSpPr/>
          <p:nvPr/>
        </p:nvSpPr>
        <p:spPr>
          <a:xfrm>
            <a:off x="630936" y="2148840"/>
            <a:ext cx="3521354" cy="1417320"/>
          </a:xfrm>
          <a:prstGeom prst="roundRect">
            <a:avLst>
              <a:gd name="adj" fmla="val 5161"/>
            </a:avLst>
          </a:prstGeom>
          <a:solidFill>
            <a:schemeClr val="bg1"/>
          </a:solidFill>
          <a:ln w="12700">
            <a:solidFill>
              <a:schemeClr val="accent5"/>
            </a:solidFill>
            <a:prstDash val="solid"/>
          </a:ln>
        </p:spPr>
      </p:sp>
      <p:sp>
        <p:nvSpPr>
          <p:cNvPr id="7" name="Text 5"/>
          <p:cNvSpPr txBox="1"/>
          <p:nvPr/>
        </p:nvSpPr>
        <p:spPr>
          <a:xfrm>
            <a:off x="905256" y="228600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1</a:t>
            </a:r>
            <a:endParaRPr lang="en-US" sz="1050" dirty="0"/>
          </a:p>
        </p:txBody>
      </p:sp>
      <p:sp>
        <p:nvSpPr>
          <p:cNvPr id="8" name="Text 6"/>
          <p:cNvSpPr txBox="1"/>
          <p:nvPr/>
        </p:nvSpPr>
        <p:spPr>
          <a:xfrm>
            <a:off x="905256" y="256032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Exciting</a:t>
            </a:r>
            <a:endParaRPr lang="en-US" sz="1500" dirty="0"/>
          </a:p>
        </p:txBody>
      </p:sp>
      <p:sp>
        <p:nvSpPr>
          <p:cNvPr id="9" name="Text 7"/>
          <p:cNvSpPr txBox="1"/>
          <p:nvPr/>
        </p:nvSpPr>
        <p:spPr>
          <a:xfrm>
            <a:off x="905256" y="295351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New energy, lots of setup and learning your style.</a:t>
            </a:r>
            <a:endParaRPr lang="en-US" sz="1150" dirty="0"/>
          </a:p>
        </p:txBody>
      </p:sp>
      <p:sp>
        <p:nvSpPr>
          <p:cNvPr id="10" name="card"/>
          <p:cNvSpPr/>
          <p:nvPr/>
        </p:nvSpPr>
        <p:spPr>
          <a:xfrm>
            <a:off x="4335170" y="2423160"/>
            <a:ext cx="3521354" cy="1417320"/>
          </a:xfrm>
          <a:prstGeom prst="roundRect">
            <a:avLst>
              <a:gd name="adj" fmla="val 5161"/>
            </a:avLst>
          </a:prstGeom>
          <a:solidFill>
            <a:schemeClr val="bg2"/>
          </a:solidFill>
          <a:ln/>
        </p:spPr>
      </p:sp>
      <p:sp>
        <p:nvSpPr>
          <p:cNvPr id="11" name="Text 9"/>
          <p:cNvSpPr txBox="1"/>
          <p:nvPr/>
        </p:nvSpPr>
        <p:spPr>
          <a:xfrm>
            <a:off x="4609490" y="2560320"/>
            <a:ext cx="2972714" cy="256032"/>
          </a:xfrm>
          <a:prstGeom prst="rect">
            <a:avLst/>
          </a:prstGeom>
          <a:noFill/>
          <a:ln/>
        </p:spPr>
        <p:txBody>
          <a:bodyPr wrap="square" lIns="0" tIns="0" rIns="0" bIns="0" rtlCol="0" anchor="ctr"/>
          <a:lstStyle/>
          <a:p>
            <a:pPr indent="0" marL="0">
              <a:buNone/>
            </a:pPr>
            <a:r>
              <a:rPr lang="en-US" sz="1050" b="1" spc="200" kern="0" dirty="0">
                <a:solidFill>
                  <a:srgbClr val="A86A12"/>
                </a:solidFill>
              </a:rPr>
              <a:t>WEEKS 2–3</a:t>
            </a:r>
            <a:endParaRPr lang="en-US" sz="1050" dirty="0"/>
          </a:p>
        </p:txBody>
      </p:sp>
      <p:sp>
        <p:nvSpPr>
          <p:cNvPr id="12" name="Text 10"/>
          <p:cNvSpPr txBox="1"/>
          <p:nvPr/>
        </p:nvSpPr>
        <p:spPr>
          <a:xfrm>
            <a:off x="4609490" y="283464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Feels slower. That’s normal!</a:t>
            </a:r>
            <a:endParaRPr lang="en-US" sz="1500" dirty="0"/>
          </a:p>
        </p:txBody>
      </p:sp>
      <p:sp>
        <p:nvSpPr>
          <p:cNvPr id="13" name="Text 11"/>
          <p:cNvSpPr txBox="1"/>
          <p:nvPr/>
        </p:nvSpPr>
        <p:spPr>
          <a:xfrm>
            <a:off x="4609490" y="322783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Briefing takes time and it can feel quicker to do it yourself. Stick with it.</a:t>
            </a:r>
            <a:endParaRPr lang="en-US" sz="1150" dirty="0"/>
          </a:p>
        </p:txBody>
      </p:sp>
      <p:sp>
        <p:nvSpPr>
          <p:cNvPr id="14" name="card"/>
          <p:cNvSpPr/>
          <p:nvPr/>
        </p:nvSpPr>
        <p:spPr>
          <a:xfrm>
            <a:off x="8039405" y="2148840"/>
            <a:ext cx="3521354" cy="1417320"/>
          </a:xfrm>
          <a:prstGeom prst="roundRect">
            <a:avLst>
              <a:gd name="adj" fmla="val 5161"/>
            </a:avLst>
          </a:prstGeom>
          <a:solidFill>
            <a:schemeClr val="accent4"/>
          </a:solidFill>
          <a:ln/>
        </p:spPr>
      </p:sp>
      <p:sp>
        <p:nvSpPr>
          <p:cNvPr id="15" name="Text 13"/>
          <p:cNvSpPr txBox="1"/>
          <p:nvPr/>
        </p:nvSpPr>
        <p:spPr>
          <a:xfrm>
            <a:off x="8313725" y="228600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4+</a:t>
            </a:r>
            <a:endParaRPr lang="en-US" sz="1050" dirty="0"/>
          </a:p>
        </p:txBody>
      </p:sp>
      <p:sp>
        <p:nvSpPr>
          <p:cNvPr id="16" name="Text 14"/>
          <p:cNvSpPr txBox="1"/>
          <p:nvPr/>
        </p:nvSpPr>
        <p:spPr>
          <a:xfrm>
            <a:off x="8313725" y="256032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It starts to click</a:t>
            </a:r>
            <a:endParaRPr lang="en-US" sz="1500" dirty="0"/>
          </a:p>
        </p:txBody>
      </p:sp>
      <p:sp>
        <p:nvSpPr>
          <p:cNvPr id="17" name="Text 15"/>
          <p:cNvSpPr txBox="1"/>
          <p:nvPr/>
        </p:nvSpPr>
        <p:spPr>
          <a:xfrm>
            <a:off x="8313725" y="295351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Routines form, briefs get shorter, and time starts coming back.</a:t>
            </a:r>
            <a:endParaRPr lang="en-US" sz="1150" dirty="0"/>
          </a:p>
        </p:txBody>
      </p:sp>
      <p:sp>
        <p:nvSpPr>
          <p:cNvPr id="18" name="card"/>
          <p:cNvSpPr/>
          <p:nvPr/>
        </p:nvSpPr>
        <p:spPr>
          <a:xfrm>
            <a:off x="630936" y="4069080"/>
            <a:ext cx="5373472" cy="2103120"/>
          </a:xfrm>
          <a:prstGeom prst="roundRect">
            <a:avLst>
              <a:gd name="adj" fmla="val 3478"/>
            </a:avLst>
          </a:prstGeom>
          <a:solidFill>
            <a:schemeClr val="bg1"/>
          </a:solidFill>
          <a:ln w="12700">
            <a:solidFill>
              <a:schemeClr val="accent5"/>
            </a:solidFill>
            <a:prstDash val="solid"/>
          </a:ln>
        </p:spPr>
      </p:sp>
      <p:sp>
        <p:nvSpPr>
          <p:cNvPr id="19" name="Text 17"/>
          <p:cNvSpPr txBox="1"/>
          <p:nvPr/>
        </p:nvSpPr>
        <p:spPr>
          <a:xfrm>
            <a:off x="905256" y="420624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READING YOUR DAILY EOD REPORT</a:t>
            </a:r>
            <a:endParaRPr lang="en-US" sz="1050" dirty="0"/>
          </a:p>
        </p:txBody>
      </p:sp>
      <p:sp>
        <p:nvSpPr>
          <p:cNvPr id="20" name="Text 18"/>
          <p:cNvSpPr txBox="1"/>
          <p:nvPr/>
        </p:nvSpPr>
        <p:spPr>
          <a:xfrm>
            <a:off x="905256" y="4498848"/>
            <a:ext cx="4824832" cy="274320"/>
          </a:xfrm>
          <a:prstGeom prst="rect">
            <a:avLst/>
          </a:prstGeom>
          <a:noFill/>
          <a:ln/>
        </p:spPr>
        <p:txBody>
          <a:bodyPr wrap="square" lIns="0" tIns="0" rIns="0" bIns="0" rtlCol="0" anchor="ctr"/>
          <a:lstStyle/>
          <a:p>
            <a:pPr indent="0" marL="0">
              <a:buNone/>
            </a:pPr>
            <a:r>
              <a:rPr lang="en-US" sz="1200" dirty="0">
                <a:solidFill>
                  <a:schemeClr val="accent3"/>
                </a:solidFill>
              </a:rPr>
              <a:t>Your Coordinator sends one every working day:</a:t>
            </a:r>
            <a:endParaRPr lang="en-US" sz="1200" dirty="0"/>
          </a:p>
        </p:txBody>
      </p:sp>
      <p:sp>
        <p:nvSpPr>
          <p:cNvPr id="21" name="Text 19"/>
          <p:cNvSpPr txBox="1"/>
          <p:nvPr/>
        </p:nvSpPr>
        <p:spPr>
          <a:xfrm>
            <a:off x="905256" y="484632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Done today</a:t>
            </a:r>
            <a:endParaRPr lang="en-US" sz="1150" dirty="0"/>
          </a:p>
          <a:p>
            <a:pPr indent="0" marL="0">
              <a:buNone/>
            </a:pPr>
            <a:r>
              <a:rPr lang="en-US" sz="1150" dirty="0">
                <a:solidFill>
                  <a:schemeClr val="accent3"/>
                </a:solidFill>
              </a:rPr>
              <a:t>check it matches priorities</a:t>
            </a:r>
            <a:endParaRPr lang="en-US" sz="1150" dirty="0"/>
          </a:p>
        </p:txBody>
      </p:sp>
      <p:sp>
        <p:nvSpPr>
          <p:cNvPr id="22" name="Text 20"/>
          <p:cNvSpPr txBox="1"/>
          <p:nvPr/>
        </p:nvSpPr>
        <p:spPr>
          <a:xfrm>
            <a:off x="3317672" y="484632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In progress</a:t>
            </a:r>
            <a:endParaRPr lang="en-US" sz="1150" dirty="0"/>
          </a:p>
          <a:p>
            <a:pPr indent="0" marL="0">
              <a:buNone/>
            </a:pPr>
            <a:r>
              <a:rPr lang="en-US" sz="1150" dirty="0">
                <a:solidFill>
                  <a:schemeClr val="accent3"/>
                </a:solidFill>
              </a:rPr>
              <a:t>spot anything stuck</a:t>
            </a:r>
            <a:endParaRPr lang="en-US" sz="1150" dirty="0"/>
          </a:p>
        </p:txBody>
      </p:sp>
      <p:sp>
        <p:nvSpPr>
          <p:cNvPr id="23" name="Text 21"/>
          <p:cNvSpPr txBox="1"/>
          <p:nvPr/>
        </p:nvSpPr>
        <p:spPr>
          <a:xfrm>
            <a:off x="905256" y="539496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Questions</a:t>
            </a:r>
            <a:endParaRPr lang="en-US" sz="1150" dirty="0"/>
          </a:p>
          <a:p>
            <a:pPr indent="0" marL="0">
              <a:buNone/>
            </a:pPr>
            <a:r>
              <a:rPr lang="en-US" sz="1150" dirty="0">
                <a:solidFill>
                  <a:schemeClr val="accent3"/>
                </a:solidFill>
              </a:rPr>
              <a:t>reply within 24 hours</a:t>
            </a:r>
            <a:endParaRPr lang="en-US" sz="1150" dirty="0"/>
          </a:p>
        </p:txBody>
      </p:sp>
      <p:sp>
        <p:nvSpPr>
          <p:cNvPr id="24" name="Text 22"/>
          <p:cNvSpPr txBox="1"/>
          <p:nvPr/>
        </p:nvSpPr>
        <p:spPr>
          <a:xfrm>
            <a:off x="3317672" y="539496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Tomorrow</a:t>
            </a:r>
            <a:endParaRPr lang="en-US" sz="1150" dirty="0"/>
          </a:p>
          <a:p>
            <a:pPr indent="0" marL="0">
              <a:buNone/>
            </a:pPr>
            <a:r>
              <a:rPr lang="en-US" sz="1150" dirty="0">
                <a:solidFill>
                  <a:schemeClr val="accent3"/>
                </a:solidFill>
              </a:rPr>
              <a:t>adjust if priorities changed</a:t>
            </a:r>
            <a:endParaRPr lang="en-US" sz="1150" dirty="0"/>
          </a:p>
        </p:txBody>
      </p:sp>
      <p:sp>
        <p:nvSpPr>
          <p:cNvPr id="25" name="card"/>
          <p:cNvSpPr/>
          <p:nvPr/>
        </p:nvSpPr>
        <p:spPr>
          <a:xfrm>
            <a:off x="6187288" y="4069080"/>
            <a:ext cx="5373472" cy="2103120"/>
          </a:xfrm>
          <a:prstGeom prst="roundRect">
            <a:avLst>
              <a:gd name="adj" fmla="val 3478"/>
            </a:avLst>
          </a:prstGeom>
          <a:solidFill>
            <a:schemeClr val="accent4"/>
          </a:solidFill>
          <a:ln/>
        </p:spPr>
      </p:sp>
      <p:sp>
        <p:nvSpPr>
          <p:cNvPr id="26" name="Text 24"/>
          <p:cNvSpPr txBox="1"/>
          <p:nvPr/>
        </p:nvSpPr>
        <p:spPr>
          <a:xfrm>
            <a:off x="6461608" y="420624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GIVING FEEDBACK: 3 STEPS</a:t>
            </a:r>
            <a:endParaRPr lang="en-US" sz="1050" dirty="0"/>
          </a:p>
        </p:txBody>
      </p:sp>
      <p:sp>
        <p:nvSpPr>
          <p:cNvPr id="27" name="number 1"/>
          <p:cNvSpPr/>
          <p:nvPr/>
        </p:nvSpPr>
        <p:spPr>
          <a:xfrm>
            <a:off x="6461608" y="4572000"/>
            <a:ext cx="329184" cy="329184"/>
          </a:xfrm>
          <a:prstGeom prst="ellipse">
            <a:avLst/>
          </a:prstGeom>
          <a:solidFill>
            <a:schemeClr val="accent1"/>
          </a:solidFill>
          <a:ln/>
        </p:spPr>
      </p:sp>
      <p:sp>
        <p:nvSpPr>
          <p:cNvPr id="28" name="Text 26"/>
          <p:cNvSpPr txBox="1"/>
          <p:nvPr/>
        </p:nvSpPr>
        <p:spPr>
          <a:xfrm>
            <a:off x="6461608" y="4572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9" name="Text 27"/>
          <p:cNvSpPr txBox="1"/>
          <p:nvPr/>
        </p:nvSpPr>
        <p:spPr>
          <a:xfrm>
            <a:off x="6918808" y="4572000"/>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Say what worked</a:t>
            </a:r>
            <a:endParaRPr lang="en-US" sz="1300" dirty="0"/>
          </a:p>
        </p:txBody>
      </p:sp>
      <p:sp>
        <p:nvSpPr>
          <p:cNvPr id="30" name="number 2"/>
          <p:cNvSpPr/>
          <p:nvPr/>
        </p:nvSpPr>
        <p:spPr>
          <a:xfrm>
            <a:off x="6461608" y="5001768"/>
            <a:ext cx="329184" cy="329184"/>
          </a:xfrm>
          <a:prstGeom prst="ellipse">
            <a:avLst/>
          </a:prstGeom>
          <a:solidFill>
            <a:schemeClr val="accent1"/>
          </a:solidFill>
          <a:ln/>
        </p:spPr>
      </p:sp>
      <p:sp>
        <p:nvSpPr>
          <p:cNvPr id="31" name="Text 29"/>
          <p:cNvSpPr txBox="1"/>
          <p:nvPr/>
        </p:nvSpPr>
        <p:spPr>
          <a:xfrm>
            <a:off x="6461608" y="50017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2" name="Text 30"/>
          <p:cNvSpPr txBox="1"/>
          <p:nvPr/>
        </p:nvSpPr>
        <p:spPr>
          <a:xfrm>
            <a:off x="6918808" y="5001768"/>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Say what to change</a:t>
            </a:r>
            <a:endParaRPr lang="en-US" sz="1300" dirty="0"/>
          </a:p>
        </p:txBody>
      </p:sp>
      <p:sp>
        <p:nvSpPr>
          <p:cNvPr id="33" name="number 3"/>
          <p:cNvSpPr/>
          <p:nvPr/>
        </p:nvSpPr>
        <p:spPr>
          <a:xfrm>
            <a:off x="6461608" y="5431536"/>
            <a:ext cx="329184" cy="329184"/>
          </a:xfrm>
          <a:prstGeom prst="ellipse">
            <a:avLst/>
          </a:prstGeom>
          <a:solidFill>
            <a:schemeClr val="accent1"/>
          </a:solidFill>
          <a:ln/>
        </p:spPr>
      </p:sp>
      <p:sp>
        <p:nvSpPr>
          <p:cNvPr id="34" name="Text 32"/>
          <p:cNvSpPr txBox="1"/>
          <p:nvPr/>
        </p:nvSpPr>
        <p:spPr>
          <a:xfrm>
            <a:off x="6461608" y="543153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5" name="Text 33"/>
          <p:cNvSpPr txBox="1"/>
          <p:nvPr/>
        </p:nvSpPr>
        <p:spPr>
          <a:xfrm>
            <a:off x="6918808" y="5431536"/>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Agree the next step</a:t>
            </a:r>
            <a:endParaRPr lang="en-US" sz="1300" dirty="0"/>
          </a:p>
        </p:txBody>
      </p:sp>
      <p:sp>
        <p:nvSpPr>
          <p:cNvPr id="36" name="Text 34"/>
          <p:cNvSpPr txBox="1"/>
          <p:nvPr/>
        </p:nvSpPr>
        <p:spPr>
          <a:xfrm>
            <a:off x="6461608" y="5833872"/>
            <a:ext cx="4824832" cy="274320"/>
          </a:xfrm>
          <a:prstGeom prst="rect">
            <a:avLst/>
          </a:prstGeom>
          <a:noFill/>
          <a:ln/>
        </p:spPr>
        <p:txBody>
          <a:bodyPr wrap="square" lIns="0" tIns="0" rIns="0" bIns="0" rtlCol="0" anchor="ctr"/>
          <a:lstStyle/>
          <a:p>
            <a:pPr indent="0" marL="0">
              <a:buNone/>
            </a:pPr>
            <a:r>
              <a:rPr lang="en-US" sz="1150" b="1" dirty="0">
                <a:solidFill>
                  <a:schemeClr val="accent1"/>
                </a:solidFill>
              </a:rPr>
              <a:t>Give feedback early and often. Stuck? Bring in your CAX team.</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4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Working Well Together</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Small habits that build a great long-term relationship, plus quick answers for the moments that worry first-time clients.</a:t>
            </a:r>
            <a:endParaRPr lang="en-US" sz="1300" dirty="0"/>
          </a:p>
        </p:txBody>
      </p:sp>
      <p:sp>
        <p:nvSpPr>
          <p:cNvPr id="5" name="card"/>
          <p:cNvSpPr/>
          <p:nvPr/>
        </p:nvSpPr>
        <p:spPr>
          <a:xfrm>
            <a:off x="630936" y="1965960"/>
            <a:ext cx="3521354" cy="4206240"/>
          </a:xfrm>
          <a:prstGeom prst="roundRect">
            <a:avLst>
              <a:gd name="adj" fmla="val 2077"/>
            </a:avLst>
          </a:prstGeom>
          <a:solidFill>
            <a:schemeClr val="accent4"/>
          </a:solidFill>
          <a:ln/>
        </p:spPr>
      </p:sp>
      <p:sp>
        <p:nvSpPr>
          <p:cNvPr id="6" name="Text 4"/>
          <p:cNvSpPr txBox="1"/>
          <p:nvPr/>
        </p:nvSpPr>
        <p:spPr>
          <a:xfrm>
            <a:off x="905256" y="214884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WORKING WELL WITH YOUR ANGEL</a:t>
            </a:r>
            <a:endParaRPr lang="en-US" sz="1050" dirty="0"/>
          </a:p>
        </p:txBody>
      </p:sp>
      <p:sp>
        <p:nvSpPr>
          <p:cNvPr id="7" name="Text 5"/>
          <p:cNvSpPr txBox="1"/>
          <p:nvPr/>
        </p:nvSpPr>
        <p:spPr>
          <a:xfrm>
            <a:off x="905256" y="2560320"/>
            <a:ext cx="2972714" cy="777240"/>
          </a:xfrm>
          <a:prstGeom prst="rect">
            <a:avLst/>
          </a:prstGeom>
          <a:noFill/>
          <a:ln/>
        </p:spPr>
        <p:txBody>
          <a:bodyPr wrap="square" lIns="0" tIns="0" rIns="0" bIns="0" rtlCol="0" anchor="t"/>
          <a:lstStyle/>
          <a:p>
            <a:pPr indent="0" marL="0">
              <a:buNone/>
            </a:pPr>
            <a:r>
              <a:rPr lang="en-US" sz="1250" b="1" dirty="0">
                <a:solidFill>
                  <a:schemeClr val="tx1"/>
                </a:solidFill>
              </a:rPr>
              <a:t>Invite questions. </a:t>
            </a:r>
            <a:pPr indent="0" marL="0">
              <a:buNone/>
            </a:pPr>
            <a:r>
              <a:rPr lang="en-US" sz="1250" dirty="0">
                <a:solidFill>
                  <a:schemeClr val="accent3"/>
                </a:solidFill>
              </a:rPr>
              <a:t>Many Angels won’t say “I don’t understand” unless asked.</a:t>
            </a:r>
            <a:endParaRPr lang="en-US" sz="1250" dirty="0"/>
          </a:p>
        </p:txBody>
      </p:sp>
      <p:sp>
        <p:nvSpPr>
          <p:cNvPr id="8" name="Text 6"/>
          <p:cNvSpPr txBox="1"/>
          <p:nvPr/>
        </p:nvSpPr>
        <p:spPr>
          <a:xfrm>
            <a:off x="905256" y="3429000"/>
            <a:ext cx="2972714" cy="777240"/>
          </a:xfrm>
          <a:prstGeom prst="rect">
            <a:avLst/>
          </a:prstGeom>
          <a:noFill/>
          <a:ln/>
        </p:spPr>
        <p:txBody>
          <a:bodyPr wrap="square" lIns="0" tIns="0" rIns="0" bIns="0" rtlCol="0" anchor="t"/>
          <a:lstStyle/>
          <a:p>
            <a:pPr indent="0" marL="0">
              <a:buNone/>
            </a:pPr>
            <a:r>
              <a:rPr lang="en-US" sz="1250" b="1" dirty="0">
                <a:solidFill>
                  <a:schemeClr val="tx1"/>
                </a:solidFill>
              </a:rPr>
              <a:t>Ask open questions. </a:t>
            </a:r>
            <a:pPr indent="0" marL="0">
              <a:buNone/>
            </a:pPr>
            <a:r>
              <a:rPr lang="en-US" sz="1250" dirty="0">
                <a:solidFill>
                  <a:schemeClr val="accent3"/>
                </a:solidFill>
              </a:rPr>
              <a:t>“How would you approach this?” beats “Is that okay?”</a:t>
            </a:r>
            <a:endParaRPr lang="en-US" sz="1250" dirty="0"/>
          </a:p>
        </p:txBody>
      </p:sp>
      <p:sp>
        <p:nvSpPr>
          <p:cNvPr id="9" name="Text 7"/>
          <p:cNvSpPr txBox="1"/>
          <p:nvPr/>
        </p:nvSpPr>
        <p:spPr>
          <a:xfrm>
            <a:off x="905256" y="4297680"/>
            <a:ext cx="2972714" cy="777240"/>
          </a:xfrm>
          <a:prstGeom prst="rect">
            <a:avLst/>
          </a:prstGeom>
          <a:noFill/>
          <a:ln/>
        </p:spPr>
        <p:txBody>
          <a:bodyPr wrap="square" lIns="0" tIns="0" rIns="0" bIns="0" rtlCol="0" anchor="t"/>
          <a:lstStyle/>
          <a:p>
            <a:pPr indent="0" marL="0">
              <a:buNone/>
            </a:pPr>
            <a:r>
              <a:rPr lang="en-US" sz="1250" b="1" dirty="0">
                <a:solidFill>
                  <a:schemeClr val="tx1"/>
                </a:solidFill>
              </a:rPr>
              <a:t>Recognise good work, </a:t>
            </a:r>
            <a:pPr indent="0" marL="0">
              <a:buNone/>
            </a:pPr>
            <a:r>
              <a:rPr lang="en-US" sz="1250" dirty="0">
                <a:solidFill>
                  <a:schemeClr val="accent3"/>
                </a:solidFill>
              </a:rPr>
              <a:t>out loud and often.</a:t>
            </a:r>
            <a:endParaRPr lang="en-US" sz="1250" dirty="0"/>
          </a:p>
        </p:txBody>
      </p:sp>
      <p:sp>
        <p:nvSpPr>
          <p:cNvPr id="10" name="Text 8"/>
          <p:cNvSpPr txBox="1"/>
          <p:nvPr/>
        </p:nvSpPr>
        <p:spPr>
          <a:xfrm>
            <a:off x="905256" y="5166360"/>
            <a:ext cx="2972714" cy="777240"/>
          </a:xfrm>
          <a:prstGeom prst="rect">
            <a:avLst/>
          </a:prstGeom>
          <a:noFill/>
          <a:ln/>
        </p:spPr>
        <p:txBody>
          <a:bodyPr wrap="square" lIns="0" tIns="0" rIns="0" bIns="0" rtlCol="0" anchor="t"/>
          <a:lstStyle/>
          <a:p>
            <a:pPr indent="0" marL="0">
              <a:buNone/>
            </a:pPr>
            <a:r>
              <a:rPr lang="en-US" sz="1250" b="1" dirty="0">
                <a:solidFill>
                  <a:schemeClr val="tx1"/>
                </a:solidFill>
              </a:rPr>
              <a:t>Get to know them: </a:t>
            </a:r>
            <a:pPr indent="0" marL="0">
              <a:buNone/>
            </a:pPr>
            <a:r>
              <a:rPr lang="en-US" sz="1250" dirty="0">
                <a:solidFill>
                  <a:schemeClr val="accent3"/>
                </a:solidFill>
              </a:rPr>
              <a:t>their holidays, family and goals.</a:t>
            </a:r>
            <a:endParaRPr lang="en-US" sz="1250" dirty="0"/>
          </a:p>
        </p:txBody>
      </p:sp>
      <p:sp>
        <p:nvSpPr>
          <p:cNvPr id="11" name="card"/>
          <p:cNvSpPr/>
          <p:nvPr/>
        </p:nvSpPr>
        <p:spPr>
          <a:xfrm>
            <a:off x="4335170" y="1965960"/>
            <a:ext cx="3521354" cy="4206240"/>
          </a:xfrm>
          <a:prstGeom prst="roundRect">
            <a:avLst>
              <a:gd name="adj" fmla="val 2077"/>
            </a:avLst>
          </a:prstGeom>
          <a:solidFill>
            <a:schemeClr val="bg1"/>
          </a:solidFill>
          <a:ln w="12700">
            <a:solidFill>
              <a:schemeClr val="accent5"/>
            </a:solidFill>
            <a:prstDash val="solid"/>
          </a:ln>
        </p:spPr>
      </p:sp>
      <p:sp>
        <p:nvSpPr>
          <p:cNvPr id="12" name="Text 10"/>
          <p:cNvSpPr txBox="1"/>
          <p:nvPr/>
        </p:nvSpPr>
        <p:spPr>
          <a:xfrm>
            <a:off x="4609490" y="214884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IF…?</a:t>
            </a:r>
            <a:endParaRPr lang="en-US" sz="1050" dirty="0"/>
          </a:p>
        </p:txBody>
      </p:sp>
      <p:sp>
        <p:nvSpPr>
          <p:cNvPr id="13" name="Text 11"/>
          <p:cNvSpPr txBox="1"/>
          <p:nvPr/>
        </p:nvSpPr>
        <p:spPr>
          <a:xfrm>
            <a:off x="4609490" y="2514600"/>
            <a:ext cx="2972714" cy="685800"/>
          </a:xfrm>
          <a:prstGeom prst="rect">
            <a:avLst/>
          </a:prstGeom>
          <a:noFill/>
          <a:ln/>
        </p:spPr>
        <p:txBody>
          <a:bodyPr wrap="square" lIns="0" tIns="0" rIns="0" bIns="0" rtlCol="0" anchor="t"/>
          <a:lstStyle/>
          <a:p>
            <a:pPr indent="0" marL="0">
              <a:buNone/>
            </a:pPr>
            <a:r>
              <a:rPr lang="en-US" sz="1150" b="1" dirty="0">
                <a:solidFill>
                  <a:schemeClr val="tx1"/>
                </a:solidFill>
              </a:rPr>
              <a:t>My Angel is sick or offline?</a:t>
            </a:r>
            <a:endParaRPr lang="en-US" sz="1150" dirty="0"/>
          </a:p>
          <a:p>
            <a:pPr indent="0" marL="0">
              <a:buNone/>
            </a:pPr>
            <a:r>
              <a:rPr lang="en-US" sz="1150" dirty="0">
                <a:solidFill>
                  <a:schemeClr val="accent3"/>
                </a:solidFill>
              </a:rPr>
              <a:t>They’ll tell you as early as possible, and your Account Manager helps keep priorities covered.</a:t>
            </a:r>
            <a:endParaRPr lang="en-US" sz="1150" dirty="0"/>
          </a:p>
        </p:txBody>
      </p:sp>
      <p:sp>
        <p:nvSpPr>
          <p:cNvPr id="14" name="Text 12"/>
          <p:cNvSpPr txBox="1"/>
          <p:nvPr/>
        </p:nvSpPr>
        <p:spPr>
          <a:xfrm>
            <a:off x="4609490" y="3227832"/>
            <a:ext cx="2972714" cy="685800"/>
          </a:xfrm>
          <a:prstGeom prst="rect">
            <a:avLst/>
          </a:prstGeom>
          <a:noFill/>
          <a:ln/>
        </p:spPr>
        <p:txBody>
          <a:bodyPr wrap="square" lIns="0" tIns="0" rIns="0" bIns="0" rtlCol="0" anchor="t"/>
          <a:lstStyle/>
          <a:p>
            <a:pPr indent="0" marL="0">
              <a:buNone/>
            </a:pPr>
            <a:r>
              <a:rPr lang="en-US" sz="1150" b="1" dirty="0">
                <a:solidFill>
                  <a:schemeClr val="tx1"/>
                </a:solidFill>
              </a:rPr>
              <a:t>I’m not happy?</a:t>
            </a:r>
            <a:endParaRPr lang="en-US" sz="1150" dirty="0"/>
          </a:p>
          <a:p>
            <a:pPr indent="0" marL="0">
              <a:buNone/>
            </a:pPr>
            <a:r>
              <a:rPr lang="en-US" sz="1150" dirty="0">
                <a:solidFill>
                  <a:schemeClr val="accent3"/>
                </a:solidFill>
              </a:rPr>
              <a:t>Tell your Account Manager any time. Free replacement, with a 1-week trial.</a:t>
            </a:r>
            <a:endParaRPr lang="en-US" sz="1150" dirty="0"/>
          </a:p>
        </p:txBody>
      </p:sp>
      <p:sp>
        <p:nvSpPr>
          <p:cNvPr id="15" name="Text 13"/>
          <p:cNvSpPr txBox="1"/>
          <p:nvPr/>
        </p:nvSpPr>
        <p:spPr>
          <a:xfrm>
            <a:off x="4609490" y="3941064"/>
            <a:ext cx="2972714" cy="685800"/>
          </a:xfrm>
          <a:prstGeom prst="rect">
            <a:avLst/>
          </a:prstGeom>
          <a:noFill/>
          <a:ln/>
        </p:spPr>
        <p:txBody>
          <a:bodyPr wrap="square" lIns="0" tIns="0" rIns="0" bIns="0" rtlCol="0" anchor="t"/>
          <a:lstStyle/>
          <a:p>
            <a:pPr indent="0" marL="0">
              <a:buNone/>
            </a:pPr>
            <a:r>
              <a:rPr lang="en-US" sz="1150" b="1" dirty="0">
                <a:solidFill>
                  <a:schemeClr val="tx1"/>
                </a:solidFill>
              </a:rPr>
              <a:t>I need more hours?</a:t>
            </a:r>
            <a:endParaRPr lang="en-US" sz="1150" dirty="0"/>
          </a:p>
          <a:p>
            <a:pPr indent="0" marL="0">
              <a:buNone/>
            </a:pPr>
            <a:r>
              <a:rPr lang="en-US" sz="1150" dirty="0">
                <a:solidFill>
                  <a:schemeClr val="accent3"/>
                </a:solidFill>
              </a:rPr>
              <a:t>Ask your Account Manager. Hours can flex up.</a:t>
            </a:r>
            <a:endParaRPr lang="en-US" sz="1150" dirty="0"/>
          </a:p>
        </p:txBody>
      </p:sp>
      <p:sp>
        <p:nvSpPr>
          <p:cNvPr id="16" name="Text 14"/>
          <p:cNvSpPr txBox="1"/>
          <p:nvPr/>
        </p:nvSpPr>
        <p:spPr>
          <a:xfrm>
            <a:off x="4609490" y="4654296"/>
            <a:ext cx="2972714" cy="685800"/>
          </a:xfrm>
          <a:prstGeom prst="rect">
            <a:avLst/>
          </a:prstGeom>
          <a:noFill/>
          <a:ln/>
        </p:spPr>
        <p:txBody>
          <a:bodyPr wrap="square" lIns="0" tIns="0" rIns="0" bIns="0" rtlCol="0" anchor="t"/>
          <a:lstStyle/>
          <a:p>
            <a:pPr indent="0" marL="0">
              <a:buNone/>
            </a:pPr>
            <a:r>
              <a:rPr lang="en-US" sz="1150" b="1" dirty="0">
                <a:solidFill>
                  <a:schemeClr val="tx1"/>
                </a:solidFill>
              </a:rPr>
              <a:t>I’m on holiday?</a:t>
            </a:r>
            <a:endParaRPr lang="en-US" sz="1150" dirty="0"/>
          </a:p>
          <a:p>
            <a:pPr indent="0" marL="0">
              <a:buNone/>
            </a:pPr>
            <a:r>
              <a:rPr lang="en-US" sz="1150" dirty="0">
                <a:solidFill>
                  <a:schemeClr val="accent3"/>
                </a:solidFill>
              </a:rPr>
              <a:t>Leave a priority list. Your Angel keeps things moving.</a:t>
            </a:r>
            <a:endParaRPr lang="en-US" sz="1150" dirty="0"/>
          </a:p>
        </p:txBody>
      </p:sp>
      <p:sp>
        <p:nvSpPr>
          <p:cNvPr id="17" name="Text 15"/>
          <p:cNvSpPr txBox="1"/>
          <p:nvPr/>
        </p:nvSpPr>
        <p:spPr>
          <a:xfrm>
            <a:off x="4609490" y="5367528"/>
            <a:ext cx="2972714" cy="685800"/>
          </a:xfrm>
          <a:prstGeom prst="rect">
            <a:avLst/>
          </a:prstGeom>
          <a:noFill/>
          <a:ln/>
        </p:spPr>
        <p:txBody>
          <a:bodyPr wrap="square" lIns="0" tIns="0" rIns="0" bIns="0" rtlCol="0" anchor="t"/>
          <a:lstStyle/>
          <a:p>
            <a:pPr indent="0" marL="0">
              <a:buNone/>
            </a:pPr>
            <a:r>
              <a:rPr lang="en-US" sz="1150" b="1" dirty="0">
                <a:solidFill>
                  <a:schemeClr val="tx1"/>
                </a:solidFill>
              </a:rPr>
              <a:t>I have billing questions?</a:t>
            </a:r>
            <a:endParaRPr lang="en-US" sz="1150" dirty="0"/>
          </a:p>
          <a:p>
            <a:pPr indent="0" marL="0">
              <a:buNone/>
            </a:pPr>
            <a:r>
              <a:rPr lang="en-US" sz="1150" dirty="0">
                <a:solidFill>
                  <a:schemeClr val="accent3"/>
                </a:solidFill>
              </a:rPr>
              <a:t>Your Account Manager walks you through it at kick-off.</a:t>
            </a:r>
            <a:endParaRPr lang="en-US" sz="1150" dirty="0"/>
          </a:p>
        </p:txBody>
      </p:sp>
      <p:sp>
        <p:nvSpPr>
          <p:cNvPr id="18" name="card"/>
          <p:cNvSpPr/>
          <p:nvPr/>
        </p:nvSpPr>
        <p:spPr>
          <a:xfrm>
            <a:off x="8039405" y="1965960"/>
            <a:ext cx="3521354" cy="4206240"/>
          </a:xfrm>
          <a:prstGeom prst="roundRect">
            <a:avLst>
              <a:gd name="adj" fmla="val 2077"/>
            </a:avLst>
          </a:prstGeom>
          <a:solidFill>
            <a:schemeClr val="bg2"/>
          </a:solidFill>
          <a:ln/>
        </p:spPr>
      </p:sp>
      <p:sp>
        <p:nvSpPr>
          <p:cNvPr id="19" name="Text 17"/>
          <p:cNvSpPr txBox="1"/>
          <p:nvPr/>
        </p:nvSpPr>
        <p:spPr>
          <a:xfrm>
            <a:off x="8313725" y="2148840"/>
            <a:ext cx="2972714" cy="256032"/>
          </a:xfrm>
          <a:prstGeom prst="rect">
            <a:avLst/>
          </a:prstGeom>
          <a:noFill/>
          <a:ln/>
        </p:spPr>
        <p:txBody>
          <a:bodyPr wrap="square" lIns="0" tIns="0" rIns="0" bIns="0" rtlCol="0" anchor="ctr"/>
          <a:lstStyle/>
          <a:p>
            <a:pPr indent="0" marL="0">
              <a:buNone/>
            </a:pPr>
            <a:r>
              <a:rPr lang="en-US" sz="1050" b="1" spc="200" kern="0" dirty="0">
                <a:solidFill>
                  <a:srgbClr val="A86A12"/>
                </a:solidFill>
              </a:rPr>
              <a:t>FIRST-TIME MISTAKES TO AVOID</a:t>
            </a:r>
            <a:endParaRPr lang="en-US" sz="1050" dirty="0"/>
          </a:p>
        </p:txBody>
      </p:sp>
      <p:sp>
        <p:nvSpPr>
          <p:cNvPr id="20" name="mistake 1"/>
          <p:cNvSpPr/>
          <p:nvPr/>
        </p:nvSpPr>
        <p:spPr>
          <a:xfrm>
            <a:off x="8313725" y="2606040"/>
            <a:ext cx="329184" cy="329184"/>
          </a:xfrm>
          <a:prstGeom prst="ellipse">
            <a:avLst/>
          </a:prstGeom>
          <a:solidFill>
            <a:schemeClr val="bg1"/>
          </a:solidFill>
          <a:ln w="19050">
            <a:solidFill>
              <a:schemeClr val="accent6"/>
            </a:solidFill>
            <a:prstDash val="solid"/>
          </a:ln>
        </p:spPr>
      </p:sp>
      <p:sp>
        <p:nvSpPr>
          <p:cNvPr id="21" name="Text 19"/>
          <p:cNvSpPr txBox="1"/>
          <p:nvPr/>
        </p:nvSpPr>
        <p:spPr>
          <a:xfrm>
            <a:off x="8313725" y="26060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2" name="Text 20"/>
          <p:cNvSpPr txBox="1"/>
          <p:nvPr/>
        </p:nvSpPr>
        <p:spPr>
          <a:xfrm>
            <a:off x="8770925" y="25603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Vague instructions</a:t>
            </a:r>
            <a:endParaRPr lang="en-US" sz="1250" dirty="0"/>
          </a:p>
        </p:txBody>
      </p:sp>
      <p:sp>
        <p:nvSpPr>
          <p:cNvPr id="23" name="mistake 2"/>
          <p:cNvSpPr/>
          <p:nvPr/>
        </p:nvSpPr>
        <p:spPr>
          <a:xfrm>
            <a:off x="8313725" y="3291840"/>
            <a:ext cx="329184" cy="329184"/>
          </a:xfrm>
          <a:prstGeom prst="ellipse">
            <a:avLst/>
          </a:prstGeom>
          <a:solidFill>
            <a:schemeClr val="bg1"/>
          </a:solidFill>
          <a:ln w="19050">
            <a:solidFill>
              <a:schemeClr val="accent6"/>
            </a:solidFill>
            <a:prstDash val="solid"/>
          </a:ln>
        </p:spPr>
      </p:sp>
      <p:sp>
        <p:nvSpPr>
          <p:cNvPr id="24" name="Text 22"/>
          <p:cNvSpPr txBox="1"/>
          <p:nvPr/>
        </p:nvSpPr>
        <p:spPr>
          <a:xfrm>
            <a:off x="8313725" y="32918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5" name="Text 23"/>
          <p:cNvSpPr txBox="1"/>
          <p:nvPr/>
        </p:nvSpPr>
        <p:spPr>
          <a:xfrm>
            <a:off x="8770925" y="32461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No access on Day 1</a:t>
            </a:r>
            <a:endParaRPr lang="en-US" sz="1250" dirty="0"/>
          </a:p>
        </p:txBody>
      </p:sp>
      <p:sp>
        <p:nvSpPr>
          <p:cNvPr id="26" name="mistake 3"/>
          <p:cNvSpPr/>
          <p:nvPr/>
        </p:nvSpPr>
        <p:spPr>
          <a:xfrm>
            <a:off x="8313725" y="3977640"/>
            <a:ext cx="329184" cy="329184"/>
          </a:xfrm>
          <a:prstGeom prst="ellipse">
            <a:avLst/>
          </a:prstGeom>
          <a:solidFill>
            <a:schemeClr val="bg1"/>
          </a:solidFill>
          <a:ln w="19050">
            <a:solidFill>
              <a:schemeClr val="accent6"/>
            </a:solidFill>
            <a:prstDash val="solid"/>
          </a:ln>
        </p:spPr>
      </p:sp>
      <p:sp>
        <p:nvSpPr>
          <p:cNvPr id="27" name="Text 25"/>
          <p:cNvSpPr txBox="1"/>
          <p:nvPr/>
        </p:nvSpPr>
        <p:spPr>
          <a:xfrm>
            <a:off x="8313725" y="39776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8" name="Text 26"/>
          <p:cNvSpPr txBox="1"/>
          <p:nvPr/>
        </p:nvSpPr>
        <p:spPr>
          <a:xfrm>
            <a:off x="8770925" y="39319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Doing it yourself “because it’s faster”</a:t>
            </a:r>
            <a:endParaRPr lang="en-US" sz="1250" dirty="0"/>
          </a:p>
        </p:txBody>
      </p:sp>
      <p:sp>
        <p:nvSpPr>
          <p:cNvPr id="29" name="mistake 4"/>
          <p:cNvSpPr/>
          <p:nvPr/>
        </p:nvSpPr>
        <p:spPr>
          <a:xfrm>
            <a:off x="8313725" y="4663440"/>
            <a:ext cx="329184" cy="329184"/>
          </a:xfrm>
          <a:prstGeom prst="ellipse">
            <a:avLst/>
          </a:prstGeom>
          <a:solidFill>
            <a:schemeClr val="bg1"/>
          </a:solidFill>
          <a:ln w="19050">
            <a:solidFill>
              <a:schemeClr val="accent6"/>
            </a:solidFill>
            <a:prstDash val="solid"/>
          </a:ln>
        </p:spPr>
      </p:sp>
      <p:sp>
        <p:nvSpPr>
          <p:cNvPr id="30" name="Text 28"/>
          <p:cNvSpPr txBox="1"/>
          <p:nvPr/>
        </p:nvSpPr>
        <p:spPr>
          <a:xfrm>
            <a:off x="8313725" y="46634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31" name="Text 29"/>
          <p:cNvSpPr txBox="1"/>
          <p:nvPr/>
        </p:nvSpPr>
        <p:spPr>
          <a:xfrm>
            <a:off x="8770925" y="46177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Not reading the EOD reports</a:t>
            </a:r>
            <a:endParaRPr lang="en-US" sz="1250" dirty="0"/>
          </a:p>
        </p:txBody>
      </p:sp>
      <p:sp>
        <p:nvSpPr>
          <p:cNvPr id="32" name="mistake 5"/>
          <p:cNvSpPr/>
          <p:nvPr/>
        </p:nvSpPr>
        <p:spPr>
          <a:xfrm>
            <a:off x="8313725" y="5349240"/>
            <a:ext cx="329184" cy="329184"/>
          </a:xfrm>
          <a:prstGeom prst="ellipse">
            <a:avLst/>
          </a:prstGeom>
          <a:solidFill>
            <a:schemeClr val="bg1"/>
          </a:solidFill>
          <a:ln w="19050">
            <a:solidFill>
              <a:schemeClr val="accent6"/>
            </a:solidFill>
            <a:prstDash val="solid"/>
          </a:ln>
        </p:spPr>
      </p:sp>
      <p:sp>
        <p:nvSpPr>
          <p:cNvPr id="33" name="Text 31"/>
          <p:cNvSpPr txBox="1"/>
          <p:nvPr/>
        </p:nvSpPr>
        <p:spPr>
          <a:xfrm>
            <a:off x="8313725" y="53492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34" name="Text 32"/>
          <p:cNvSpPr txBox="1"/>
          <p:nvPr/>
        </p:nvSpPr>
        <p:spPr>
          <a:xfrm>
            <a:off x="8770925" y="53035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Saving feedback until you’re frustrated</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12-Month Journey</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Four milestone reviews. At each one we update your Freedom Scorecard, KPIs and “Next to delegate” list.</a:t>
            </a:r>
            <a:endParaRPr lang="en-US" sz="1300" dirty="0"/>
          </a:p>
        </p:txBody>
      </p:sp>
      <p:sp>
        <p:nvSpPr>
          <p:cNvPr id="5" name="journey line"/>
          <p:cNvSpPr/>
          <p:nvPr/>
        </p:nvSpPr>
        <p:spPr>
          <a:xfrm>
            <a:off x="905256" y="2423160"/>
            <a:ext cx="10381183" cy="0"/>
          </a:xfrm>
          <a:prstGeom prst="line">
            <a:avLst/>
          </a:prstGeom>
          <a:noFill/>
          <a:ln w="38100">
            <a:solidFill>
              <a:schemeClr val="accent2"/>
            </a:solidFill>
            <a:prstDash val="solid"/>
          </a:ln>
        </p:spPr>
      </p:sp>
      <p:sp>
        <p:nvSpPr>
          <p:cNvPr id="6" name="milestone 1"/>
          <p:cNvSpPr/>
          <p:nvPr/>
        </p:nvSpPr>
        <p:spPr>
          <a:xfrm>
            <a:off x="722376" y="2221992"/>
            <a:ext cx="402336" cy="402336"/>
          </a:xfrm>
          <a:prstGeom prst="ellipse">
            <a:avLst/>
          </a:prstGeom>
          <a:solidFill>
            <a:schemeClr val="bg1"/>
          </a:solidFill>
          <a:ln w="38100">
            <a:solidFill>
              <a:schemeClr val="accent1"/>
            </a:solidFill>
            <a:prstDash val="solid"/>
          </a:ln>
        </p:spPr>
      </p:sp>
      <p:sp>
        <p:nvSpPr>
          <p:cNvPr id="7" name="card"/>
          <p:cNvSpPr/>
          <p:nvPr/>
        </p:nvSpPr>
        <p:spPr>
          <a:xfrm>
            <a:off x="630936" y="2834640"/>
            <a:ext cx="2595296" cy="2377440"/>
          </a:xfrm>
          <a:prstGeom prst="roundRect">
            <a:avLst>
              <a:gd name="adj" fmla="val 3077"/>
            </a:avLst>
          </a:prstGeom>
          <a:solidFill>
            <a:schemeClr val="bg1"/>
          </a:solidFill>
          <a:ln w="12700">
            <a:solidFill>
              <a:schemeClr val="accent5"/>
            </a:solidFill>
            <a:prstDash val="solid"/>
          </a:ln>
        </p:spPr>
      </p:sp>
      <p:sp>
        <p:nvSpPr>
          <p:cNvPr id="8" name="Text 6"/>
          <p:cNvSpPr txBox="1"/>
          <p:nvPr/>
        </p:nvSpPr>
        <p:spPr>
          <a:xfrm>
            <a:off x="859536"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 30</a:t>
            </a:r>
            <a:endParaRPr lang="en-US" sz="1050" dirty="0"/>
          </a:p>
        </p:txBody>
      </p:sp>
      <p:sp>
        <p:nvSpPr>
          <p:cNvPr id="9" name="Text 7"/>
          <p:cNvSpPr txBox="1"/>
          <p:nvPr/>
        </p:nvSpPr>
        <p:spPr>
          <a:xfrm>
            <a:off x="859536"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First check-in</a:t>
            </a:r>
            <a:endParaRPr lang="en-US" sz="1600" dirty="0"/>
          </a:p>
        </p:txBody>
      </p:sp>
      <p:sp>
        <p:nvSpPr>
          <p:cNvPr id="10" name="Text 8"/>
          <p:cNvSpPr txBox="1"/>
          <p:nvPr/>
        </p:nvSpPr>
        <p:spPr>
          <a:xfrm>
            <a:off x="859536"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Weekly order cycle running with review. First skills and KPI check-in.</a:t>
            </a:r>
            <a:endParaRPr lang="en-US" sz="1200" dirty="0"/>
          </a:p>
        </p:txBody>
      </p:sp>
      <p:sp>
        <p:nvSpPr>
          <p:cNvPr id="11" name="milestone 2"/>
          <p:cNvSpPr/>
          <p:nvPr/>
        </p:nvSpPr>
        <p:spPr>
          <a:xfrm>
            <a:off x="3500552" y="2221992"/>
            <a:ext cx="402336" cy="402336"/>
          </a:xfrm>
          <a:prstGeom prst="ellipse">
            <a:avLst/>
          </a:prstGeom>
          <a:solidFill>
            <a:schemeClr val="bg1"/>
          </a:solidFill>
          <a:ln w="38100">
            <a:solidFill>
              <a:schemeClr val="accent1"/>
            </a:solidFill>
            <a:prstDash val="solid"/>
          </a:ln>
        </p:spPr>
      </p:sp>
      <p:sp>
        <p:nvSpPr>
          <p:cNvPr id="12" name="card"/>
          <p:cNvSpPr/>
          <p:nvPr/>
        </p:nvSpPr>
        <p:spPr>
          <a:xfrm>
            <a:off x="3409112" y="2834640"/>
            <a:ext cx="2595296" cy="2377440"/>
          </a:xfrm>
          <a:prstGeom prst="roundRect">
            <a:avLst>
              <a:gd name="adj" fmla="val 3077"/>
            </a:avLst>
          </a:prstGeom>
          <a:solidFill>
            <a:schemeClr val="bg1"/>
          </a:solidFill>
          <a:ln w="12700">
            <a:solidFill>
              <a:schemeClr val="accent5"/>
            </a:solidFill>
            <a:prstDash val="solid"/>
          </a:ln>
        </p:spPr>
      </p:sp>
      <p:sp>
        <p:nvSpPr>
          <p:cNvPr id="13" name="Text 11"/>
          <p:cNvSpPr txBox="1"/>
          <p:nvPr/>
        </p:nvSpPr>
        <p:spPr>
          <a:xfrm>
            <a:off x="3637712"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 90</a:t>
            </a:r>
            <a:endParaRPr lang="en-US" sz="1050" dirty="0"/>
          </a:p>
        </p:txBody>
      </p:sp>
      <p:sp>
        <p:nvSpPr>
          <p:cNvPr id="14" name="Text 12"/>
          <p:cNvSpPr txBox="1"/>
          <p:nvPr/>
        </p:nvSpPr>
        <p:spPr>
          <a:xfrm>
            <a:off x="3637712"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Onboarding review</a:t>
            </a:r>
            <a:endParaRPr lang="en-US" sz="1600" dirty="0"/>
          </a:p>
        </p:txBody>
      </p:sp>
      <p:sp>
        <p:nvSpPr>
          <p:cNvPr id="15" name="Text 13"/>
          <p:cNvSpPr txBox="1"/>
          <p:nvPr/>
        </p:nvSpPr>
        <p:spPr>
          <a:xfrm>
            <a:off x="3637712"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Running the weekly admin rhythm with light oversight. Target: Stage 3, Outcome Owner.</a:t>
            </a:r>
            <a:endParaRPr lang="en-US" sz="1200" dirty="0"/>
          </a:p>
        </p:txBody>
      </p:sp>
      <p:sp>
        <p:nvSpPr>
          <p:cNvPr id="16" name="milestone 3"/>
          <p:cNvSpPr/>
          <p:nvPr/>
        </p:nvSpPr>
        <p:spPr>
          <a:xfrm>
            <a:off x="6278728" y="2221992"/>
            <a:ext cx="402336" cy="402336"/>
          </a:xfrm>
          <a:prstGeom prst="ellipse">
            <a:avLst/>
          </a:prstGeom>
          <a:solidFill>
            <a:schemeClr val="bg1"/>
          </a:solidFill>
          <a:ln w="38100">
            <a:solidFill>
              <a:schemeClr val="accent1"/>
            </a:solidFill>
            <a:prstDash val="solid"/>
          </a:ln>
        </p:spPr>
      </p:sp>
      <p:sp>
        <p:nvSpPr>
          <p:cNvPr id="17" name="card"/>
          <p:cNvSpPr/>
          <p:nvPr/>
        </p:nvSpPr>
        <p:spPr>
          <a:xfrm>
            <a:off x="6187288" y="2834640"/>
            <a:ext cx="2595296" cy="2377440"/>
          </a:xfrm>
          <a:prstGeom prst="roundRect">
            <a:avLst>
              <a:gd name="adj" fmla="val 3077"/>
            </a:avLst>
          </a:prstGeom>
          <a:solidFill>
            <a:schemeClr val="bg1"/>
          </a:solidFill>
          <a:ln w="12700">
            <a:solidFill>
              <a:schemeClr val="accent5"/>
            </a:solidFill>
            <a:prstDash val="solid"/>
          </a:ln>
        </p:spPr>
      </p:sp>
      <p:sp>
        <p:nvSpPr>
          <p:cNvPr id="18" name="Text 16"/>
          <p:cNvSpPr txBox="1"/>
          <p:nvPr/>
        </p:nvSpPr>
        <p:spPr>
          <a:xfrm>
            <a:off x="6415888"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MONTH 6</a:t>
            </a:r>
            <a:endParaRPr lang="en-US" sz="1050" dirty="0"/>
          </a:p>
        </p:txBody>
      </p:sp>
      <p:sp>
        <p:nvSpPr>
          <p:cNvPr id="19" name="Text 17"/>
          <p:cNvSpPr txBox="1"/>
          <p:nvPr/>
        </p:nvSpPr>
        <p:spPr>
          <a:xfrm>
            <a:off x="6415888"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Freedom Review</a:t>
            </a:r>
            <a:endParaRPr lang="en-US" sz="1600" dirty="0"/>
          </a:p>
        </p:txBody>
      </p:sp>
      <p:sp>
        <p:nvSpPr>
          <p:cNvPr id="20" name="Text 18"/>
          <p:cNvSpPr txBox="1"/>
          <p:nvPr/>
        </p:nvSpPr>
        <p:spPr>
          <a:xfrm>
            <a:off x="6415888"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Sales, accounts, HR and compliance admin run without May. Target: Stage 5, Freedom.</a:t>
            </a:r>
            <a:endParaRPr lang="en-US" sz="1200" dirty="0"/>
          </a:p>
        </p:txBody>
      </p:sp>
      <p:sp>
        <p:nvSpPr>
          <p:cNvPr id="21" name="milestone 4"/>
          <p:cNvSpPr/>
          <p:nvPr/>
        </p:nvSpPr>
        <p:spPr>
          <a:xfrm>
            <a:off x="9056903" y="2221992"/>
            <a:ext cx="402336" cy="402336"/>
          </a:xfrm>
          <a:prstGeom prst="ellipse">
            <a:avLst/>
          </a:prstGeom>
          <a:solidFill>
            <a:schemeClr val="accent1"/>
          </a:solidFill>
          <a:ln w="38100">
            <a:solidFill>
              <a:schemeClr val="accent1"/>
            </a:solidFill>
            <a:prstDash val="solid"/>
          </a:ln>
        </p:spPr>
      </p:sp>
      <p:sp>
        <p:nvSpPr>
          <p:cNvPr id="22" name="card"/>
          <p:cNvSpPr/>
          <p:nvPr/>
        </p:nvSpPr>
        <p:spPr>
          <a:xfrm>
            <a:off x="8965463" y="2834640"/>
            <a:ext cx="2595296" cy="2377440"/>
          </a:xfrm>
          <a:prstGeom prst="roundRect">
            <a:avLst>
              <a:gd name="adj" fmla="val 3077"/>
            </a:avLst>
          </a:prstGeom>
          <a:solidFill>
            <a:schemeClr val="accent4"/>
          </a:solidFill>
          <a:ln/>
        </p:spPr>
      </p:sp>
      <p:sp>
        <p:nvSpPr>
          <p:cNvPr id="23" name="Text 21"/>
          <p:cNvSpPr txBox="1"/>
          <p:nvPr/>
        </p:nvSpPr>
        <p:spPr>
          <a:xfrm>
            <a:off x="9194063"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MONTH 12</a:t>
            </a:r>
            <a:endParaRPr lang="en-US" sz="1050" dirty="0"/>
          </a:p>
        </p:txBody>
      </p:sp>
      <p:sp>
        <p:nvSpPr>
          <p:cNvPr id="24" name="Text 22"/>
          <p:cNvSpPr txBox="1"/>
          <p:nvPr/>
        </p:nvSpPr>
        <p:spPr>
          <a:xfrm>
            <a:off x="9194063"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Anniversary review</a:t>
            </a:r>
            <a:endParaRPr lang="en-US" sz="1600" dirty="0"/>
          </a:p>
        </p:txBody>
      </p:sp>
      <p:sp>
        <p:nvSpPr>
          <p:cNvPr id="25" name="Text 23"/>
          <p:cNvSpPr txBox="1"/>
          <p:nvPr/>
        </p:nvSpPr>
        <p:spPr>
          <a:xfrm>
            <a:off x="9194063"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Celebrate the year, measure hours back, and plan the next stage of growth together.</a:t>
            </a:r>
            <a:endParaRPr lang="en-US" sz="1200" dirty="0"/>
          </a:p>
        </p:txBody>
      </p:sp>
      <p:sp>
        <p:nvSpPr>
          <p:cNvPr id="26" name="Text 24"/>
          <p:cNvSpPr txBox="1"/>
          <p:nvPr/>
        </p:nvSpPr>
        <p:spPr>
          <a:xfrm>
            <a:off x="630936" y="5806440"/>
            <a:ext cx="10929823" cy="365760"/>
          </a:xfrm>
          <a:prstGeom prst="rect">
            <a:avLst/>
          </a:prstGeom>
          <a:noFill/>
          <a:ln/>
        </p:spPr>
        <p:txBody>
          <a:bodyPr wrap="square" lIns="0" tIns="0" rIns="0" bIns="0" rtlCol="0" anchor="ctr"/>
          <a:lstStyle/>
          <a:p>
            <a:pPr indent="0" marL="0">
              <a:buNone/>
            </a:pPr>
            <a:r>
              <a:rPr lang="en-US" sz="1200" b="1" dirty="0">
                <a:solidFill>
                  <a:schemeClr val="accent1"/>
                </a:solidFill>
              </a:rPr>
              <a:t>Every week: </a:t>
            </a:r>
            <a:pPr indent="0" marL="0">
              <a:buNone/>
            </a:pPr>
            <a:r>
              <a:rPr lang="en-US" sz="1200" dirty="0">
                <a:solidFill>
                  <a:schemeClr val="accent3"/>
                </a:solidFill>
              </a:rPr>
              <a:t>quick check-in with your Coordinator.   </a:t>
            </a:r>
            <a:pPr indent="0" marL="0">
              <a:buNone/>
            </a:pPr>
            <a:r>
              <a:rPr lang="en-US" sz="1200" b="1" dirty="0">
                <a:solidFill>
                  <a:schemeClr val="accent1"/>
                </a:solidFill>
              </a:rPr>
              <a:t>Every month: </a:t>
            </a:r>
            <a:pPr indent="0" marL="0">
              <a:buNone/>
            </a:pPr>
            <a:r>
              <a:rPr lang="en-US" sz="1200" dirty="0">
                <a:solidFill>
                  <a:schemeClr val="accent3"/>
                </a:solidFill>
              </a:rPr>
              <a:t>KPI check-in.   </a:t>
            </a:r>
            <a:pPr indent="0" marL="0">
              <a:buNone/>
            </a:pPr>
            <a:r>
              <a:rPr lang="en-US" sz="1200" b="1" dirty="0">
                <a:solidFill>
                  <a:schemeClr val="accent1"/>
                </a:solidFill>
              </a:rPr>
              <a:t>Any time: </a:t>
            </a:r>
            <a:pPr indent="0" marL="0">
              <a:buNone/>
            </a:pPr>
            <a:r>
              <a:rPr lang="en-US" sz="1200" dirty="0">
                <a:solidFill>
                  <a:schemeClr val="accent3"/>
                </a:solidFill>
              </a:rPr>
              <a:t>raise anything with your Account Manager.</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02</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First 90 Days</a:t>
            </a:r>
            <a:endParaRPr lang="en-US" sz="3000" dirty="0"/>
          </a:p>
        </p:txBody>
      </p:sp>
      <p:sp>
        <p:nvSpPr>
          <p:cNvPr id="4" name="card"/>
          <p:cNvSpPr/>
          <p:nvPr/>
        </p:nvSpPr>
        <p:spPr>
          <a:xfrm>
            <a:off x="630936" y="1463040"/>
            <a:ext cx="10929823" cy="1463040"/>
          </a:xfrm>
          <a:prstGeom prst="roundRect">
            <a:avLst>
              <a:gd name="adj" fmla="val 5000"/>
            </a:avLst>
          </a:prstGeom>
          <a:solidFill>
            <a:schemeClr val="bg1"/>
          </a:solidFill>
          <a:ln w="12700">
            <a:solidFill>
              <a:schemeClr val="accent5"/>
            </a:solidFill>
            <a:prstDash val="solid"/>
          </a:ln>
        </p:spPr>
      </p:sp>
      <p:sp>
        <p:nvSpPr>
          <p:cNvPr id="5" name="Text 3"/>
          <p:cNvSpPr txBox="1"/>
          <p:nvPr/>
        </p:nvSpPr>
        <p:spPr>
          <a:xfrm>
            <a:off x="905256" y="16459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1–30</a:t>
            </a:r>
            <a:endParaRPr lang="en-US" sz="1050" dirty="0"/>
          </a:p>
        </p:txBody>
      </p:sp>
      <p:sp>
        <p:nvSpPr>
          <p:cNvPr id="6" name="Text 4"/>
          <p:cNvSpPr txBox="1"/>
          <p:nvPr/>
        </p:nvSpPr>
        <p:spPr>
          <a:xfrm>
            <a:off x="905256" y="19202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Learn the farm, the Admin Handbook, Slack channels and inboxes. Run the Mon–Wed order cycle (draft invoices, picklists, customer reminders) with screenshots sent to May for checking.</a:t>
            </a:r>
            <a:endParaRPr lang="en-US" sz="1200" dirty="0"/>
          </a:p>
        </p:txBody>
      </p:sp>
      <p:sp>
        <p:nvSpPr>
          <p:cNvPr id="7" name="card"/>
          <p:cNvSpPr/>
          <p:nvPr/>
        </p:nvSpPr>
        <p:spPr>
          <a:xfrm>
            <a:off x="905256" y="2423160"/>
            <a:ext cx="10381183" cy="365760"/>
          </a:xfrm>
          <a:prstGeom prst="roundRect">
            <a:avLst>
              <a:gd name="adj" fmla="val 20000"/>
            </a:avLst>
          </a:prstGeom>
          <a:solidFill>
            <a:schemeClr val="accent4"/>
          </a:solidFill>
          <a:ln/>
        </p:spPr>
      </p:sp>
      <p:sp>
        <p:nvSpPr>
          <p:cNvPr id="8" name="Text 6"/>
          <p:cNvSpPr txBox="1"/>
          <p:nvPr/>
        </p:nvSpPr>
        <p:spPr>
          <a:xfrm>
            <a:off x="1088136" y="24231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Invoices and picklists out by 2pm Tuesday, accurate and checked.</a:t>
            </a:r>
            <a:endParaRPr lang="en-US" sz="1150" dirty="0"/>
          </a:p>
        </p:txBody>
      </p:sp>
      <p:sp>
        <p:nvSpPr>
          <p:cNvPr id="9" name="card"/>
          <p:cNvSpPr/>
          <p:nvPr/>
        </p:nvSpPr>
        <p:spPr>
          <a:xfrm>
            <a:off x="630936" y="3063240"/>
            <a:ext cx="10929823" cy="1463040"/>
          </a:xfrm>
          <a:prstGeom prst="roundRect">
            <a:avLst>
              <a:gd name="adj" fmla="val 5000"/>
            </a:avLst>
          </a:prstGeom>
          <a:solidFill>
            <a:schemeClr val="bg1"/>
          </a:solidFill>
          <a:ln w="12700">
            <a:solidFill>
              <a:schemeClr val="accent5"/>
            </a:solidFill>
            <a:prstDash val="solid"/>
          </a:ln>
        </p:spPr>
      </p:sp>
      <p:sp>
        <p:nvSpPr>
          <p:cNvPr id="10" name="Text 8"/>
          <p:cNvSpPr txBox="1"/>
          <p:nvPr/>
        </p:nvSpPr>
        <p:spPr>
          <a:xfrm>
            <a:off x="905256" y="32461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31–60</a:t>
            </a:r>
            <a:endParaRPr lang="en-US" sz="1050" dirty="0"/>
          </a:p>
        </p:txBody>
      </p:sp>
      <p:sp>
        <p:nvSpPr>
          <p:cNvPr id="11" name="Text 9"/>
          <p:cNvSpPr txBox="1"/>
          <p:nvPr/>
        </p:nvSpPr>
        <p:spPr>
          <a:xfrm>
            <a:off x="905256" y="35204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Own timesheets, payables lists, AR follow-up calls and mailers. Start HR records, onboarding and certification logs, and update the Handbook as processes change.</a:t>
            </a:r>
            <a:endParaRPr lang="en-US" sz="1200" dirty="0"/>
          </a:p>
        </p:txBody>
      </p:sp>
      <p:sp>
        <p:nvSpPr>
          <p:cNvPr id="12" name="card"/>
          <p:cNvSpPr/>
          <p:nvPr/>
        </p:nvSpPr>
        <p:spPr>
          <a:xfrm>
            <a:off x="905256" y="4023360"/>
            <a:ext cx="10381183" cy="365760"/>
          </a:xfrm>
          <a:prstGeom prst="roundRect">
            <a:avLst>
              <a:gd name="adj" fmla="val 20000"/>
            </a:avLst>
          </a:prstGeom>
          <a:solidFill>
            <a:schemeClr val="accent4"/>
          </a:solidFill>
          <a:ln/>
        </p:spPr>
      </p:sp>
      <p:sp>
        <p:nvSpPr>
          <p:cNvPr id="13" name="Text 11"/>
          <p:cNvSpPr txBox="1"/>
          <p:nvPr/>
        </p:nvSpPr>
        <p:spPr>
          <a:xfrm>
            <a:off x="1088136" y="40233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The weekly rhythm runs with spot checks only; no repeated errors.</a:t>
            </a:r>
            <a:endParaRPr lang="en-US" sz="1150" dirty="0"/>
          </a:p>
        </p:txBody>
      </p:sp>
      <p:sp>
        <p:nvSpPr>
          <p:cNvPr id="14" name="card"/>
          <p:cNvSpPr/>
          <p:nvPr/>
        </p:nvSpPr>
        <p:spPr>
          <a:xfrm>
            <a:off x="630936" y="4663440"/>
            <a:ext cx="10929823" cy="1463040"/>
          </a:xfrm>
          <a:prstGeom prst="roundRect">
            <a:avLst>
              <a:gd name="adj" fmla="val 5000"/>
            </a:avLst>
          </a:prstGeom>
          <a:solidFill>
            <a:schemeClr val="bg1"/>
          </a:solidFill>
          <a:ln w="12700">
            <a:solidFill>
              <a:schemeClr val="accent5"/>
            </a:solidFill>
            <a:prstDash val="solid"/>
          </a:ln>
        </p:spPr>
      </p:sp>
      <p:sp>
        <p:nvSpPr>
          <p:cNvPr id="15" name="Text 13"/>
          <p:cNvSpPr txBox="1"/>
          <p:nvPr/>
        </p:nvSpPr>
        <p:spPr>
          <a:xfrm>
            <a:off x="905256" y="48463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61–90</a:t>
            </a:r>
            <a:endParaRPr lang="en-US" sz="1050" dirty="0"/>
          </a:p>
        </p:txBody>
      </p:sp>
      <p:sp>
        <p:nvSpPr>
          <p:cNvPr id="16" name="Text 14"/>
          <p:cNvSpPr txBox="1"/>
          <p:nvPr/>
        </p:nvSpPr>
        <p:spPr>
          <a:xfrm>
            <a:off x="905256" y="51206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Operate as May’s admin right hand: renewals visible weeks ahead, records audit-ready, customers cared for, and the first process improvements proposed.</a:t>
            </a:r>
            <a:endParaRPr lang="en-US" sz="1200" dirty="0"/>
          </a:p>
        </p:txBody>
      </p:sp>
      <p:sp>
        <p:nvSpPr>
          <p:cNvPr id="17" name="card"/>
          <p:cNvSpPr/>
          <p:nvPr/>
        </p:nvSpPr>
        <p:spPr>
          <a:xfrm>
            <a:off x="905256" y="5623560"/>
            <a:ext cx="10381183" cy="365760"/>
          </a:xfrm>
          <a:prstGeom prst="roundRect">
            <a:avLst>
              <a:gd name="adj" fmla="val 20000"/>
            </a:avLst>
          </a:prstGeom>
          <a:solidFill>
            <a:schemeClr val="accent4"/>
          </a:solidFill>
          <a:ln/>
        </p:spPr>
      </p:sp>
      <p:sp>
        <p:nvSpPr>
          <p:cNvPr id="18" name="Text 16"/>
          <p:cNvSpPr txBox="1"/>
          <p:nvPr/>
        </p:nvSpPr>
        <p:spPr>
          <a:xfrm>
            <a:off x="1088136" y="56235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May steps in only for approvals and decisions, not day-to-day admin.</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03</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Hours, Timezone &amp; Training</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Part-time to start (20 hrs/week): longer days Mon–Wed for harvest and orders, short days Thu–Fri, 30-min unpaid lunch. May teaches the process; the skills are already there.</a:t>
            </a:r>
            <a:endParaRPr lang="en-US" sz="1300" dirty="0"/>
          </a:p>
        </p:txBody>
      </p:sp>
      <p:sp>
        <p:nvSpPr>
          <p:cNvPr id="5" name="card"/>
          <p:cNvSpPr/>
          <p:nvPr/>
        </p:nvSpPr>
        <p:spPr>
          <a:xfrm>
            <a:off x="630936" y="2103120"/>
            <a:ext cx="2595296" cy="3017520"/>
          </a:xfrm>
          <a:prstGeom prst="roundRect">
            <a:avLst>
              <a:gd name="adj" fmla="val 2819"/>
            </a:avLst>
          </a:prstGeom>
          <a:solidFill>
            <a:schemeClr val="bg2"/>
          </a:solidFill>
          <a:ln/>
        </p:spPr>
      </p:sp>
      <p:sp>
        <p:nvSpPr>
          <p:cNvPr id="6" name="Text 4"/>
          <p:cNvSpPr txBox="1"/>
          <p:nvPr/>
        </p:nvSpPr>
        <p:spPr>
          <a:xfrm>
            <a:off x="859536"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1</a:t>
            </a:r>
            <a:endParaRPr lang="en-US" sz="1050" dirty="0"/>
          </a:p>
        </p:txBody>
      </p:sp>
      <p:sp>
        <p:nvSpPr>
          <p:cNvPr id="7" name="Text 5"/>
          <p:cNvSpPr txBox="1"/>
          <p:nvPr/>
        </p:nvSpPr>
        <p:spPr>
          <a:xfrm>
            <a:off x="859536"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Farm &amp; Handbook Immersion</a:t>
            </a:r>
            <a:endParaRPr lang="en-US" sz="1500" dirty="0"/>
          </a:p>
        </p:txBody>
      </p:sp>
      <p:sp>
        <p:nvSpPr>
          <p:cNvPr id="8" name="Text 6"/>
          <p:cNvSpPr txBox="1"/>
          <p:nvPr/>
        </p:nvSpPr>
        <p:spPr>
          <a:xfrm>
            <a:off x="859536"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Learn the farm, team, channels and the Admin Handbook.</a:t>
            </a:r>
            <a:endParaRPr lang="en-US" sz="1200" dirty="0"/>
          </a:p>
        </p:txBody>
      </p:sp>
      <p:sp>
        <p:nvSpPr>
          <p:cNvPr id="9" name="card"/>
          <p:cNvSpPr/>
          <p:nvPr/>
        </p:nvSpPr>
        <p:spPr>
          <a:xfrm>
            <a:off x="3409112" y="2103120"/>
            <a:ext cx="2595296" cy="3017520"/>
          </a:xfrm>
          <a:prstGeom prst="roundRect">
            <a:avLst>
              <a:gd name="adj" fmla="val 2819"/>
            </a:avLst>
          </a:prstGeom>
          <a:solidFill>
            <a:schemeClr val="bg2"/>
          </a:solidFill>
          <a:ln/>
        </p:spPr>
      </p:sp>
      <p:sp>
        <p:nvSpPr>
          <p:cNvPr id="10" name="Text 8"/>
          <p:cNvSpPr txBox="1"/>
          <p:nvPr/>
        </p:nvSpPr>
        <p:spPr>
          <a:xfrm>
            <a:off x="3637712"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2</a:t>
            </a:r>
            <a:endParaRPr lang="en-US" sz="1050" dirty="0"/>
          </a:p>
        </p:txBody>
      </p:sp>
      <p:sp>
        <p:nvSpPr>
          <p:cNvPr id="11" name="Text 9"/>
          <p:cNvSpPr txBox="1"/>
          <p:nvPr/>
        </p:nvSpPr>
        <p:spPr>
          <a:xfrm>
            <a:off x="3637712"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Sales Order Cycle</a:t>
            </a:r>
            <a:endParaRPr lang="en-US" sz="1500" dirty="0"/>
          </a:p>
        </p:txBody>
      </p:sp>
      <p:sp>
        <p:nvSpPr>
          <p:cNvPr id="12" name="Text 10"/>
          <p:cNvSpPr txBox="1"/>
          <p:nvPr/>
        </p:nvSpPr>
        <p:spPr>
          <a:xfrm>
            <a:off x="3637712"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Draft invoices, picklists and reminders, each one checked first.</a:t>
            </a:r>
            <a:endParaRPr lang="en-US" sz="1200" dirty="0"/>
          </a:p>
        </p:txBody>
      </p:sp>
      <p:sp>
        <p:nvSpPr>
          <p:cNvPr id="13" name="card"/>
          <p:cNvSpPr/>
          <p:nvPr/>
        </p:nvSpPr>
        <p:spPr>
          <a:xfrm>
            <a:off x="6187288" y="2103120"/>
            <a:ext cx="2595296" cy="3017520"/>
          </a:xfrm>
          <a:prstGeom prst="roundRect">
            <a:avLst>
              <a:gd name="adj" fmla="val 2819"/>
            </a:avLst>
          </a:prstGeom>
          <a:solidFill>
            <a:schemeClr val="bg2"/>
          </a:solidFill>
          <a:ln/>
        </p:spPr>
      </p:sp>
      <p:sp>
        <p:nvSpPr>
          <p:cNvPr id="14" name="Text 12"/>
          <p:cNvSpPr txBox="1"/>
          <p:nvPr/>
        </p:nvSpPr>
        <p:spPr>
          <a:xfrm>
            <a:off x="6415888"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3</a:t>
            </a:r>
            <a:endParaRPr lang="en-US" sz="1050" dirty="0"/>
          </a:p>
        </p:txBody>
      </p:sp>
      <p:sp>
        <p:nvSpPr>
          <p:cNvPr id="15" name="Text 13"/>
          <p:cNvSpPr txBox="1"/>
          <p:nvPr/>
        </p:nvSpPr>
        <p:spPr>
          <a:xfrm>
            <a:off x="6415888"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Accounts &amp; Timesheets</a:t>
            </a:r>
            <a:endParaRPr lang="en-US" sz="1500" dirty="0"/>
          </a:p>
        </p:txBody>
      </p:sp>
      <p:sp>
        <p:nvSpPr>
          <p:cNvPr id="16" name="Text 14"/>
          <p:cNvSpPr txBox="1"/>
          <p:nvPr/>
        </p:nvSpPr>
        <p:spPr>
          <a:xfrm>
            <a:off x="6415888"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Payables lists, AR calls and weekly timesheet checks.</a:t>
            </a:r>
            <a:endParaRPr lang="en-US" sz="1200" dirty="0"/>
          </a:p>
        </p:txBody>
      </p:sp>
      <p:sp>
        <p:nvSpPr>
          <p:cNvPr id="17" name="card"/>
          <p:cNvSpPr/>
          <p:nvPr/>
        </p:nvSpPr>
        <p:spPr>
          <a:xfrm>
            <a:off x="8965463" y="2103120"/>
            <a:ext cx="2595296" cy="3017520"/>
          </a:xfrm>
          <a:prstGeom prst="roundRect">
            <a:avLst>
              <a:gd name="adj" fmla="val 2819"/>
            </a:avLst>
          </a:prstGeom>
          <a:solidFill>
            <a:schemeClr val="bg2"/>
          </a:solidFill>
          <a:ln/>
        </p:spPr>
      </p:sp>
      <p:sp>
        <p:nvSpPr>
          <p:cNvPr id="18" name="Text 16"/>
          <p:cNvSpPr txBox="1"/>
          <p:nvPr/>
        </p:nvSpPr>
        <p:spPr>
          <a:xfrm>
            <a:off x="9194063"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4</a:t>
            </a:r>
            <a:endParaRPr lang="en-US" sz="1050" dirty="0"/>
          </a:p>
        </p:txBody>
      </p:sp>
      <p:sp>
        <p:nvSpPr>
          <p:cNvPr id="19" name="Text 17"/>
          <p:cNvSpPr txBox="1"/>
          <p:nvPr/>
        </p:nvSpPr>
        <p:spPr>
          <a:xfrm>
            <a:off x="9194063"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HR &amp; Compliance Begins</a:t>
            </a:r>
            <a:endParaRPr lang="en-US" sz="1500" dirty="0"/>
          </a:p>
        </p:txBody>
      </p:sp>
      <p:sp>
        <p:nvSpPr>
          <p:cNvPr id="20" name="Text 18"/>
          <p:cNvSpPr txBox="1"/>
          <p:nvPr/>
        </p:nvSpPr>
        <p:spPr>
          <a:xfrm>
            <a:off x="9194063"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Start HR records, renewals and certification logs.</a:t>
            </a:r>
            <a:endParaRPr lang="en-US" sz="1200" dirty="0"/>
          </a:p>
        </p:txBody>
      </p:sp>
      <p:sp>
        <p:nvSpPr>
          <p:cNvPr id="21" name="callout"/>
          <p:cNvSpPr/>
          <p:nvPr/>
        </p:nvSpPr>
        <p:spPr>
          <a:xfrm>
            <a:off x="630936" y="5349240"/>
            <a:ext cx="10929823" cy="548640"/>
          </a:xfrm>
          <a:prstGeom prst="roundRect">
            <a:avLst>
              <a:gd name="adj" fmla="val 13333"/>
            </a:avLst>
          </a:prstGeom>
          <a:solidFill>
            <a:schemeClr val="accent4"/>
          </a:solidFill>
          <a:ln/>
        </p:spPr>
      </p:sp>
      <p:sp>
        <p:nvSpPr>
          <p:cNvPr id="22" name="Text 20"/>
          <p:cNvSpPr txBox="1"/>
          <p:nvPr/>
        </p:nvSpPr>
        <p:spPr>
          <a:xfrm>
            <a:off x="859536" y="534924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Revisit hours (20 → 30 → 40) at each milestone review as trust grows and May hands over more.</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Working with May</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Written together by May and her Coordinator in Week 1, and updated as they learn each other’s style.</a:t>
            </a:r>
            <a:endParaRPr lang="en-US" sz="1300" dirty="0"/>
          </a:p>
        </p:txBody>
      </p:sp>
      <p:sp>
        <p:nvSpPr>
          <p:cNvPr id="6" name="card"/>
          <p:cNvSpPr/>
          <p:nvPr/>
        </p:nvSpPr>
        <p:spPr>
          <a:xfrm>
            <a:off x="630936" y="1965960"/>
            <a:ext cx="5486400" cy="1143000"/>
          </a:xfrm>
          <a:prstGeom prst="roundRect">
            <a:avLst>
              <a:gd name="adj" fmla="val 6400"/>
            </a:avLst>
          </a:prstGeom>
          <a:solidFill>
            <a:schemeClr val="bg2"/>
          </a:solidFill>
          <a:ln/>
        </p:spPr>
      </p:sp>
      <p:sp>
        <p:nvSpPr>
          <p:cNvPr id="7" name="Text 4"/>
          <p:cNvSpPr txBox="1"/>
          <p:nvPr/>
        </p:nvSpPr>
        <p:spPr>
          <a:xfrm>
            <a:off x="905256" y="210312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HOW MAY WORKS</a:t>
            </a:r>
            <a:endParaRPr lang="en-US" sz="1050" dirty="0"/>
          </a:p>
        </p:txBody>
      </p:sp>
      <p:sp>
        <p:nvSpPr>
          <p:cNvPr id="8" name="Text 5"/>
          <p:cNvSpPr txBox="1"/>
          <p:nvPr/>
        </p:nvSpPr>
        <p:spPr>
          <a:xfrm>
            <a:off x="905256" y="237744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Shows how it’s done, then asks you to show it back: send a screenshot when a task is done. Urgent items go to the Admin Private Slack channel, not just email.</a:t>
            </a:r>
            <a:endParaRPr lang="en-US" sz="1200" dirty="0"/>
          </a:p>
        </p:txBody>
      </p:sp>
      <p:sp>
        <p:nvSpPr>
          <p:cNvPr id="9" name="card"/>
          <p:cNvSpPr/>
          <p:nvPr/>
        </p:nvSpPr>
        <p:spPr>
          <a:xfrm>
            <a:off x="630936" y="3246120"/>
            <a:ext cx="5486400" cy="1143000"/>
          </a:xfrm>
          <a:prstGeom prst="roundRect">
            <a:avLst>
              <a:gd name="adj" fmla="val 6400"/>
            </a:avLst>
          </a:prstGeom>
          <a:solidFill>
            <a:schemeClr val="bg2"/>
          </a:solidFill>
          <a:ln/>
        </p:spPr>
      </p:sp>
      <p:sp>
        <p:nvSpPr>
          <p:cNvPr id="10" name="Text 7"/>
          <p:cNvSpPr txBox="1"/>
          <p:nvPr/>
        </p:nvSpPr>
        <p:spPr>
          <a:xfrm>
            <a:off x="905256" y="338328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MATTERS MOST</a:t>
            </a:r>
            <a:endParaRPr lang="en-US" sz="1050" dirty="0"/>
          </a:p>
        </p:txBody>
      </p:sp>
      <p:sp>
        <p:nvSpPr>
          <p:cNvPr id="11" name="Text 8"/>
          <p:cNvSpPr txBox="1"/>
          <p:nvPr/>
        </p:nvSpPr>
        <p:spPr>
          <a:xfrm>
            <a:off x="905256" y="365760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Accuracy first: double-check every number, date and bank detail. If you make a mistake, say so, explain the cause and the fix. Warm, honest, never stiff.</a:t>
            </a:r>
            <a:endParaRPr lang="en-US" sz="1200" dirty="0"/>
          </a:p>
        </p:txBody>
      </p:sp>
      <p:sp>
        <p:nvSpPr>
          <p:cNvPr id="12" name="card"/>
          <p:cNvSpPr/>
          <p:nvPr/>
        </p:nvSpPr>
        <p:spPr>
          <a:xfrm>
            <a:off x="630936" y="4526280"/>
            <a:ext cx="5486400" cy="1143000"/>
          </a:xfrm>
          <a:prstGeom prst="roundRect">
            <a:avLst>
              <a:gd name="adj" fmla="val 6400"/>
            </a:avLst>
          </a:prstGeom>
          <a:solidFill>
            <a:schemeClr val="bg2"/>
          </a:solidFill>
          <a:ln/>
        </p:spPr>
      </p:sp>
      <p:sp>
        <p:nvSpPr>
          <p:cNvPr id="13" name="Text 10"/>
          <p:cNvSpPr txBox="1"/>
          <p:nvPr/>
        </p:nvSpPr>
        <p:spPr>
          <a:xfrm>
            <a:off x="905256" y="466344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HER BUSIEST TIMES</a:t>
            </a:r>
            <a:endParaRPr lang="en-US" sz="1050" dirty="0"/>
          </a:p>
        </p:txBody>
      </p:sp>
      <p:sp>
        <p:nvSpPr>
          <p:cNvPr id="14" name="Text 11"/>
          <p:cNvSpPr txBox="1"/>
          <p:nvPr/>
        </p:nvSpPr>
        <p:spPr>
          <a:xfrm>
            <a:off x="905256" y="493776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Monday to Wednesday, supporting harvesters and customer orders. Draft invoices and picklists are due by 2pm Tuesday. Thursday and Friday are lighter.</a:t>
            </a:r>
            <a:endParaRPr lang="en-US" sz="1200" dirty="0"/>
          </a:p>
        </p:txBody>
      </p:sp>
      <p:sp>
        <p:nvSpPr>
          <p:cNvPr id="15" name="card"/>
          <p:cNvSpPr/>
          <p:nvPr/>
        </p:nvSpPr>
        <p:spPr>
          <a:xfrm>
            <a:off x="6345936" y="1965960"/>
            <a:ext cx="5214823" cy="3703320"/>
          </a:xfrm>
          <a:prstGeom prst="roundRect">
            <a:avLst>
              <a:gd name="adj" fmla="val 1975"/>
            </a:avLst>
          </a:prstGeom>
          <a:solidFill>
            <a:schemeClr val="bg1"/>
          </a:solidFill>
          <a:ln w="12700">
            <a:solidFill>
              <a:schemeClr val="accent5"/>
            </a:solidFill>
            <a:prstDash val="solid"/>
          </a:ln>
        </p:spPr>
      </p:sp>
      <p:sp>
        <p:nvSpPr>
          <p:cNvPr id="16" name="Text 13"/>
          <p:cNvSpPr txBox="1"/>
          <p:nvPr/>
        </p:nvSpPr>
        <p:spPr>
          <a:xfrm>
            <a:off x="6620256" y="2103120"/>
            <a:ext cx="466618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COMPLETE TOGETHER IN WEEK 1</a:t>
            </a:r>
            <a:endParaRPr lang="en-US" sz="1050" dirty="0"/>
          </a:p>
        </p:txBody>
      </p:sp>
      <p:sp>
        <p:nvSpPr>
          <p:cNvPr id="17" name="Text 14"/>
          <p:cNvSpPr txBox="1"/>
          <p:nvPr/>
        </p:nvSpPr>
        <p:spPr>
          <a:xfrm>
            <a:off x="6620256" y="2468880"/>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Preferred update format and time of day:</a:t>
            </a:r>
            <a:endParaRPr lang="en-US" sz="1150" dirty="0"/>
          </a:p>
        </p:txBody>
      </p:sp>
      <p:sp>
        <p:nvSpPr>
          <p:cNvPr id="18" name="write line 1"/>
          <p:cNvSpPr/>
          <p:nvPr/>
        </p:nvSpPr>
        <p:spPr>
          <a:xfrm>
            <a:off x="6620256" y="2898648"/>
            <a:ext cx="4666183" cy="0"/>
          </a:xfrm>
          <a:prstGeom prst="line">
            <a:avLst/>
          </a:prstGeom>
          <a:noFill/>
          <a:ln w="12700">
            <a:solidFill>
              <a:schemeClr val="accent5"/>
            </a:solidFill>
            <a:prstDash val="solid"/>
          </a:ln>
        </p:spPr>
      </p:sp>
      <p:sp>
        <p:nvSpPr>
          <p:cNvPr id="19" name="Text 16"/>
          <p:cNvSpPr txBox="1"/>
          <p:nvPr/>
        </p:nvSpPr>
        <p:spPr>
          <a:xfrm>
            <a:off x="6620256" y="2990088"/>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When to interrupt, and when to wait:</a:t>
            </a:r>
            <a:endParaRPr lang="en-US" sz="1150" dirty="0"/>
          </a:p>
        </p:txBody>
      </p:sp>
      <p:sp>
        <p:nvSpPr>
          <p:cNvPr id="20" name="write line 2"/>
          <p:cNvSpPr/>
          <p:nvPr/>
        </p:nvSpPr>
        <p:spPr>
          <a:xfrm>
            <a:off x="6620256" y="3419856"/>
            <a:ext cx="4666183" cy="0"/>
          </a:xfrm>
          <a:prstGeom prst="line">
            <a:avLst/>
          </a:prstGeom>
          <a:noFill/>
          <a:ln w="12700">
            <a:solidFill>
              <a:schemeClr val="accent5"/>
            </a:solidFill>
            <a:prstDash val="solid"/>
          </a:ln>
        </p:spPr>
      </p:sp>
      <p:sp>
        <p:nvSpPr>
          <p:cNvPr id="21" name="Text 18"/>
          <p:cNvSpPr txBox="1"/>
          <p:nvPr/>
        </p:nvSpPr>
        <p:spPr>
          <a:xfrm>
            <a:off x="6620256" y="3511296"/>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Tone for customer and team messages:</a:t>
            </a:r>
            <a:endParaRPr lang="en-US" sz="1150" dirty="0"/>
          </a:p>
        </p:txBody>
      </p:sp>
      <p:sp>
        <p:nvSpPr>
          <p:cNvPr id="22" name="write line 3"/>
          <p:cNvSpPr/>
          <p:nvPr/>
        </p:nvSpPr>
        <p:spPr>
          <a:xfrm>
            <a:off x="6620256" y="3941064"/>
            <a:ext cx="4666183" cy="0"/>
          </a:xfrm>
          <a:prstGeom prst="line">
            <a:avLst/>
          </a:prstGeom>
          <a:noFill/>
          <a:ln w="12700">
            <a:solidFill>
              <a:schemeClr val="accent5"/>
            </a:solidFill>
            <a:prstDash val="solid"/>
          </a:ln>
        </p:spPr>
      </p:sp>
      <p:sp>
        <p:nvSpPr>
          <p:cNvPr id="23" name="Text 20"/>
          <p:cNvSpPr txBox="1"/>
          <p:nvPr/>
        </p:nvSpPr>
        <p:spPr>
          <a:xfrm>
            <a:off x="6620256" y="4032504"/>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Decisions the Coordinator can make alone:</a:t>
            </a:r>
            <a:endParaRPr lang="en-US" sz="1150" dirty="0"/>
          </a:p>
        </p:txBody>
      </p:sp>
      <p:sp>
        <p:nvSpPr>
          <p:cNvPr id="24" name="write line 4"/>
          <p:cNvSpPr/>
          <p:nvPr/>
        </p:nvSpPr>
        <p:spPr>
          <a:xfrm>
            <a:off x="6620256" y="4462272"/>
            <a:ext cx="4666183" cy="0"/>
          </a:xfrm>
          <a:prstGeom prst="line">
            <a:avLst/>
          </a:prstGeom>
          <a:noFill/>
          <a:ln w="12700">
            <a:solidFill>
              <a:schemeClr val="accent5"/>
            </a:solidFill>
            <a:prstDash val="solid"/>
          </a:ln>
        </p:spPr>
      </p:sp>
      <p:sp>
        <p:nvSpPr>
          <p:cNvPr id="25" name="Text 22"/>
          <p:cNvSpPr txBox="1"/>
          <p:nvPr/>
        </p:nvSpPr>
        <p:spPr>
          <a:xfrm>
            <a:off x="6620256" y="4553712"/>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Pet peeves and must-nots:</a:t>
            </a:r>
            <a:endParaRPr lang="en-US" sz="1150" dirty="0"/>
          </a:p>
        </p:txBody>
      </p:sp>
      <p:sp>
        <p:nvSpPr>
          <p:cNvPr id="26" name="write line 5"/>
          <p:cNvSpPr/>
          <p:nvPr/>
        </p:nvSpPr>
        <p:spPr>
          <a:xfrm>
            <a:off x="6620256" y="4983480"/>
            <a:ext cx="4666183" cy="0"/>
          </a:xfrm>
          <a:prstGeom prst="line">
            <a:avLst/>
          </a:prstGeom>
          <a:noFill/>
          <a:ln w="12700">
            <a:solidFill>
              <a:schemeClr val="accent5"/>
            </a:solidFill>
            <a:prstDash val="solid"/>
          </a:ln>
        </p:spPr>
      </p:sp>
      <p:sp>
        <p:nvSpPr>
          <p:cNvPr id="27" name="Text 24"/>
          <p:cNvSpPr txBox="1"/>
          <p:nvPr/>
        </p:nvSpPr>
        <p:spPr>
          <a:xfrm>
            <a:off x="6620256" y="5074920"/>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Coordinator’s own goals for the first 6 months:</a:t>
            </a:r>
            <a:endParaRPr lang="en-US" sz="1150" dirty="0"/>
          </a:p>
        </p:txBody>
      </p:sp>
      <p:sp>
        <p:nvSpPr>
          <p:cNvPr id="28" name="write line 6"/>
          <p:cNvSpPr/>
          <p:nvPr/>
        </p:nvSpPr>
        <p:spPr>
          <a:xfrm>
            <a:off x="6620256" y="5504688"/>
            <a:ext cx="4666183" cy="0"/>
          </a:xfrm>
          <a:prstGeom prst="line">
            <a:avLst/>
          </a:prstGeom>
          <a:noFill/>
          <a:ln w="12700">
            <a:solidFill>
              <a:schemeClr val="accent5"/>
            </a:solidFill>
            <a:prstDash val="solid"/>
          </a:ln>
        </p:spPr>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05</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Freedom Scorecard</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Are we delivering what we promised? Fill this in at every milestone review.</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30936" y="1965960"/>
          <a:ext cx="10929823" cy="914400"/>
        </p:xfrm>
        <a:graphic>
          <a:graphicData uri="http://schemas.openxmlformats.org/drawingml/2006/table">
            <a:tbl>
              <a:tblPr/>
              <a:tblGrid>
                <a:gridCol w="3474720"/>
                <a:gridCol w="1600200"/>
                <a:gridCol w="1234440"/>
                <a:gridCol w="1234440"/>
                <a:gridCol w="1234440"/>
                <a:gridCol w="2148840"/>
              </a:tblGrid>
              <a:tr h="5029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MEASURE</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START</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90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Orders invoiced by 2pm Tuesday (%)</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To confirm</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Admin tasks May still does herself</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All</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Errors found by May per month</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To confirm</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Freedom Stage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1 · Task Delegator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Target: 3</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Target: 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Coordinator self-rating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May’s satisfaction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6" name="callout"/>
          <p:cNvSpPr/>
          <p:nvPr/>
        </p:nvSpPr>
        <p:spPr>
          <a:xfrm>
            <a:off x="630936" y="5486400"/>
            <a:ext cx="10929823" cy="594360"/>
          </a:xfrm>
          <a:prstGeom prst="roundRect">
            <a:avLst>
              <a:gd name="adj" fmla="val 12308"/>
            </a:avLst>
          </a:prstGeom>
          <a:solidFill>
            <a:schemeClr val="accent4"/>
          </a:solidFill>
          <a:ln/>
        </p:spPr>
      </p:sp>
      <p:sp>
        <p:nvSpPr>
          <p:cNvPr id="7" name="Text 4"/>
          <p:cNvSpPr txBox="1"/>
          <p:nvPr/>
        </p:nvSpPr>
        <p:spPr>
          <a:xfrm>
            <a:off x="859536" y="5486400"/>
            <a:ext cx="10472623" cy="594360"/>
          </a:xfrm>
          <a:prstGeom prst="rect">
            <a:avLst/>
          </a:prstGeom>
          <a:noFill/>
          <a:ln/>
        </p:spPr>
        <p:txBody>
          <a:bodyPr wrap="square" lIns="0" tIns="0" rIns="0" bIns="0" rtlCol="0" anchor="ctr"/>
          <a:lstStyle/>
          <a:p>
            <a:pPr indent="0" marL="0">
              <a:buNone/>
            </a:pPr>
            <a:r>
              <a:rPr lang="en-US" sz="1250" b="1" dirty="0">
                <a:solidFill>
                  <a:schemeClr val="accent1"/>
                </a:solidFill>
              </a:rPr>
              <a:t>The goal isn’t just a busy Coordinator. It’s May back to leading the farm, with every order, record and renewal handled accurately.</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06</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Skills &amp; Readiness Checklist</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Rate each skill at every milestone: NT = Needs Training · D = Developing · C = Confident.</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30936" y="1920240"/>
          <a:ext cx="10929823" cy="914400"/>
        </p:xfrm>
        <a:graphic>
          <a:graphicData uri="http://schemas.openxmlformats.org/drawingml/2006/table">
            <a:tbl>
              <a:tblPr/>
              <a:tblGrid>
                <a:gridCol w="5120640"/>
                <a:gridCol w="1234440"/>
                <a:gridCol w="1143000"/>
                <a:gridCol w="1143000"/>
                <a:gridCol w="1143000"/>
                <a:gridCol w="1143000"/>
              </a:tblGrid>
              <a:tr h="41148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SKILL</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AREA</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90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Drafting customer invoices and special pricing in Xero</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Sales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Building harvest picklists and sending them on time</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Sales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Monitoring four inboxes, Mailchimp and Slack to completion</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Comms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Friendly AR and customer phone calls (JustCall)</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Comms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Preparing payables lists and receipts for the accountants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Xero</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Checking timesheets and following up with team leads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Payroll</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Onboarding, contracts and HR records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HR</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Maintaining organic certification logs and renewals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Compliance</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Updating the Admin Handbook and file naming standards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Systems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07  ·  DEFINE</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Success Metrics (KPIs)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What “good” looks like for this role, and exactly how to check it.</a:t>
            </a:r>
            <a:endParaRPr lang="en-US" sz="1300" dirty="0"/>
          </a:p>
        </p:txBody>
      </p:sp>
      <p:sp>
        <p:nvSpPr>
          <p:cNvPr id="5" name="card"/>
          <p:cNvSpPr/>
          <p:nvPr/>
        </p:nvSpPr>
        <p:spPr>
          <a:xfrm>
            <a:off x="630936" y="1920240"/>
            <a:ext cx="5373472" cy="1965960"/>
          </a:xfrm>
          <a:prstGeom prst="roundRect">
            <a:avLst>
              <a:gd name="adj" fmla="val 3721"/>
            </a:avLst>
          </a:prstGeom>
          <a:solidFill>
            <a:schemeClr val="bg1"/>
          </a:solidFill>
          <a:ln w="12700">
            <a:solidFill>
              <a:schemeClr val="accent5"/>
            </a:solidFill>
            <a:prstDash val="solid"/>
          </a:ln>
        </p:spPr>
      </p:sp>
      <p:sp>
        <p:nvSpPr>
          <p:cNvPr id="6" name="number 1"/>
          <p:cNvSpPr/>
          <p:nvPr/>
        </p:nvSpPr>
        <p:spPr>
          <a:xfrm>
            <a:off x="905256" y="2148840"/>
            <a:ext cx="384048" cy="384048"/>
          </a:xfrm>
          <a:prstGeom prst="ellipse">
            <a:avLst/>
          </a:prstGeom>
          <a:solidFill>
            <a:schemeClr val="accent1"/>
          </a:solidFill>
          <a:ln/>
        </p:spPr>
      </p:sp>
      <p:sp>
        <p:nvSpPr>
          <p:cNvPr id="7" name="Text 5"/>
          <p:cNvSpPr txBox="1"/>
          <p:nvPr/>
        </p:nvSpPr>
        <p:spPr>
          <a:xfrm>
            <a:off x="905256" y="21488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453896" y="214884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Order Cycle On Time</a:t>
            </a:r>
            <a:endParaRPr lang="en-US" sz="1500" dirty="0"/>
          </a:p>
        </p:txBody>
      </p:sp>
      <p:sp>
        <p:nvSpPr>
          <p:cNvPr id="9" name="Text 7"/>
          <p:cNvSpPr txBox="1"/>
          <p:nvPr/>
        </p:nvSpPr>
        <p:spPr>
          <a:xfrm>
            <a:off x="905256" y="265176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Invoices and picklists out by 2pm Tuesday; customers called straight away if an order can’t be filled.</a:t>
            </a:r>
            <a:endParaRPr lang="en-US" sz="1200" dirty="0"/>
          </a:p>
        </p:txBody>
      </p:sp>
      <p:sp>
        <p:nvSpPr>
          <p:cNvPr id="10" name="card"/>
          <p:cNvSpPr/>
          <p:nvPr/>
        </p:nvSpPr>
        <p:spPr>
          <a:xfrm>
            <a:off x="905256" y="3291840"/>
            <a:ext cx="4824832" cy="411480"/>
          </a:xfrm>
          <a:prstGeom prst="roundRect">
            <a:avLst>
              <a:gd name="adj" fmla="val 17778"/>
            </a:avLst>
          </a:prstGeom>
          <a:solidFill>
            <a:schemeClr val="accent4"/>
          </a:solidFill>
          <a:ln/>
        </p:spPr>
      </p:sp>
      <p:sp>
        <p:nvSpPr>
          <p:cNvPr id="11" name="Text 9"/>
          <p:cNvSpPr txBox="1"/>
          <p:nvPr/>
        </p:nvSpPr>
        <p:spPr>
          <a:xfrm>
            <a:off x="1042416" y="329184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“Which orders are still waiting?”</a:t>
            </a:r>
            <a:endParaRPr lang="en-US" sz="1150" dirty="0"/>
          </a:p>
        </p:txBody>
      </p:sp>
      <p:sp>
        <p:nvSpPr>
          <p:cNvPr id="12" name="card"/>
          <p:cNvSpPr/>
          <p:nvPr/>
        </p:nvSpPr>
        <p:spPr>
          <a:xfrm>
            <a:off x="6187288" y="1920240"/>
            <a:ext cx="5373472" cy="1965960"/>
          </a:xfrm>
          <a:prstGeom prst="roundRect">
            <a:avLst>
              <a:gd name="adj" fmla="val 3721"/>
            </a:avLst>
          </a:prstGeom>
          <a:solidFill>
            <a:schemeClr val="bg1"/>
          </a:solidFill>
          <a:ln w="12700">
            <a:solidFill>
              <a:schemeClr val="accent5"/>
            </a:solidFill>
            <a:prstDash val="solid"/>
          </a:ln>
        </p:spPr>
      </p:sp>
      <p:sp>
        <p:nvSpPr>
          <p:cNvPr id="13" name="number 2"/>
          <p:cNvSpPr/>
          <p:nvPr/>
        </p:nvSpPr>
        <p:spPr>
          <a:xfrm>
            <a:off x="6461608" y="2148840"/>
            <a:ext cx="384048" cy="384048"/>
          </a:xfrm>
          <a:prstGeom prst="ellipse">
            <a:avLst/>
          </a:prstGeom>
          <a:solidFill>
            <a:schemeClr val="accent1"/>
          </a:solidFill>
          <a:ln/>
        </p:spPr>
      </p:sp>
      <p:sp>
        <p:nvSpPr>
          <p:cNvPr id="14" name="Text 12"/>
          <p:cNvSpPr txBox="1"/>
          <p:nvPr/>
        </p:nvSpPr>
        <p:spPr>
          <a:xfrm>
            <a:off x="6461608" y="21488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3"/>
          <p:cNvSpPr txBox="1"/>
          <p:nvPr/>
        </p:nvSpPr>
        <p:spPr>
          <a:xfrm>
            <a:off x="7010248" y="214884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Accuracy &amp; Self-Checking</a:t>
            </a:r>
            <a:endParaRPr lang="en-US" sz="1500" dirty="0"/>
          </a:p>
        </p:txBody>
      </p:sp>
      <p:sp>
        <p:nvSpPr>
          <p:cNvPr id="16" name="Text 14"/>
          <p:cNvSpPr txBox="1"/>
          <p:nvPr/>
        </p:nvSpPr>
        <p:spPr>
          <a:xfrm>
            <a:off x="6461608" y="265176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Every number and price double-checked; no repeated errors; mistakes self-reported with a fix.</a:t>
            </a:r>
            <a:endParaRPr lang="en-US" sz="1200" dirty="0"/>
          </a:p>
        </p:txBody>
      </p:sp>
      <p:sp>
        <p:nvSpPr>
          <p:cNvPr id="17" name="card"/>
          <p:cNvSpPr/>
          <p:nvPr/>
        </p:nvSpPr>
        <p:spPr>
          <a:xfrm>
            <a:off x="6461608" y="3291840"/>
            <a:ext cx="4824832" cy="411480"/>
          </a:xfrm>
          <a:prstGeom prst="roundRect">
            <a:avLst>
              <a:gd name="adj" fmla="val 17778"/>
            </a:avLst>
          </a:prstGeom>
          <a:solidFill>
            <a:schemeClr val="accent4"/>
          </a:solidFill>
          <a:ln/>
        </p:spPr>
      </p:sp>
      <p:sp>
        <p:nvSpPr>
          <p:cNvPr id="18" name="Text 16"/>
          <p:cNvSpPr txBox="1"/>
          <p:nvPr/>
        </p:nvSpPr>
        <p:spPr>
          <a:xfrm>
            <a:off x="6598768" y="329184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“What did you check before sending this?”</a:t>
            </a:r>
            <a:endParaRPr lang="en-US" sz="1150" dirty="0"/>
          </a:p>
        </p:txBody>
      </p:sp>
      <p:sp>
        <p:nvSpPr>
          <p:cNvPr id="19" name="card"/>
          <p:cNvSpPr/>
          <p:nvPr/>
        </p:nvSpPr>
        <p:spPr>
          <a:xfrm>
            <a:off x="630936" y="4069080"/>
            <a:ext cx="5373472" cy="1965960"/>
          </a:xfrm>
          <a:prstGeom prst="roundRect">
            <a:avLst>
              <a:gd name="adj" fmla="val 3721"/>
            </a:avLst>
          </a:prstGeom>
          <a:solidFill>
            <a:schemeClr val="bg1"/>
          </a:solidFill>
          <a:ln w="12700">
            <a:solidFill>
              <a:schemeClr val="accent5"/>
            </a:solidFill>
            <a:prstDash val="solid"/>
          </a:ln>
        </p:spPr>
      </p:sp>
      <p:sp>
        <p:nvSpPr>
          <p:cNvPr id="20" name="number 3"/>
          <p:cNvSpPr/>
          <p:nvPr/>
        </p:nvSpPr>
        <p:spPr>
          <a:xfrm>
            <a:off x="905256" y="4297680"/>
            <a:ext cx="384048" cy="384048"/>
          </a:xfrm>
          <a:prstGeom prst="ellipse">
            <a:avLst/>
          </a:prstGeom>
          <a:solidFill>
            <a:schemeClr val="accent1"/>
          </a:solidFill>
          <a:ln/>
        </p:spPr>
      </p:sp>
      <p:sp>
        <p:nvSpPr>
          <p:cNvPr id="21" name="Text 19"/>
          <p:cNvSpPr txBox="1"/>
          <p:nvPr/>
        </p:nvSpPr>
        <p:spPr>
          <a:xfrm>
            <a:off x="905256" y="4297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Text 20"/>
          <p:cNvSpPr txBox="1"/>
          <p:nvPr/>
        </p:nvSpPr>
        <p:spPr>
          <a:xfrm>
            <a:off x="1453896" y="429768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Accounts &amp; Timesheets</a:t>
            </a:r>
            <a:endParaRPr lang="en-US" sz="1500" dirty="0"/>
          </a:p>
        </p:txBody>
      </p:sp>
      <p:sp>
        <p:nvSpPr>
          <p:cNvPr id="23" name="Text 21"/>
          <p:cNvSpPr txBox="1"/>
          <p:nvPr/>
        </p:nvSpPr>
        <p:spPr>
          <a:xfrm>
            <a:off x="905256" y="480060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Timesheets checked and submitted on time; overdue accounts followed up by phone.</a:t>
            </a:r>
            <a:endParaRPr lang="en-US" sz="1200" dirty="0"/>
          </a:p>
        </p:txBody>
      </p:sp>
      <p:sp>
        <p:nvSpPr>
          <p:cNvPr id="24" name="card"/>
          <p:cNvSpPr/>
          <p:nvPr/>
        </p:nvSpPr>
        <p:spPr>
          <a:xfrm>
            <a:off x="905256" y="5440680"/>
            <a:ext cx="4824832" cy="411480"/>
          </a:xfrm>
          <a:prstGeom prst="roundRect">
            <a:avLst>
              <a:gd name="adj" fmla="val 17778"/>
            </a:avLst>
          </a:prstGeom>
          <a:solidFill>
            <a:schemeClr val="accent4"/>
          </a:solidFill>
          <a:ln/>
        </p:spPr>
      </p:sp>
      <p:sp>
        <p:nvSpPr>
          <p:cNvPr id="25" name="Text 23"/>
          <p:cNvSpPr txBox="1"/>
          <p:nvPr/>
        </p:nvSpPr>
        <p:spPr>
          <a:xfrm>
            <a:off x="1042416" y="544068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“Which accounts are overdue this week?”</a:t>
            </a:r>
            <a:endParaRPr lang="en-US" sz="1150" dirty="0"/>
          </a:p>
        </p:txBody>
      </p:sp>
      <p:sp>
        <p:nvSpPr>
          <p:cNvPr id="26" name="card"/>
          <p:cNvSpPr/>
          <p:nvPr/>
        </p:nvSpPr>
        <p:spPr>
          <a:xfrm>
            <a:off x="6187288" y="4069080"/>
            <a:ext cx="5373472" cy="1965960"/>
          </a:xfrm>
          <a:prstGeom prst="roundRect">
            <a:avLst>
              <a:gd name="adj" fmla="val 3721"/>
            </a:avLst>
          </a:prstGeom>
          <a:solidFill>
            <a:schemeClr val="bg1"/>
          </a:solidFill>
          <a:ln w="12700">
            <a:solidFill>
              <a:schemeClr val="accent5"/>
            </a:solidFill>
            <a:prstDash val="solid"/>
          </a:ln>
        </p:spPr>
      </p:sp>
      <p:sp>
        <p:nvSpPr>
          <p:cNvPr id="27" name="number 4"/>
          <p:cNvSpPr/>
          <p:nvPr/>
        </p:nvSpPr>
        <p:spPr>
          <a:xfrm>
            <a:off x="6461608" y="4297680"/>
            <a:ext cx="384048" cy="384048"/>
          </a:xfrm>
          <a:prstGeom prst="ellipse">
            <a:avLst/>
          </a:prstGeom>
          <a:solidFill>
            <a:schemeClr val="accent1"/>
          </a:solidFill>
          <a:ln/>
        </p:spPr>
      </p:sp>
      <p:sp>
        <p:nvSpPr>
          <p:cNvPr id="28" name="Text 26"/>
          <p:cNvSpPr txBox="1"/>
          <p:nvPr/>
        </p:nvSpPr>
        <p:spPr>
          <a:xfrm>
            <a:off x="6461608" y="4297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9" name="Text 27"/>
          <p:cNvSpPr txBox="1"/>
          <p:nvPr/>
        </p:nvSpPr>
        <p:spPr>
          <a:xfrm>
            <a:off x="7010248" y="429768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Compliance &amp; Readiness</a:t>
            </a:r>
            <a:endParaRPr lang="en-US" sz="1500" dirty="0"/>
          </a:p>
        </p:txBody>
      </p:sp>
      <p:sp>
        <p:nvSpPr>
          <p:cNvPr id="30" name="Text 28"/>
          <p:cNvSpPr txBox="1"/>
          <p:nvPr/>
        </p:nvSpPr>
        <p:spPr>
          <a:xfrm>
            <a:off x="6461608" y="480060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Renewals and expiries flagged weeks ahead; certification logs and audit evidence always current.</a:t>
            </a:r>
            <a:endParaRPr lang="en-US" sz="1200" dirty="0"/>
          </a:p>
        </p:txBody>
      </p:sp>
      <p:sp>
        <p:nvSpPr>
          <p:cNvPr id="31" name="card"/>
          <p:cNvSpPr/>
          <p:nvPr/>
        </p:nvSpPr>
        <p:spPr>
          <a:xfrm>
            <a:off x="6461608" y="5440680"/>
            <a:ext cx="4824832" cy="411480"/>
          </a:xfrm>
          <a:prstGeom prst="roundRect">
            <a:avLst>
              <a:gd name="adj" fmla="val 17778"/>
            </a:avLst>
          </a:prstGeom>
          <a:solidFill>
            <a:schemeClr val="accent4"/>
          </a:solidFill>
          <a:ln/>
        </p:spPr>
      </p:sp>
      <p:sp>
        <p:nvSpPr>
          <p:cNvPr id="32" name="Text 30"/>
          <p:cNvSpPr txBox="1"/>
          <p:nvPr/>
        </p:nvSpPr>
        <p:spPr>
          <a:xfrm>
            <a:off x="6598768" y="544068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“What’s coming up in the next 60 days?”</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08</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Monthly KPI Check-In</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Go through this with your Coordinator or Account Manager once a month. Mark each KPI ✓ Met or ✗ Not yet.</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30936" y="1965960"/>
          <a:ext cx="10929823" cy="914400"/>
        </p:xfrm>
        <a:graphic>
          <a:graphicData uri="http://schemas.openxmlformats.org/drawingml/2006/table">
            <a:tbl>
              <a:tblPr/>
              <a:tblGrid>
                <a:gridCol w="3246120"/>
                <a:gridCol w="621792"/>
                <a:gridCol w="621792"/>
                <a:gridCol w="621792"/>
                <a:gridCol w="621792"/>
                <a:gridCol w="621792"/>
                <a:gridCol w="621792"/>
                <a:gridCol w="621792"/>
                <a:gridCol w="621792"/>
                <a:gridCol w="621792"/>
                <a:gridCol w="621792"/>
                <a:gridCol w="621792"/>
                <a:gridCol w="621792"/>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KPI</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M3</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M5</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M7</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M8</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M9</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M11</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Order Cycle On Time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Accuracy &amp; Self-Checking</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Accounts &amp; Timesheets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Compliance &amp; Readiness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6" name="callout"/>
          <p:cNvSpPr/>
          <p:nvPr/>
        </p:nvSpPr>
        <p:spPr>
          <a:xfrm>
            <a:off x="630936" y="5120640"/>
            <a:ext cx="10929823" cy="548640"/>
          </a:xfrm>
          <a:prstGeom prst="roundRect">
            <a:avLst>
              <a:gd name="adj" fmla="val 13333"/>
            </a:avLst>
          </a:prstGeom>
          <a:solidFill>
            <a:schemeClr val="accent4"/>
          </a:solidFill>
          <a:ln/>
        </p:spPr>
      </p:sp>
      <p:sp>
        <p:nvSpPr>
          <p:cNvPr id="7" name="Text 4"/>
          <p:cNvSpPr txBox="1"/>
          <p:nvPr/>
        </p:nvSpPr>
        <p:spPr>
          <a:xfrm>
            <a:off x="859536" y="512064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Two “Not yet” months in a row? Raise it with your Account Manager. We’ll coach, adjust the plan, or step in.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09</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Delegation List: Now and Next</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 running list of what comes off May’s plate. Move items across at each review, and add new ones any time.</a:t>
            </a:r>
            <a:endParaRPr lang="en-US" sz="1300" dirty="0"/>
          </a:p>
        </p:txBody>
      </p:sp>
      <p:sp>
        <p:nvSpPr>
          <p:cNvPr id="5" name="card"/>
          <p:cNvSpPr/>
          <p:nvPr/>
        </p:nvSpPr>
        <p:spPr>
          <a:xfrm>
            <a:off x="630936" y="1920240"/>
            <a:ext cx="3521354" cy="3246120"/>
          </a:xfrm>
          <a:prstGeom prst="roundRect">
            <a:avLst>
              <a:gd name="adj" fmla="val 2254"/>
            </a:avLst>
          </a:prstGeom>
          <a:solidFill>
            <a:schemeClr val="accent4"/>
          </a:solidFill>
          <a:ln/>
        </p:spPr>
      </p:sp>
      <p:sp>
        <p:nvSpPr>
          <p:cNvPr id="6" name="Text 4"/>
          <p:cNvSpPr txBox="1"/>
          <p:nvPr/>
        </p:nvSpPr>
        <p:spPr>
          <a:xfrm>
            <a:off x="905256"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DELEGATED</a:t>
            </a:r>
            <a:endParaRPr lang="en-US" sz="1050" dirty="0"/>
          </a:p>
        </p:txBody>
      </p:sp>
      <p:sp>
        <p:nvSpPr>
          <p:cNvPr id="7" name="card"/>
          <p:cNvSpPr/>
          <p:nvPr/>
        </p:nvSpPr>
        <p:spPr>
          <a:xfrm>
            <a:off x="859536" y="2468880"/>
            <a:ext cx="3064154" cy="512064"/>
          </a:xfrm>
          <a:prstGeom prst="roundRect">
            <a:avLst>
              <a:gd name="adj" fmla="val 14286"/>
            </a:avLst>
          </a:prstGeom>
          <a:solidFill>
            <a:schemeClr val="bg1"/>
          </a:solidFill>
          <a:ln w="12700">
            <a:solidFill>
              <a:schemeClr val="accent5"/>
            </a:solidFill>
            <a:prstDash val="solid"/>
          </a:ln>
        </p:spPr>
      </p:sp>
      <p:sp>
        <p:nvSpPr>
          <p:cNvPr id="8" name="Text 6"/>
          <p:cNvSpPr txBox="1"/>
          <p:nvPr/>
        </p:nvSpPr>
        <p:spPr>
          <a:xfrm>
            <a:off x="1042416"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Inbox &amp; Slack monitoring</a:t>
            </a:r>
            <a:endParaRPr lang="en-US" sz="1200" dirty="0"/>
          </a:p>
        </p:txBody>
      </p:sp>
      <p:sp>
        <p:nvSpPr>
          <p:cNvPr id="9" name="card"/>
          <p:cNvSpPr/>
          <p:nvPr/>
        </p:nvSpPr>
        <p:spPr>
          <a:xfrm>
            <a:off x="859536" y="3090672"/>
            <a:ext cx="3064154" cy="512064"/>
          </a:xfrm>
          <a:prstGeom prst="roundRect">
            <a:avLst>
              <a:gd name="adj" fmla="val 14286"/>
            </a:avLst>
          </a:prstGeom>
          <a:solidFill>
            <a:schemeClr val="bg1"/>
          </a:solidFill>
          <a:ln w="12700">
            <a:solidFill>
              <a:schemeClr val="accent5"/>
            </a:solidFill>
            <a:prstDash val="solid"/>
          </a:ln>
        </p:spPr>
      </p:sp>
      <p:sp>
        <p:nvSpPr>
          <p:cNvPr id="10" name="Text 8"/>
          <p:cNvSpPr txBox="1"/>
          <p:nvPr/>
        </p:nvSpPr>
        <p:spPr>
          <a:xfrm>
            <a:off x="1042416"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Draft invoices &amp; harvest picklists</a:t>
            </a:r>
            <a:endParaRPr lang="en-US" sz="1200" dirty="0"/>
          </a:p>
        </p:txBody>
      </p:sp>
      <p:sp>
        <p:nvSpPr>
          <p:cNvPr id="11" name="card"/>
          <p:cNvSpPr/>
          <p:nvPr/>
        </p:nvSpPr>
        <p:spPr>
          <a:xfrm>
            <a:off x="859536" y="3712464"/>
            <a:ext cx="3064154" cy="512064"/>
          </a:xfrm>
          <a:prstGeom prst="roundRect">
            <a:avLst>
              <a:gd name="adj" fmla="val 14286"/>
            </a:avLst>
          </a:prstGeom>
          <a:solidFill>
            <a:schemeClr val="bg1"/>
          </a:solidFill>
          <a:ln w="12700">
            <a:solidFill>
              <a:schemeClr val="accent5"/>
            </a:solidFill>
            <a:prstDash val="solid"/>
          </a:ln>
        </p:spPr>
      </p:sp>
      <p:sp>
        <p:nvSpPr>
          <p:cNvPr id="12" name="Text 10"/>
          <p:cNvSpPr txBox="1"/>
          <p:nvPr/>
        </p:nvSpPr>
        <p:spPr>
          <a:xfrm>
            <a:off x="1042416"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Customer order reminders</a:t>
            </a:r>
            <a:endParaRPr lang="en-US" sz="1200" dirty="0"/>
          </a:p>
        </p:txBody>
      </p:sp>
      <p:sp>
        <p:nvSpPr>
          <p:cNvPr id="13" name="card"/>
          <p:cNvSpPr/>
          <p:nvPr/>
        </p:nvSpPr>
        <p:spPr>
          <a:xfrm>
            <a:off x="4335170" y="1920240"/>
            <a:ext cx="3521354" cy="3246120"/>
          </a:xfrm>
          <a:prstGeom prst="roundRect">
            <a:avLst>
              <a:gd name="adj" fmla="val 2254"/>
            </a:avLst>
          </a:prstGeom>
          <a:solidFill>
            <a:schemeClr val="bg2"/>
          </a:solidFill>
          <a:ln/>
        </p:spPr>
      </p:sp>
      <p:sp>
        <p:nvSpPr>
          <p:cNvPr id="14" name="Text 12"/>
          <p:cNvSpPr txBox="1"/>
          <p:nvPr/>
        </p:nvSpPr>
        <p:spPr>
          <a:xfrm>
            <a:off x="4609490"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IN PROGRESS</a:t>
            </a:r>
            <a:endParaRPr lang="en-US" sz="1050" dirty="0"/>
          </a:p>
        </p:txBody>
      </p:sp>
      <p:sp>
        <p:nvSpPr>
          <p:cNvPr id="15" name="card"/>
          <p:cNvSpPr/>
          <p:nvPr/>
        </p:nvSpPr>
        <p:spPr>
          <a:xfrm>
            <a:off x="4563770" y="2468880"/>
            <a:ext cx="3064154" cy="512064"/>
          </a:xfrm>
          <a:prstGeom prst="roundRect">
            <a:avLst>
              <a:gd name="adj" fmla="val 14286"/>
            </a:avLst>
          </a:prstGeom>
          <a:solidFill>
            <a:schemeClr val="bg1"/>
          </a:solidFill>
          <a:ln w="12700">
            <a:solidFill>
              <a:schemeClr val="accent5"/>
            </a:solidFill>
            <a:prstDash val="solid"/>
          </a:ln>
        </p:spPr>
      </p:sp>
      <p:sp>
        <p:nvSpPr>
          <p:cNvPr id="16" name="Text 14"/>
          <p:cNvSpPr txBox="1"/>
          <p:nvPr/>
        </p:nvSpPr>
        <p:spPr>
          <a:xfrm>
            <a:off x="4746650"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Timesheet checks &amp; follow-up</a:t>
            </a:r>
            <a:endParaRPr lang="en-US" sz="1200" dirty="0"/>
          </a:p>
        </p:txBody>
      </p:sp>
      <p:sp>
        <p:nvSpPr>
          <p:cNvPr id="17" name="card"/>
          <p:cNvSpPr/>
          <p:nvPr/>
        </p:nvSpPr>
        <p:spPr>
          <a:xfrm>
            <a:off x="4563770" y="3090672"/>
            <a:ext cx="3064154" cy="512064"/>
          </a:xfrm>
          <a:prstGeom prst="roundRect">
            <a:avLst>
              <a:gd name="adj" fmla="val 14286"/>
            </a:avLst>
          </a:prstGeom>
          <a:solidFill>
            <a:schemeClr val="bg1"/>
          </a:solidFill>
          <a:ln w="12700">
            <a:solidFill>
              <a:schemeClr val="accent5"/>
            </a:solidFill>
            <a:prstDash val="solid"/>
          </a:ln>
        </p:spPr>
      </p:sp>
      <p:sp>
        <p:nvSpPr>
          <p:cNvPr id="18" name="Text 16"/>
          <p:cNvSpPr txBox="1"/>
          <p:nvPr/>
        </p:nvSpPr>
        <p:spPr>
          <a:xfrm>
            <a:off x="4746650"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Payables lists &amp; receipts</a:t>
            </a:r>
            <a:endParaRPr lang="en-US" sz="1200" dirty="0"/>
          </a:p>
        </p:txBody>
      </p:sp>
      <p:sp>
        <p:nvSpPr>
          <p:cNvPr id="19" name="card"/>
          <p:cNvSpPr/>
          <p:nvPr/>
        </p:nvSpPr>
        <p:spPr>
          <a:xfrm>
            <a:off x="4563770" y="3712464"/>
            <a:ext cx="3064154" cy="512064"/>
          </a:xfrm>
          <a:prstGeom prst="roundRect">
            <a:avLst>
              <a:gd name="adj" fmla="val 14286"/>
            </a:avLst>
          </a:prstGeom>
          <a:solidFill>
            <a:schemeClr val="bg1"/>
          </a:solidFill>
          <a:ln w="12700">
            <a:solidFill>
              <a:schemeClr val="accent5"/>
            </a:solidFill>
            <a:prstDash val="solid"/>
          </a:ln>
        </p:spPr>
      </p:sp>
      <p:sp>
        <p:nvSpPr>
          <p:cNvPr id="20" name="Text 18"/>
          <p:cNvSpPr txBox="1"/>
          <p:nvPr/>
        </p:nvSpPr>
        <p:spPr>
          <a:xfrm>
            <a:off x="4746650"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Mailers &amp; wholesale pricelist</a:t>
            </a:r>
            <a:endParaRPr lang="en-US" sz="1200" dirty="0"/>
          </a:p>
        </p:txBody>
      </p:sp>
      <p:sp>
        <p:nvSpPr>
          <p:cNvPr id="21" name="card"/>
          <p:cNvSpPr/>
          <p:nvPr/>
        </p:nvSpPr>
        <p:spPr>
          <a:xfrm>
            <a:off x="8039405" y="1920240"/>
            <a:ext cx="3521354" cy="3246120"/>
          </a:xfrm>
          <a:prstGeom prst="roundRect">
            <a:avLst>
              <a:gd name="adj" fmla="val 2254"/>
            </a:avLst>
          </a:prstGeom>
          <a:solidFill>
            <a:schemeClr val="bg1"/>
          </a:solidFill>
          <a:ln w="12700">
            <a:solidFill>
              <a:schemeClr val="accent5"/>
            </a:solidFill>
            <a:prstDash val="solid"/>
          </a:ln>
        </p:spPr>
      </p:sp>
      <p:sp>
        <p:nvSpPr>
          <p:cNvPr id="22" name="Text 20"/>
          <p:cNvSpPr txBox="1"/>
          <p:nvPr/>
        </p:nvSpPr>
        <p:spPr>
          <a:xfrm>
            <a:off x="8313725"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NEXT TO DELEGATE</a:t>
            </a:r>
            <a:endParaRPr lang="en-US" sz="1050" dirty="0"/>
          </a:p>
        </p:txBody>
      </p:sp>
      <p:sp>
        <p:nvSpPr>
          <p:cNvPr id="23" name="card"/>
          <p:cNvSpPr/>
          <p:nvPr/>
        </p:nvSpPr>
        <p:spPr>
          <a:xfrm>
            <a:off x="8268005" y="2468880"/>
            <a:ext cx="3064154" cy="512064"/>
          </a:xfrm>
          <a:prstGeom prst="roundRect">
            <a:avLst>
              <a:gd name="adj" fmla="val 14286"/>
            </a:avLst>
          </a:prstGeom>
          <a:solidFill>
            <a:schemeClr val="bg1"/>
          </a:solidFill>
          <a:ln w="12700">
            <a:solidFill>
              <a:schemeClr val="accent5"/>
            </a:solidFill>
            <a:prstDash val="solid"/>
          </a:ln>
        </p:spPr>
      </p:sp>
      <p:sp>
        <p:nvSpPr>
          <p:cNvPr id="24" name="Text 22"/>
          <p:cNvSpPr txBox="1"/>
          <p:nvPr/>
        </p:nvSpPr>
        <p:spPr>
          <a:xfrm>
            <a:off x="8450885"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AR calls on overdue accounts</a:t>
            </a:r>
            <a:endParaRPr lang="en-US" sz="1200" dirty="0"/>
          </a:p>
        </p:txBody>
      </p:sp>
      <p:sp>
        <p:nvSpPr>
          <p:cNvPr id="25" name="card"/>
          <p:cNvSpPr/>
          <p:nvPr/>
        </p:nvSpPr>
        <p:spPr>
          <a:xfrm>
            <a:off x="8268005" y="3090672"/>
            <a:ext cx="3064154" cy="512064"/>
          </a:xfrm>
          <a:prstGeom prst="roundRect">
            <a:avLst>
              <a:gd name="adj" fmla="val 14286"/>
            </a:avLst>
          </a:prstGeom>
          <a:solidFill>
            <a:schemeClr val="bg1"/>
          </a:solidFill>
          <a:ln w="12700">
            <a:solidFill>
              <a:schemeClr val="accent5"/>
            </a:solidFill>
            <a:prstDash val="solid"/>
          </a:ln>
        </p:spPr>
      </p:sp>
      <p:sp>
        <p:nvSpPr>
          <p:cNvPr id="26" name="Text 24"/>
          <p:cNvSpPr txBox="1"/>
          <p:nvPr/>
        </p:nvSpPr>
        <p:spPr>
          <a:xfrm>
            <a:off x="8450885"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HR records &amp; onboarding</a:t>
            </a:r>
            <a:endParaRPr lang="en-US" sz="1200" dirty="0"/>
          </a:p>
        </p:txBody>
      </p:sp>
      <p:sp>
        <p:nvSpPr>
          <p:cNvPr id="27" name="card"/>
          <p:cNvSpPr/>
          <p:nvPr/>
        </p:nvSpPr>
        <p:spPr>
          <a:xfrm>
            <a:off x="8268005" y="3712464"/>
            <a:ext cx="3064154" cy="512064"/>
          </a:xfrm>
          <a:prstGeom prst="roundRect">
            <a:avLst>
              <a:gd name="adj" fmla="val 14286"/>
            </a:avLst>
          </a:prstGeom>
          <a:solidFill>
            <a:schemeClr val="bg1"/>
          </a:solidFill>
          <a:ln w="12700">
            <a:solidFill>
              <a:schemeClr val="accent5"/>
            </a:solidFill>
            <a:prstDash val="solid"/>
          </a:ln>
        </p:spPr>
      </p:sp>
      <p:sp>
        <p:nvSpPr>
          <p:cNvPr id="28" name="Text 26"/>
          <p:cNvSpPr txBox="1"/>
          <p:nvPr/>
        </p:nvSpPr>
        <p:spPr>
          <a:xfrm>
            <a:off x="8450885"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Certification logs &amp; renewals</a:t>
            </a:r>
            <a:endParaRPr lang="en-US" sz="1200" dirty="0"/>
          </a:p>
        </p:txBody>
      </p:sp>
      <p:sp>
        <p:nvSpPr>
          <p:cNvPr id="29" name="card"/>
          <p:cNvSpPr/>
          <p:nvPr/>
        </p:nvSpPr>
        <p:spPr>
          <a:xfrm>
            <a:off x="8268005" y="4334256"/>
            <a:ext cx="3064154" cy="512064"/>
          </a:xfrm>
          <a:prstGeom prst="roundRect">
            <a:avLst>
              <a:gd name="adj" fmla="val 14286"/>
            </a:avLst>
          </a:prstGeom>
          <a:solidFill>
            <a:schemeClr val="bg1"/>
          </a:solidFill>
          <a:ln w="12700">
            <a:solidFill>
              <a:schemeClr val="accent5"/>
            </a:solidFill>
            <a:prstDash val="solid"/>
          </a:ln>
        </p:spPr>
      </p:sp>
      <p:sp>
        <p:nvSpPr>
          <p:cNvPr id="30" name="Text 28"/>
          <p:cNvSpPr txBox="1"/>
          <p:nvPr/>
        </p:nvSpPr>
        <p:spPr>
          <a:xfrm>
            <a:off x="8450885" y="4334256"/>
            <a:ext cx="2698394" cy="512064"/>
          </a:xfrm>
          <a:prstGeom prst="rect">
            <a:avLst/>
          </a:prstGeom>
          <a:noFill/>
          <a:ln/>
        </p:spPr>
        <p:txBody>
          <a:bodyPr wrap="square" lIns="0" tIns="0" rIns="0" bIns="0" rtlCol="0" anchor="ctr"/>
          <a:lstStyle/>
          <a:p>
            <a:pPr indent="0" marL="0">
              <a:buNone/>
            </a:pPr>
            <a:r>
              <a:rPr lang="en-US" sz="1200" i="1" dirty="0">
                <a:solidFill>
                  <a:schemeClr val="accent3"/>
                </a:solidFill>
              </a:rPr>
              <a:t>Add new items here at each review</a:t>
            </a:r>
            <a:endParaRPr lang="en-US" sz="1200" dirty="0"/>
          </a:p>
        </p:txBody>
      </p:sp>
      <p:sp>
        <p:nvSpPr>
          <p:cNvPr id="31" name="callout"/>
          <p:cNvSpPr/>
          <p:nvPr/>
        </p:nvSpPr>
        <p:spPr>
          <a:xfrm>
            <a:off x="630936" y="5394960"/>
            <a:ext cx="10929823" cy="548640"/>
          </a:xfrm>
          <a:prstGeom prst="roundRect">
            <a:avLst>
              <a:gd name="adj" fmla="val 13333"/>
            </a:avLst>
          </a:prstGeom>
          <a:solidFill>
            <a:schemeClr val="accent4"/>
          </a:solidFill>
          <a:ln/>
        </p:spPr>
      </p:sp>
      <p:sp>
        <p:nvSpPr>
          <p:cNvPr id="32" name="Text 30"/>
          <p:cNvSpPr txBox="1"/>
          <p:nvPr/>
        </p:nvSpPr>
        <p:spPr>
          <a:xfrm>
            <a:off x="859536" y="539496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When “Next to delegate” outgrows 20 hours a week, it’s time to talk about more hours. We’ll plan it with you.</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10</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SOP &amp; Knowledge Library</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Every process your Coordinator documents goes into the Admin Handbook, your living operating manual. It protects you if anything ever changes.</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30936" y="2057400"/>
          <a:ext cx="10929823" cy="914400"/>
        </p:xfrm>
        <a:graphic>
          <a:graphicData uri="http://schemas.openxmlformats.org/drawingml/2006/table">
            <a:tbl>
              <a:tblPr/>
              <a:tblGrid>
                <a:gridCol w="4206240"/>
                <a:gridCol w="2194560"/>
                <a:gridCol w="2926080"/>
                <a:gridCol w="160020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PROCESS</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LINK TO SOP</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LAST UPDATED</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Weekly admin schedule (Mon–Fri)</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Coordinator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Invoicing orders &amp; special pricing</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Coordinator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Harvest picklists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Coordinator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Timesheets &amp; payroll submission</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Coordinator + May</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Payables &amp; receipts (Hubdoc)</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Coordinator + May</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Onboarding &amp; offboarding checklists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Coordinator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Certification logs &amp; renewals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Coordinator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Wins Log &amp; Review Notes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Capture the moments that show the plan is working, and what we agreed at each review.</a:t>
            </a:r>
            <a:endParaRPr lang="en-US" sz="1300" dirty="0"/>
          </a:p>
        </p:txBody>
      </p:sp>
      <p:sp>
        <p:nvSpPr>
          <p:cNvPr id="5" name="Text 3"/>
          <p:cNvSpPr txBox="1"/>
          <p:nvPr/>
        </p:nvSpPr>
        <p:spPr>
          <a:xfrm>
            <a:off x="630936" y="1874520"/>
            <a:ext cx="36576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WINS LOG</a:t>
            </a:r>
            <a:endParaRPr lang="en-US" sz="10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30936" y="2194560"/>
          <a:ext cx="5577840" cy="914400"/>
        </p:xfrm>
        <a:graphic>
          <a:graphicData uri="http://schemas.openxmlformats.org/drawingml/2006/table">
            <a:tbl>
              <a:tblPr/>
              <a:tblGrid>
                <a:gridCol w="1005840"/>
                <a:gridCol w="3291840"/>
                <a:gridCol w="128016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DATE</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WIN</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ADDED BY</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50" dirty="0">
                          <a:solidFill>
                            <a:srgbClr val="6B7684"/>
                          </a:solidFill>
                          <a:latin typeface="Calibri" pitchFamily="34" charset="0"/>
                          <a:ea typeface="Calibri" pitchFamily="34" charset="-122"/>
                          <a:cs typeface="Calibri" pitchFamily="34" charset="-120"/>
                        </a:rPr>
                        <a:t>e.g. First Tuesday with every invoice out by 2pm</a:t>
                      </a: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50" dirty="0">
                          <a:solidFill>
                            <a:srgbClr val="6B7684"/>
                          </a:solidFill>
                          <a:latin typeface="Calibri" pitchFamily="34" charset="0"/>
                          <a:ea typeface="Calibri" pitchFamily="34" charset="-122"/>
                          <a:cs typeface="Calibri" pitchFamily="34" charset="-120"/>
                        </a:rPr>
                        <a:t>e.g. First month with no repeated errors</a:t>
                      </a: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7" name="Text 4"/>
          <p:cNvSpPr txBox="1"/>
          <p:nvPr/>
        </p:nvSpPr>
        <p:spPr>
          <a:xfrm>
            <a:off x="6437376" y="1874520"/>
            <a:ext cx="36576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REVIEW NOTES</a:t>
            </a:r>
            <a:endParaRPr lang="en-US" sz="105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437376" y="2194560"/>
          <a:ext cx="5123383" cy="914400"/>
        </p:xfrm>
        <a:graphic>
          <a:graphicData uri="http://schemas.openxmlformats.org/drawingml/2006/table">
            <a:tbl>
              <a:tblPr/>
              <a:tblGrid>
                <a:gridCol w="1280160"/>
                <a:gridCol w="3843223"/>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REVIEW</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WE AGREED</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Day 30</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Day 90</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Month 6</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Month 12</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12  ·  ONGOING COLLABORATION</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CAX Framework</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“This is where we support you and your Angel.” Not a transaction: the start of a long-term partnership.</a:t>
            </a:r>
            <a:endParaRPr lang="en-US" sz="1300" dirty="0"/>
          </a:p>
        </p:txBody>
      </p:sp>
      <p:sp>
        <p:nvSpPr>
          <p:cNvPr id="5" name="card"/>
          <p:cNvSpPr/>
          <p:nvPr/>
        </p:nvSpPr>
        <p:spPr>
          <a:xfrm>
            <a:off x="630936" y="1965960"/>
            <a:ext cx="5373472" cy="1691640"/>
          </a:xfrm>
          <a:prstGeom prst="roundRect">
            <a:avLst>
              <a:gd name="adj" fmla="val 4324"/>
            </a:avLst>
          </a:prstGeom>
          <a:solidFill>
            <a:schemeClr val="bg1"/>
          </a:solidFill>
          <a:ln w="12700">
            <a:solidFill>
              <a:schemeClr val="accent5"/>
            </a:solidFill>
            <a:prstDash val="solid"/>
          </a:ln>
        </p:spPr>
      </p:sp>
      <p:sp>
        <p:nvSpPr>
          <p:cNvPr id="6" name="cax C"/>
          <p:cNvSpPr/>
          <p:nvPr/>
        </p:nvSpPr>
        <p:spPr>
          <a:xfrm>
            <a:off x="905256" y="2240280"/>
            <a:ext cx="685800" cy="685800"/>
          </a:xfrm>
          <a:prstGeom prst="roundRect">
            <a:avLst>
              <a:gd name="adj" fmla="val 13333"/>
            </a:avLst>
          </a:prstGeom>
          <a:solidFill>
            <a:schemeClr val="accent1"/>
          </a:solidFill>
          <a:ln/>
        </p:spPr>
      </p:sp>
      <p:sp>
        <p:nvSpPr>
          <p:cNvPr id="7" name="Text 5"/>
          <p:cNvSpPr txBox="1"/>
          <p:nvPr/>
        </p:nvSpPr>
        <p:spPr>
          <a:xfrm>
            <a:off x="905256" y="22402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C</a:t>
            </a:r>
            <a:endParaRPr lang="en-US" sz="2600" dirty="0"/>
          </a:p>
        </p:txBody>
      </p:sp>
      <p:sp>
        <p:nvSpPr>
          <p:cNvPr id="8" name="Text 6"/>
          <p:cNvSpPr txBox="1"/>
          <p:nvPr/>
        </p:nvSpPr>
        <p:spPr>
          <a:xfrm>
            <a:off x="1819656" y="224028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Clarity</a:t>
            </a:r>
            <a:endParaRPr lang="en-US" sz="1600" dirty="0"/>
          </a:p>
        </p:txBody>
      </p:sp>
      <p:sp>
        <p:nvSpPr>
          <p:cNvPr id="9" name="Text 7"/>
          <p:cNvSpPr txBox="1"/>
          <p:nvPr/>
        </p:nvSpPr>
        <p:spPr>
          <a:xfrm>
            <a:off x="1819656" y="265176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Clear priorities across sales, accounts, HR and compliance admin, with expectations kept aligned as trust builds.</a:t>
            </a:r>
            <a:endParaRPr lang="en-US" sz="1200" dirty="0"/>
          </a:p>
        </p:txBody>
      </p:sp>
      <p:sp>
        <p:nvSpPr>
          <p:cNvPr id="10" name="card"/>
          <p:cNvSpPr/>
          <p:nvPr/>
        </p:nvSpPr>
        <p:spPr>
          <a:xfrm>
            <a:off x="6187288" y="1965960"/>
            <a:ext cx="5373472" cy="1691640"/>
          </a:xfrm>
          <a:prstGeom prst="roundRect">
            <a:avLst>
              <a:gd name="adj" fmla="val 4324"/>
            </a:avLst>
          </a:prstGeom>
          <a:solidFill>
            <a:schemeClr val="bg1"/>
          </a:solidFill>
          <a:ln w="12700">
            <a:solidFill>
              <a:schemeClr val="accent5"/>
            </a:solidFill>
            <a:prstDash val="solid"/>
          </a:ln>
        </p:spPr>
      </p:sp>
      <p:sp>
        <p:nvSpPr>
          <p:cNvPr id="11" name="cax A"/>
          <p:cNvSpPr/>
          <p:nvPr/>
        </p:nvSpPr>
        <p:spPr>
          <a:xfrm>
            <a:off x="6461608" y="2240280"/>
            <a:ext cx="685800" cy="685800"/>
          </a:xfrm>
          <a:prstGeom prst="roundRect">
            <a:avLst>
              <a:gd name="adj" fmla="val 13333"/>
            </a:avLst>
          </a:prstGeom>
          <a:solidFill>
            <a:schemeClr val="accent1"/>
          </a:solidFill>
          <a:ln/>
        </p:spPr>
      </p:sp>
      <p:sp>
        <p:nvSpPr>
          <p:cNvPr id="12" name="Text 10"/>
          <p:cNvSpPr txBox="1"/>
          <p:nvPr/>
        </p:nvSpPr>
        <p:spPr>
          <a:xfrm>
            <a:off x="6461608" y="22402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A</a:t>
            </a:r>
            <a:endParaRPr lang="en-US" sz="2600" dirty="0"/>
          </a:p>
        </p:txBody>
      </p:sp>
      <p:sp>
        <p:nvSpPr>
          <p:cNvPr id="13" name="Text 11"/>
          <p:cNvSpPr txBox="1"/>
          <p:nvPr/>
        </p:nvSpPr>
        <p:spPr>
          <a:xfrm>
            <a:off x="7376008" y="224028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Accountability</a:t>
            </a:r>
            <a:endParaRPr lang="en-US" sz="1600" dirty="0"/>
          </a:p>
        </p:txBody>
      </p:sp>
      <p:sp>
        <p:nvSpPr>
          <p:cNvPr id="14" name="Text 12"/>
          <p:cNvSpPr txBox="1"/>
          <p:nvPr/>
        </p:nvSpPr>
        <p:spPr>
          <a:xfrm>
            <a:off x="7376008" y="265176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Regular check-ins on accuracy, timeliness and follow-through. Gaps are addressed quickly through coaching.</a:t>
            </a:r>
            <a:endParaRPr lang="en-US" sz="1200" dirty="0"/>
          </a:p>
        </p:txBody>
      </p:sp>
      <p:sp>
        <p:nvSpPr>
          <p:cNvPr id="15" name="card"/>
          <p:cNvSpPr/>
          <p:nvPr/>
        </p:nvSpPr>
        <p:spPr>
          <a:xfrm>
            <a:off x="630936" y="3840480"/>
            <a:ext cx="5373472" cy="1691640"/>
          </a:xfrm>
          <a:prstGeom prst="roundRect">
            <a:avLst>
              <a:gd name="adj" fmla="val 4324"/>
            </a:avLst>
          </a:prstGeom>
          <a:solidFill>
            <a:schemeClr val="bg1"/>
          </a:solidFill>
          <a:ln w="12700">
            <a:solidFill>
              <a:schemeClr val="accent5"/>
            </a:solidFill>
            <a:prstDash val="solid"/>
          </a:ln>
        </p:spPr>
      </p:sp>
      <p:sp>
        <p:nvSpPr>
          <p:cNvPr id="16" name="cax E"/>
          <p:cNvSpPr/>
          <p:nvPr/>
        </p:nvSpPr>
        <p:spPr>
          <a:xfrm>
            <a:off x="905256" y="4114800"/>
            <a:ext cx="685800" cy="685800"/>
          </a:xfrm>
          <a:prstGeom prst="roundRect">
            <a:avLst>
              <a:gd name="adj" fmla="val 13333"/>
            </a:avLst>
          </a:prstGeom>
          <a:solidFill>
            <a:schemeClr val="accent1"/>
          </a:solidFill>
          <a:ln/>
        </p:spPr>
      </p:sp>
      <p:sp>
        <p:nvSpPr>
          <p:cNvPr id="17" name="Text 15"/>
          <p:cNvSpPr txBox="1"/>
          <p:nvPr/>
        </p:nvSpPr>
        <p:spPr>
          <a:xfrm>
            <a:off x="905256" y="4114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E</a:t>
            </a:r>
            <a:endParaRPr lang="en-US" sz="2600" dirty="0"/>
          </a:p>
        </p:txBody>
      </p:sp>
      <p:sp>
        <p:nvSpPr>
          <p:cNvPr id="18" name="Text 16"/>
          <p:cNvSpPr txBox="1"/>
          <p:nvPr/>
        </p:nvSpPr>
        <p:spPr>
          <a:xfrm>
            <a:off x="1819656" y="411480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Execution</a:t>
            </a:r>
            <a:endParaRPr lang="en-US" sz="1600" dirty="0"/>
          </a:p>
        </p:txBody>
      </p:sp>
      <p:sp>
        <p:nvSpPr>
          <p:cNvPr id="19" name="Text 17"/>
          <p:cNvSpPr txBox="1"/>
          <p:nvPr/>
        </p:nvSpPr>
        <p:spPr>
          <a:xfrm>
            <a:off x="1819656" y="452628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Structured workflows built on May’s Admin Handbook, so delivery stays consistent as scope expands.</a:t>
            </a:r>
            <a:endParaRPr lang="en-US" sz="1200" dirty="0"/>
          </a:p>
        </p:txBody>
      </p:sp>
      <p:sp>
        <p:nvSpPr>
          <p:cNvPr id="20" name="card"/>
          <p:cNvSpPr/>
          <p:nvPr/>
        </p:nvSpPr>
        <p:spPr>
          <a:xfrm>
            <a:off x="6187288" y="3840480"/>
            <a:ext cx="5373472" cy="1691640"/>
          </a:xfrm>
          <a:prstGeom prst="roundRect">
            <a:avLst>
              <a:gd name="adj" fmla="val 4324"/>
            </a:avLst>
          </a:prstGeom>
          <a:solidFill>
            <a:schemeClr val="bg1"/>
          </a:solidFill>
          <a:ln w="12700">
            <a:solidFill>
              <a:schemeClr val="accent5"/>
            </a:solidFill>
            <a:prstDash val="solid"/>
          </a:ln>
        </p:spPr>
      </p:sp>
      <p:sp>
        <p:nvSpPr>
          <p:cNvPr id="21" name="cax X"/>
          <p:cNvSpPr/>
          <p:nvPr/>
        </p:nvSpPr>
        <p:spPr>
          <a:xfrm>
            <a:off x="6461608" y="4114800"/>
            <a:ext cx="685800" cy="685800"/>
          </a:xfrm>
          <a:prstGeom prst="roundRect">
            <a:avLst>
              <a:gd name="adj" fmla="val 13333"/>
            </a:avLst>
          </a:prstGeom>
          <a:solidFill>
            <a:schemeClr val="accent1"/>
          </a:solidFill>
          <a:ln/>
        </p:spPr>
      </p:sp>
      <p:sp>
        <p:nvSpPr>
          <p:cNvPr id="22" name="Text 20"/>
          <p:cNvSpPr txBox="1"/>
          <p:nvPr/>
        </p:nvSpPr>
        <p:spPr>
          <a:xfrm>
            <a:off x="6461608" y="4114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X</a:t>
            </a:r>
            <a:endParaRPr lang="en-US" sz="2600" dirty="0"/>
          </a:p>
        </p:txBody>
      </p:sp>
      <p:sp>
        <p:nvSpPr>
          <p:cNvPr id="23" name="Text 21"/>
          <p:cNvSpPr txBox="1"/>
          <p:nvPr/>
        </p:nvSpPr>
        <p:spPr>
          <a:xfrm>
            <a:off x="7376008" y="411480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Performance Support</a:t>
            </a:r>
            <a:endParaRPr lang="en-US" sz="1600" dirty="0"/>
          </a:p>
        </p:txBody>
      </p:sp>
      <p:sp>
        <p:nvSpPr>
          <p:cNvPr id="24" name="Text 22"/>
          <p:cNvSpPr txBox="1"/>
          <p:nvPr/>
        </p:nvSpPr>
        <p:spPr>
          <a:xfrm>
            <a:off x="7376008" y="452628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If needed, targeted coaching and retraining. We step in fast to reset standards.</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13  ·  YOUR TEAM</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Outsourcing Angel Supports You</a:t>
            </a:r>
            <a:endParaRPr lang="en-US" sz="3000" dirty="0"/>
          </a:p>
        </p:txBody>
      </p:sp>
      <p:sp>
        <p:nvSpPr>
          <p:cNvPr id="4" name="card"/>
          <p:cNvSpPr/>
          <p:nvPr/>
        </p:nvSpPr>
        <p:spPr>
          <a:xfrm>
            <a:off x="630936" y="1508760"/>
            <a:ext cx="3521354" cy="3657600"/>
          </a:xfrm>
          <a:prstGeom prst="roundRect">
            <a:avLst>
              <a:gd name="adj" fmla="val 2077"/>
            </a:avLst>
          </a:prstGeom>
          <a:solidFill>
            <a:schemeClr val="bg1"/>
          </a:solidFill>
          <a:ln w="12700">
            <a:solidFill>
              <a:schemeClr val="accent5"/>
            </a:solidFill>
            <a:prstDash val="solid"/>
          </a:ln>
        </p:spPr>
      </p:sp>
      <p:sp>
        <p:nvSpPr>
          <p:cNvPr id="5" name="Text 3"/>
          <p:cNvSpPr txBox="1"/>
          <p:nvPr/>
        </p:nvSpPr>
        <p:spPr>
          <a:xfrm>
            <a:off x="905256"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SUPPORT TEAM</a:t>
            </a:r>
            <a:endParaRPr lang="en-US" sz="1050" dirty="0"/>
          </a:p>
        </p:txBody>
      </p:sp>
      <p:sp>
        <p:nvSpPr>
          <p:cNvPr id="6" name="Text 4"/>
          <p:cNvSpPr txBox="1"/>
          <p:nvPr/>
        </p:nvSpPr>
        <p:spPr>
          <a:xfrm>
            <a:off x="905256"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Account Manager</a:t>
            </a:r>
            <a:endParaRPr lang="en-US" sz="1250" dirty="0"/>
          </a:p>
          <a:p>
            <a:pPr indent="0" marL="0">
              <a:buNone/>
            </a:pPr>
            <a:r>
              <a:rPr lang="en-US" sz="1250" dirty="0">
                <a:solidFill>
                  <a:schemeClr val="accent3"/>
                </a:solidFill>
              </a:rPr>
              <a:t>your main contact for strategy and escalations</a:t>
            </a:r>
            <a:endParaRPr lang="en-US" sz="1250" dirty="0"/>
          </a:p>
        </p:txBody>
      </p:sp>
      <p:sp>
        <p:nvSpPr>
          <p:cNvPr id="7" name="Text 5"/>
          <p:cNvSpPr txBox="1"/>
          <p:nvPr/>
        </p:nvSpPr>
        <p:spPr>
          <a:xfrm>
            <a:off x="905256"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CAX team</a:t>
            </a:r>
            <a:endParaRPr lang="en-US" sz="1250" dirty="0"/>
          </a:p>
          <a:p>
            <a:pPr indent="0" marL="0">
              <a:buNone/>
            </a:pPr>
            <a:r>
              <a:rPr lang="en-US" sz="1250" dirty="0">
                <a:solidFill>
                  <a:schemeClr val="accent3"/>
                </a:solidFill>
              </a:rPr>
              <a:t>check-ins and relationship support</a:t>
            </a:r>
            <a:endParaRPr lang="en-US" sz="1250" dirty="0"/>
          </a:p>
        </p:txBody>
      </p:sp>
      <p:sp>
        <p:nvSpPr>
          <p:cNvPr id="8" name="Text 6"/>
          <p:cNvSpPr txBox="1"/>
          <p:nvPr/>
        </p:nvSpPr>
        <p:spPr>
          <a:xfrm>
            <a:off x="905256"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Team Leader</a:t>
            </a:r>
            <a:endParaRPr lang="en-US" sz="1250" dirty="0"/>
          </a:p>
          <a:p>
            <a:pPr indent="0" marL="0">
              <a:buNone/>
            </a:pPr>
            <a:r>
              <a:rPr lang="en-US" sz="1250" dirty="0">
                <a:solidFill>
                  <a:schemeClr val="accent3"/>
                </a:solidFill>
              </a:rPr>
              <a:t>works with your Coordinator directly, including training</a:t>
            </a:r>
            <a:endParaRPr lang="en-US" sz="1250" dirty="0"/>
          </a:p>
        </p:txBody>
      </p:sp>
      <p:sp>
        <p:nvSpPr>
          <p:cNvPr id="9" name="card"/>
          <p:cNvSpPr/>
          <p:nvPr/>
        </p:nvSpPr>
        <p:spPr>
          <a:xfrm>
            <a:off x="4335170" y="1508760"/>
            <a:ext cx="3521354" cy="3657600"/>
          </a:xfrm>
          <a:prstGeom prst="roundRect">
            <a:avLst>
              <a:gd name="adj" fmla="val 2077"/>
            </a:avLst>
          </a:prstGeom>
          <a:solidFill>
            <a:schemeClr val="bg1"/>
          </a:solidFill>
          <a:ln w="12700">
            <a:solidFill>
              <a:schemeClr val="accent5"/>
            </a:solidFill>
            <a:prstDash val="solid"/>
          </a:ln>
        </p:spPr>
      </p:sp>
      <p:sp>
        <p:nvSpPr>
          <p:cNvPr id="10" name="Text 8"/>
          <p:cNvSpPr txBox="1"/>
          <p:nvPr/>
        </p:nvSpPr>
        <p:spPr>
          <a:xfrm>
            <a:off x="4609490"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IF SOMETHING ISN’T WORKING</a:t>
            </a:r>
            <a:endParaRPr lang="en-US" sz="1050" dirty="0"/>
          </a:p>
        </p:txBody>
      </p:sp>
      <p:sp>
        <p:nvSpPr>
          <p:cNvPr id="11" name="Text 9"/>
          <p:cNvSpPr txBox="1"/>
          <p:nvPr/>
        </p:nvSpPr>
        <p:spPr>
          <a:xfrm>
            <a:off x="4609490"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Raise it any time</a:t>
            </a:r>
            <a:endParaRPr lang="en-US" sz="1250" dirty="0"/>
          </a:p>
          <a:p>
            <a:pPr indent="0" marL="0">
              <a:buNone/>
            </a:pPr>
            <a:r>
              <a:rPr lang="en-US" sz="1250" dirty="0">
                <a:solidFill>
                  <a:schemeClr val="accent3"/>
                </a:solidFill>
              </a:rPr>
              <a:t>no need to wait for a check-in</a:t>
            </a:r>
            <a:endParaRPr lang="en-US" sz="1250" dirty="0"/>
          </a:p>
        </p:txBody>
      </p:sp>
      <p:sp>
        <p:nvSpPr>
          <p:cNvPr id="12" name="Text 10"/>
          <p:cNvSpPr txBox="1"/>
          <p:nvPr/>
        </p:nvSpPr>
        <p:spPr>
          <a:xfrm>
            <a:off x="4609490"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fix it together</a:t>
            </a:r>
            <a:endParaRPr lang="en-US" sz="1250" dirty="0"/>
          </a:p>
          <a:p>
            <a:pPr indent="0" marL="0">
              <a:buNone/>
            </a:pPr>
            <a:r>
              <a:rPr lang="en-US" sz="1250" dirty="0">
                <a:solidFill>
                  <a:schemeClr val="accent3"/>
                </a:solidFill>
              </a:rPr>
              <a:t>investigate, coach and adjust this plan</a:t>
            </a:r>
            <a:endParaRPr lang="en-US" sz="1250" dirty="0"/>
          </a:p>
        </p:txBody>
      </p:sp>
      <p:sp>
        <p:nvSpPr>
          <p:cNvPr id="13" name="Text 11"/>
          <p:cNvSpPr txBox="1"/>
          <p:nvPr/>
        </p:nvSpPr>
        <p:spPr>
          <a:xfrm>
            <a:off x="4609490"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Not the right fit?</a:t>
            </a:r>
            <a:endParaRPr lang="en-US" sz="1250" dirty="0"/>
          </a:p>
          <a:p>
            <a:pPr indent="0" marL="0">
              <a:buNone/>
            </a:pPr>
            <a:r>
              <a:rPr lang="en-US" sz="1250" dirty="0">
                <a:solidFill>
                  <a:schemeClr val="accent3"/>
                </a:solidFill>
              </a:rPr>
              <a:t>free replacement any time, with a 1-week trial</a:t>
            </a:r>
            <a:endParaRPr lang="en-US" sz="1250" dirty="0"/>
          </a:p>
        </p:txBody>
      </p:sp>
      <p:sp>
        <p:nvSpPr>
          <p:cNvPr id="14" name="card"/>
          <p:cNvSpPr/>
          <p:nvPr/>
        </p:nvSpPr>
        <p:spPr>
          <a:xfrm>
            <a:off x="8039405" y="1508760"/>
            <a:ext cx="3521354" cy="3657600"/>
          </a:xfrm>
          <a:prstGeom prst="roundRect">
            <a:avLst>
              <a:gd name="adj" fmla="val 2077"/>
            </a:avLst>
          </a:prstGeom>
          <a:solidFill>
            <a:schemeClr val="accent4"/>
          </a:solidFill>
          <a:ln/>
        </p:spPr>
      </p:sp>
      <p:sp>
        <p:nvSpPr>
          <p:cNvPr id="15" name="Text 13"/>
          <p:cNvSpPr txBox="1"/>
          <p:nvPr/>
        </p:nvSpPr>
        <p:spPr>
          <a:xfrm>
            <a:off x="8313725"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IF SOMETHING IS WORKING</a:t>
            </a:r>
            <a:endParaRPr lang="en-US" sz="1050" dirty="0"/>
          </a:p>
        </p:txBody>
      </p:sp>
      <p:sp>
        <p:nvSpPr>
          <p:cNvPr id="16" name="Text 14"/>
          <p:cNvSpPr txBox="1"/>
          <p:nvPr/>
        </p:nvSpPr>
        <p:spPr>
          <a:xfrm>
            <a:off x="8313725"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build on it</a:t>
            </a:r>
            <a:endParaRPr lang="en-US" sz="1250" dirty="0"/>
          </a:p>
          <a:p>
            <a:pPr indent="0" marL="0">
              <a:buNone/>
            </a:pPr>
            <a:r>
              <a:rPr lang="en-US" sz="1250" dirty="0">
                <a:solidFill>
                  <a:schemeClr val="accent3"/>
                </a:solidFill>
              </a:rPr>
              <a:t>HR, compliance and payments as trust grows</a:t>
            </a:r>
            <a:endParaRPr lang="en-US" sz="1250" dirty="0"/>
          </a:p>
        </p:txBody>
      </p:sp>
      <p:sp>
        <p:nvSpPr>
          <p:cNvPr id="17" name="Text 15"/>
          <p:cNvSpPr txBox="1"/>
          <p:nvPr/>
        </p:nvSpPr>
        <p:spPr>
          <a:xfrm>
            <a:off x="8313725"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plan growth</a:t>
            </a:r>
            <a:endParaRPr lang="en-US" sz="1250" dirty="0"/>
          </a:p>
          <a:p>
            <a:pPr indent="0" marL="0">
              <a:buNone/>
            </a:pPr>
            <a:r>
              <a:rPr lang="en-US" sz="1250" dirty="0">
                <a:solidFill>
                  <a:schemeClr val="accent3"/>
                </a:solidFill>
              </a:rPr>
              <a:t>more hours as Conscious Ground grows</a:t>
            </a:r>
            <a:endParaRPr lang="en-US" sz="1250" dirty="0"/>
          </a:p>
        </p:txBody>
      </p:sp>
      <p:sp>
        <p:nvSpPr>
          <p:cNvPr id="18" name="Text 16"/>
          <p:cNvSpPr txBox="1"/>
          <p:nvPr/>
        </p:nvSpPr>
        <p:spPr>
          <a:xfrm>
            <a:off x="8313725"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celebrate it</a:t>
            </a:r>
            <a:endParaRPr lang="en-US" sz="1250" dirty="0"/>
          </a:p>
          <a:p>
            <a:pPr indent="0" marL="0">
              <a:buNone/>
            </a:pPr>
            <a:r>
              <a:rPr lang="en-US" sz="1250" dirty="0">
                <a:solidFill>
                  <a:schemeClr val="accent3"/>
                </a:solidFill>
              </a:rPr>
              <a:t>add it to your Wins Log</a:t>
            </a:r>
            <a:endParaRPr lang="en-US" sz="1250" dirty="0"/>
          </a:p>
        </p:txBody>
      </p:sp>
      <p:sp>
        <p:nvSpPr>
          <p:cNvPr id="19" name="callout"/>
          <p:cNvSpPr/>
          <p:nvPr/>
        </p:nvSpPr>
        <p:spPr>
          <a:xfrm>
            <a:off x="630936" y="5394960"/>
            <a:ext cx="10929823" cy="548640"/>
          </a:xfrm>
          <a:prstGeom prst="roundRect">
            <a:avLst>
              <a:gd name="adj" fmla="val 13333"/>
            </a:avLst>
          </a:prstGeom>
          <a:solidFill>
            <a:schemeClr val="accent4"/>
          </a:solidFill>
          <a:ln/>
        </p:spPr>
      </p:sp>
      <p:sp>
        <p:nvSpPr>
          <p:cNvPr id="20" name="Text 18"/>
          <p:cNvSpPr txBox="1"/>
          <p:nvPr/>
        </p:nvSpPr>
        <p:spPr>
          <a:xfrm>
            <a:off x="859536" y="539496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Included, ongoing: Angel Happiness Lifetime Guarantee, plus payroll, HR and insurance handled for you.</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THE GOAL</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More time to lead Conscious Ground</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Not someone to just do data entry, but a warm, self-managing right hand. May leads the farm and the team, while her Coordinator keeps every order, record and renewal accurate.</a:t>
            </a:r>
            <a:endParaRPr lang="en-US" sz="1500" dirty="0"/>
          </a:p>
          <a:p>
            <a:pPr indent="0" marL="0">
              <a:buNone/>
            </a:pPr>
            <a:endParaRPr lang="en-US" sz="1500" dirty="0"/>
          </a:p>
          <a:p>
            <a:pPr indent="0" marL="0">
              <a:buNone/>
            </a:pPr>
            <a:r>
              <a:rPr lang="en-US" sz="1500" dirty="0">
                <a:solidFill>
                  <a:srgbClr val="DBE3E6"/>
                </a:solidFill>
              </a:rPr>
              <a:t>This plan grows with you. See you at Day 30.</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06  ·  SAFEGUARDS</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Payroll &amp; Sensitive Information</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Yes, your Coordinator can handle payroll, timesheets and employment contracts, with clear access and approvals.</a:t>
            </a:r>
            <a:endParaRPr lang="en-US" sz="1300" dirty="0"/>
          </a:p>
        </p:txBody>
      </p:sp>
      <p:sp>
        <p:nvSpPr>
          <p:cNvPr id="5" name="card"/>
          <p:cNvSpPr/>
          <p:nvPr/>
        </p:nvSpPr>
        <p:spPr>
          <a:xfrm>
            <a:off x="630936" y="1965960"/>
            <a:ext cx="5373472" cy="1691640"/>
          </a:xfrm>
          <a:prstGeom prst="roundRect">
            <a:avLst>
              <a:gd name="adj" fmla="val 4324"/>
            </a:avLst>
          </a:prstGeom>
          <a:solidFill>
            <a:schemeClr val="bg1"/>
          </a:solidFill>
          <a:ln w="12700">
            <a:solidFill>
              <a:schemeClr val="accent5"/>
            </a:solidFill>
            <a:prstDash val="solid"/>
          </a:ln>
        </p:spPr>
      </p:sp>
      <p:sp>
        <p:nvSpPr>
          <p:cNvPr id="6" name="Text 4"/>
          <p:cNvSpPr txBox="1"/>
          <p:nvPr/>
        </p:nvSpPr>
        <p:spPr>
          <a:xfrm>
            <a:off x="905256"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YOUR COORDINATOR HANDLES</a:t>
            </a:r>
            <a:endParaRPr lang="en-US" sz="1050" dirty="0"/>
          </a:p>
        </p:txBody>
      </p:sp>
      <p:sp>
        <p:nvSpPr>
          <p:cNvPr id="7" name="Text 5"/>
          <p:cNvSpPr txBox="1"/>
          <p:nvPr/>
        </p:nvSpPr>
        <p:spPr>
          <a:xfrm>
            <a:off x="905256"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Timesheet checks and fortnightly submission, payroll preparation, employment contracts, onboarding and offboarding, and HR records in Employment Hero.</a:t>
            </a:r>
            <a:endParaRPr lang="en-US" sz="1250" dirty="0"/>
          </a:p>
        </p:txBody>
      </p:sp>
      <p:sp>
        <p:nvSpPr>
          <p:cNvPr id="8" name="card"/>
          <p:cNvSpPr/>
          <p:nvPr/>
        </p:nvSpPr>
        <p:spPr>
          <a:xfrm>
            <a:off x="6187288" y="1965960"/>
            <a:ext cx="5373472" cy="1691640"/>
          </a:xfrm>
          <a:prstGeom prst="roundRect">
            <a:avLst>
              <a:gd name="adj" fmla="val 4324"/>
            </a:avLst>
          </a:prstGeom>
          <a:solidFill>
            <a:schemeClr val="bg1"/>
          </a:solidFill>
          <a:ln w="12700">
            <a:solidFill>
              <a:schemeClr val="accent5"/>
            </a:solidFill>
            <a:prstDash val="solid"/>
          </a:ln>
        </p:spPr>
      </p:sp>
      <p:sp>
        <p:nvSpPr>
          <p:cNvPr id="9" name="Text 7"/>
          <p:cNvSpPr txBox="1"/>
          <p:nvPr/>
        </p:nvSpPr>
        <p:spPr>
          <a:xfrm>
            <a:off x="6461608"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ACCESS &amp; SECURITY</a:t>
            </a:r>
            <a:endParaRPr lang="en-US" sz="1050" dirty="0"/>
          </a:p>
        </p:txBody>
      </p:sp>
      <p:sp>
        <p:nvSpPr>
          <p:cNvPr id="10" name="Text 8"/>
          <p:cNvSpPr txBox="1"/>
          <p:nvPr/>
        </p:nvSpPr>
        <p:spPr>
          <a:xfrm>
            <a:off x="6461608"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Logins and card details shared through Keeper, never in emails or chat. A Conscious Ground work email, and view-only access to the bank account.</a:t>
            </a:r>
            <a:endParaRPr lang="en-US" sz="1250" dirty="0"/>
          </a:p>
        </p:txBody>
      </p:sp>
      <p:sp>
        <p:nvSpPr>
          <p:cNvPr id="11" name="card"/>
          <p:cNvSpPr/>
          <p:nvPr/>
        </p:nvSpPr>
        <p:spPr>
          <a:xfrm>
            <a:off x="630936" y="3840480"/>
            <a:ext cx="5373472" cy="1691640"/>
          </a:xfrm>
          <a:prstGeom prst="roundRect">
            <a:avLst>
              <a:gd name="adj" fmla="val 4324"/>
            </a:avLst>
          </a:prstGeom>
          <a:solidFill>
            <a:schemeClr val="bg1"/>
          </a:solidFill>
          <a:ln w="12700">
            <a:solidFill>
              <a:schemeClr val="accent5"/>
            </a:solidFill>
            <a:prstDash val="solid"/>
          </a:ln>
        </p:spPr>
      </p:sp>
      <p:sp>
        <p:nvSpPr>
          <p:cNvPr id="12" name="Text 10"/>
          <p:cNvSpPr txBox="1"/>
          <p:nvPr/>
        </p:nvSpPr>
        <p:spPr>
          <a:xfrm>
            <a:off x="905256"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APPROVALS &amp; PAYMENTS</a:t>
            </a:r>
            <a:endParaRPr lang="en-US" sz="1050" dirty="0"/>
          </a:p>
        </p:txBody>
      </p:sp>
      <p:sp>
        <p:nvSpPr>
          <p:cNvPr id="13" name="Text 11"/>
          <p:cNvSpPr txBox="1"/>
          <p:nvPr/>
        </p:nvSpPr>
        <p:spPr>
          <a:xfrm>
            <a:off x="905256"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The Coordinator prepares payments and payroll for May to review; May approves and releases. Agreed limits for small online purchases.</a:t>
            </a:r>
            <a:endParaRPr lang="en-US" sz="1250" dirty="0"/>
          </a:p>
        </p:txBody>
      </p:sp>
      <p:sp>
        <p:nvSpPr>
          <p:cNvPr id="14" name="card"/>
          <p:cNvSpPr/>
          <p:nvPr/>
        </p:nvSpPr>
        <p:spPr>
          <a:xfrm>
            <a:off x="6187288" y="3840480"/>
            <a:ext cx="5373472" cy="1691640"/>
          </a:xfrm>
          <a:prstGeom prst="roundRect">
            <a:avLst>
              <a:gd name="adj" fmla="val 4324"/>
            </a:avLst>
          </a:prstGeom>
          <a:solidFill>
            <a:schemeClr val="bg1"/>
          </a:solidFill>
          <a:ln w="12700">
            <a:solidFill>
              <a:schemeClr val="accent5"/>
            </a:solidFill>
            <a:prstDash val="solid"/>
          </a:ln>
        </p:spPr>
      </p:sp>
      <p:sp>
        <p:nvSpPr>
          <p:cNvPr id="15" name="Text 13"/>
          <p:cNvSpPr txBox="1"/>
          <p:nvPr/>
        </p:nvSpPr>
        <p:spPr>
          <a:xfrm>
            <a:off x="6461608"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CONFIDENTIALITY</a:t>
            </a:r>
            <a:endParaRPr lang="en-US" sz="1050" dirty="0"/>
          </a:p>
        </p:txBody>
      </p:sp>
      <p:sp>
        <p:nvSpPr>
          <p:cNvPr id="16" name="Text 14"/>
          <p:cNvSpPr txBox="1"/>
          <p:nvPr/>
        </p:nvSpPr>
        <p:spPr>
          <a:xfrm>
            <a:off x="6461608"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Signed NDA and confidentiality terms, personal and business records kept separate, and indemnity cover through Outsourcing Angel.</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A Freedom Plan">
  <a:themeElements>
    <a:clrScheme name="OA Freedom Plan">
      <a:dk1>
        <a:srgbClr val="212B35"/>
      </a:dk1>
      <a:lt1>
        <a:srgbClr val="FFFFFF"/>
      </a:lt1>
      <a:dk2>
        <a:srgbClr val="1B2530"/>
      </a:dk2>
      <a:lt2>
        <a:srgbClr val="F4F6F6"/>
      </a:lt2>
      <a:accent1>
        <a:srgbClr val="1F8A6D"/>
      </a:accent1>
      <a:accent2>
        <a:srgbClr val="2FAE8B"/>
      </a:accent2>
      <a:accent3>
        <a:srgbClr val="6B7684"/>
      </a:accent3>
      <a:accent4>
        <a:srgbClr val="E1F3EC"/>
      </a:accent4>
      <a:accent5>
        <a:srgbClr val="E6E9EA"/>
      </a:accent5>
      <a:accent6>
        <a:srgbClr val="E2A53D"/>
      </a:accent6>
      <a:hlink>
        <a:srgbClr val="1F8A6D"/>
      </a:hlink>
      <a:folHlink>
        <a:srgbClr val="6B7684"/>
      </a:folHlink>
    </a:clrScheme>
    <a:fontScheme name="OA Freedom Pl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Outsourcing Angel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Freedom Plan: May Ly, Conscious Ground Organics</dc:title>
  <dc:subject>PptxGenJS Presentation</dc:subject>
  <dc:creator>Gail Galima-Mendoza</dc:creator>
  <cp:lastModifiedBy>Gail Galima-Mendoza</cp:lastModifiedBy>
  <cp:revision>1</cp:revision>
  <dcterms:created xsi:type="dcterms:W3CDTF">2026-10-13T04:45:00Z</dcterms:created>
  <dcterms:modified xsi:type="dcterms:W3CDTF">2026-10-13T04:45:00Z</dcterms:modified>
</cp:coreProperties>
</file>