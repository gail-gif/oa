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7dd3d7cf-3277-f3fa-5399-2c0f7aaf5d74}">
          <p14:sldIdLst>
            <p14:sldId id="256"/>
            <p14:sldId id="257"/>
            <p14:sldId id="258"/>
          </p14:sldIdLst>
        </p14:section>
        <p14:section name="Our recommendation" id="{e785837e-93db-0c56-614b-9d0f45cc2d83}">
          <p14:sldIdLst>
            <p14:sldId id="259"/>
            <p14:sldId id="260"/>
            <p14:sldId id="261"/>
            <p14:sldId id="262"/>
            <p14:sldId id="263"/>
            <p14:sldId id="264"/>
            <p14:sldId id="265"/>
            <p14:sldId id="266"/>
            <p14:sldId id="267"/>
            <p14:sldId id="268"/>
            <p14:sldId id="269"/>
            <p14:sldId id="270"/>
            <p14:sldId id="271"/>
            <p14:sldId id="272"/>
          </p14:sldIdLst>
        </p14:section>
        <p14:section name="Your playbook" id="{6c4740d1-f2e2-04df-ca02-db1a29d2ea08}">
          <p14:sldIdLst>
            <p14:sldId id="273"/>
            <p14:sldId id="274"/>
            <p14:sldId id="275"/>
            <p14:sldId id="276"/>
            <p14:sldId id="277"/>
            <p14:sldId id="278"/>
          </p14:sldIdLst>
        </p14:section>
        <p14:section name="Over to you" id="{39847ed4-7941-0193-c11b-48686b38e1ab}">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edition of Tom Warriner’s Freedom Plan (Spinifex Energy). Built from the Freedom Audit on 2 September 2026, the Alignment Session on 6 October 2026 and Tom’s position description. Every amber box is an editable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input: amber note boxes, tick boxes (type X) and tables with amber cells. Tom can save and email the file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Every tile is a hyperlink. In slideshow mode, click to jump; in edit mode, Ctrl-click (Cmd-click on 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Three-month goal from the Alignment Session (6 Oct, 01:26): SME comparison reports, contracts and LOA signing, “the whole process, basically”. Accuracy: 14:00. C&amp;I and solar from the position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Quotes from the Fathom recordings: Freedom Audit 2 Sept (00:57, 03:00) and Alignment Session 6 Oct (01:26, 10:08, 19:09).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Freedom Audit 2 Sept (00:45–02:58, 06:21, 15:18) and Alignment Session 6 Oct (14:39, 17:36).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Leverage Gap Analysis from the original plan. Past report errors: Alignment Session (14:39).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 wants the Assistant to include him less as they master each step (Alignment Session 17:36). Brokerage software: three to six months (11:21).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SME process from the Alignment Session (6 Oct, 06:33–08:20). First call to warm leads could move later (12:29–13:06). 5–10 minutes per report (07:08).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SME and C&amp;I from the Freedom Audit (2 Sept, 00:57–02:58) and Alignment Session (01:26, 11:21). Xero, bookkeeping, solar designs and pricing sheets: Freedom Audit 03:00. Solar logistics from the position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Escalation from the Alignment Session (6 Oct, 16:34–18:53). Mistakes: 19:06–19:46.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C&amp;I process from the Freedom Audit (2 Sept, 02:15–04:44): LOA forms, retailer and metering data, upload to a separate brokerage portal, 8–10 prices back. Billing differs by state; tariff terminology. Vendor training: Alignment Session 11:21.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Freedom Audit (2 Sept, 03:00). Supplier, freight and subcontractor logistics from the position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Freedom Audit (02:02, 05:07–05:31) and Alignment Session (08:31, 10:20–11:47).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Traits from the Alignment Session (6 Oct, 09:25–10:20, 14:00–15:50, 17:36). Xero non-negotiable: 10:20.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Measures from Tom’s position description (Key Responsibilities &amp; Indicators of Effectiveness).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and terms from the Freedom Audit (2 Sept, 06:28–14:42): $1,200 less 10% EO discount = $997; $2,500–$3,000 total; monthly AUD invoicing; Pacific Indemnity; backup power; holidays paid or hours made up at the client’s choice; no time tracker by default. Deposit paid 1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spreadsheet and Loom: Alignment Session (6 Oct, 06:29, 08:31). WhatsApp from the position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Three-month goal: Alignment Session (01:26).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EOS: Freedom Audit (06:21). First hour of the day: Alignment Session (20:54). Mistakes: 19:06.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Scorecard. Start values captured at kick-off; can sit alongside Tom’s EOS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check-in grid. Cells are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Delegation board. When “Next to delegate” outgrows one Assistant’s hours, talk to your Account Manager about a second Angel.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page. When Tom sends the file back, Gail updates the Freedom Plan and position description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BF9"/>
        </a:solidFill>
      </p:bgPr>
    </p:bg>
    <p:spTree>
      <p:nvGrpSpPr>
        <p:cNvPr id="1" name=""/>
        <p:cNvGrpSpPr/>
        <p:nvPr/>
      </p:nvGrpSpPr>
      <p:grpSpPr>
        <a:xfrm>
          <a:off x="0" y="0"/>
          <a:ext cx="0" cy="0"/>
          <a:chOff x="0" y="0"/>
          <a:chExt cx="0" cy="0"/>
        </a:xfrm>
      </p:grpSpPr>
      <p:sp>
        <p:nvSpPr>
          <p:cNvPr id="2" name="Text 0"/>
          <p:cNvSpPr/>
          <p:nvPr/>
        </p:nvSpPr>
        <p:spPr>
          <a:xfrm>
            <a:off x="457200" y="6400800"/>
            <a:ext cx="7315200" cy="274320"/>
          </a:xfrm>
          <a:prstGeom prst="rect">
            <a:avLst/>
          </a:prstGeom>
          <a:noFill/>
          <a:ln/>
        </p:spPr>
        <p:txBody>
          <a:bodyPr wrap="square" rtlCol="0" anchor="ctr"/>
          <a:lstStyle/>
          <a:p>
            <a:pPr indent="0" marL="0">
              <a:buNone/>
            </a:pPr>
            <a:r>
              <a:rPr lang="en-US" sz="900" spc="200" kern="0" dirty="0">
                <a:solidFill>
                  <a:srgbClr val="6B7480"/>
                </a:solidFill>
                <a:latin typeface="Calibri" pitchFamily="34" charset="0"/>
                <a:ea typeface="Calibri" pitchFamily="34" charset="-122"/>
                <a:cs typeface="Calibri" pitchFamily="34" charset="-120"/>
              </a:rPr>
              <a:t>OUTSOURCING ANGEL  ·  THE FREEDOM PLAN™  ·  INTERACTIVE EDITION</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4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 Id="rId21" Type="http://schemas.openxmlformats.org/officeDocument/2006/relationships/slide" Target="slide19.xml"/><Relationship Id="rId22" Type="http://schemas.openxmlformats.org/officeDocument/2006/relationships/slide" Target="slide20.xml"/><Relationship Id="rId23" Type="http://schemas.openxmlformats.org/officeDocument/2006/relationships/slide" Target="slide21.xml"/><Relationship Id="rId24" Type="http://schemas.openxmlformats.org/officeDocument/2006/relationships/slide" Target="slide22.xml"/><Relationship Id="rId25" Type="http://schemas.openxmlformats.org/officeDocument/2006/relationships/slide" Target="slide23.xml"/><Relationship Id="rId26" Type="http://schemas.openxmlformats.org/officeDocument/2006/relationships/slide" Target="slide24.xml"/><Relationship Id="rId27" Type="http://schemas.openxmlformats.org/officeDocument/2006/relationships/slideLayout" Target="../slideLayouts/slideLayout2.xml"/><Relationship Id="rId2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10.xml"/><Relationship Id="rId4" Type="http://schemas.openxmlformats.org/officeDocument/2006/relationships/slide" Target="slide18.xml"/><Relationship Id="rId5" Type="http://schemas.openxmlformats.org/officeDocument/2006/relationships/slide" Target="slide24.xml"/><Relationship Id="rId6" Type="http://schemas.openxmlformats.org/officeDocument/2006/relationships/slideLayout" Target="../slideLayouts/slideLayout2.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24.xml"/><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692640" y="-1097280"/>
            <a:ext cx="3657600" cy="3657600"/>
          </a:xfrm>
          <a:prstGeom prst="ellipse">
            <a:avLst/>
          </a:prstGeom>
          <a:solidFill>
            <a:srgbClr val="243041"/>
          </a:solidFill>
          <a:ln w="12700">
            <a:solidFill>
              <a:srgbClr val="243041"/>
            </a:solidFill>
            <a:prstDash val="solid"/>
          </a:ln>
        </p:spPr>
      </p:sp>
      <p:sp>
        <p:nvSpPr>
          <p:cNvPr id="3" name="Shape 1"/>
          <p:cNvSpPr/>
          <p:nvPr/>
        </p:nvSpPr>
        <p:spPr>
          <a:xfrm>
            <a:off x="-914400" y="5120640"/>
            <a:ext cx="2743200" cy="2743200"/>
          </a:xfrm>
          <a:prstGeom prst="ellipse">
            <a:avLst/>
          </a:prstGeom>
          <a:solidFill>
            <a:srgbClr val="243041"/>
          </a:solidFill>
          <a:ln w="12700">
            <a:solidFill>
              <a:srgbClr val="243041"/>
            </a:solidFill>
            <a:prstDash val="solid"/>
          </a:ln>
        </p:spPr>
      </p:sp>
      <p:sp>
        <p:nvSpPr>
          <p:cNvPr id="4" name="Text 2"/>
          <p:cNvSpPr txBox="1"/>
          <p:nvPr/>
        </p:nvSpPr>
        <p:spPr>
          <a:xfrm>
            <a:off x="731520" y="1005840"/>
            <a:ext cx="7315200" cy="320040"/>
          </a:xfrm>
          <a:prstGeom prst="rect">
            <a:avLst/>
          </a:prstGeom>
          <a:noFill/>
          <a:ln/>
        </p:spPr>
        <p:txBody>
          <a:bodyPr wrap="square" lIns="0" tIns="0" rIns="0" bIns="0" rtlCol="0" anchor="ctr"/>
          <a:lstStyle/>
          <a:p>
            <a:pPr indent="0" marL="0">
              <a:buNone/>
            </a:pPr>
            <a:r>
              <a:rPr lang="en-US" sz="1200" b="1" spc="400" kern="0" dirty="0">
                <a:solidFill>
                  <a:srgbClr val="3CC29A"/>
                </a:solidFill>
                <a:latin typeface="Calibri" pitchFamily="34" charset="0"/>
                <a:ea typeface="Calibri" pitchFamily="34" charset="-122"/>
                <a:cs typeface="Calibri" pitchFamily="34" charset="-120"/>
              </a:rPr>
              <a:t>OUTSOURCING ANGEL  ·  INTERACTIVE EDITION</a:t>
            </a:r>
            <a:endParaRPr lang="en-US" sz="1200" dirty="0"/>
          </a:p>
        </p:txBody>
      </p:sp>
      <p:sp>
        <p:nvSpPr>
          <p:cNvPr id="5" name="Text 3"/>
          <p:cNvSpPr txBox="1"/>
          <p:nvPr/>
        </p:nvSpPr>
        <p:spPr>
          <a:xfrm>
            <a:off x="731520" y="1463040"/>
            <a:ext cx="9144000" cy="1005840"/>
          </a:xfrm>
          <a:prstGeom prst="rect">
            <a:avLst/>
          </a:prstGeom>
          <a:noFill/>
          <a:ln/>
        </p:spPr>
        <p:txBody>
          <a:bodyPr wrap="square" lIns="0" tIns="0" rIns="0" bIns="0" rtlCol="0" anchor="ctr"/>
          <a:lstStyle/>
          <a:p>
            <a:pPr indent="0" marL="0">
              <a:buNone/>
            </a:pPr>
            <a:r>
              <a:rPr lang="en-US" sz="5400" b="1" dirty="0">
                <a:solidFill>
                  <a:srgbClr val="F4F6F3"/>
                </a:solidFill>
                <a:latin typeface="Cambria" pitchFamily="34" charset="0"/>
                <a:ea typeface="Cambria" pitchFamily="34" charset="-122"/>
                <a:cs typeface="Cambria" pitchFamily="34" charset="-120"/>
              </a:rPr>
              <a:t>The Freedom </a:t>
            </a:r>
            <a:pPr indent="0" marL="0">
              <a:buNone/>
            </a:pPr>
            <a:r>
              <a:rPr lang="en-US" sz="5400" b="1" dirty="0">
                <a:solidFill>
                  <a:srgbClr val="3CC29A"/>
                </a:solidFill>
                <a:latin typeface="Cambria" pitchFamily="34" charset="0"/>
                <a:ea typeface="Cambria" pitchFamily="34" charset="-122"/>
                <a:cs typeface="Cambria" pitchFamily="34" charset="-120"/>
              </a:rPr>
              <a:t>Plan™</a:t>
            </a:r>
            <a:endParaRPr lang="en-US" sz="5400" dirty="0"/>
          </a:p>
        </p:txBody>
      </p:sp>
      <p:sp>
        <p:nvSpPr>
          <p:cNvPr id="6" name="Text 4"/>
          <p:cNvSpPr txBox="1"/>
          <p:nvPr/>
        </p:nvSpPr>
        <p:spPr>
          <a:xfrm>
            <a:off x="731520" y="2606040"/>
            <a:ext cx="9144000" cy="457200"/>
          </a:xfrm>
          <a:prstGeom prst="rect">
            <a:avLst/>
          </a:prstGeom>
          <a:noFill/>
          <a:ln/>
        </p:spPr>
        <p:txBody>
          <a:bodyPr wrap="square" lIns="0" tIns="0" rIns="0" bIns="0" rtlCol="0" anchor="ctr"/>
          <a:lstStyle/>
          <a:p>
            <a:pPr indent="0" marL="0">
              <a:buNone/>
            </a:pPr>
            <a:r>
              <a:rPr lang="en-US" sz="2000" dirty="0">
                <a:solidFill>
                  <a:srgbClr val="F4F6F3"/>
                </a:solidFill>
                <a:latin typeface="Calibri" pitchFamily="34" charset="0"/>
                <a:ea typeface="Calibri" pitchFamily="34" charset="-122"/>
                <a:cs typeface="Calibri" pitchFamily="34" charset="-120"/>
              </a:rPr>
              <a:t>Prepared for </a:t>
            </a:r>
            <a:pPr indent="0" marL="0">
              <a:buNone/>
            </a:pPr>
            <a:r>
              <a:rPr lang="en-US" sz="2000" b="1" dirty="0">
                <a:solidFill>
                  <a:srgbClr val="F4F6F3"/>
                </a:solidFill>
                <a:latin typeface="Calibri" pitchFamily="34" charset="0"/>
                <a:ea typeface="Calibri" pitchFamily="34" charset="-122"/>
                <a:cs typeface="Calibri" pitchFamily="34" charset="-120"/>
              </a:rPr>
              <a:t>Tom Warriner</a:t>
            </a:r>
            <a:pPr indent="0" marL="0">
              <a:buNone/>
            </a:pPr>
            <a:r>
              <a:rPr lang="en-US" sz="2000" dirty="0">
                <a:solidFill>
                  <a:srgbClr val="F4F6F3"/>
                </a:solidFill>
                <a:latin typeface="Calibri" pitchFamily="34" charset="0"/>
                <a:ea typeface="Calibri" pitchFamily="34" charset="-122"/>
                <a:cs typeface="Calibri" pitchFamily="34" charset="-120"/>
              </a:rPr>
              <a:t>  |  </a:t>
            </a:r>
            <a:pPr indent="0" marL="0">
              <a:buNone/>
            </a:pPr>
            <a:r>
              <a:rPr lang="en-US" sz="2000" b="1" dirty="0">
                <a:solidFill>
                  <a:srgbClr val="F4F6F3"/>
                </a:solidFill>
                <a:latin typeface="Calibri" pitchFamily="34" charset="0"/>
                <a:ea typeface="Calibri" pitchFamily="34" charset="-122"/>
                <a:cs typeface="Calibri" pitchFamily="34" charset="-120"/>
              </a:rPr>
              <a:t>Spinifex Energy</a:t>
            </a:r>
            <a:endParaRPr lang="en-US" sz="2000" dirty="0"/>
          </a:p>
        </p:txBody>
      </p:sp>
      <p:sp>
        <p:nvSpPr>
          <p:cNvPr id="7" name="Text 5"/>
          <p:cNvSpPr txBox="1"/>
          <p:nvPr/>
        </p:nvSpPr>
        <p:spPr>
          <a:xfrm>
            <a:off x="731520" y="3200400"/>
            <a:ext cx="7498080" cy="914400"/>
          </a:xfrm>
          <a:prstGeom prst="rect">
            <a:avLst/>
          </a:prstGeom>
          <a:noFill/>
          <a:ln/>
        </p:spPr>
        <p:txBody>
          <a:bodyPr wrap="square" lIns="0" tIns="0" rIns="0" bIns="0" rtlCol="0" anchor="t"/>
          <a:lstStyle/>
          <a:p>
            <a:pPr indent="0" marL="0">
              <a:buNone/>
            </a:pPr>
            <a:r>
              <a:rPr lang="en-US" sz="1500" dirty="0">
                <a:solidFill>
                  <a:srgbClr val="BFC9D3"/>
                </a:solidFill>
                <a:latin typeface="Calibri" pitchFamily="34" charset="0"/>
                <a:ea typeface="Calibri" pitchFamily="34" charset="-122"/>
                <a:cs typeface="Calibri" pitchFamily="34" charset="-120"/>
              </a:rPr>
              <a:t>Your plan for a Broker Administration Assistant, built from our Freedom Audit (2 September) and Alignment Session (6 October). This edition is yours to write in: add notes, tick what’s right, flag what isn’t, and send it back.</a:t>
            </a:r>
            <a:endParaRPr lang="en-US" sz="1500" dirty="0"/>
          </a:p>
        </p:txBody>
      </p:sp>
      <p:sp>
        <p:nvSpPr>
          <p:cNvPr id="8" name="Button: Start here"/>
          <p:cNvSpPr txBox="1"/>
          <p:nvPr/>
        </p:nvSpPr>
        <p:spPr>
          <a:xfrm>
            <a:off x="731520" y="4434840"/>
            <a:ext cx="2011680" cy="457200"/>
          </a:xfrm>
          <a:prstGeom prst="roundRect">
            <a:avLst>
              <a:gd name="adj" fmla="val 50000"/>
            </a:avLst>
          </a:prstGeom>
          <a:solidFill>
            <a:srgbClr val="187A5E"/>
          </a:solidFill>
          <a:ln/>
        </p:spPr>
        <p:txBody>
          <a:bodyPr wrap="square" lIns="0" tIns="0" rIns="0" bIns="0" rtlCol="0" anchor="ctr"/>
          <a:lstStyle/>
          <a:p>
            <a:pPr algn="ctr" indent="0" marL="0">
              <a:buNone/>
            </a:pPr>
            <a:r>
              <a:rPr lang="en-US" sz="1500" b="1" u="sng" dirty="0">
                <a:solidFill>
                  <a:srgbClr val="FFFFFF"/>
                </a:solidFill>
                <a:latin typeface="Calibri" pitchFamily="34" charset="0"/>
                <a:ea typeface="Calibri" pitchFamily="34" charset="-122"/>
                <a:cs typeface="Calibri" pitchFamily="34" charset="-120"/>
                <a:hlinkClick r:id="rId1" action="ppaction://hlinksldjump" tooltip="How to use this plan">
                  <a:extLst>
                    <a:ext uri="{A12FA001-AC4F-418D-AE19-62706E023703}">
                      <ahyp:hlinkClr xmlns:ahyp="http://schemas.microsoft.com/office/drawing/2018/hyperlinkcolor" val="tx"/>
                    </a:ext>
                  </a:extLst>
                </a:hlinkClick>
              </a:rPr>
              <a:t>Start here  →</a:t>
            </a:r>
            <a:endParaRPr lang="en-US" sz="1500" dirty="0"/>
          </a:p>
        </p:txBody>
      </p:sp>
      <p:sp>
        <p:nvSpPr>
          <p:cNvPr id="9" name="Button: Menu"/>
          <p:cNvSpPr txBox="1"/>
          <p:nvPr/>
        </p:nvSpPr>
        <p:spPr>
          <a:xfrm>
            <a:off x="2926080" y="4434840"/>
            <a:ext cx="2194560" cy="457200"/>
          </a:xfrm>
          <a:prstGeom prst="roundRect">
            <a:avLst>
              <a:gd name="adj" fmla="val 50000"/>
            </a:avLst>
          </a:prstGeom>
          <a:solidFill>
            <a:srgbClr val="243041"/>
          </a:solidFill>
          <a:ln/>
        </p:spPr>
        <p:txBody>
          <a:bodyPr wrap="square" lIns="0" tIns="0" rIns="0" bIns="0" rtlCol="0" anchor="ctr"/>
          <a:lstStyle/>
          <a:p>
            <a:pPr algn="ctr" indent="0" marL="0">
              <a:buNone/>
            </a:pPr>
            <a:r>
              <a:rPr lang="en-US" sz="1500" u="sng" dirty="0">
                <a:solidFill>
                  <a:srgbClr val="F4F6F3"/>
                </a:solidFill>
                <a:latin typeface="Calibri" pitchFamily="34" charset="0"/>
                <a:ea typeface="Calibri" pitchFamily="34" charset="-122"/>
                <a:cs typeface="Calibri" pitchFamily="34" charset="-120"/>
                <a:hlinkClick r:id="rId2" action="ppaction://hlinksldjump" tooltip="Menu">
                  <a:extLst>
                    <a:ext uri="{A12FA001-AC4F-418D-AE19-62706E023703}">
                      <ahyp:hlinkClr xmlns:ahyp="http://schemas.microsoft.com/office/drawing/2018/hyperlinkcolor" val="tx"/>
                    </a:ext>
                  </a:extLst>
                </a:hlinkClick>
              </a:rPr>
              <a:t>Jump to the menu</a:t>
            </a:r>
            <a:endParaRPr lang="en-US" sz="1500" dirty="0"/>
          </a:p>
        </p:txBody>
      </p:sp>
      <p:sp>
        <p:nvSpPr>
          <p:cNvPr id="10" name="Text 8"/>
          <p:cNvSpPr txBox="1"/>
          <p:nvPr/>
        </p:nvSpPr>
        <p:spPr>
          <a:xfrm>
            <a:off x="731520" y="6126480"/>
            <a:ext cx="7315200" cy="274320"/>
          </a:xfrm>
          <a:prstGeom prst="rect">
            <a:avLst/>
          </a:prstGeom>
          <a:noFill/>
          <a:ln/>
        </p:spPr>
        <p:txBody>
          <a:bodyPr wrap="square" lIns="0" tIns="0" rIns="0" bIns="0" rtlCol="0" anchor="ctr"/>
          <a:lstStyle/>
          <a:p>
            <a:pPr indent="0" marL="0">
              <a:buNone/>
            </a:pPr>
            <a:r>
              <a:rPr lang="en-US" sz="1100" dirty="0">
                <a:solidFill>
                  <a:srgbClr val="9AA6B2"/>
                </a:solidFill>
                <a:latin typeface="Calibri" pitchFamily="34" charset="0"/>
                <a:ea typeface="Calibri" pitchFamily="34" charset="-122"/>
                <a:cs typeface="Calibri" pitchFamily="34" charset="-120"/>
              </a:rPr>
              <a:t>October 2026  ·  Prepared by Gail Galima-Mendoza, Outsourcing Angel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GETTING STARTED</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How to use this interactive plan</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Four things to know. It takes two minutes.</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828800"/>
            <a:ext cx="2697480" cy="2331720"/>
          </a:xfrm>
          <a:prstGeom prst="roundRect">
            <a:avLst>
              <a:gd name="adj" fmla="val 3137"/>
            </a:avLst>
          </a:prstGeom>
          <a:solidFill>
            <a:srgbClr val="FFFFFF"/>
          </a:solidFill>
          <a:ln w="9525">
            <a:solidFill>
              <a:srgbClr val="DDE4E0"/>
            </a:solidFill>
            <a:prstDash val="solid"/>
          </a:ln>
        </p:spPr>
      </p:sp>
      <p:sp>
        <p:nvSpPr>
          <p:cNvPr id="11" name="Text 9"/>
          <p:cNvSpPr txBox="1"/>
          <p:nvPr/>
        </p:nvSpPr>
        <p:spPr>
          <a:xfrm>
            <a:off x="685800"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685800"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Jump around</a:t>
            </a:r>
            <a:endParaRPr lang="en-US" sz="1700" dirty="0"/>
          </a:p>
        </p:txBody>
      </p:sp>
      <p:sp>
        <p:nvSpPr>
          <p:cNvPr id="13" name="Text 11"/>
          <p:cNvSpPr txBox="1"/>
          <p:nvPr/>
        </p:nvSpPr>
        <p:spPr>
          <a:xfrm>
            <a:off x="685800"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Click the tabs at the top right of every slide, or any tile on the Menu, to go straight to a section.</a:t>
            </a:r>
            <a:endParaRPr lang="en-US" sz="1300" dirty="0"/>
          </a:p>
        </p:txBody>
      </p:sp>
      <p:sp>
        <p:nvSpPr>
          <p:cNvPr id="14" name="Card"/>
          <p:cNvSpPr/>
          <p:nvPr/>
        </p:nvSpPr>
        <p:spPr>
          <a:xfrm>
            <a:off x="3319272" y="1828800"/>
            <a:ext cx="2697480" cy="2331720"/>
          </a:xfrm>
          <a:prstGeom prst="roundRect">
            <a:avLst>
              <a:gd name="adj" fmla="val 3137"/>
            </a:avLst>
          </a:prstGeom>
          <a:solidFill>
            <a:srgbClr val="FFFFFF"/>
          </a:solidFill>
          <a:ln w="9525">
            <a:solidFill>
              <a:srgbClr val="DDE4E0"/>
            </a:solidFill>
            <a:prstDash val="solid"/>
          </a:ln>
        </p:spPr>
      </p:sp>
      <p:sp>
        <p:nvSpPr>
          <p:cNvPr id="15" name="Text 13"/>
          <p:cNvSpPr txBox="1"/>
          <p:nvPr/>
        </p:nvSpPr>
        <p:spPr>
          <a:xfrm>
            <a:off x="3547872"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3547872"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Type your notes</a:t>
            </a:r>
            <a:endParaRPr lang="en-US" sz="1700" dirty="0"/>
          </a:p>
        </p:txBody>
      </p:sp>
      <p:sp>
        <p:nvSpPr>
          <p:cNvPr id="17" name="Text 15"/>
          <p:cNvSpPr txBox="1"/>
          <p:nvPr/>
        </p:nvSpPr>
        <p:spPr>
          <a:xfrm>
            <a:off x="3547872"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Click inside an amber box, delete the grey prompt and type. Boxes grow as you write.</a:t>
            </a:r>
            <a:endParaRPr lang="en-US" sz="1300" dirty="0"/>
          </a:p>
        </p:txBody>
      </p:sp>
      <p:sp>
        <p:nvSpPr>
          <p:cNvPr id="18" name="Card"/>
          <p:cNvSpPr/>
          <p:nvPr/>
        </p:nvSpPr>
        <p:spPr>
          <a:xfrm>
            <a:off x="6181344" y="1828800"/>
            <a:ext cx="2697480" cy="2331720"/>
          </a:xfrm>
          <a:prstGeom prst="roundRect">
            <a:avLst>
              <a:gd name="adj" fmla="val 3137"/>
            </a:avLst>
          </a:prstGeom>
          <a:solidFill>
            <a:srgbClr val="FFFFFF"/>
          </a:solidFill>
          <a:ln w="9525">
            <a:solidFill>
              <a:srgbClr val="DDE4E0"/>
            </a:solidFill>
            <a:prstDash val="solid"/>
          </a:ln>
        </p:spPr>
      </p:sp>
      <p:sp>
        <p:nvSpPr>
          <p:cNvPr id="19" name="Text 17"/>
          <p:cNvSpPr txBox="1"/>
          <p:nvPr/>
        </p:nvSpPr>
        <p:spPr>
          <a:xfrm>
            <a:off x="6409944"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6409944"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Tick with an X</a:t>
            </a:r>
            <a:endParaRPr lang="en-US" sz="1700" dirty="0"/>
          </a:p>
        </p:txBody>
      </p:sp>
      <p:sp>
        <p:nvSpPr>
          <p:cNvPr id="21" name="Text 19"/>
          <p:cNvSpPr txBox="1"/>
          <p:nvPr/>
        </p:nvSpPr>
        <p:spPr>
          <a:xfrm>
            <a:off x="6409944"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Click inside a small square and type X. Use the same for 1–5 ratings.</a:t>
            </a:r>
            <a:endParaRPr lang="en-US" sz="1300" dirty="0"/>
          </a:p>
        </p:txBody>
      </p:sp>
      <p:sp>
        <p:nvSpPr>
          <p:cNvPr id="22" name="Card"/>
          <p:cNvSpPr/>
          <p:nvPr/>
        </p:nvSpPr>
        <p:spPr>
          <a:xfrm>
            <a:off x="9043416" y="1828800"/>
            <a:ext cx="2697480" cy="2331720"/>
          </a:xfrm>
          <a:prstGeom prst="roundRect">
            <a:avLst>
              <a:gd name="adj" fmla="val 3137"/>
            </a:avLst>
          </a:prstGeom>
          <a:solidFill>
            <a:srgbClr val="FFFFFF"/>
          </a:solidFill>
          <a:ln w="9525">
            <a:solidFill>
              <a:srgbClr val="DDE4E0"/>
            </a:solidFill>
            <a:prstDash val="solid"/>
          </a:ln>
        </p:spPr>
      </p:sp>
      <p:sp>
        <p:nvSpPr>
          <p:cNvPr id="23" name="Text 21"/>
          <p:cNvSpPr txBox="1"/>
          <p:nvPr/>
        </p:nvSpPr>
        <p:spPr>
          <a:xfrm>
            <a:off x="9272016" y="205740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9272016" y="2560320"/>
            <a:ext cx="22860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Send it back</a:t>
            </a:r>
            <a:endParaRPr lang="en-US" sz="1700" dirty="0"/>
          </a:p>
        </p:txBody>
      </p:sp>
      <p:sp>
        <p:nvSpPr>
          <p:cNvPr id="25" name="Text 23"/>
          <p:cNvSpPr txBox="1"/>
          <p:nvPr/>
        </p:nvSpPr>
        <p:spPr>
          <a:xfrm>
            <a:off x="9272016" y="2971800"/>
            <a:ext cx="2286000" cy="109728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Save the file and email it to Gail, or bring it to our next call. We’ll update your plan from it.</a:t>
            </a:r>
            <a:endParaRPr lang="en-US" sz="1300" dirty="0"/>
          </a:p>
        </p:txBody>
      </p:sp>
      <p:sp>
        <p:nvSpPr>
          <p:cNvPr id="26" name="Text 24"/>
          <p:cNvSpPr txBox="1"/>
          <p:nvPr/>
        </p:nvSpPr>
        <p:spPr>
          <a:xfrm>
            <a:off x="457200" y="448056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TRY IT HERE</a:t>
            </a:r>
            <a:endParaRPr lang="en-US" sz="1000" dirty="0"/>
          </a:p>
        </p:txBody>
      </p:sp>
      <p:sp>
        <p:nvSpPr>
          <p:cNvPr id="27" name="Input: Your first note"/>
          <p:cNvSpPr txBox="1"/>
          <p:nvPr/>
        </p:nvSpPr>
        <p:spPr>
          <a:xfrm>
            <a:off x="457200" y="4754880"/>
            <a:ext cx="5577840" cy="13258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FIRST NOTE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Click here, delete this text and type anything…</a:t>
            </a:r>
            <a:endParaRPr lang="en-US" sz="900" dirty="0"/>
          </a:p>
        </p:txBody>
      </p:sp>
      <p:sp>
        <p:nvSpPr>
          <p:cNvPr id="28" name="Card"/>
          <p:cNvSpPr/>
          <p:nvPr/>
        </p:nvSpPr>
        <p:spPr>
          <a:xfrm>
            <a:off x="6263640" y="4754880"/>
            <a:ext cx="5468112" cy="1325880"/>
          </a:xfrm>
          <a:prstGeom prst="roundRect">
            <a:avLst>
              <a:gd name="adj" fmla="val 5517"/>
            </a:avLst>
          </a:prstGeom>
          <a:solidFill>
            <a:srgbClr val="F1F4F2"/>
          </a:solidFill>
          <a:ln w="9525">
            <a:solidFill>
              <a:srgbClr val="DDE4E0"/>
            </a:solidFill>
            <a:prstDash val="solid"/>
          </a:ln>
        </p:spPr>
      </p:sp>
      <p:sp>
        <p:nvSpPr>
          <p:cNvPr id="29" name="Tick box: Type an X in this box to tick it"/>
          <p:cNvSpPr txBox="1"/>
          <p:nvPr/>
        </p:nvSpPr>
        <p:spPr>
          <a:xfrm>
            <a:off x="6492240" y="49560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6784848" y="4937760"/>
            <a:ext cx="38221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Type an X in this box to tick it</a:t>
            </a:r>
            <a:endParaRPr lang="en-US" sz="1200" dirty="0"/>
          </a:p>
        </p:txBody>
      </p:sp>
      <p:sp>
        <p:nvSpPr>
          <p:cNvPr id="31" name="Text 29"/>
          <p:cNvSpPr txBox="1"/>
          <p:nvPr/>
        </p:nvSpPr>
        <p:spPr>
          <a:xfrm>
            <a:off x="6492240" y="5349240"/>
            <a:ext cx="5029200" cy="64008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Tip: type in normal editing view, not slideshow mode. Works in PowerPoint, Keynote and Google Slides.</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MENU</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Where would you like to go?</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Click any tile. Every slide has tabs to bring you back here.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Text 8"/>
          <p:cNvSpPr txBox="1"/>
          <p:nvPr/>
        </p:nvSpPr>
        <p:spPr>
          <a:xfrm>
            <a:off x="457200" y="178308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OUR RECOMMENDATION</a:t>
            </a:r>
            <a:endParaRPr lang="en-US" sz="1000" dirty="0"/>
          </a:p>
        </p:txBody>
      </p:sp>
      <p:sp>
        <p:nvSpPr>
          <p:cNvPr id="11" name="Menu tile: The goal"/>
          <p:cNvSpPr txBox="1"/>
          <p:nvPr/>
        </p:nvSpPr>
        <p:spPr>
          <a:xfrm>
            <a:off x="457200"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6" action="ppaction://hlinksldjump" tooltip="Go to The goal">
                  <a:extLst>
                    <a:ext uri="{A12FA001-AC4F-418D-AE19-62706E023703}">
                      <ahyp:hlinkClr xmlns:ahyp="http://schemas.microsoft.com/office/drawing/2018/hyperlinkcolor" val="tx"/>
                    </a:ext>
                  </a:extLst>
                </a:hlinkClick>
              </a:rPr>
              <a:t>The goal</a:t>
            </a:r>
            <a:endParaRPr lang="en-US" sz="1200" dirty="0"/>
          </a:p>
        </p:txBody>
      </p:sp>
      <p:sp>
        <p:nvSpPr>
          <p:cNvPr id="12" name="Menu tile: What we heard"/>
          <p:cNvSpPr txBox="1"/>
          <p:nvPr/>
        </p:nvSpPr>
        <p:spPr>
          <a:xfrm>
            <a:off x="2340864"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7" action="ppaction://hlinksldjump" tooltip="Go to What we heard">
                  <a:extLst>
                    <a:ext uri="{A12FA001-AC4F-418D-AE19-62706E023703}">
                      <ahyp:hlinkClr xmlns:ahyp="http://schemas.microsoft.com/office/drawing/2018/hyperlinkcolor" val="tx"/>
                    </a:ext>
                  </a:extLst>
                </a:hlinkClick>
              </a:rPr>
              <a:t>What we heard</a:t>
            </a:r>
            <a:endParaRPr lang="en-US" sz="1200" dirty="0"/>
          </a:p>
        </p:txBody>
      </p:sp>
      <p:sp>
        <p:nvSpPr>
          <p:cNvPr id="13" name="Menu tile: Key observations"/>
          <p:cNvSpPr txBox="1"/>
          <p:nvPr/>
        </p:nvSpPr>
        <p:spPr>
          <a:xfrm>
            <a:off x="4224528"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8" action="ppaction://hlinksldjump" tooltip="Go to Key observations">
                  <a:extLst>
                    <a:ext uri="{A12FA001-AC4F-418D-AE19-62706E023703}">
                      <ahyp:hlinkClr xmlns:ahyp="http://schemas.microsoft.com/office/drawing/2018/hyperlinkcolor" val="tx"/>
                    </a:ext>
                  </a:extLst>
                </a:hlinkClick>
              </a:rPr>
              <a:t>Key observations</a:t>
            </a:r>
            <a:endParaRPr lang="en-US" sz="1200" dirty="0"/>
          </a:p>
        </p:txBody>
      </p:sp>
      <p:sp>
        <p:nvSpPr>
          <p:cNvPr id="14" name="Menu tile: Leverage gap"/>
          <p:cNvSpPr txBox="1"/>
          <p:nvPr/>
        </p:nvSpPr>
        <p:spPr>
          <a:xfrm>
            <a:off x="6108192"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9" action="ppaction://hlinksldjump" tooltip="Go to Leverage gap">
                  <a:extLst>
                    <a:ext uri="{A12FA001-AC4F-418D-AE19-62706E023703}">
                      <ahyp:hlinkClr xmlns:ahyp="http://schemas.microsoft.com/office/drawing/2018/hyperlinkcolor" val="tx"/>
                    </a:ext>
                  </a:extLst>
                </a:hlinkClick>
              </a:rPr>
              <a:t>Leverage gap</a:t>
            </a:r>
            <a:endParaRPr lang="en-US" sz="1200" dirty="0"/>
          </a:p>
        </p:txBody>
      </p:sp>
      <p:sp>
        <p:nvSpPr>
          <p:cNvPr id="15" name="Menu tile: Freedom Stage"/>
          <p:cNvSpPr txBox="1"/>
          <p:nvPr/>
        </p:nvSpPr>
        <p:spPr>
          <a:xfrm>
            <a:off x="7991856"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0" action="ppaction://hlinksldjump" tooltip="Go to Freedom Stage">
                  <a:extLst>
                    <a:ext uri="{A12FA001-AC4F-418D-AE19-62706E023703}">
                      <ahyp:hlinkClr xmlns:ahyp="http://schemas.microsoft.com/office/drawing/2018/hyperlinkcolor" val="tx"/>
                    </a:ext>
                  </a:extLst>
                </a:hlinkClick>
              </a:rPr>
              <a:t>Freedom Stage</a:t>
            </a:r>
            <a:endParaRPr lang="en-US" sz="1200" dirty="0"/>
          </a:p>
        </p:txBody>
      </p:sp>
      <p:sp>
        <p:nvSpPr>
          <p:cNvPr id="16" name="Menu tile: The SME process"/>
          <p:cNvSpPr txBox="1"/>
          <p:nvPr/>
        </p:nvSpPr>
        <p:spPr>
          <a:xfrm>
            <a:off x="9875520" y="2075688"/>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1" action="ppaction://hlinksldjump" tooltip="Go to The SME process">
                  <a:extLst>
                    <a:ext uri="{A12FA001-AC4F-418D-AE19-62706E023703}">
                      <ahyp:hlinkClr xmlns:ahyp="http://schemas.microsoft.com/office/drawing/2018/hyperlinkcolor" val="tx"/>
                    </a:ext>
                  </a:extLst>
                </a:hlinkClick>
              </a:rPr>
              <a:t>The SME process</a:t>
            </a:r>
            <a:endParaRPr lang="en-US" sz="1200" dirty="0"/>
          </a:p>
        </p:txBody>
      </p:sp>
      <p:sp>
        <p:nvSpPr>
          <p:cNvPr id="17" name="Menu tile: The role"/>
          <p:cNvSpPr txBox="1"/>
          <p:nvPr/>
        </p:nvSpPr>
        <p:spPr>
          <a:xfrm>
            <a:off x="457200"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2" action="ppaction://hlinksldjump" tooltip="Go to The role">
                  <a:extLst>
                    <a:ext uri="{A12FA001-AC4F-418D-AE19-62706E023703}">
                      <ahyp:hlinkClr xmlns:ahyp="http://schemas.microsoft.com/office/drawing/2018/hyperlinkcolor" val="tx"/>
                    </a:ext>
                  </a:extLst>
                </a:hlinkClick>
              </a:rPr>
              <a:t>The role</a:t>
            </a:r>
            <a:endParaRPr lang="en-US" sz="1200" dirty="0"/>
          </a:p>
        </p:txBody>
      </p:sp>
      <p:sp>
        <p:nvSpPr>
          <p:cNvPr id="18" name="Menu tile: What you handle alone"/>
          <p:cNvSpPr txBox="1"/>
          <p:nvPr/>
        </p:nvSpPr>
        <p:spPr>
          <a:xfrm>
            <a:off x="2340864"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3" action="ppaction://hlinksldjump" tooltip="Go to What you handle alone">
                  <a:extLst>
                    <a:ext uri="{A12FA001-AC4F-418D-AE19-62706E023703}">
                      <ahyp:hlinkClr xmlns:ahyp="http://schemas.microsoft.com/office/drawing/2018/hyperlinkcolor" val="tx"/>
                    </a:ext>
                  </a:extLst>
                </a:hlinkClick>
              </a:rPr>
              <a:t>What you handle alone</a:t>
            </a:r>
            <a:endParaRPr lang="en-US" sz="1200" dirty="0"/>
          </a:p>
        </p:txBody>
      </p:sp>
      <p:sp>
        <p:nvSpPr>
          <p:cNvPr id="19" name="Menu tile: C&amp;I tenders"/>
          <p:cNvSpPr txBox="1"/>
          <p:nvPr/>
        </p:nvSpPr>
        <p:spPr>
          <a:xfrm>
            <a:off x="4224528"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4" action="ppaction://hlinksldjump" tooltip="Go to C&amp;I tenders">
                  <a:extLst>
                    <a:ext uri="{A12FA001-AC4F-418D-AE19-62706E023703}">
                      <ahyp:hlinkClr xmlns:ahyp="http://schemas.microsoft.com/office/drawing/2018/hyperlinkcolor" val="tx"/>
                    </a:ext>
                  </a:extLst>
                </a:hlinkClick>
              </a:rPr>
              <a:t>C&amp;I tenders</a:t>
            </a:r>
            <a:endParaRPr lang="en-US" sz="1200" dirty="0"/>
          </a:p>
        </p:txBody>
      </p:sp>
      <p:sp>
        <p:nvSpPr>
          <p:cNvPr id="20" name="Menu tile: Solar &amp; admin"/>
          <p:cNvSpPr txBox="1"/>
          <p:nvPr/>
        </p:nvSpPr>
        <p:spPr>
          <a:xfrm>
            <a:off x="6108192"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5" action="ppaction://hlinksldjump" tooltip="Go to Solar &amp; admin">
                  <a:extLst>
                    <a:ext uri="{A12FA001-AC4F-418D-AE19-62706E023703}">
                      <ahyp:hlinkClr xmlns:ahyp="http://schemas.microsoft.com/office/drawing/2018/hyperlinkcolor" val="tx"/>
                    </a:ext>
                  </a:extLst>
                </a:hlinkClick>
              </a:rPr>
              <a:t>Solar &amp; admin</a:t>
            </a:r>
            <a:endParaRPr lang="en-US" sz="1200" dirty="0"/>
          </a:p>
        </p:txBody>
      </p:sp>
      <p:sp>
        <p:nvSpPr>
          <p:cNvPr id="21" name="Menu tile: Tools &amp; access"/>
          <p:cNvSpPr txBox="1"/>
          <p:nvPr/>
        </p:nvSpPr>
        <p:spPr>
          <a:xfrm>
            <a:off x="7991856"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6" action="ppaction://hlinksldjump" tooltip="Go to Tools &amp; access">
                  <a:extLst>
                    <a:ext uri="{A12FA001-AC4F-418D-AE19-62706E023703}">
                      <ahyp:hlinkClr xmlns:ahyp="http://schemas.microsoft.com/office/drawing/2018/hyperlinkcolor" val="tx"/>
                    </a:ext>
                  </a:extLst>
                </a:hlinkClick>
              </a:rPr>
              <a:t>Tools &amp; access</a:t>
            </a:r>
            <a:endParaRPr lang="en-US" sz="1200" dirty="0"/>
          </a:p>
        </p:txBody>
      </p:sp>
      <p:sp>
        <p:nvSpPr>
          <p:cNvPr id="22" name="Menu tile: Ideal Assistant"/>
          <p:cNvSpPr txBox="1"/>
          <p:nvPr/>
        </p:nvSpPr>
        <p:spPr>
          <a:xfrm>
            <a:off x="9875520" y="2642616"/>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7" action="ppaction://hlinksldjump" tooltip="Go to Ideal Assistant">
                  <a:extLst>
                    <a:ext uri="{A12FA001-AC4F-418D-AE19-62706E023703}">
                      <ahyp:hlinkClr xmlns:ahyp="http://schemas.microsoft.com/office/drawing/2018/hyperlinkcolor" val="tx"/>
                    </a:ext>
                  </a:extLst>
                </a:hlinkClick>
              </a:rPr>
              <a:t>Ideal Assistant</a:t>
            </a:r>
            <a:endParaRPr lang="en-US" sz="1200" dirty="0"/>
          </a:p>
        </p:txBody>
      </p:sp>
      <p:sp>
        <p:nvSpPr>
          <p:cNvPr id="23" name="Menu tile: Success measures"/>
          <p:cNvSpPr txBox="1"/>
          <p:nvPr/>
        </p:nvSpPr>
        <p:spPr>
          <a:xfrm>
            <a:off x="457200" y="3209544"/>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8" action="ppaction://hlinksldjump" tooltip="Go to Success measures">
                  <a:extLst>
                    <a:ext uri="{A12FA001-AC4F-418D-AE19-62706E023703}">
                      <ahyp:hlinkClr xmlns:ahyp="http://schemas.microsoft.com/office/drawing/2018/hyperlinkcolor" val="tx"/>
                    </a:ext>
                  </a:extLst>
                </a:hlinkClick>
              </a:rPr>
              <a:t>Success measures</a:t>
            </a:r>
            <a:endParaRPr lang="en-US" sz="1200" dirty="0"/>
          </a:p>
        </p:txBody>
      </p:sp>
      <p:sp>
        <p:nvSpPr>
          <p:cNvPr id="24" name="Menu tile: Package &amp; investment"/>
          <p:cNvSpPr txBox="1"/>
          <p:nvPr/>
        </p:nvSpPr>
        <p:spPr>
          <a:xfrm>
            <a:off x="2340864" y="3209544"/>
            <a:ext cx="1773936" cy="457200"/>
          </a:xfrm>
          <a:prstGeom prst="roundRect">
            <a:avLst>
              <a:gd name="adj" fmla="val 16000"/>
            </a:avLst>
          </a:prstGeom>
          <a:solidFill>
            <a:srgbClr val="FFFFFF"/>
          </a:solidFill>
          <a:ln w="12700">
            <a:solidFill>
              <a:srgbClr val="187A5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19" action="ppaction://hlinksldjump" tooltip="Go to Package &amp; investment">
                  <a:extLst>
                    <a:ext uri="{A12FA001-AC4F-418D-AE19-62706E023703}">
                      <ahyp:hlinkClr xmlns:ahyp="http://schemas.microsoft.com/office/drawing/2018/hyperlinkcolor" val="tx"/>
                    </a:ext>
                  </a:extLst>
                </a:hlinkClick>
              </a:rPr>
              <a:t>Package &amp; investment</a:t>
            </a:r>
            <a:endParaRPr lang="en-US" sz="1200" dirty="0"/>
          </a:p>
        </p:txBody>
      </p:sp>
      <p:sp>
        <p:nvSpPr>
          <p:cNvPr id="25" name="Text 23"/>
          <p:cNvSpPr txBox="1"/>
          <p:nvPr/>
        </p:nvSpPr>
        <p:spPr>
          <a:xfrm>
            <a:off x="457200" y="4005072"/>
            <a:ext cx="3657600" cy="237744"/>
          </a:xfrm>
          <a:prstGeom prst="rect">
            <a:avLst/>
          </a:prstGeom>
          <a:noFill/>
          <a:ln/>
        </p:spPr>
        <p:txBody>
          <a:bodyPr wrap="square" lIns="0" tIns="0" rIns="0" bIns="0" rtlCol="0" anchor="ctr"/>
          <a:lstStyle/>
          <a:p>
            <a:pPr indent="0" marL="0">
              <a:buNone/>
            </a:pPr>
            <a:r>
              <a:rPr lang="en-US" sz="1000" b="1" spc="200" kern="0" dirty="0">
                <a:solidFill>
                  <a:srgbClr val="11604A"/>
                </a:solidFill>
                <a:latin typeface="Calibri" pitchFamily="34" charset="0"/>
                <a:ea typeface="Calibri" pitchFamily="34" charset="-122"/>
                <a:cs typeface="Calibri" pitchFamily="34" charset="-120"/>
              </a:rPr>
              <a:t>YOUR PLAYBOOK</a:t>
            </a:r>
            <a:endParaRPr lang="en-US" sz="1000" dirty="0"/>
          </a:p>
        </p:txBody>
      </p:sp>
      <p:sp>
        <p:nvSpPr>
          <p:cNvPr id="26" name="Menu tile: Day 1 setup"/>
          <p:cNvSpPr txBox="1"/>
          <p:nvPr/>
        </p:nvSpPr>
        <p:spPr>
          <a:xfrm>
            <a:off x="457200"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0" action="ppaction://hlinksldjump" tooltip="Go to Day 1 setup">
                  <a:extLst>
                    <a:ext uri="{A12FA001-AC4F-418D-AE19-62706E023703}">
                      <ahyp:hlinkClr xmlns:ahyp="http://schemas.microsoft.com/office/drawing/2018/hyperlinkcolor" val="tx"/>
                    </a:ext>
                  </a:extLst>
                </a:hlinkClick>
              </a:rPr>
              <a:t>Day 1 setup</a:t>
            </a:r>
            <a:endParaRPr lang="en-US" sz="1200" dirty="0"/>
          </a:p>
        </p:txBody>
      </p:sp>
      <p:sp>
        <p:nvSpPr>
          <p:cNvPr id="27" name="Menu tile: First 90 days"/>
          <p:cNvSpPr txBox="1"/>
          <p:nvPr/>
        </p:nvSpPr>
        <p:spPr>
          <a:xfrm>
            <a:off x="2340864"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1" action="ppaction://hlinksldjump" tooltip="Go to First 90 days">
                  <a:extLst>
                    <a:ext uri="{A12FA001-AC4F-418D-AE19-62706E023703}">
                      <ahyp:hlinkClr xmlns:ahyp="http://schemas.microsoft.com/office/drawing/2018/hyperlinkcolor" val="tx"/>
                    </a:ext>
                  </a:extLst>
                </a:hlinkClick>
              </a:rPr>
              <a:t>First 90 days</a:t>
            </a:r>
            <a:endParaRPr lang="en-US" sz="1200" dirty="0"/>
          </a:p>
        </p:txBody>
      </p:sp>
      <p:sp>
        <p:nvSpPr>
          <p:cNvPr id="28" name="Menu tile: Working with Tom"/>
          <p:cNvSpPr txBox="1"/>
          <p:nvPr/>
        </p:nvSpPr>
        <p:spPr>
          <a:xfrm>
            <a:off x="4224528"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2" action="ppaction://hlinksldjump" tooltip="Go to Working with Tom">
                  <a:extLst>
                    <a:ext uri="{A12FA001-AC4F-418D-AE19-62706E023703}">
                      <ahyp:hlinkClr xmlns:ahyp="http://schemas.microsoft.com/office/drawing/2018/hyperlinkcolor" val="tx"/>
                    </a:ext>
                  </a:extLst>
                </a:hlinkClick>
              </a:rPr>
              <a:t>Working with Tom</a:t>
            </a:r>
            <a:endParaRPr lang="en-US" sz="1200" dirty="0"/>
          </a:p>
        </p:txBody>
      </p:sp>
      <p:sp>
        <p:nvSpPr>
          <p:cNvPr id="29" name="Menu tile: Scorecard"/>
          <p:cNvSpPr txBox="1"/>
          <p:nvPr/>
        </p:nvSpPr>
        <p:spPr>
          <a:xfrm>
            <a:off x="6108192"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3" action="ppaction://hlinksldjump" tooltip="Go to Scorecard">
                  <a:extLst>
                    <a:ext uri="{A12FA001-AC4F-418D-AE19-62706E023703}">
                      <ahyp:hlinkClr xmlns:ahyp="http://schemas.microsoft.com/office/drawing/2018/hyperlinkcolor" val="tx"/>
                    </a:ext>
                  </a:extLst>
                </a:hlinkClick>
              </a:rPr>
              <a:t>Scorecard</a:t>
            </a:r>
            <a:endParaRPr lang="en-US" sz="1200" dirty="0"/>
          </a:p>
        </p:txBody>
      </p:sp>
      <p:sp>
        <p:nvSpPr>
          <p:cNvPr id="30" name="Menu tile: Monthly check-in"/>
          <p:cNvSpPr txBox="1"/>
          <p:nvPr/>
        </p:nvSpPr>
        <p:spPr>
          <a:xfrm>
            <a:off x="7991856"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4" action="ppaction://hlinksldjump" tooltip="Go to Monthly check-in">
                  <a:extLst>
                    <a:ext uri="{A12FA001-AC4F-418D-AE19-62706E023703}">
                      <ahyp:hlinkClr xmlns:ahyp="http://schemas.microsoft.com/office/drawing/2018/hyperlinkcolor" val="tx"/>
                    </a:ext>
                  </a:extLst>
                </a:hlinkClick>
              </a:rPr>
              <a:t>Monthly check-in</a:t>
            </a:r>
            <a:endParaRPr lang="en-US" sz="1200" dirty="0"/>
          </a:p>
        </p:txBody>
      </p:sp>
      <p:sp>
        <p:nvSpPr>
          <p:cNvPr id="31" name="Menu tile: Delegation board"/>
          <p:cNvSpPr txBox="1"/>
          <p:nvPr/>
        </p:nvSpPr>
        <p:spPr>
          <a:xfrm>
            <a:off x="9875520" y="4297680"/>
            <a:ext cx="1773936" cy="457200"/>
          </a:xfrm>
          <a:prstGeom prst="roundRect">
            <a:avLst>
              <a:gd name="adj" fmla="val 16000"/>
            </a:avLst>
          </a:prstGeom>
          <a:solidFill>
            <a:srgbClr val="FFFFFF"/>
          </a:solidFill>
          <a:ln w="12700">
            <a:solidFill>
              <a:srgbClr val="11604A"/>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5" action="ppaction://hlinksldjump" tooltip="Go to Delegation board">
                  <a:extLst>
                    <a:ext uri="{A12FA001-AC4F-418D-AE19-62706E023703}">
                      <ahyp:hlinkClr xmlns:ahyp="http://schemas.microsoft.com/office/drawing/2018/hyperlinkcolor" val="tx"/>
                    </a:ext>
                  </a:extLst>
                </a:hlinkClick>
              </a:rPr>
              <a:t>Delegation board</a:t>
            </a:r>
            <a:endParaRPr lang="en-US" sz="1200" dirty="0"/>
          </a:p>
        </p:txBody>
      </p:sp>
      <p:sp>
        <p:nvSpPr>
          <p:cNvPr id="32" name="Text 30"/>
          <p:cNvSpPr txBox="1"/>
          <p:nvPr/>
        </p:nvSpPr>
        <p:spPr>
          <a:xfrm>
            <a:off x="457200" y="5093208"/>
            <a:ext cx="3657600" cy="237744"/>
          </a:xfrm>
          <a:prstGeom prst="rect">
            <a:avLst/>
          </a:prstGeom>
          <a:noFill/>
          <a:ln/>
        </p:spPr>
        <p:txBody>
          <a:bodyPr wrap="square" lIns="0" tIns="0" rIns="0" bIns="0" rtlCol="0" anchor="ctr"/>
          <a:lstStyle/>
          <a:p>
            <a:pPr indent="0" marL="0">
              <a:buNone/>
            </a:pPr>
            <a:r>
              <a:rPr lang="en-US" sz="1000" b="1" spc="200" kern="0" dirty="0">
                <a:solidFill>
                  <a:srgbClr val="B26B0E"/>
                </a:solidFill>
                <a:latin typeface="Calibri" pitchFamily="34" charset="0"/>
                <a:ea typeface="Calibri" pitchFamily="34" charset="-122"/>
                <a:cs typeface="Calibri" pitchFamily="34" charset="-120"/>
              </a:rPr>
              <a:t>OVER TO YOU</a:t>
            </a:r>
            <a:endParaRPr lang="en-US" sz="1000" dirty="0"/>
          </a:p>
        </p:txBody>
      </p:sp>
      <p:sp>
        <p:nvSpPr>
          <p:cNvPr id="33" name="Menu tile: Your feedback"/>
          <p:cNvSpPr txBox="1"/>
          <p:nvPr/>
        </p:nvSpPr>
        <p:spPr>
          <a:xfrm>
            <a:off x="457200" y="5385816"/>
            <a:ext cx="1773936" cy="457200"/>
          </a:xfrm>
          <a:prstGeom prst="roundRect">
            <a:avLst>
              <a:gd name="adj" fmla="val 16000"/>
            </a:avLst>
          </a:prstGeom>
          <a:solidFill>
            <a:srgbClr val="FFF6E8"/>
          </a:solidFill>
          <a:ln w="12700">
            <a:solidFill>
              <a:srgbClr val="B26B0E"/>
            </a:solidFill>
          </a:ln>
        </p:spPr>
        <p:txBody>
          <a:bodyPr wrap="square" lIns="25400" tIns="25400" rIns="25400" bIns="25400" rtlCol="0" anchor="ctr"/>
          <a:lstStyle/>
          <a:p>
            <a:pPr algn="ctr" indent="0" marL="0">
              <a:buNone/>
            </a:pPr>
            <a:r>
              <a:rPr lang="en-US" sz="1200" b="1" u="sng" dirty="0">
                <a:solidFill>
                  <a:srgbClr val="1B2430"/>
                </a:solidFill>
                <a:latin typeface="Calibri" pitchFamily="34" charset="0"/>
                <a:ea typeface="Calibri" pitchFamily="34" charset="-122"/>
                <a:cs typeface="Calibri" pitchFamily="34" charset="-120"/>
                <a:hlinkClick r:id="rId26" action="ppaction://hlinksldjump" tooltip="Go to Your feedback">
                  <a:extLst>
                    <a:ext uri="{A12FA001-AC4F-418D-AE19-62706E023703}">
                      <ahyp:hlinkClr xmlns:ahyp="http://schemas.microsoft.com/office/drawing/2018/hyperlinkcolor" val="tx"/>
                    </a:ext>
                  </a:extLst>
                </a:hlinkClick>
              </a:rPr>
              <a:t>Your feedback</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01</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The goal</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What this plan is for, in one line. Tell us if it says it the way you would.</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6949440" cy="2880360"/>
          </a:xfrm>
          <a:prstGeom prst="roundRect">
            <a:avLst>
              <a:gd name="adj" fmla="val 2540"/>
            </a:avLst>
          </a:prstGeom>
          <a:solidFill>
            <a:srgbClr val="1B2430"/>
          </a:solidFill>
          <a:ln w="9525">
            <a:solidFill>
              <a:srgbClr val="1B2430"/>
            </a:solidFill>
            <a:prstDash val="solid"/>
          </a:ln>
        </p:spPr>
      </p:sp>
      <p:sp>
        <p:nvSpPr>
          <p:cNvPr id="11" name="Text 9"/>
          <p:cNvSpPr txBox="1"/>
          <p:nvPr/>
        </p:nvSpPr>
        <p:spPr>
          <a:xfrm>
            <a:off x="777240" y="2011680"/>
            <a:ext cx="6217920" cy="274320"/>
          </a:xfrm>
          <a:prstGeom prst="rect">
            <a:avLst/>
          </a:prstGeom>
          <a:noFill/>
          <a:ln/>
        </p:spPr>
        <p:txBody>
          <a:bodyPr wrap="square" lIns="0" tIns="0" rIns="0" bIns="0" rtlCol="0" anchor="ctr"/>
          <a:lstStyle/>
          <a:p>
            <a:pPr indent="0" marL="0">
              <a:buNone/>
            </a:pPr>
            <a:r>
              <a:rPr lang="en-US" sz="1100" b="1" spc="300" kern="0" dirty="0">
                <a:solidFill>
                  <a:srgbClr val="3CC29A"/>
                </a:solidFill>
                <a:latin typeface="Calibri" pitchFamily="34" charset="0"/>
                <a:ea typeface="Calibri" pitchFamily="34" charset="-122"/>
                <a:cs typeface="Calibri" pitchFamily="34" charset="-120"/>
              </a:rPr>
              <a:t>THE OPERATIONAL ENGINE OF THE BUSINESS</a:t>
            </a:r>
            <a:endParaRPr lang="en-US" sz="1100" dirty="0"/>
          </a:p>
        </p:txBody>
      </p:sp>
      <p:sp>
        <p:nvSpPr>
          <p:cNvPr id="12" name="Text 10"/>
          <p:cNvSpPr txBox="1"/>
          <p:nvPr/>
        </p:nvSpPr>
        <p:spPr>
          <a:xfrm>
            <a:off x="777240" y="2377440"/>
            <a:ext cx="6309360" cy="685800"/>
          </a:xfrm>
          <a:prstGeom prst="rect">
            <a:avLst/>
          </a:prstGeom>
          <a:noFill/>
          <a:ln/>
        </p:spPr>
        <p:txBody>
          <a:bodyPr wrap="square" lIns="0" tIns="0" rIns="0" bIns="0" rtlCol="0" anchor="ctr"/>
          <a:lstStyle/>
          <a:p>
            <a:pPr indent="0" marL="0">
              <a:buNone/>
            </a:pPr>
            <a:r>
              <a:rPr lang="en-US" sz="3000" b="1" dirty="0">
                <a:solidFill>
                  <a:srgbClr val="F4F6F3"/>
                </a:solidFill>
                <a:latin typeface="Cambria" pitchFamily="34" charset="0"/>
                <a:ea typeface="Cambria" pitchFamily="34" charset="-122"/>
                <a:cs typeface="Cambria" pitchFamily="34" charset="-120"/>
              </a:rPr>
              <a:t>More time to grow Spinifex</a:t>
            </a:r>
            <a:endParaRPr lang="en-US" sz="3000" dirty="0"/>
          </a:p>
        </p:txBody>
      </p:sp>
      <p:sp>
        <p:nvSpPr>
          <p:cNvPr id="13" name="Text 11"/>
          <p:cNvSpPr txBox="1"/>
          <p:nvPr/>
        </p:nvSpPr>
        <p:spPr>
          <a:xfrm>
            <a:off x="777240" y="3154680"/>
            <a:ext cx="6309360" cy="1325880"/>
          </a:xfrm>
          <a:prstGeom prst="rect">
            <a:avLst/>
          </a:prstGeom>
          <a:noFill/>
          <a:ln/>
        </p:spPr>
        <p:txBody>
          <a:bodyPr wrap="square" lIns="0" tIns="0" rIns="0" bIns="0" rtlCol="0" anchor="t"/>
          <a:lstStyle/>
          <a:p>
            <a:pPr indent="0" marL="0">
              <a:buNone/>
            </a:pPr>
            <a:r>
              <a:rPr lang="en-US" sz="1400" dirty="0">
                <a:solidFill>
                  <a:srgbClr val="BFC9D3"/>
                </a:solidFill>
                <a:latin typeface="Calibri" pitchFamily="34" charset="0"/>
                <a:ea typeface="Calibri" pitchFamily="34" charset="-122"/>
                <a:cs typeface="Calibri" pitchFamily="34" charset="-120"/>
              </a:rPr>
              <a:t>Not someone to just do data entry, but the operational engine of the business. Tom spends his time on clients and growth, while his Assistant keeps every report, contract and delivery accurate and on time.</a:t>
            </a:r>
            <a:endParaRPr lang="en-US" sz="1400" dirty="0"/>
          </a:p>
        </p:txBody>
      </p:sp>
      <p:sp>
        <p:nvSpPr>
          <p:cNvPr id="14" name="Card"/>
          <p:cNvSpPr/>
          <p:nvPr/>
        </p:nvSpPr>
        <p:spPr>
          <a:xfrm>
            <a:off x="7589520" y="1783080"/>
            <a:ext cx="4142232" cy="2880360"/>
          </a:xfrm>
          <a:prstGeom prst="roundRect">
            <a:avLst>
              <a:gd name="adj" fmla="val 2540"/>
            </a:avLst>
          </a:prstGeom>
          <a:solidFill>
            <a:srgbClr val="E4F2EC"/>
          </a:solidFill>
          <a:ln w="9525">
            <a:solidFill>
              <a:srgbClr val="E4F2EC"/>
            </a:solidFill>
            <a:prstDash val="solid"/>
          </a:ln>
        </p:spPr>
      </p:sp>
      <p:sp>
        <p:nvSpPr>
          <p:cNvPr id="15" name="Text 13"/>
          <p:cNvSpPr txBox="1"/>
          <p:nvPr/>
        </p:nvSpPr>
        <p:spPr>
          <a:xfrm>
            <a:off x="7818120" y="192024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THREE OUTCOMES WE’RE AIMING FOR</a:t>
            </a:r>
            <a:endParaRPr lang="en-US" sz="1000" dirty="0"/>
          </a:p>
        </p:txBody>
      </p:sp>
      <p:sp>
        <p:nvSpPr>
          <p:cNvPr id="16" name="Text 14"/>
          <p:cNvSpPr txBox="1"/>
          <p:nvPr/>
        </p:nvSpPr>
        <p:spPr>
          <a:xfrm>
            <a:off x="7818120" y="2286000"/>
            <a:ext cx="365760" cy="365760"/>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5"/>
          <p:cNvSpPr txBox="1"/>
          <p:nvPr/>
        </p:nvSpPr>
        <p:spPr>
          <a:xfrm>
            <a:off x="8321040" y="2304288"/>
            <a:ext cx="3246120" cy="640080"/>
          </a:xfrm>
          <a:prstGeom prst="rect">
            <a:avLst/>
          </a:prstGeom>
          <a:noFill/>
          <a:ln/>
        </p:spPr>
        <p:txBody>
          <a:bodyPr wrap="square" lIns="0" tIns="0" rIns="0" bIns="0" rtlCol="0" anchor="t"/>
          <a:lstStyle/>
          <a:p>
            <a:pPr indent="0" marL="0">
              <a:buNone/>
            </a:pPr>
            <a:r>
              <a:rPr lang="en-US" sz="1300" b="1" dirty="0">
                <a:solidFill>
                  <a:srgbClr val="1B2430"/>
                </a:solidFill>
                <a:latin typeface="Calibri" pitchFamily="34" charset="0"/>
                <a:ea typeface="Calibri" pitchFamily="34" charset="-122"/>
                <a:cs typeface="Calibri" pitchFamily="34" charset="-120"/>
              </a:rPr>
              <a:t>The whole SME process off Tom’s plate in 3 months</a:t>
            </a:r>
            <a:endParaRPr lang="en-US" sz="1300" dirty="0"/>
          </a:p>
        </p:txBody>
      </p:sp>
      <p:sp>
        <p:nvSpPr>
          <p:cNvPr id="18" name="Text 16"/>
          <p:cNvSpPr txBox="1"/>
          <p:nvPr/>
        </p:nvSpPr>
        <p:spPr>
          <a:xfrm>
            <a:off x="7818120" y="3035808"/>
            <a:ext cx="365760" cy="365760"/>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7"/>
          <p:cNvSpPr txBox="1"/>
          <p:nvPr/>
        </p:nvSpPr>
        <p:spPr>
          <a:xfrm>
            <a:off x="8321040" y="3054096"/>
            <a:ext cx="3246120" cy="640080"/>
          </a:xfrm>
          <a:prstGeom prst="rect">
            <a:avLst/>
          </a:prstGeom>
          <a:noFill/>
          <a:ln/>
        </p:spPr>
        <p:txBody>
          <a:bodyPr wrap="square" lIns="0" tIns="0" rIns="0" bIns="0" rtlCol="0" anchor="t"/>
          <a:lstStyle/>
          <a:p>
            <a:pPr indent="0" marL="0">
              <a:buNone/>
            </a:pPr>
            <a:r>
              <a:rPr lang="en-US" sz="1300" b="1" dirty="0">
                <a:solidFill>
                  <a:srgbClr val="1B2430"/>
                </a:solidFill>
                <a:latin typeface="Calibri" pitchFamily="34" charset="0"/>
                <a:ea typeface="Calibri" pitchFamily="34" charset="-122"/>
                <a:cs typeface="Calibri" pitchFamily="34" charset="-120"/>
              </a:rPr>
              <a:t>Reports, contracts and data 100% accurate</a:t>
            </a:r>
            <a:endParaRPr lang="en-US" sz="1300" dirty="0"/>
          </a:p>
        </p:txBody>
      </p:sp>
      <p:sp>
        <p:nvSpPr>
          <p:cNvPr id="20" name="Text 18"/>
          <p:cNvSpPr txBox="1"/>
          <p:nvPr/>
        </p:nvSpPr>
        <p:spPr>
          <a:xfrm>
            <a:off x="7818120" y="3785616"/>
            <a:ext cx="365760" cy="365760"/>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8321040" y="3803904"/>
            <a:ext cx="3246120" cy="640080"/>
          </a:xfrm>
          <a:prstGeom prst="rect">
            <a:avLst/>
          </a:prstGeom>
          <a:noFill/>
          <a:ln/>
        </p:spPr>
        <p:txBody>
          <a:bodyPr wrap="square" lIns="0" tIns="0" rIns="0" bIns="0" rtlCol="0" anchor="t"/>
          <a:lstStyle/>
          <a:p>
            <a:pPr indent="0" marL="0">
              <a:buNone/>
            </a:pPr>
            <a:r>
              <a:rPr lang="en-US" sz="1300" b="1" dirty="0">
                <a:solidFill>
                  <a:srgbClr val="1B2430"/>
                </a:solidFill>
                <a:latin typeface="Calibri" pitchFamily="34" charset="0"/>
                <a:ea typeface="Calibri" pitchFamily="34" charset="-122"/>
                <a:cs typeface="Calibri" pitchFamily="34" charset="-120"/>
              </a:rPr>
              <a:t>C&amp;I and solar admin moving without Tom</a:t>
            </a:r>
            <a:endParaRPr lang="en-US" sz="1300" dirty="0"/>
          </a:p>
        </p:txBody>
      </p:sp>
      <p:sp>
        <p:nvSpPr>
          <p:cNvPr id="22" name="Card"/>
          <p:cNvSpPr/>
          <p:nvPr/>
        </p:nvSpPr>
        <p:spPr>
          <a:xfrm>
            <a:off x="457200" y="4800600"/>
            <a:ext cx="3657600" cy="1325880"/>
          </a:xfrm>
          <a:prstGeom prst="roundRect">
            <a:avLst>
              <a:gd name="adj" fmla="val 5517"/>
            </a:avLst>
          </a:prstGeom>
          <a:solidFill>
            <a:srgbClr val="F1F4F2"/>
          </a:solidFill>
          <a:ln w="9525">
            <a:solidFill>
              <a:srgbClr val="F1F4F2"/>
            </a:solidFill>
            <a:prstDash val="solid"/>
          </a:ln>
        </p:spPr>
      </p:sp>
      <p:sp>
        <p:nvSpPr>
          <p:cNvPr id="23" name="Text 21"/>
          <p:cNvSpPr txBox="1"/>
          <p:nvPr/>
        </p:nvSpPr>
        <p:spPr>
          <a:xfrm>
            <a:off x="685800" y="4910328"/>
            <a:ext cx="32004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DOES THIS CAPTURE IT?</a:t>
            </a:r>
            <a:endParaRPr lang="en-US" sz="1000" dirty="0"/>
          </a:p>
        </p:txBody>
      </p:sp>
      <p:sp>
        <p:nvSpPr>
          <p:cNvPr id="24" name="Tick box: Yes, that’s the goal"/>
          <p:cNvSpPr txBox="1"/>
          <p:nvPr/>
        </p:nvSpPr>
        <p:spPr>
          <a:xfrm>
            <a:off x="685800" y="52303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5" name="Text 23"/>
          <p:cNvSpPr txBox="1"/>
          <p:nvPr/>
        </p:nvSpPr>
        <p:spPr>
          <a:xfrm>
            <a:off x="978408" y="521208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Yes, that’s the goal</a:t>
            </a:r>
            <a:endParaRPr lang="en-US" sz="1200" dirty="0"/>
          </a:p>
        </p:txBody>
      </p:sp>
      <p:sp>
        <p:nvSpPr>
          <p:cNvPr id="26" name="Tick box: Close, let’s reword it"/>
          <p:cNvSpPr txBox="1"/>
          <p:nvPr/>
        </p:nvSpPr>
        <p:spPr>
          <a:xfrm>
            <a:off x="685800" y="557784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7" name="Text 25"/>
          <p:cNvSpPr txBox="1"/>
          <p:nvPr/>
        </p:nvSpPr>
        <p:spPr>
          <a:xfrm>
            <a:off x="978408" y="5559552"/>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Close, let’s reword it</a:t>
            </a:r>
            <a:endParaRPr lang="en-US" sz="1200" dirty="0"/>
          </a:p>
        </p:txBody>
      </p:sp>
      <p:sp>
        <p:nvSpPr>
          <p:cNvPr id="28" name="Input: The goal in your own words"/>
          <p:cNvSpPr txBox="1"/>
          <p:nvPr/>
        </p:nvSpPr>
        <p:spPr>
          <a:xfrm>
            <a:off x="4261104" y="4800600"/>
            <a:ext cx="7470648" cy="13258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THE GOAL IN YOUR OWN WORDS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In 6 months, I’d like…</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02</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What we heard</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In your words, from our two calls. Tell us if we got any of it wrong.</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7406640" cy="676656"/>
          </a:xfrm>
          <a:prstGeom prst="roundRect">
            <a:avLst>
              <a:gd name="adj" fmla="val 10811"/>
            </a:avLst>
          </a:prstGeom>
          <a:solidFill>
            <a:srgbClr val="FFFFFF"/>
          </a:solidFill>
          <a:ln w="9525">
            <a:solidFill>
              <a:srgbClr val="DDE4E0"/>
            </a:solidFill>
            <a:prstDash val="solid"/>
          </a:ln>
        </p:spPr>
      </p:sp>
      <p:sp>
        <p:nvSpPr>
          <p:cNvPr id="11" name="Text 9"/>
          <p:cNvSpPr txBox="1"/>
          <p:nvPr/>
        </p:nvSpPr>
        <p:spPr>
          <a:xfrm>
            <a:off x="640080" y="1819656"/>
            <a:ext cx="5120640" cy="420624"/>
          </a:xfrm>
          <a:prstGeom prst="rect">
            <a:avLst/>
          </a:prstGeom>
          <a:noFill/>
          <a:ln/>
        </p:spPr>
        <p:txBody>
          <a:bodyPr wrap="square" lIns="0" tIns="0" rIns="0" bIns="0" rtlCol="0" anchor="ctr"/>
          <a:lstStyle/>
          <a:p>
            <a:pPr indent="0" marL="0">
              <a:buNone/>
            </a:pPr>
            <a:r>
              <a:rPr lang="en-US" sz="1300" i="1" dirty="0">
                <a:solidFill>
                  <a:srgbClr val="1B2430"/>
                </a:solidFill>
                <a:latin typeface="Cambria" pitchFamily="34" charset="0"/>
                <a:ea typeface="Cambria" pitchFamily="34" charset="-122"/>
                <a:cs typeface="Cambria" pitchFamily="34" charset="-120"/>
              </a:rPr>
              <a:t>“I’m hoping to find someone full-time that can cover both roles.”</a:t>
            </a:r>
            <a:endParaRPr lang="en-US" sz="1300" dirty="0"/>
          </a:p>
        </p:txBody>
      </p:sp>
      <p:sp>
        <p:nvSpPr>
          <p:cNvPr id="12" name="Text 10"/>
          <p:cNvSpPr txBox="1"/>
          <p:nvPr/>
        </p:nvSpPr>
        <p:spPr>
          <a:xfrm>
            <a:off x="640080" y="2221992"/>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Freedom Audit, 2 Sept</a:t>
            </a:r>
            <a:endParaRPr lang="en-US" sz="1000" dirty="0"/>
          </a:p>
        </p:txBody>
      </p:sp>
      <p:sp>
        <p:nvSpPr>
          <p:cNvPr id="13" name="Tick box: Spot on"/>
          <p:cNvSpPr txBox="1"/>
          <p:nvPr/>
        </p:nvSpPr>
        <p:spPr>
          <a:xfrm>
            <a:off x="5897880" y="187452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4" name="Text 12"/>
          <p:cNvSpPr txBox="1"/>
          <p:nvPr/>
        </p:nvSpPr>
        <p:spPr>
          <a:xfrm>
            <a:off x="6190488" y="1856232"/>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15" name="Tick box: Not quite"/>
          <p:cNvSpPr txBox="1"/>
          <p:nvPr/>
        </p:nvSpPr>
        <p:spPr>
          <a:xfrm>
            <a:off x="6812280" y="187452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6" name="Text 14"/>
          <p:cNvSpPr txBox="1"/>
          <p:nvPr/>
        </p:nvSpPr>
        <p:spPr>
          <a:xfrm>
            <a:off x="7104888" y="1856232"/>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17" name="Tick box: Let’s discuss"/>
          <p:cNvSpPr txBox="1"/>
          <p:nvPr/>
        </p:nvSpPr>
        <p:spPr>
          <a:xfrm>
            <a:off x="5897880" y="2167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8" name="Text 16"/>
          <p:cNvSpPr txBox="1"/>
          <p:nvPr/>
        </p:nvSpPr>
        <p:spPr>
          <a:xfrm>
            <a:off x="6190488" y="2148840"/>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19" name="Card"/>
          <p:cNvSpPr/>
          <p:nvPr/>
        </p:nvSpPr>
        <p:spPr>
          <a:xfrm>
            <a:off x="457200" y="2551176"/>
            <a:ext cx="7406640" cy="676656"/>
          </a:xfrm>
          <a:prstGeom prst="roundRect">
            <a:avLst>
              <a:gd name="adj" fmla="val 10811"/>
            </a:avLst>
          </a:prstGeom>
          <a:solidFill>
            <a:srgbClr val="FFFFFF"/>
          </a:solidFill>
          <a:ln w="9525">
            <a:solidFill>
              <a:srgbClr val="DDE4E0"/>
            </a:solidFill>
            <a:prstDash val="solid"/>
          </a:ln>
        </p:spPr>
      </p:sp>
      <p:sp>
        <p:nvSpPr>
          <p:cNvPr id="20" name="Text 18"/>
          <p:cNvSpPr txBox="1"/>
          <p:nvPr/>
        </p:nvSpPr>
        <p:spPr>
          <a:xfrm>
            <a:off x="640080" y="2587752"/>
            <a:ext cx="5120640" cy="420624"/>
          </a:xfrm>
          <a:prstGeom prst="rect">
            <a:avLst/>
          </a:prstGeom>
          <a:noFill/>
          <a:ln/>
        </p:spPr>
        <p:txBody>
          <a:bodyPr wrap="square" lIns="0" tIns="0" rIns="0" bIns="0" rtlCol="0" anchor="ctr"/>
          <a:lstStyle/>
          <a:p>
            <a:pPr indent="0" marL="0">
              <a:buNone/>
            </a:pPr>
            <a:r>
              <a:rPr lang="en-US" sz="1300" i="1" dirty="0">
                <a:solidFill>
                  <a:srgbClr val="1B2430"/>
                </a:solidFill>
                <a:latin typeface="Cambria" pitchFamily="34" charset="0"/>
                <a:ea typeface="Cambria" pitchFamily="34" charset="-122"/>
                <a:cs typeface="Cambria" pitchFamily="34" charset="-120"/>
              </a:rPr>
              <a:t>“It’s all learnable. It’s all teachable, but it is quite technical to start with.”</a:t>
            </a:r>
            <a:endParaRPr lang="en-US" sz="1300" dirty="0"/>
          </a:p>
        </p:txBody>
      </p:sp>
      <p:sp>
        <p:nvSpPr>
          <p:cNvPr id="21" name="Text 19"/>
          <p:cNvSpPr txBox="1"/>
          <p:nvPr/>
        </p:nvSpPr>
        <p:spPr>
          <a:xfrm>
            <a:off x="640080" y="2990088"/>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Freedom Audit, 2 Sept</a:t>
            </a:r>
            <a:endParaRPr lang="en-US" sz="1000" dirty="0"/>
          </a:p>
        </p:txBody>
      </p:sp>
      <p:sp>
        <p:nvSpPr>
          <p:cNvPr id="22" name="Tick box: Spot on"/>
          <p:cNvSpPr txBox="1"/>
          <p:nvPr/>
        </p:nvSpPr>
        <p:spPr>
          <a:xfrm>
            <a:off x="5897880" y="264261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3" name="Text 21"/>
          <p:cNvSpPr txBox="1"/>
          <p:nvPr/>
        </p:nvSpPr>
        <p:spPr>
          <a:xfrm>
            <a:off x="6190488" y="2624328"/>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24" name="Tick box: Not quite"/>
          <p:cNvSpPr txBox="1"/>
          <p:nvPr/>
        </p:nvSpPr>
        <p:spPr>
          <a:xfrm>
            <a:off x="6812280" y="264261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5" name="Text 23"/>
          <p:cNvSpPr txBox="1"/>
          <p:nvPr/>
        </p:nvSpPr>
        <p:spPr>
          <a:xfrm>
            <a:off x="7104888" y="2624328"/>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26" name="Tick box: Let’s discuss"/>
          <p:cNvSpPr txBox="1"/>
          <p:nvPr/>
        </p:nvSpPr>
        <p:spPr>
          <a:xfrm>
            <a:off x="5897880" y="293522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7" name="Text 25"/>
          <p:cNvSpPr txBox="1"/>
          <p:nvPr/>
        </p:nvSpPr>
        <p:spPr>
          <a:xfrm>
            <a:off x="6190488" y="2916936"/>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28" name="Card"/>
          <p:cNvSpPr/>
          <p:nvPr/>
        </p:nvSpPr>
        <p:spPr>
          <a:xfrm>
            <a:off x="457200" y="3319272"/>
            <a:ext cx="7406640" cy="676656"/>
          </a:xfrm>
          <a:prstGeom prst="roundRect">
            <a:avLst>
              <a:gd name="adj" fmla="val 10811"/>
            </a:avLst>
          </a:prstGeom>
          <a:solidFill>
            <a:srgbClr val="FFFFFF"/>
          </a:solidFill>
          <a:ln w="9525">
            <a:solidFill>
              <a:srgbClr val="DDE4E0"/>
            </a:solidFill>
            <a:prstDash val="solid"/>
          </a:ln>
        </p:spPr>
      </p:sp>
      <p:sp>
        <p:nvSpPr>
          <p:cNvPr id="29" name="Text 27"/>
          <p:cNvSpPr txBox="1"/>
          <p:nvPr/>
        </p:nvSpPr>
        <p:spPr>
          <a:xfrm>
            <a:off x="640080" y="3355848"/>
            <a:ext cx="5120640" cy="420624"/>
          </a:xfrm>
          <a:prstGeom prst="rect">
            <a:avLst/>
          </a:prstGeom>
          <a:noFill/>
          <a:ln/>
        </p:spPr>
        <p:txBody>
          <a:bodyPr wrap="square" lIns="0" tIns="0" rIns="0" bIns="0" rtlCol="0" anchor="ctr"/>
          <a:lstStyle/>
          <a:p>
            <a:pPr indent="0" marL="0">
              <a:buNone/>
            </a:pPr>
            <a:r>
              <a:rPr lang="en-US" sz="1300" i="1" dirty="0">
                <a:solidFill>
                  <a:srgbClr val="1B2430"/>
                </a:solidFill>
                <a:latin typeface="Cambria" pitchFamily="34" charset="0"/>
                <a:ea typeface="Cambria" pitchFamily="34" charset="-122"/>
                <a:cs typeface="Cambria" pitchFamily="34" charset="-120"/>
              </a:rPr>
              <a:t>“The SME comparison reports, contracts, letter of authority signing, the whole process, basically.”</a:t>
            </a:r>
            <a:endParaRPr lang="en-US" sz="1300" dirty="0"/>
          </a:p>
        </p:txBody>
      </p:sp>
      <p:sp>
        <p:nvSpPr>
          <p:cNvPr id="30" name="Text 28"/>
          <p:cNvSpPr txBox="1"/>
          <p:nvPr/>
        </p:nvSpPr>
        <p:spPr>
          <a:xfrm>
            <a:off x="640080" y="3758184"/>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Alignment Session, 6 Oct</a:t>
            </a:r>
            <a:endParaRPr lang="en-US" sz="1000" dirty="0"/>
          </a:p>
        </p:txBody>
      </p:sp>
      <p:sp>
        <p:nvSpPr>
          <p:cNvPr id="31" name="Tick box: Spot on"/>
          <p:cNvSpPr txBox="1"/>
          <p:nvPr/>
        </p:nvSpPr>
        <p:spPr>
          <a:xfrm>
            <a:off x="5897880" y="341071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2" name="Text 30"/>
          <p:cNvSpPr txBox="1"/>
          <p:nvPr/>
        </p:nvSpPr>
        <p:spPr>
          <a:xfrm>
            <a:off x="6190488" y="3392424"/>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33" name="Tick box: Not quite"/>
          <p:cNvSpPr txBox="1"/>
          <p:nvPr/>
        </p:nvSpPr>
        <p:spPr>
          <a:xfrm>
            <a:off x="6812280" y="341071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4" name="Text 32"/>
          <p:cNvSpPr txBox="1"/>
          <p:nvPr/>
        </p:nvSpPr>
        <p:spPr>
          <a:xfrm>
            <a:off x="7104888" y="3392424"/>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35" name="Tick box: Let’s discuss"/>
          <p:cNvSpPr txBox="1"/>
          <p:nvPr/>
        </p:nvSpPr>
        <p:spPr>
          <a:xfrm>
            <a:off x="5897880" y="370332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6" name="Text 34"/>
          <p:cNvSpPr txBox="1"/>
          <p:nvPr/>
        </p:nvSpPr>
        <p:spPr>
          <a:xfrm>
            <a:off x="6190488" y="3685032"/>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37" name="Card"/>
          <p:cNvSpPr/>
          <p:nvPr/>
        </p:nvSpPr>
        <p:spPr>
          <a:xfrm>
            <a:off x="457200" y="4087368"/>
            <a:ext cx="7406640" cy="676656"/>
          </a:xfrm>
          <a:prstGeom prst="roundRect">
            <a:avLst>
              <a:gd name="adj" fmla="val 10811"/>
            </a:avLst>
          </a:prstGeom>
          <a:solidFill>
            <a:srgbClr val="FFFFFF"/>
          </a:solidFill>
          <a:ln w="9525">
            <a:solidFill>
              <a:srgbClr val="DDE4E0"/>
            </a:solidFill>
            <a:prstDash val="solid"/>
          </a:ln>
        </p:spPr>
      </p:sp>
      <p:sp>
        <p:nvSpPr>
          <p:cNvPr id="38" name="Text 36"/>
          <p:cNvSpPr txBox="1"/>
          <p:nvPr/>
        </p:nvSpPr>
        <p:spPr>
          <a:xfrm>
            <a:off x="640080" y="4123944"/>
            <a:ext cx="5120640" cy="420624"/>
          </a:xfrm>
          <a:prstGeom prst="rect">
            <a:avLst/>
          </a:prstGeom>
          <a:noFill/>
          <a:ln/>
        </p:spPr>
        <p:txBody>
          <a:bodyPr wrap="square" lIns="0" tIns="0" rIns="0" bIns="0" rtlCol="0" anchor="ctr"/>
          <a:lstStyle/>
          <a:p>
            <a:pPr indent="0" marL="0">
              <a:buNone/>
            </a:pPr>
            <a:r>
              <a:rPr lang="en-US" sz="1300" i="1" dirty="0">
                <a:solidFill>
                  <a:srgbClr val="1B2430"/>
                </a:solidFill>
                <a:latin typeface="Cambria" pitchFamily="34" charset="0"/>
                <a:ea typeface="Cambria" pitchFamily="34" charset="-122"/>
                <a:cs typeface="Cambria" pitchFamily="34" charset="-120"/>
              </a:rPr>
              <a:t>“I just want someone who’s motivated towards action rather than being hesitant.”</a:t>
            </a:r>
            <a:endParaRPr lang="en-US" sz="1300" dirty="0"/>
          </a:p>
        </p:txBody>
      </p:sp>
      <p:sp>
        <p:nvSpPr>
          <p:cNvPr id="39" name="Text 37"/>
          <p:cNvSpPr txBox="1"/>
          <p:nvPr/>
        </p:nvSpPr>
        <p:spPr>
          <a:xfrm>
            <a:off x="640080" y="4526280"/>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Alignment Session, 6 Oct</a:t>
            </a:r>
            <a:endParaRPr lang="en-US" sz="1000" dirty="0"/>
          </a:p>
        </p:txBody>
      </p:sp>
      <p:sp>
        <p:nvSpPr>
          <p:cNvPr id="40" name="Tick box: Spot on"/>
          <p:cNvSpPr txBox="1"/>
          <p:nvPr/>
        </p:nvSpPr>
        <p:spPr>
          <a:xfrm>
            <a:off x="5897880" y="41788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Text 39"/>
          <p:cNvSpPr txBox="1"/>
          <p:nvPr/>
        </p:nvSpPr>
        <p:spPr>
          <a:xfrm>
            <a:off x="6190488" y="4160520"/>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42" name="Tick box: Not quite"/>
          <p:cNvSpPr txBox="1"/>
          <p:nvPr/>
        </p:nvSpPr>
        <p:spPr>
          <a:xfrm>
            <a:off x="6812280" y="41788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3" name="Text 41"/>
          <p:cNvSpPr txBox="1"/>
          <p:nvPr/>
        </p:nvSpPr>
        <p:spPr>
          <a:xfrm>
            <a:off x="7104888" y="4160520"/>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44" name="Tick box: Let’s discuss"/>
          <p:cNvSpPr txBox="1"/>
          <p:nvPr/>
        </p:nvSpPr>
        <p:spPr>
          <a:xfrm>
            <a:off x="5897880" y="447141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5" name="Text 43"/>
          <p:cNvSpPr txBox="1"/>
          <p:nvPr/>
        </p:nvSpPr>
        <p:spPr>
          <a:xfrm>
            <a:off x="6190488" y="4453128"/>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46" name="Card"/>
          <p:cNvSpPr/>
          <p:nvPr/>
        </p:nvSpPr>
        <p:spPr>
          <a:xfrm>
            <a:off x="457200" y="4855464"/>
            <a:ext cx="7406640" cy="676656"/>
          </a:xfrm>
          <a:prstGeom prst="roundRect">
            <a:avLst>
              <a:gd name="adj" fmla="val 10811"/>
            </a:avLst>
          </a:prstGeom>
          <a:solidFill>
            <a:srgbClr val="FFFFFF"/>
          </a:solidFill>
          <a:ln w="9525">
            <a:solidFill>
              <a:srgbClr val="DDE4E0"/>
            </a:solidFill>
            <a:prstDash val="solid"/>
          </a:ln>
        </p:spPr>
      </p:sp>
      <p:sp>
        <p:nvSpPr>
          <p:cNvPr id="47" name="Text 45"/>
          <p:cNvSpPr txBox="1"/>
          <p:nvPr/>
        </p:nvSpPr>
        <p:spPr>
          <a:xfrm>
            <a:off x="640080" y="4892040"/>
            <a:ext cx="5120640" cy="420624"/>
          </a:xfrm>
          <a:prstGeom prst="rect">
            <a:avLst/>
          </a:prstGeom>
          <a:noFill/>
          <a:ln/>
        </p:spPr>
        <p:txBody>
          <a:bodyPr wrap="square" lIns="0" tIns="0" rIns="0" bIns="0" rtlCol="0" anchor="ctr"/>
          <a:lstStyle/>
          <a:p>
            <a:pPr indent="0" marL="0">
              <a:buNone/>
            </a:pPr>
            <a:r>
              <a:rPr lang="en-US" sz="1300" i="1" dirty="0">
                <a:solidFill>
                  <a:srgbClr val="1B2430"/>
                </a:solidFill>
                <a:latin typeface="Cambria" pitchFamily="34" charset="0"/>
                <a:ea typeface="Cambria" pitchFamily="34" charset="-122"/>
                <a:cs typeface="Cambria" pitchFamily="34" charset="-120"/>
              </a:rPr>
              <a:t>“If it’s a mistake that’s a big issue, let me know straight away so we can fix it.”</a:t>
            </a:r>
            <a:endParaRPr lang="en-US" sz="1300" dirty="0"/>
          </a:p>
        </p:txBody>
      </p:sp>
      <p:sp>
        <p:nvSpPr>
          <p:cNvPr id="48" name="Text 46"/>
          <p:cNvSpPr txBox="1"/>
          <p:nvPr/>
        </p:nvSpPr>
        <p:spPr>
          <a:xfrm>
            <a:off x="640080" y="5294376"/>
            <a:ext cx="5120640" cy="201168"/>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Alignment Session, 6 Oct</a:t>
            </a:r>
            <a:endParaRPr lang="en-US" sz="1000" dirty="0"/>
          </a:p>
        </p:txBody>
      </p:sp>
      <p:sp>
        <p:nvSpPr>
          <p:cNvPr id="49" name="Tick box: Spot on"/>
          <p:cNvSpPr txBox="1"/>
          <p:nvPr/>
        </p:nvSpPr>
        <p:spPr>
          <a:xfrm>
            <a:off x="5897880" y="494690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0" name="Text 48"/>
          <p:cNvSpPr txBox="1"/>
          <p:nvPr/>
        </p:nvSpPr>
        <p:spPr>
          <a:xfrm>
            <a:off x="6190488" y="4928616"/>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Spot on</a:t>
            </a:r>
            <a:endParaRPr lang="en-US" sz="1100" dirty="0"/>
          </a:p>
        </p:txBody>
      </p:sp>
      <p:sp>
        <p:nvSpPr>
          <p:cNvPr id="51" name="Tick box: Not quite"/>
          <p:cNvSpPr txBox="1"/>
          <p:nvPr/>
        </p:nvSpPr>
        <p:spPr>
          <a:xfrm>
            <a:off x="6812280" y="494690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2" name="Text 50"/>
          <p:cNvSpPr txBox="1"/>
          <p:nvPr/>
        </p:nvSpPr>
        <p:spPr>
          <a:xfrm>
            <a:off x="7104888" y="4928616"/>
            <a:ext cx="7589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Not quite</a:t>
            </a:r>
            <a:endParaRPr lang="en-US" sz="1100" dirty="0"/>
          </a:p>
        </p:txBody>
      </p:sp>
      <p:sp>
        <p:nvSpPr>
          <p:cNvPr id="53" name="Tick box: Let’s discuss"/>
          <p:cNvSpPr txBox="1"/>
          <p:nvPr/>
        </p:nvSpPr>
        <p:spPr>
          <a:xfrm>
            <a:off x="5897880" y="523951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4" name="Text 52"/>
          <p:cNvSpPr txBox="1"/>
          <p:nvPr/>
        </p:nvSpPr>
        <p:spPr>
          <a:xfrm>
            <a:off x="6190488" y="5221224"/>
            <a:ext cx="117043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Let’s discuss</a:t>
            </a:r>
            <a:endParaRPr lang="en-US" sz="1100" dirty="0"/>
          </a:p>
        </p:txBody>
      </p:sp>
      <p:sp>
        <p:nvSpPr>
          <p:cNvPr id="55" name="Input: Anything we missed?"/>
          <p:cNvSpPr txBox="1"/>
          <p:nvPr/>
        </p:nvSpPr>
        <p:spPr>
          <a:xfrm>
            <a:off x="8092440" y="1783080"/>
            <a:ext cx="3639312" cy="18288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ANYTHING WE MISSED?</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What else should your Assistant know about Spinifex, your clients or your team?</a:t>
            </a:r>
            <a:endParaRPr lang="en-US" sz="900" dirty="0"/>
          </a:p>
        </p:txBody>
      </p:sp>
      <p:sp>
        <p:nvSpPr>
          <p:cNvPr id="56" name="Input: What’s changed since we spoke?"/>
          <p:cNvSpPr txBox="1"/>
          <p:nvPr/>
        </p:nvSpPr>
        <p:spPr>
          <a:xfrm>
            <a:off x="8092440" y="3749040"/>
            <a:ext cx="3639312" cy="18288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WHAT’S CHANGED SINCE WE SPOKE?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New retailers, team changes, busy periods…</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03</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Key observations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How Spinifex runs today, and why this role exists.</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Text 8"/>
          <p:cNvSpPr txBox="1"/>
          <p:nvPr/>
        </p:nvSpPr>
        <p:spPr>
          <a:xfrm>
            <a:off x="457200" y="1737360"/>
            <a:ext cx="11274552" cy="868680"/>
          </a:xfrm>
          <a:prstGeom prst="rect">
            <a:avLst/>
          </a:prstGeom>
          <a:noFill/>
          <a:ln/>
        </p:spPr>
        <p:txBody>
          <a:bodyPr wrap="square" lIns="0" tIns="0" rIns="0" bIns="0" rtlCol="0" anchor="t"/>
          <a:lstStyle/>
          <a:p>
            <a:pPr indent="0" marL="0">
              <a:buNone/>
            </a:pPr>
            <a:r>
              <a:rPr lang="en-US" sz="1400" dirty="0">
                <a:solidFill>
                  <a:srgbClr val="1B2430"/>
                </a:solidFill>
                <a:latin typeface="Calibri" pitchFamily="34" charset="0"/>
                <a:ea typeface="Calibri" pitchFamily="34" charset="-122"/>
                <a:cs typeface="Calibri" pitchFamily="34" charset="-120"/>
              </a:rPr>
              <a:t>Spinifex Energy is a Queensland energy brokerage and solar business: SME and large-market (C&amp;I) electricity procurement, plus solar and battery installs, run by a team of three. Tom’s Brisbane admin is on maternity leave and his part-time offshore data person struggled with power cuts, so Tom wants one full-time person to cover both roles.</a:t>
            </a:r>
            <a:endParaRPr lang="en-US" sz="1400" dirty="0"/>
          </a:p>
        </p:txBody>
      </p:sp>
      <p:sp>
        <p:nvSpPr>
          <p:cNvPr id="11" name="Card"/>
          <p:cNvSpPr/>
          <p:nvPr/>
        </p:nvSpPr>
        <p:spPr>
          <a:xfrm>
            <a:off x="457200" y="2743200"/>
            <a:ext cx="5568696" cy="2148840"/>
          </a:xfrm>
          <a:prstGeom prst="roundRect">
            <a:avLst>
              <a:gd name="adj" fmla="val 3404"/>
            </a:avLst>
          </a:prstGeom>
          <a:solidFill>
            <a:srgbClr val="FFFFFF"/>
          </a:solidFill>
          <a:ln w="9525">
            <a:solidFill>
              <a:srgbClr val="DDE4E0"/>
            </a:solidFill>
            <a:prstDash val="solid"/>
          </a:ln>
        </p:spPr>
      </p:sp>
      <p:sp>
        <p:nvSpPr>
          <p:cNvPr id="12" name="Text 10"/>
          <p:cNvSpPr txBox="1"/>
          <p:nvPr/>
        </p:nvSpPr>
        <p:spPr>
          <a:xfrm>
            <a:off x="685800" y="288036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WHAT WE HEARD</a:t>
            </a:r>
            <a:endParaRPr lang="en-US" sz="1000" dirty="0"/>
          </a:p>
        </p:txBody>
      </p:sp>
      <p:sp>
        <p:nvSpPr>
          <p:cNvPr id="13" name="Text 11"/>
          <p:cNvSpPr txBox="1"/>
          <p:nvPr/>
        </p:nvSpPr>
        <p:spPr>
          <a:xfrm>
            <a:off x="685800" y="3200400"/>
            <a:ext cx="5120640" cy="123444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SME work is high volume but simple: bill, comparison report, contract, Xero invoice. C&amp;I tenders need data from retailers and metering providers, loaded into brokerage software. Everything runs through GoHighLevel, and accuracy is critical on large accounts.</a:t>
            </a:r>
            <a:endParaRPr lang="en-US" sz="1300" dirty="0"/>
          </a:p>
        </p:txBody>
      </p:sp>
      <p:sp>
        <p:nvSpPr>
          <p:cNvPr id="14" name="Tick box: Accurate"/>
          <p:cNvSpPr txBox="1"/>
          <p:nvPr/>
        </p:nvSpPr>
        <p:spPr>
          <a:xfrm>
            <a:off x="685800" y="45445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5" name="Text 13"/>
          <p:cNvSpPr txBox="1"/>
          <p:nvPr/>
        </p:nvSpPr>
        <p:spPr>
          <a:xfrm>
            <a:off x="978408" y="4526280"/>
            <a:ext cx="98755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Accurate</a:t>
            </a:r>
            <a:endParaRPr lang="en-US" sz="1200" dirty="0"/>
          </a:p>
        </p:txBody>
      </p:sp>
      <p:sp>
        <p:nvSpPr>
          <p:cNvPr id="16" name="Tick box: Needs a tweak"/>
          <p:cNvSpPr txBox="1"/>
          <p:nvPr/>
        </p:nvSpPr>
        <p:spPr>
          <a:xfrm>
            <a:off x="2103120" y="45445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2395728" y="4526280"/>
            <a:ext cx="15361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Needs a tweak</a:t>
            </a:r>
            <a:endParaRPr lang="en-US" sz="1200" dirty="0"/>
          </a:p>
        </p:txBody>
      </p:sp>
      <p:sp>
        <p:nvSpPr>
          <p:cNvPr id="18" name="Card"/>
          <p:cNvSpPr/>
          <p:nvPr/>
        </p:nvSpPr>
        <p:spPr>
          <a:xfrm>
            <a:off x="6163056" y="2743200"/>
            <a:ext cx="5568696" cy="2148840"/>
          </a:xfrm>
          <a:prstGeom prst="roundRect">
            <a:avLst>
              <a:gd name="adj" fmla="val 3404"/>
            </a:avLst>
          </a:prstGeom>
          <a:solidFill>
            <a:srgbClr val="FFFFFF"/>
          </a:solidFill>
          <a:ln w="9525">
            <a:solidFill>
              <a:srgbClr val="DDE4E0"/>
            </a:solidFill>
            <a:prstDash val="solid"/>
          </a:ln>
        </p:spPr>
      </p:sp>
      <p:sp>
        <p:nvSpPr>
          <p:cNvPr id="19" name="Text 17"/>
          <p:cNvSpPr txBox="1"/>
          <p:nvPr/>
        </p:nvSpPr>
        <p:spPr>
          <a:xfrm>
            <a:off x="6391656" y="288036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HIRING INSIGHT</a:t>
            </a:r>
            <a:endParaRPr lang="en-US" sz="1000" dirty="0"/>
          </a:p>
        </p:txBody>
      </p:sp>
      <p:sp>
        <p:nvSpPr>
          <p:cNvPr id="20" name="Text 18"/>
          <p:cNvSpPr txBox="1"/>
          <p:nvPr/>
        </p:nvSpPr>
        <p:spPr>
          <a:xfrm>
            <a:off x="6391656" y="3200400"/>
            <a:ext cx="5120640" cy="1234440"/>
          </a:xfrm>
          <a:prstGeom prst="rect">
            <a:avLst/>
          </a:prstGeom>
          <a:noFill/>
          <a:ln/>
        </p:spPr>
        <p:txBody>
          <a:bodyPr wrap="square" lIns="0" tIns="0" rIns="0" bIns="0" rtlCol="0" anchor="t"/>
          <a:lstStyle/>
          <a:p>
            <a:pPr indent="0" marL="0">
              <a:buNone/>
            </a:pPr>
            <a:r>
              <a:rPr lang="en-US" sz="1300" dirty="0">
                <a:solidFill>
                  <a:srgbClr val="4A5563"/>
                </a:solidFill>
                <a:latin typeface="Calibri" pitchFamily="34" charset="0"/>
                <a:ea typeface="Calibri" pitchFamily="34" charset="-122"/>
                <a:cs typeface="Calibri" pitchFamily="34" charset="-120"/>
              </a:rPr>
              <a:t>Tom is an EO Queensland member who runs EOS and tracks performance himself. His last hire lacked the confidence to learn and checked everything with him. He wants a fast learner who acts, uses the SOPs and owns mistakes straight away.</a:t>
            </a:r>
            <a:endParaRPr lang="en-US" sz="1300" dirty="0"/>
          </a:p>
        </p:txBody>
      </p:sp>
      <p:sp>
        <p:nvSpPr>
          <p:cNvPr id="21" name="Tick box: Accurate"/>
          <p:cNvSpPr txBox="1"/>
          <p:nvPr/>
        </p:nvSpPr>
        <p:spPr>
          <a:xfrm>
            <a:off x="6391656" y="45445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2" name="Text 20"/>
          <p:cNvSpPr txBox="1"/>
          <p:nvPr/>
        </p:nvSpPr>
        <p:spPr>
          <a:xfrm>
            <a:off x="6684264" y="4526280"/>
            <a:ext cx="98755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Accurate</a:t>
            </a:r>
            <a:endParaRPr lang="en-US" sz="1200" dirty="0"/>
          </a:p>
        </p:txBody>
      </p:sp>
      <p:sp>
        <p:nvSpPr>
          <p:cNvPr id="23" name="Tick box: Needs a tweak"/>
          <p:cNvSpPr txBox="1"/>
          <p:nvPr/>
        </p:nvSpPr>
        <p:spPr>
          <a:xfrm>
            <a:off x="7808976" y="45445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4" name="Text 22"/>
          <p:cNvSpPr txBox="1"/>
          <p:nvPr/>
        </p:nvSpPr>
        <p:spPr>
          <a:xfrm>
            <a:off x="8101584" y="4526280"/>
            <a:ext cx="15361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Needs a tweak</a:t>
            </a:r>
            <a:endParaRPr lang="en-US" sz="1200" dirty="0"/>
          </a:p>
        </p:txBody>
      </p:sp>
      <p:sp>
        <p:nvSpPr>
          <p:cNvPr id="25" name="Card"/>
          <p:cNvSpPr/>
          <p:nvPr/>
        </p:nvSpPr>
        <p:spPr>
          <a:xfrm>
            <a:off x="457200" y="5029200"/>
            <a:ext cx="5568696" cy="1097280"/>
          </a:xfrm>
          <a:prstGeom prst="roundRect">
            <a:avLst>
              <a:gd name="adj" fmla="val 6667"/>
            </a:avLst>
          </a:prstGeom>
          <a:solidFill>
            <a:srgbClr val="E4F2EC"/>
          </a:solidFill>
          <a:ln w="9525">
            <a:solidFill>
              <a:srgbClr val="E4F2EC"/>
            </a:solidFill>
            <a:prstDash val="solid"/>
          </a:ln>
        </p:spPr>
      </p:sp>
      <p:sp>
        <p:nvSpPr>
          <p:cNvPr id="26" name="Text 24"/>
          <p:cNvSpPr txBox="1"/>
          <p:nvPr/>
        </p:nvSpPr>
        <p:spPr>
          <a:xfrm>
            <a:off x="685800" y="5138928"/>
            <a:ext cx="5120640" cy="914400"/>
          </a:xfrm>
          <a:prstGeom prst="rect">
            <a:avLst/>
          </a:prstGeom>
          <a:noFill/>
          <a:ln/>
        </p:spPr>
        <p:txBody>
          <a:bodyPr wrap="square" lIns="0" tIns="0" rIns="0" bIns="0" rtlCol="0" anchor="ctr"/>
          <a:lstStyle/>
          <a:p>
            <a:pPr indent="0" marL="0">
              <a:buNone/>
            </a:pPr>
            <a:r>
              <a:rPr lang="en-US" sz="1250" b="1" dirty="0">
                <a:solidFill>
                  <a:srgbClr val="11604A"/>
                </a:solidFill>
                <a:latin typeface="Calibri" pitchFamily="34" charset="0"/>
                <a:ea typeface="Calibri" pitchFamily="34" charset="-122"/>
                <a:cs typeface="Calibri" pitchFamily="34" charset="-120"/>
              </a:rPr>
              <a:t>Our recommendation: a dedicated Broker Administration Assistant who owns the SME process end to end, supports C&amp;I data and tenders, and coordinates solar logistics, so Tom can step out of the day-to-day admin.</a:t>
            </a:r>
            <a:endParaRPr lang="en-US" sz="1250" dirty="0"/>
          </a:p>
        </p:txBody>
      </p:sp>
      <p:sp>
        <p:nvSpPr>
          <p:cNvPr id="27" name="Input: What would you add or change?"/>
          <p:cNvSpPr txBox="1"/>
          <p:nvPr/>
        </p:nvSpPr>
        <p:spPr>
          <a:xfrm>
            <a:off x="6163056" y="5029200"/>
            <a:ext cx="5568696" cy="10972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YOU ADD OR CHANGE?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Team members, retailers, how things really work…</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04</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Leverage gap analysis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The biggest leverage point: the whole SME process off Tom’s plate, accurately, within three months.</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5568696" cy="3063240"/>
          </a:xfrm>
          <a:prstGeom prst="roundRect">
            <a:avLst>
              <a:gd name="adj" fmla="val 2388"/>
            </a:avLst>
          </a:prstGeom>
          <a:solidFill>
            <a:srgbClr val="FFFFFF"/>
          </a:solidFill>
          <a:ln w="9525">
            <a:solidFill>
              <a:srgbClr val="DDE4E0"/>
            </a:solidFill>
            <a:prstDash val="solid"/>
          </a:ln>
        </p:spPr>
      </p:sp>
      <p:sp>
        <p:nvSpPr>
          <p:cNvPr id="11" name="Text 9"/>
          <p:cNvSpPr txBox="1"/>
          <p:nvPr/>
        </p:nvSpPr>
        <p:spPr>
          <a:xfrm>
            <a:off x="685800" y="1920240"/>
            <a:ext cx="3657600" cy="237744"/>
          </a:xfrm>
          <a:prstGeom prst="rect">
            <a:avLst/>
          </a:prstGeom>
          <a:noFill/>
          <a:ln/>
        </p:spPr>
        <p:txBody>
          <a:bodyPr wrap="square" lIns="0" tIns="0" rIns="0" bIns="0" rtlCol="0" anchor="ctr"/>
          <a:lstStyle/>
          <a:p>
            <a:pPr indent="0" marL="0">
              <a:buNone/>
            </a:pPr>
            <a:r>
              <a:rPr lang="en-US" sz="1000" b="1" spc="200" kern="0" dirty="0">
                <a:solidFill>
                  <a:srgbClr val="6B7480"/>
                </a:solidFill>
                <a:latin typeface="Calibri" pitchFamily="34" charset="0"/>
                <a:ea typeface="Calibri" pitchFamily="34" charset="-122"/>
                <a:cs typeface="Calibri" pitchFamily="34" charset="-120"/>
              </a:rPr>
              <a:t>TODAY</a:t>
            </a:r>
            <a:endParaRPr lang="en-US" sz="1000" dirty="0"/>
          </a:p>
        </p:txBody>
      </p:sp>
      <p:sp>
        <p:nvSpPr>
          <p:cNvPr id="12" name="Text 10"/>
          <p:cNvSpPr txBox="1"/>
          <p:nvPr/>
        </p:nvSpPr>
        <p:spPr>
          <a:xfrm>
            <a:off x="685800" y="228600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Two part-time roles vacant: Brisbane admin and offshore data support</a:t>
            </a:r>
            <a:endParaRPr lang="en-US" sz="1350" dirty="0"/>
          </a:p>
        </p:txBody>
      </p:sp>
      <p:sp>
        <p:nvSpPr>
          <p:cNvPr id="13" name="Tick box: True today"/>
          <p:cNvSpPr txBox="1"/>
          <p:nvPr/>
        </p:nvSpPr>
        <p:spPr>
          <a:xfrm>
            <a:off x="4663440" y="23500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4" name="Text 12"/>
          <p:cNvSpPr txBox="1"/>
          <p:nvPr/>
        </p:nvSpPr>
        <p:spPr>
          <a:xfrm>
            <a:off x="4956048" y="233172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True today</a:t>
            </a:r>
            <a:endParaRPr lang="en-US" sz="1100" dirty="0"/>
          </a:p>
        </p:txBody>
      </p:sp>
      <p:sp>
        <p:nvSpPr>
          <p:cNvPr id="15" name="Text 13"/>
          <p:cNvSpPr txBox="1"/>
          <p:nvPr/>
        </p:nvSpPr>
        <p:spPr>
          <a:xfrm>
            <a:off x="685800" y="310896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Tom personally runs SME comparisons, contracts and LOA signing</a:t>
            </a:r>
            <a:endParaRPr lang="en-US" sz="1350" dirty="0"/>
          </a:p>
        </p:txBody>
      </p:sp>
      <p:sp>
        <p:nvSpPr>
          <p:cNvPr id="16" name="Tick box: True today"/>
          <p:cNvSpPr txBox="1"/>
          <p:nvPr/>
        </p:nvSpPr>
        <p:spPr>
          <a:xfrm>
            <a:off x="4663440" y="31729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4956048" y="315468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True today</a:t>
            </a:r>
            <a:endParaRPr lang="en-US" sz="1100" dirty="0"/>
          </a:p>
        </p:txBody>
      </p:sp>
      <p:sp>
        <p:nvSpPr>
          <p:cNvPr id="18" name="Text 16"/>
          <p:cNvSpPr txBox="1"/>
          <p:nvPr/>
        </p:nvSpPr>
        <p:spPr>
          <a:xfrm>
            <a:off x="685800" y="393192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Past reports reached Tom with errors that should have been caught</a:t>
            </a:r>
            <a:endParaRPr lang="en-US" sz="1350" dirty="0"/>
          </a:p>
        </p:txBody>
      </p:sp>
      <p:sp>
        <p:nvSpPr>
          <p:cNvPr id="19" name="Tick box: True today"/>
          <p:cNvSpPr txBox="1"/>
          <p:nvPr/>
        </p:nvSpPr>
        <p:spPr>
          <a:xfrm>
            <a:off x="4663440" y="39959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0" name="Text 18"/>
          <p:cNvSpPr txBox="1"/>
          <p:nvPr/>
        </p:nvSpPr>
        <p:spPr>
          <a:xfrm>
            <a:off x="4956048" y="397764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True today</a:t>
            </a:r>
            <a:endParaRPr lang="en-US" sz="1100" dirty="0"/>
          </a:p>
        </p:txBody>
      </p:sp>
      <p:sp>
        <p:nvSpPr>
          <p:cNvPr id="21" name="Card"/>
          <p:cNvSpPr/>
          <p:nvPr/>
        </p:nvSpPr>
        <p:spPr>
          <a:xfrm>
            <a:off x="6163056" y="1783080"/>
            <a:ext cx="5568696" cy="3063240"/>
          </a:xfrm>
          <a:prstGeom prst="roundRect">
            <a:avLst>
              <a:gd name="adj" fmla="val 2388"/>
            </a:avLst>
          </a:prstGeom>
          <a:solidFill>
            <a:srgbClr val="E4F2EC"/>
          </a:solidFill>
          <a:ln w="9525">
            <a:solidFill>
              <a:srgbClr val="E4F2EC"/>
            </a:solidFill>
            <a:prstDash val="solid"/>
          </a:ln>
        </p:spPr>
      </p:sp>
      <p:sp>
        <p:nvSpPr>
          <p:cNvPr id="22" name="Text 20"/>
          <p:cNvSpPr txBox="1"/>
          <p:nvPr/>
        </p:nvSpPr>
        <p:spPr>
          <a:xfrm>
            <a:off x="6391656" y="1920240"/>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WHERE WE’RE GOING</a:t>
            </a:r>
            <a:endParaRPr lang="en-US" sz="1000" dirty="0"/>
          </a:p>
        </p:txBody>
      </p:sp>
      <p:sp>
        <p:nvSpPr>
          <p:cNvPr id="23" name="Text 21"/>
          <p:cNvSpPr txBox="1"/>
          <p:nvPr/>
        </p:nvSpPr>
        <p:spPr>
          <a:xfrm>
            <a:off x="6391656" y="228600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One full-time Assistant covering admin, data and brokerage portals</a:t>
            </a:r>
            <a:endParaRPr lang="en-US" sz="1350" dirty="0"/>
          </a:p>
        </p:txBody>
      </p:sp>
      <p:sp>
        <p:nvSpPr>
          <p:cNvPr id="24" name="Tick box: Agree"/>
          <p:cNvSpPr txBox="1"/>
          <p:nvPr/>
        </p:nvSpPr>
        <p:spPr>
          <a:xfrm>
            <a:off x="10369296" y="23500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5" name="Text 23"/>
          <p:cNvSpPr txBox="1"/>
          <p:nvPr/>
        </p:nvSpPr>
        <p:spPr>
          <a:xfrm>
            <a:off x="10661904" y="233172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Agree</a:t>
            </a:r>
            <a:endParaRPr lang="en-US" sz="1100" dirty="0"/>
          </a:p>
        </p:txBody>
      </p:sp>
      <p:sp>
        <p:nvSpPr>
          <p:cNvPr id="26" name="Text 24"/>
          <p:cNvSpPr txBox="1"/>
          <p:nvPr/>
        </p:nvSpPr>
        <p:spPr>
          <a:xfrm>
            <a:off x="6391656" y="310896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SME reports, contracts, LOAs and invoicing owned end to end</a:t>
            </a:r>
            <a:endParaRPr lang="en-US" sz="1350" dirty="0"/>
          </a:p>
        </p:txBody>
      </p:sp>
      <p:sp>
        <p:nvSpPr>
          <p:cNvPr id="27" name="Tick box: Agree"/>
          <p:cNvSpPr txBox="1"/>
          <p:nvPr/>
        </p:nvSpPr>
        <p:spPr>
          <a:xfrm>
            <a:off x="10369296" y="31729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8" name="Text 26"/>
          <p:cNvSpPr txBox="1"/>
          <p:nvPr/>
        </p:nvSpPr>
        <p:spPr>
          <a:xfrm>
            <a:off x="10661904" y="315468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Agree</a:t>
            </a:r>
            <a:endParaRPr lang="en-US" sz="1100" dirty="0"/>
          </a:p>
        </p:txBody>
      </p:sp>
      <p:sp>
        <p:nvSpPr>
          <p:cNvPr id="29" name="Text 27"/>
          <p:cNvSpPr txBox="1"/>
          <p:nvPr/>
        </p:nvSpPr>
        <p:spPr>
          <a:xfrm>
            <a:off x="6391656" y="3931920"/>
            <a:ext cx="3840480" cy="731520"/>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Every report checked against the SOP before it leaves the business</a:t>
            </a:r>
            <a:endParaRPr lang="en-US" sz="1350" dirty="0"/>
          </a:p>
        </p:txBody>
      </p:sp>
      <p:sp>
        <p:nvSpPr>
          <p:cNvPr id="30" name="Tick box: Agree"/>
          <p:cNvSpPr txBox="1"/>
          <p:nvPr/>
        </p:nvSpPr>
        <p:spPr>
          <a:xfrm>
            <a:off x="10369296" y="39959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1" name="Text 29"/>
          <p:cNvSpPr txBox="1"/>
          <p:nvPr/>
        </p:nvSpPr>
        <p:spPr>
          <a:xfrm>
            <a:off x="10661904" y="3977640"/>
            <a:ext cx="9875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Agree</a:t>
            </a:r>
            <a:endParaRPr lang="en-US" sz="1100" dirty="0"/>
          </a:p>
        </p:txBody>
      </p:sp>
      <p:sp>
        <p:nvSpPr>
          <p:cNvPr id="32" name="Input: Another gap we should close"/>
          <p:cNvSpPr txBox="1"/>
          <p:nvPr/>
        </p:nvSpPr>
        <p:spPr>
          <a:xfrm>
            <a:off x="457200" y="4983480"/>
            <a:ext cx="5568696"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ANOTHER GAP WE SHOULD CLOSE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What else takes up your time or slips through?</a:t>
            </a:r>
            <a:endParaRPr lang="en-US" sz="900" dirty="0"/>
          </a:p>
        </p:txBody>
      </p:sp>
      <p:sp>
        <p:nvSpPr>
          <p:cNvPr id="33" name="Input: What would make the biggest difference first?"/>
          <p:cNvSpPr txBox="1"/>
          <p:nvPr/>
        </p:nvSpPr>
        <p:spPr>
          <a:xfrm>
            <a:off x="6163056" y="4983480"/>
            <a:ext cx="5568696"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MAKE THE BIGGEST DIFFERENCE FIRST?</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If the Assistant could only fix one thing in month one…</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05</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Freedom Stage</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Where the business is today, and the path this plan takes. Mark where you think you are, and where you want to be.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Shape 8"/>
          <p:cNvSpPr/>
          <p:nvPr/>
        </p:nvSpPr>
        <p:spPr>
          <a:xfrm>
            <a:off x="2468880" y="2286000"/>
            <a:ext cx="8229600" cy="0"/>
          </a:xfrm>
          <a:prstGeom prst="line">
            <a:avLst/>
          </a:prstGeom>
          <a:noFill/>
          <a:ln w="38100">
            <a:solidFill>
              <a:srgbClr val="DDE4E0"/>
            </a:solidFill>
            <a:prstDash val="solid"/>
          </a:ln>
        </p:spPr>
      </p:sp>
      <p:sp>
        <p:nvSpPr>
          <p:cNvPr id="11" name="Text 9"/>
          <p:cNvSpPr txBox="1"/>
          <p:nvPr/>
        </p:nvSpPr>
        <p:spPr>
          <a:xfrm>
            <a:off x="2176272" y="1993392"/>
            <a:ext cx="585216" cy="585216"/>
          </a:xfrm>
          <a:prstGeom prst="ellipse">
            <a:avLst/>
          </a:prstGeom>
          <a:solidFill>
            <a:srgbClr val="1B2430"/>
          </a:solidFill>
          <a:ln w="25400">
            <a:solidFill>
              <a:srgbClr val="1B2430"/>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10"/>
          <p:cNvSpPr txBox="1"/>
          <p:nvPr/>
        </p:nvSpPr>
        <p:spPr>
          <a:xfrm>
            <a:off x="1463040" y="2697480"/>
            <a:ext cx="2011680" cy="320040"/>
          </a:xfrm>
          <a:prstGeom prst="rect">
            <a:avLst/>
          </a:prstGeom>
          <a:noFill/>
          <a:ln/>
        </p:spPr>
        <p:txBody>
          <a:bodyPr wrap="square" lIns="0" tIns="0" rIns="0" bIns="0" rtlCol="0" anchor="ctr"/>
          <a:lstStyle/>
          <a:p>
            <a:pPr algn="ctr" indent="0" marL="0">
              <a:buNone/>
            </a:pPr>
            <a:r>
              <a:rPr lang="en-US" sz="1400" b="1" dirty="0">
                <a:solidFill>
                  <a:srgbClr val="1B2430"/>
                </a:solidFill>
                <a:latin typeface="Cambria" pitchFamily="34" charset="0"/>
                <a:ea typeface="Cambria" pitchFamily="34" charset="-122"/>
                <a:cs typeface="Cambria" pitchFamily="34" charset="-120"/>
              </a:rPr>
              <a:t>Task Delegator</a:t>
            </a:r>
            <a:endParaRPr lang="en-US" sz="1400" dirty="0"/>
          </a:p>
        </p:txBody>
      </p:sp>
      <p:sp>
        <p:nvSpPr>
          <p:cNvPr id="13" name="Text 11"/>
          <p:cNvSpPr txBox="1"/>
          <p:nvPr/>
        </p:nvSpPr>
        <p:spPr>
          <a:xfrm>
            <a:off x="1508760" y="3017520"/>
            <a:ext cx="1920240" cy="502920"/>
          </a:xfrm>
          <a:prstGeom prst="rect">
            <a:avLst/>
          </a:prstGeom>
          <a:noFill/>
          <a:ln/>
        </p:spPr>
        <p:txBody>
          <a:bodyPr wrap="square" lIns="0" tIns="0" rIns="0" bIns="0" rtlCol="0" anchor="t"/>
          <a:lstStyle/>
          <a:p>
            <a:pPr algn="ctr" indent="0" marL="0">
              <a:buNone/>
            </a:pPr>
            <a:r>
              <a:rPr lang="en-US" sz="1100" dirty="0">
                <a:solidFill>
                  <a:srgbClr val="6B7480"/>
                </a:solidFill>
                <a:latin typeface="Calibri" pitchFamily="34" charset="0"/>
                <a:ea typeface="Calibri" pitchFamily="34" charset="-122"/>
                <a:cs typeface="Calibri" pitchFamily="34" charset="-120"/>
              </a:rPr>
              <a:t>You hand over tasks one at a time</a:t>
            </a:r>
            <a:endParaRPr lang="en-US" sz="1100" dirty="0"/>
          </a:p>
        </p:txBody>
      </p:sp>
      <p:sp>
        <p:nvSpPr>
          <p:cNvPr id="14" name="Text 12"/>
          <p:cNvSpPr txBox="1"/>
          <p:nvPr/>
        </p:nvSpPr>
        <p:spPr>
          <a:xfrm>
            <a:off x="1463040" y="3520440"/>
            <a:ext cx="2011680" cy="228600"/>
          </a:xfrm>
          <a:prstGeom prst="rect">
            <a:avLst/>
          </a:prstGeom>
          <a:noFill/>
          <a:ln/>
        </p:spPr>
        <p:txBody>
          <a:bodyPr wrap="square" lIns="0" tIns="0" rIns="0" bIns="0" rtlCol="0" anchor="ctr"/>
          <a:lstStyle/>
          <a:p>
            <a:pPr algn="ctr" indent="0" marL="0">
              <a:buNone/>
            </a:pPr>
            <a:r>
              <a:rPr lang="en-US" sz="1000" b="1" spc="200" kern="0" dirty="0">
                <a:solidFill>
                  <a:srgbClr val="6B7480"/>
                </a:solidFill>
                <a:latin typeface="Calibri" pitchFamily="34" charset="0"/>
                <a:ea typeface="Calibri" pitchFamily="34" charset="-122"/>
                <a:cs typeface="Calibri" pitchFamily="34" charset="-120"/>
              </a:rPr>
              <a:t>Today</a:t>
            </a:r>
            <a:endParaRPr lang="en-US" sz="1000" dirty="0"/>
          </a:p>
        </p:txBody>
      </p:sp>
      <p:sp>
        <p:nvSpPr>
          <p:cNvPr id="15" name="Text 13"/>
          <p:cNvSpPr txBox="1"/>
          <p:nvPr/>
        </p:nvSpPr>
        <p:spPr>
          <a:xfrm>
            <a:off x="4233672" y="1993392"/>
            <a:ext cx="585216" cy="585216"/>
          </a:xfrm>
          <a:prstGeom prst="ellipse">
            <a:avLst/>
          </a:prstGeom>
          <a:solidFill>
            <a:srgbClr val="FFFFFF"/>
          </a:solidFill>
          <a:ln w="25400">
            <a:solidFill>
              <a:srgbClr val="DDE4E0"/>
            </a:solidFill>
          </a:ln>
        </p:spPr>
        <p:txBody>
          <a:bodyPr wrap="square" lIns="0" tIns="0" rIns="0" bIns="0" rtlCol="0" anchor="ctr"/>
          <a:lstStyle/>
          <a:p>
            <a:pPr algn="ctr" indent="0" marL="0">
              <a:buNone/>
            </a:pPr>
            <a:r>
              <a:rPr lang="en-US" sz="1800" b="1" dirty="0">
                <a:solidFill>
                  <a:srgbClr val="4A5563"/>
                </a:solidFill>
                <a:latin typeface="Calibri" pitchFamily="34" charset="0"/>
                <a:ea typeface="Calibri" pitchFamily="34" charset="-122"/>
                <a:cs typeface="Calibri" pitchFamily="34" charset="-120"/>
              </a:rPr>
              <a:t>2</a:t>
            </a:r>
            <a:endParaRPr lang="en-US" sz="1800" dirty="0"/>
          </a:p>
        </p:txBody>
      </p:sp>
      <p:sp>
        <p:nvSpPr>
          <p:cNvPr id="16" name="Text 14"/>
          <p:cNvSpPr txBox="1"/>
          <p:nvPr/>
        </p:nvSpPr>
        <p:spPr>
          <a:xfrm>
            <a:off x="3520440" y="2697480"/>
            <a:ext cx="2011680" cy="320040"/>
          </a:xfrm>
          <a:prstGeom prst="rect">
            <a:avLst/>
          </a:prstGeom>
          <a:noFill/>
          <a:ln/>
        </p:spPr>
        <p:txBody>
          <a:bodyPr wrap="square" lIns="0" tIns="0" rIns="0" bIns="0" rtlCol="0" anchor="ctr"/>
          <a:lstStyle/>
          <a:p>
            <a:pPr algn="ctr" indent="0" marL="0">
              <a:buNone/>
            </a:pPr>
            <a:r>
              <a:rPr lang="en-US" sz="1400" b="1" dirty="0">
                <a:solidFill>
                  <a:srgbClr val="1B2430"/>
                </a:solidFill>
                <a:latin typeface="Cambria" pitchFamily="34" charset="0"/>
                <a:ea typeface="Cambria" pitchFamily="34" charset="-122"/>
                <a:cs typeface="Cambria" pitchFamily="34" charset="-120"/>
              </a:rPr>
              <a:t>Process Builder</a:t>
            </a:r>
            <a:endParaRPr lang="en-US" sz="1400" dirty="0"/>
          </a:p>
        </p:txBody>
      </p:sp>
      <p:sp>
        <p:nvSpPr>
          <p:cNvPr id="17" name="Text 15"/>
          <p:cNvSpPr txBox="1"/>
          <p:nvPr/>
        </p:nvSpPr>
        <p:spPr>
          <a:xfrm>
            <a:off x="3566160" y="3017520"/>
            <a:ext cx="1920240" cy="502920"/>
          </a:xfrm>
          <a:prstGeom prst="rect">
            <a:avLst/>
          </a:prstGeom>
          <a:noFill/>
          <a:ln/>
        </p:spPr>
        <p:txBody>
          <a:bodyPr wrap="square" lIns="0" tIns="0" rIns="0" bIns="0" rtlCol="0" anchor="t"/>
          <a:lstStyle/>
          <a:p>
            <a:pPr algn="ctr" indent="0" marL="0">
              <a:buNone/>
            </a:pPr>
            <a:r>
              <a:rPr lang="en-US" sz="1100" dirty="0">
                <a:solidFill>
                  <a:srgbClr val="6B7480"/>
                </a:solidFill>
                <a:latin typeface="Calibri" pitchFamily="34" charset="0"/>
                <a:ea typeface="Calibri" pitchFamily="34" charset="-122"/>
                <a:cs typeface="Calibri" pitchFamily="34" charset="-120"/>
              </a:rPr>
              <a:t>Repeatable processes are written down</a:t>
            </a:r>
            <a:endParaRPr lang="en-US" sz="1100" dirty="0"/>
          </a:p>
        </p:txBody>
      </p:sp>
      <p:sp>
        <p:nvSpPr>
          <p:cNvPr id="18" name="Text 16"/>
          <p:cNvSpPr txBox="1"/>
          <p:nvPr/>
        </p:nvSpPr>
        <p:spPr>
          <a:xfrm>
            <a:off x="3520440" y="3520440"/>
            <a:ext cx="2011680" cy="228600"/>
          </a:xfrm>
          <a:prstGeom prst="rect">
            <a:avLst/>
          </a:prstGeom>
          <a:noFill/>
          <a:ln/>
        </p:spPr>
        <p:txBody>
          <a:bodyPr wrap="square" lIns="0" tIns="0" rIns="0" bIns="0" rtlCol="0" anchor="ctr"/>
          <a:lstStyle/>
          <a:p>
            <a:pPr algn="ctr" indent="0" marL="0">
              <a:buNone/>
            </a:pPr>
            <a:endParaRPr lang="en-US" sz="1000" dirty="0"/>
          </a:p>
        </p:txBody>
      </p:sp>
      <p:sp>
        <p:nvSpPr>
          <p:cNvPr id="19" name="Text 17"/>
          <p:cNvSpPr txBox="1"/>
          <p:nvPr/>
        </p:nvSpPr>
        <p:spPr>
          <a:xfrm>
            <a:off x="6291072" y="1993392"/>
            <a:ext cx="585216" cy="585216"/>
          </a:xfrm>
          <a:prstGeom prst="ellipse">
            <a:avLst/>
          </a:prstGeom>
          <a:solidFill>
            <a:srgbClr val="187A5E"/>
          </a:solidFill>
          <a:ln w="25400">
            <a:solidFill>
              <a:srgbClr val="187A5E"/>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txBox="1"/>
          <p:nvPr/>
        </p:nvSpPr>
        <p:spPr>
          <a:xfrm>
            <a:off x="5577840" y="2697480"/>
            <a:ext cx="2011680" cy="320040"/>
          </a:xfrm>
          <a:prstGeom prst="rect">
            <a:avLst/>
          </a:prstGeom>
          <a:noFill/>
          <a:ln/>
        </p:spPr>
        <p:txBody>
          <a:bodyPr wrap="square" lIns="0" tIns="0" rIns="0" bIns="0" rtlCol="0" anchor="ctr"/>
          <a:lstStyle/>
          <a:p>
            <a:pPr algn="ctr" indent="0" marL="0">
              <a:buNone/>
            </a:pPr>
            <a:r>
              <a:rPr lang="en-US" sz="1400" b="1" dirty="0">
                <a:solidFill>
                  <a:srgbClr val="1B2430"/>
                </a:solidFill>
                <a:latin typeface="Cambria" pitchFamily="34" charset="0"/>
                <a:ea typeface="Cambria" pitchFamily="34" charset="-122"/>
                <a:cs typeface="Cambria" pitchFamily="34" charset="-120"/>
              </a:rPr>
              <a:t>Outcome Owner</a:t>
            </a:r>
            <a:endParaRPr lang="en-US" sz="1400" dirty="0"/>
          </a:p>
        </p:txBody>
      </p:sp>
      <p:sp>
        <p:nvSpPr>
          <p:cNvPr id="21" name="Text 19"/>
          <p:cNvSpPr txBox="1"/>
          <p:nvPr/>
        </p:nvSpPr>
        <p:spPr>
          <a:xfrm>
            <a:off x="5623560" y="3017520"/>
            <a:ext cx="1920240" cy="502920"/>
          </a:xfrm>
          <a:prstGeom prst="rect">
            <a:avLst/>
          </a:prstGeom>
          <a:noFill/>
          <a:ln/>
        </p:spPr>
        <p:txBody>
          <a:bodyPr wrap="square" lIns="0" tIns="0" rIns="0" bIns="0" rtlCol="0" anchor="t"/>
          <a:lstStyle/>
          <a:p>
            <a:pPr algn="ctr" indent="0" marL="0">
              <a:buNone/>
            </a:pPr>
            <a:r>
              <a:rPr lang="en-US" sz="1100" dirty="0">
                <a:solidFill>
                  <a:srgbClr val="6B7480"/>
                </a:solidFill>
                <a:latin typeface="Calibri" pitchFamily="34" charset="0"/>
                <a:ea typeface="Calibri" pitchFamily="34" charset="-122"/>
                <a:cs typeface="Calibri" pitchFamily="34" charset="-120"/>
              </a:rPr>
              <a:t>The Assistant owns results, not just tasks</a:t>
            </a:r>
            <a:endParaRPr lang="en-US" sz="1100" dirty="0"/>
          </a:p>
        </p:txBody>
      </p:sp>
      <p:sp>
        <p:nvSpPr>
          <p:cNvPr id="22" name="Text 20"/>
          <p:cNvSpPr txBox="1"/>
          <p:nvPr/>
        </p:nvSpPr>
        <p:spPr>
          <a:xfrm>
            <a:off x="5577840" y="3520440"/>
            <a:ext cx="2011680" cy="228600"/>
          </a:xfrm>
          <a:prstGeom prst="rect">
            <a:avLst/>
          </a:prstGeom>
          <a:noFill/>
          <a:ln/>
        </p:spPr>
        <p:txBody>
          <a:bodyPr wrap="square" lIns="0" tIns="0" rIns="0" bIns="0" rtlCol="0" anchor="ctr"/>
          <a:lstStyle/>
          <a:p>
            <a:pPr algn="ctr" indent="0" marL="0">
              <a:buNone/>
            </a:pPr>
            <a:r>
              <a:rPr lang="en-US" sz="1000" b="1" spc="200" kern="0" dirty="0">
                <a:solidFill>
                  <a:srgbClr val="187A5E"/>
                </a:solidFill>
                <a:latin typeface="Calibri" pitchFamily="34" charset="0"/>
                <a:ea typeface="Calibri" pitchFamily="34" charset="-122"/>
                <a:cs typeface="Calibri" pitchFamily="34" charset="-120"/>
              </a:rPr>
              <a:t>Day 90 target</a:t>
            </a:r>
            <a:endParaRPr lang="en-US" sz="1000" dirty="0"/>
          </a:p>
        </p:txBody>
      </p:sp>
      <p:sp>
        <p:nvSpPr>
          <p:cNvPr id="23" name="Text 21"/>
          <p:cNvSpPr txBox="1"/>
          <p:nvPr/>
        </p:nvSpPr>
        <p:spPr>
          <a:xfrm>
            <a:off x="8348472" y="1993392"/>
            <a:ext cx="585216" cy="585216"/>
          </a:xfrm>
          <a:prstGeom prst="ellipse">
            <a:avLst/>
          </a:prstGeom>
          <a:solidFill>
            <a:srgbClr val="FFFFFF"/>
          </a:solidFill>
          <a:ln w="25400">
            <a:solidFill>
              <a:srgbClr val="DDE4E0"/>
            </a:solidFill>
          </a:ln>
        </p:spPr>
        <p:txBody>
          <a:bodyPr wrap="square" lIns="0" tIns="0" rIns="0" bIns="0" rtlCol="0" anchor="ctr"/>
          <a:lstStyle/>
          <a:p>
            <a:pPr algn="ctr" indent="0" marL="0">
              <a:buNone/>
            </a:pPr>
            <a:r>
              <a:rPr lang="en-US" sz="1800" b="1" dirty="0">
                <a:solidFill>
                  <a:srgbClr val="4A5563"/>
                </a:solidFill>
                <a:latin typeface="Calibri" pitchFamily="34" charset="0"/>
                <a:ea typeface="Calibri" pitchFamily="34" charset="-122"/>
                <a:cs typeface="Calibri" pitchFamily="34" charset="-120"/>
              </a:rPr>
              <a:t>4</a:t>
            </a:r>
            <a:endParaRPr lang="en-US" sz="1800" dirty="0"/>
          </a:p>
        </p:txBody>
      </p:sp>
      <p:sp>
        <p:nvSpPr>
          <p:cNvPr id="24" name="Text 22"/>
          <p:cNvSpPr txBox="1"/>
          <p:nvPr/>
        </p:nvSpPr>
        <p:spPr>
          <a:xfrm>
            <a:off x="7635240" y="2697480"/>
            <a:ext cx="2011680" cy="320040"/>
          </a:xfrm>
          <a:prstGeom prst="rect">
            <a:avLst/>
          </a:prstGeom>
          <a:noFill/>
          <a:ln/>
        </p:spPr>
        <p:txBody>
          <a:bodyPr wrap="square" lIns="0" tIns="0" rIns="0" bIns="0" rtlCol="0" anchor="ctr"/>
          <a:lstStyle/>
          <a:p>
            <a:pPr algn="ctr" indent="0" marL="0">
              <a:buNone/>
            </a:pPr>
            <a:r>
              <a:rPr lang="en-US" sz="1400" b="1" dirty="0">
                <a:solidFill>
                  <a:srgbClr val="1B2430"/>
                </a:solidFill>
                <a:latin typeface="Cambria" pitchFamily="34" charset="0"/>
                <a:ea typeface="Cambria" pitchFamily="34" charset="-122"/>
                <a:cs typeface="Cambria" pitchFamily="34" charset="-120"/>
              </a:rPr>
              <a:t>Operator</a:t>
            </a:r>
            <a:endParaRPr lang="en-US" sz="1400" dirty="0"/>
          </a:p>
        </p:txBody>
      </p:sp>
      <p:sp>
        <p:nvSpPr>
          <p:cNvPr id="25" name="Text 23"/>
          <p:cNvSpPr txBox="1"/>
          <p:nvPr/>
        </p:nvSpPr>
        <p:spPr>
          <a:xfrm>
            <a:off x="7680960" y="3017520"/>
            <a:ext cx="1920240" cy="502920"/>
          </a:xfrm>
          <a:prstGeom prst="rect">
            <a:avLst/>
          </a:prstGeom>
          <a:noFill/>
          <a:ln/>
        </p:spPr>
        <p:txBody>
          <a:bodyPr wrap="square" lIns="0" tIns="0" rIns="0" bIns="0" rtlCol="0" anchor="t"/>
          <a:lstStyle/>
          <a:p>
            <a:pPr algn="ctr" indent="0" marL="0">
              <a:buNone/>
            </a:pPr>
            <a:r>
              <a:rPr lang="en-US" sz="1100" dirty="0">
                <a:solidFill>
                  <a:srgbClr val="6B7480"/>
                </a:solidFill>
                <a:latin typeface="Calibri" pitchFamily="34" charset="0"/>
                <a:ea typeface="Calibri" pitchFamily="34" charset="-122"/>
                <a:cs typeface="Calibri" pitchFamily="34" charset="-120"/>
              </a:rPr>
              <a:t>The Assistant runs the area day to day</a:t>
            </a:r>
            <a:endParaRPr lang="en-US" sz="1100" dirty="0"/>
          </a:p>
        </p:txBody>
      </p:sp>
      <p:sp>
        <p:nvSpPr>
          <p:cNvPr id="26" name="Text 24"/>
          <p:cNvSpPr txBox="1"/>
          <p:nvPr/>
        </p:nvSpPr>
        <p:spPr>
          <a:xfrm>
            <a:off x="7635240" y="3520440"/>
            <a:ext cx="2011680" cy="228600"/>
          </a:xfrm>
          <a:prstGeom prst="rect">
            <a:avLst/>
          </a:prstGeom>
          <a:noFill/>
          <a:ln/>
        </p:spPr>
        <p:txBody>
          <a:bodyPr wrap="square" lIns="0" tIns="0" rIns="0" bIns="0" rtlCol="0" anchor="ctr"/>
          <a:lstStyle/>
          <a:p>
            <a:pPr algn="ctr" indent="0" marL="0">
              <a:buNone/>
            </a:pPr>
            <a:endParaRPr lang="en-US" sz="1000" dirty="0"/>
          </a:p>
        </p:txBody>
      </p:sp>
      <p:sp>
        <p:nvSpPr>
          <p:cNvPr id="27" name="Text 25"/>
          <p:cNvSpPr txBox="1"/>
          <p:nvPr/>
        </p:nvSpPr>
        <p:spPr>
          <a:xfrm>
            <a:off x="10405872" y="1993392"/>
            <a:ext cx="585216" cy="585216"/>
          </a:xfrm>
          <a:prstGeom prst="ellipse">
            <a:avLst/>
          </a:prstGeom>
          <a:solidFill>
            <a:srgbClr val="11604A"/>
          </a:solidFill>
          <a:ln w="25400">
            <a:solidFill>
              <a:srgbClr val="11604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Text 26"/>
          <p:cNvSpPr txBox="1"/>
          <p:nvPr/>
        </p:nvSpPr>
        <p:spPr>
          <a:xfrm>
            <a:off x="9692640" y="2697480"/>
            <a:ext cx="2011680" cy="320040"/>
          </a:xfrm>
          <a:prstGeom prst="rect">
            <a:avLst/>
          </a:prstGeom>
          <a:noFill/>
          <a:ln/>
        </p:spPr>
        <p:txBody>
          <a:bodyPr wrap="square" lIns="0" tIns="0" rIns="0" bIns="0" rtlCol="0" anchor="ctr"/>
          <a:lstStyle/>
          <a:p>
            <a:pPr algn="ctr" indent="0" marL="0">
              <a:buNone/>
            </a:pPr>
            <a:r>
              <a:rPr lang="en-US" sz="1400" b="1" dirty="0">
                <a:solidFill>
                  <a:srgbClr val="1B2430"/>
                </a:solidFill>
                <a:latin typeface="Cambria" pitchFamily="34" charset="0"/>
                <a:ea typeface="Cambria" pitchFamily="34" charset="-122"/>
                <a:cs typeface="Cambria" pitchFamily="34" charset="-120"/>
              </a:rPr>
              <a:t>Freedom</a:t>
            </a:r>
            <a:endParaRPr lang="en-US" sz="1400" dirty="0"/>
          </a:p>
        </p:txBody>
      </p:sp>
      <p:sp>
        <p:nvSpPr>
          <p:cNvPr id="29" name="Text 27"/>
          <p:cNvSpPr txBox="1"/>
          <p:nvPr/>
        </p:nvSpPr>
        <p:spPr>
          <a:xfrm>
            <a:off x="9738360" y="3017520"/>
            <a:ext cx="1920240" cy="502920"/>
          </a:xfrm>
          <a:prstGeom prst="rect">
            <a:avLst/>
          </a:prstGeom>
          <a:noFill/>
          <a:ln/>
        </p:spPr>
        <p:txBody>
          <a:bodyPr wrap="square" lIns="0" tIns="0" rIns="0" bIns="0" rtlCol="0" anchor="t"/>
          <a:lstStyle/>
          <a:p>
            <a:pPr algn="ctr" indent="0" marL="0">
              <a:buNone/>
            </a:pPr>
            <a:r>
              <a:rPr lang="en-US" sz="1100" dirty="0">
                <a:solidFill>
                  <a:srgbClr val="6B7480"/>
                </a:solidFill>
                <a:latin typeface="Calibri" pitchFamily="34" charset="0"/>
                <a:ea typeface="Calibri" pitchFamily="34" charset="-122"/>
                <a:cs typeface="Calibri" pitchFamily="34" charset="-120"/>
              </a:rPr>
              <a:t>It runs without you; you lead</a:t>
            </a:r>
            <a:endParaRPr lang="en-US" sz="1100" dirty="0"/>
          </a:p>
        </p:txBody>
      </p:sp>
      <p:sp>
        <p:nvSpPr>
          <p:cNvPr id="30" name="Text 28"/>
          <p:cNvSpPr txBox="1"/>
          <p:nvPr/>
        </p:nvSpPr>
        <p:spPr>
          <a:xfrm>
            <a:off x="9692640" y="3520440"/>
            <a:ext cx="2011680" cy="228600"/>
          </a:xfrm>
          <a:prstGeom prst="rect">
            <a:avLst/>
          </a:prstGeom>
          <a:noFill/>
          <a:ln/>
        </p:spPr>
        <p:txBody>
          <a:bodyPr wrap="square" lIns="0" tIns="0" rIns="0" bIns="0" rtlCol="0" anchor="ctr"/>
          <a:lstStyle/>
          <a:p>
            <a:pPr algn="ctr" indent="0" marL="0">
              <a:buNone/>
            </a:pPr>
            <a:r>
              <a:rPr lang="en-US" sz="1000" b="1" spc="200" kern="0" dirty="0">
                <a:solidFill>
                  <a:srgbClr val="187A5E"/>
                </a:solidFill>
                <a:latin typeface="Calibri" pitchFamily="34" charset="0"/>
                <a:ea typeface="Calibri" pitchFamily="34" charset="-122"/>
                <a:cs typeface="Calibri" pitchFamily="34" charset="-120"/>
              </a:rPr>
              <a:t>Month 6 target</a:t>
            </a:r>
            <a:endParaRPr lang="en-US" sz="1000" dirty="0"/>
          </a:p>
        </p:txBody>
      </p:sp>
      <p:sp>
        <p:nvSpPr>
          <p:cNvPr id="31" name="Text 29"/>
          <p:cNvSpPr txBox="1"/>
          <p:nvPr/>
        </p:nvSpPr>
        <p:spPr>
          <a:xfrm>
            <a:off x="457200" y="3922776"/>
            <a:ext cx="1783080" cy="384048"/>
          </a:xfrm>
          <a:prstGeom prst="rect">
            <a:avLst/>
          </a:prstGeom>
          <a:noFill/>
          <a:ln/>
        </p:spPr>
        <p:txBody>
          <a:bodyPr wrap="square" lIns="0" tIns="0" rIns="0" bIns="0" rtlCol="0" anchor="ctr"/>
          <a:lstStyle/>
          <a:p>
            <a:pPr indent="0" marL="0">
              <a:buNone/>
            </a:pPr>
            <a:r>
              <a:rPr lang="en-US" sz="1100" b="1" dirty="0">
                <a:solidFill>
                  <a:srgbClr val="B26B0E"/>
                </a:solidFill>
                <a:latin typeface="Calibri" pitchFamily="34" charset="0"/>
                <a:ea typeface="Calibri" pitchFamily="34" charset="-122"/>
                <a:cs typeface="Calibri" pitchFamily="34" charset="-120"/>
              </a:rPr>
              <a:t>You are here today</a:t>
            </a:r>
            <a:endParaRPr lang="en-US" sz="1100" dirty="0"/>
          </a:p>
        </p:txBody>
      </p:sp>
      <p:sp>
        <p:nvSpPr>
          <p:cNvPr id="32" name="You are here today 1"/>
          <p:cNvSpPr txBox="1"/>
          <p:nvPr/>
        </p:nvSpPr>
        <p:spPr>
          <a:xfrm>
            <a:off x="2340864" y="399592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3" name="You are here today 2"/>
          <p:cNvSpPr txBox="1"/>
          <p:nvPr/>
        </p:nvSpPr>
        <p:spPr>
          <a:xfrm>
            <a:off x="4398264" y="399592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4" name="You are here today 3"/>
          <p:cNvSpPr txBox="1"/>
          <p:nvPr/>
        </p:nvSpPr>
        <p:spPr>
          <a:xfrm>
            <a:off x="6455664" y="399592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5" name="You are here today 4"/>
          <p:cNvSpPr txBox="1"/>
          <p:nvPr/>
        </p:nvSpPr>
        <p:spPr>
          <a:xfrm>
            <a:off x="8513064" y="399592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6" name="You are here today 5"/>
          <p:cNvSpPr txBox="1"/>
          <p:nvPr/>
        </p:nvSpPr>
        <p:spPr>
          <a:xfrm>
            <a:off x="10570464" y="399592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7" name="Text 35"/>
          <p:cNvSpPr txBox="1"/>
          <p:nvPr/>
        </p:nvSpPr>
        <p:spPr>
          <a:xfrm>
            <a:off x="457200" y="4334256"/>
            <a:ext cx="1783080" cy="384048"/>
          </a:xfrm>
          <a:prstGeom prst="rect">
            <a:avLst/>
          </a:prstGeom>
          <a:noFill/>
          <a:ln/>
        </p:spPr>
        <p:txBody>
          <a:bodyPr wrap="square" lIns="0" tIns="0" rIns="0" bIns="0" rtlCol="0" anchor="ctr"/>
          <a:lstStyle/>
          <a:p>
            <a:pPr indent="0" marL="0">
              <a:buNone/>
            </a:pPr>
            <a:r>
              <a:rPr lang="en-US" sz="1100" b="1" dirty="0">
                <a:solidFill>
                  <a:srgbClr val="B26B0E"/>
                </a:solidFill>
                <a:latin typeface="Calibri" pitchFamily="34" charset="0"/>
                <a:ea typeface="Calibri" pitchFamily="34" charset="-122"/>
                <a:cs typeface="Calibri" pitchFamily="34" charset="-120"/>
              </a:rPr>
              <a:t>Where you want to be by Month 6</a:t>
            </a:r>
            <a:endParaRPr lang="en-US" sz="1100" dirty="0"/>
          </a:p>
        </p:txBody>
      </p:sp>
      <p:sp>
        <p:nvSpPr>
          <p:cNvPr id="38" name="Where you want to be by Month 6 1"/>
          <p:cNvSpPr txBox="1"/>
          <p:nvPr/>
        </p:nvSpPr>
        <p:spPr>
          <a:xfrm>
            <a:off x="2340864" y="440740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9" name="Where you want to be by Month 6 2"/>
          <p:cNvSpPr txBox="1"/>
          <p:nvPr/>
        </p:nvSpPr>
        <p:spPr>
          <a:xfrm>
            <a:off x="4398264" y="440740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0" name="Where you want to be by Month 6 3"/>
          <p:cNvSpPr txBox="1"/>
          <p:nvPr/>
        </p:nvSpPr>
        <p:spPr>
          <a:xfrm>
            <a:off x="6455664" y="440740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Where you want to be by Month 6 4"/>
          <p:cNvSpPr txBox="1"/>
          <p:nvPr/>
        </p:nvSpPr>
        <p:spPr>
          <a:xfrm>
            <a:off x="8513064" y="440740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2" name="Where you want to be by Month 6 5"/>
          <p:cNvSpPr txBox="1"/>
          <p:nvPr/>
        </p:nvSpPr>
        <p:spPr>
          <a:xfrm>
            <a:off x="10570464" y="4407408"/>
            <a:ext cx="256032" cy="256032"/>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3" name="Card"/>
          <p:cNvSpPr/>
          <p:nvPr/>
        </p:nvSpPr>
        <p:spPr>
          <a:xfrm>
            <a:off x="457200" y="4892040"/>
            <a:ext cx="6766560" cy="1234440"/>
          </a:xfrm>
          <a:prstGeom prst="roundRect">
            <a:avLst>
              <a:gd name="adj" fmla="val 5926"/>
            </a:avLst>
          </a:prstGeom>
          <a:solidFill>
            <a:srgbClr val="E4F2EC"/>
          </a:solidFill>
          <a:ln w="9525">
            <a:solidFill>
              <a:srgbClr val="E4F2EC"/>
            </a:solidFill>
            <a:prstDash val="solid"/>
          </a:ln>
        </p:spPr>
      </p:sp>
      <p:sp>
        <p:nvSpPr>
          <p:cNvPr id="44" name="Text 42"/>
          <p:cNvSpPr txBox="1"/>
          <p:nvPr/>
        </p:nvSpPr>
        <p:spPr>
          <a:xfrm>
            <a:off x="685800" y="4983480"/>
            <a:ext cx="6309360" cy="10515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Outcome Owner by Day 90 means the whole SME process is off Tom’s plate. Freedom by Month 6 follows as the C&amp;I brokerage software, which takes three to six months to learn well, is mastered.</a:t>
            </a:r>
            <a:endParaRPr lang="en-US" sz="1250" dirty="0"/>
          </a:p>
        </p:txBody>
      </p:sp>
      <p:sp>
        <p:nvSpPr>
          <p:cNvPr id="45" name="Input: What would “Freedom” look like for you?"/>
          <p:cNvSpPr txBox="1"/>
          <p:nvPr/>
        </p:nvSpPr>
        <p:spPr>
          <a:xfrm>
            <a:off x="7360920" y="4892040"/>
            <a:ext cx="437083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“FREEDOM” LOOK LIKE FOR YOU?</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a week on clients and growth, not admin…</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06</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The SME process, step by step</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What you walked us through on 6 October. Mark who owns each step and when it moves to your Assistant.</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5120640"/>
                <a:gridCol w="1097280"/>
                <a:gridCol w="1828800"/>
                <a:gridCol w="3227832"/>
              </a:tblGrid>
              <a:tr h="3931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Today</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Assistant owns by</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393192">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1. First call to the warm lead; ask for an electricity bill</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6B7480"/>
                          </a:solidFill>
                          <a:latin typeface="Calibri" pitchFamily="34" charset="0"/>
                          <a:ea typeface="Calibri" pitchFamily="34" charset="-122"/>
                          <a:cs typeface="Calibri" pitchFamily="34" charset="-120"/>
                        </a:rPr>
                        <a:t>Tom</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93192">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2. Copy bill details into the spreadsheet; estimate usage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6B7480"/>
                          </a:solidFill>
                          <a:latin typeface="Calibri" pitchFamily="34" charset="0"/>
                          <a:ea typeface="Calibri" pitchFamily="34" charset="-122"/>
                          <a:cs typeface="Calibri" pitchFamily="34" charset="-120"/>
                        </a:rPr>
                        <a:t>Tom</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93192">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3. Find the best retailer rate; build the comparison report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6B7480"/>
                          </a:solidFill>
                          <a:latin typeface="Calibri" pitchFamily="34" charset="0"/>
                          <a:ea typeface="Calibri" pitchFamily="34" charset="-122"/>
                          <a:cs typeface="Calibri" pitchFamily="34" charset="-120"/>
                        </a:rPr>
                        <a:t>Tom</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93192">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4. Send the templated email with the report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6B7480"/>
                          </a:solidFill>
                          <a:latin typeface="Calibri" pitchFamily="34" charset="0"/>
                          <a:ea typeface="Calibri" pitchFamily="34" charset="-122"/>
                          <a:cs typeface="Calibri" pitchFamily="34" charset="-120"/>
                        </a:rPr>
                        <a:t>Tom</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93192">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5. Client says yes: request the contract from the retailer</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6B7480"/>
                          </a:solidFill>
                          <a:latin typeface="Calibri" pitchFamily="34" charset="0"/>
                          <a:ea typeface="Calibri" pitchFamily="34" charset="-122"/>
                          <a:cs typeface="Calibri" pitchFamily="34" charset="-120"/>
                        </a:rPr>
                        <a:t>Tom</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93192">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6. Copy entity details (ABN, address) into the contract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6B7480"/>
                          </a:solidFill>
                          <a:latin typeface="Calibri" pitchFamily="34" charset="0"/>
                          <a:ea typeface="Calibri" pitchFamily="34" charset="-122"/>
                          <a:cs typeface="Calibri" pitchFamily="34" charset="-120"/>
                        </a:rPr>
                        <a:t>Tom</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93192">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7. DocuSign to the client, then back to the retailer</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6B7480"/>
                          </a:solidFill>
                          <a:latin typeface="Calibri" pitchFamily="34" charset="0"/>
                          <a:ea typeface="Calibri" pitchFamily="34" charset="-122"/>
                          <a:cs typeface="Calibri" pitchFamily="34" charset="-120"/>
                        </a:rPr>
                        <a:t>Tom</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93192">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8. Draft the Xero invoice for the following month</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6B7480"/>
                          </a:solidFill>
                          <a:latin typeface="Calibri" pitchFamily="34" charset="0"/>
                          <a:ea typeface="Calibri" pitchFamily="34" charset="-122"/>
                          <a:cs typeface="Calibri" pitchFamily="34" charset="-120"/>
                        </a:rPr>
                        <a:t>Tom</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393192">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9. Move the client to the right GoHighLevel stage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6B7480"/>
                          </a:solidFill>
                          <a:latin typeface="Calibri" pitchFamily="34" charset="0"/>
                          <a:ea typeface="Calibri" pitchFamily="34" charset="-122"/>
                          <a:cs typeface="Calibri" pitchFamily="34" charset="-120"/>
                        </a:rPr>
                        <a:t>Tom</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Text 8"/>
          <p:cNvSpPr txBox="1"/>
          <p:nvPr/>
        </p:nvSpPr>
        <p:spPr>
          <a:xfrm>
            <a:off x="457200" y="5806440"/>
            <a:ext cx="11247120" cy="365760"/>
          </a:xfrm>
          <a:prstGeom prst="rect">
            <a:avLst/>
          </a:prstGeom>
          <a:noFill/>
          <a:ln/>
        </p:spPr>
        <p:txBody>
          <a:bodyPr wrap="square" lIns="0" tIns="0" rIns="0" bIns="0" rtlCol="0" anchor="t"/>
          <a:lstStyle/>
          <a:p>
            <a:pPr indent="0" marL="0">
              <a:buNone/>
            </a:pPr>
            <a:r>
              <a:rPr lang="en-US" sz="1150" dirty="0">
                <a:solidFill>
                  <a:srgbClr val="6B7480"/>
                </a:solidFill>
                <a:latin typeface="Calibri" pitchFamily="34" charset="0"/>
                <a:ea typeface="Calibri" pitchFamily="34" charset="-122"/>
                <a:cs typeface="Calibri" pitchFamily="34" charset="-120"/>
              </a:rPr>
              <a:t>Type Day 30, Day 60, Day 90 or “Tom keeps” in the amber column. You said a report takes 5–10 minutes once learned, and eventually the first call could move too.</a:t>
            </a:r>
            <a:endParaRPr lang="en-US" sz="115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07</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The role: three main areas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One full-time person covering what your admin and data roles did before.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FFFFFF"/>
          </a:solidFill>
          <a:ln w="9525">
            <a:solidFill>
              <a:srgbClr val="DDE4E0"/>
            </a:solidFill>
            <a:prstDash val="solid"/>
          </a:ln>
        </p:spPr>
      </p:sp>
      <p:sp>
        <p:nvSpPr>
          <p:cNvPr id="11" name="Text 9"/>
          <p:cNvSpPr txBox="1"/>
          <p:nvPr/>
        </p:nvSpPr>
        <p:spPr>
          <a:xfrm>
            <a:off x="685800" y="201168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1188720" y="2011680"/>
            <a:ext cx="2724912" cy="384048"/>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SME process</a:t>
            </a:r>
            <a:endParaRPr lang="en-US" sz="1600" dirty="0"/>
          </a:p>
        </p:txBody>
      </p:sp>
      <p:sp>
        <p:nvSpPr>
          <p:cNvPr id="13" name="Text 11"/>
          <p:cNvSpPr txBox="1"/>
          <p:nvPr/>
        </p:nvSpPr>
        <p:spPr>
          <a:xfrm>
            <a:off x="685800" y="2560320"/>
            <a:ext cx="3227832"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Comparison reports, same day a bill arrives</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Contracts, LOAs and DocuSign</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Draft Xero invoices and GoHighLevel stages</a:t>
            </a:r>
            <a:endParaRPr lang="en-US" sz="1200" dirty="0"/>
          </a:p>
        </p:txBody>
      </p:sp>
      <p:sp>
        <p:nvSpPr>
          <p:cNvPr id="14" name="Text 12"/>
          <p:cNvSpPr txBox="1"/>
          <p:nvPr/>
        </p:nvSpPr>
        <p:spPr>
          <a:xfrm>
            <a:off x="685800" y="3840480"/>
            <a:ext cx="3227832" cy="411480"/>
          </a:xfrm>
          <a:prstGeom prst="rect">
            <a:avLst/>
          </a:prstGeom>
          <a:noFill/>
          <a:ln/>
        </p:spPr>
        <p:txBody>
          <a:bodyPr wrap="square" lIns="0" tIns="0" rIns="0" bIns="0" rtlCol="0" anchor="ctr"/>
          <a:lstStyle/>
          <a:p>
            <a:pPr indent="0" marL="0">
              <a:buNone/>
            </a:pPr>
            <a:r>
              <a:rPr lang="en-US" sz="1100" i="1" dirty="0">
                <a:solidFill>
                  <a:srgbClr val="187A5E"/>
                </a:solidFill>
                <a:latin typeface="Calibri" pitchFamily="34" charset="0"/>
                <a:ea typeface="Calibri" pitchFamily="34" charset="-122"/>
                <a:cs typeface="Calibri" pitchFamily="34" charset="-120"/>
              </a:rPr>
              <a:t>Your three-month goal: fully off your plate.</a:t>
            </a:r>
            <a:endParaRPr lang="en-US" sz="1100" dirty="0"/>
          </a:p>
        </p:txBody>
      </p:sp>
      <p:sp>
        <p:nvSpPr>
          <p:cNvPr id="15" name="Tick box: Agree"/>
          <p:cNvSpPr txBox="1"/>
          <p:nvPr/>
        </p:nvSpPr>
        <p:spPr>
          <a:xfrm>
            <a:off x="685800"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6" name="Text 14"/>
          <p:cNvSpPr txBox="1"/>
          <p:nvPr/>
        </p:nvSpPr>
        <p:spPr>
          <a:xfrm>
            <a:off x="978408" y="4343400"/>
            <a:ext cx="8046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Agree</a:t>
            </a:r>
            <a:endParaRPr lang="en-US" sz="1200" dirty="0"/>
          </a:p>
        </p:txBody>
      </p:sp>
      <p:sp>
        <p:nvSpPr>
          <p:cNvPr id="17" name="Tick box: Change it"/>
          <p:cNvSpPr txBox="1"/>
          <p:nvPr/>
        </p:nvSpPr>
        <p:spPr>
          <a:xfrm>
            <a:off x="1828800"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8" name="Text 16"/>
          <p:cNvSpPr txBox="1"/>
          <p:nvPr/>
        </p:nvSpPr>
        <p:spPr>
          <a:xfrm>
            <a:off x="2121408" y="4343400"/>
            <a:ext cx="10789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Change it</a:t>
            </a:r>
            <a:endParaRPr lang="en-US" sz="1200" dirty="0"/>
          </a:p>
        </p:txBody>
      </p:sp>
      <p:sp>
        <p:nvSpPr>
          <p:cNvPr id="19" name="Input: Share of the week / changes"/>
          <p:cNvSpPr txBox="1"/>
          <p:nvPr/>
        </p:nvSpPr>
        <p:spPr>
          <a:xfrm>
            <a:off x="685800" y="4709160"/>
            <a:ext cx="318211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SHARE OF THE WEEK / CHANGES</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50% of the week. Add or remove tasks…</a:t>
            </a:r>
            <a:endParaRPr lang="en-US" sz="900" dirty="0"/>
          </a:p>
        </p:txBody>
      </p:sp>
      <p:sp>
        <p:nvSpPr>
          <p:cNvPr id="20" name="Card"/>
          <p:cNvSpPr/>
          <p:nvPr/>
        </p:nvSpPr>
        <p:spPr>
          <a:xfrm>
            <a:off x="4261104" y="1783080"/>
            <a:ext cx="3639312" cy="4343400"/>
          </a:xfrm>
          <a:prstGeom prst="roundRect">
            <a:avLst>
              <a:gd name="adj" fmla="val 2010"/>
            </a:avLst>
          </a:prstGeom>
          <a:solidFill>
            <a:srgbClr val="FFFFFF"/>
          </a:solidFill>
          <a:ln w="9525">
            <a:solidFill>
              <a:srgbClr val="DDE4E0"/>
            </a:solidFill>
            <a:prstDash val="solid"/>
          </a:ln>
        </p:spPr>
      </p:sp>
      <p:sp>
        <p:nvSpPr>
          <p:cNvPr id="21" name="Text 19"/>
          <p:cNvSpPr txBox="1"/>
          <p:nvPr/>
        </p:nvSpPr>
        <p:spPr>
          <a:xfrm>
            <a:off x="4489704" y="201168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2" name="Text 20"/>
          <p:cNvSpPr txBox="1"/>
          <p:nvPr/>
        </p:nvSpPr>
        <p:spPr>
          <a:xfrm>
            <a:off x="4992624" y="2011680"/>
            <a:ext cx="2724912" cy="384048"/>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C&amp;I data &amp; tenders</a:t>
            </a:r>
            <a:endParaRPr lang="en-US" sz="1600" dirty="0"/>
          </a:p>
        </p:txBody>
      </p:sp>
      <p:sp>
        <p:nvSpPr>
          <p:cNvPr id="23" name="Text 21"/>
          <p:cNvSpPr txBox="1"/>
          <p:nvPr/>
        </p:nvSpPr>
        <p:spPr>
          <a:xfrm>
            <a:off x="4489704" y="2560320"/>
            <a:ext cx="3227832"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Collect data from retailers and metering providers</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Set up files and upload to the brokerage software</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Load the 8–10 retailer prices and run the software</a:t>
            </a:r>
            <a:endParaRPr lang="en-US" sz="1200" dirty="0"/>
          </a:p>
        </p:txBody>
      </p:sp>
      <p:sp>
        <p:nvSpPr>
          <p:cNvPr id="24" name="Text 22"/>
          <p:cNvSpPr txBox="1"/>
          <p:nvPr/>
        </p:nvSpPr>
        <p:spPr>
          <a:xfrm>
            <a:off x="4489704" y="3840480"/>
            <a:ext cx="3227832" cy="411480"/>
          </a:xfrm>
          <a:prstGeom prst="rect">
            <a:avLst/>
          </a:prstGeom>
          <a:noFill/>
          <a:ln/>
        </p:spPr>
        <p:txBody>
          <a:bodyPr wrap="square" lIns="0" tIns="0" rIns="0" bIns="0" rtlCol="0" anchor="ctr"/>
          <a:lstStyle/>
          <a:p>
            <a:pPr indent="0" marL="0">
              <a:buNone/>
            </a:pPr>
            <a:r>
              <a:rPr lang="en-US" sz="1100" i="1" dirty="0">
                <a:solidFill>
                  <a:srgbClr val="187A5E"/>
                </a:solidFill>
                <a:latin typeface="Calibri" pitchFamily="34" charset="0"/>
                <a:ea typeface="Calibri" pitchFamily="34" charset="-122"/>
                <a:cs typeface="Calibri" pitchFamily="34" charset="-120"/>
              </a:rPr>
              <a:t>Learned over three to six months.</a:t>
            </a:r>
            <a:endParaRPr lang="en-US" sz="1100" dirty="0"/>
          </a:p>
        </p:txBody>
      </p:sp>
      <p:sp>
        <p:nvSpPr>
          <p:cNvPr id="25" name="Tick box: Agree"/>
          <p:cNvSpPr txBox="1"/>
          <p:nvPr/>
        </p:nvSpPr>
        <p:spPr>
          <a:xfrm>
            <a:off x="4489704"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6" name="Text 24"/>
          <p:cNvSpPr txBox="1"/>
          <p:nvPr/>
        </p:nvSpPr>
        <p:spPr>
          <a:xfrm>
            <a:off x="4782312" y="4343400"/>
            <a:ext cx="8046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Agree</a:t>
            </a:r>
            <a:endParaRPr lang="en-US" sz="1200" dirty="0"/>
          </a:p>
        </p:txBody>
      </p:sp>
      <p:sp>
        <p:nvSpPr>
          <p:cNvPr id="27" name="Tick box: Change it"/>
          <p:cNvSpPr txBox="1"/>
          <p:nvPr/>
        </p:nvSpPr>
        <p:spPr>
          <a:xfrm>
            <a:off x="5632704"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8" name="Text 26"/>
          <p:cNvSpPr txBox="1"/>
          <p:nvPr/>
        </p:nvSpPr>
        <p:spPr>
          <a:xfrm>
            <a:off x="5925312" y="4343400"/>
            <a:ext cx="10789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Change it</a:t>
            </a:r>
            <a:endParaRPr lang="en-US" sz="1200" dirty="0"/>
          </a:p>
        </p:txBody>
      </p:sp>
      <p:sp>
        <p:nvSpPr>
          <p:cNvPr id="29" name="Input: Share of the week / changes"/>
          <p:cNvSpPr txBox="1"/>
          <p:nvPr/>
        </p:nvSpPr>
        <p:spPr>
          <a:xfrm>
            <a:off x="4489704" y="4709160"/>
            <a:ext cx="318211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SHARE OF THE WEEK / CHANGES</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50% of the week. Add or remove tasks…</a:t>
            </a:r>
            <a:endParaRPr lang="en-US" sz="900" dirty="0"/>
          </a:p>
        </p:txBody>
      </p:sp>
      <p:sp>
        <p:nvSpPr>
          <p:cNvPr id="30" name="Card"/>
          <p:cNvSpPr/>
          <p:nvPr/>
        </p:nvSpPr>
        <p:spPr>
          <a:xfrm>
            <a:off x="8065008" y="1783080"/>
            <a:ext cx="3639312" cy="4343400"/>
          </a:xfrm>
          <a:prstGeom prst="roundRect">
            <a:avLst>
              <a:gd name="adj" fmla="val 2010"/>
            </a:avLst>
          </a:prstGeom>
          <a:solidFill>
            <a:srgbClr val="FFFFFF"/>
          </a:solidFill>
          <a:ln w="9525">
            <a:solidFill>
              <a:srgbClr val="DDE4E0"/>
            </a:solidFill>
            <a:prstDash val="solid"/>
          </a:ln>
        </p:spPr>
      </p:sp>
      <p:sp>
        <p:nvSpPr>
          <p:cNvPr id="31" name="Text 29"/>
          <p:cNvSpPr txBox="1"/>
          <p:nvPr/>
        </p:nvSpPr>
        <p:spPr>
          <a:xfrm>
            <a:off x="8293608" y="2011680"/>
            <a:ext cx="384048" cy="384048"/>
          </a:xfrm>
          <a:prstGeom prst="ellipse">
            <a:avLst/>
          </a:prstGeom>
          <a:solidFill>
            <a:srgbClr val="187A5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30"/>
          <p:cNvSpPr txBox="1"/>
          <p:nvPr/>
        </p:nvSpPr>
        <p:spPr>
          <a:xfrm>
            <a:off x="8796528" y="2011680"/>
            <a:ext cx="2724912" cy="384048"/>
          </a:xfrm>
          <a:prstGeom prst="rect">
            <a:avLst/>
          </a:prstGeom>
          <a:noFill/>
          <a:ln/>
        </p:spPr>
        <p:txBody>
          <a:bodyPr wrap="square" lIns="0" tIns="0" rIns="0" bIns="0" rtlCol="0" anchor="ctr"/>
          <a:lstStyle/>
          <a:p>
            <a:pPr indent="0" marL="0">
              <a:buNone/>
            </a:pPr>
            <a:r>
              <a:rPr lang="en-US" sz="1600" b="1" dirty="0">
                <a:solidFill>
                  <a:srgbClr val="1B2430"/>
                </a:solidFill>
                <a:latin typeface="Cambria" pitchFamily="34" charset="0"/>
                <a:ea typeface="Cambria" pitchFamily="34" charset="-122"/>
                <a:cs typeface="Cambria" pitchFamily="34" charset="-120"/>
              </a:rPr>
              <a:t>Admin, Xero &amp; solar</a:t>
            </a:r>
            <a:endParaRPr lang="en-US" sz="1600" dirty="0"/>
          </a:p>
        </p:txBody>
      </p:sp>
      <p:sp>
        <p:nvSpPr>
          <p:cNvPr id="33" name="Text 31"/>
          <p:cNvSpPr txBox="1"/>
          <p:nvPr/>
        </p:nvSpPr>
        <p:spPr>
          <a:xfrm>
            <a:off x="8293608" y="2560320"/>
            <a:ext cx="3227832"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Invoicing in Xero and minor bookkeeping</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Solar designs and pricing sheets, as they learn</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Supplier, freight and subcontractor bookings</a:t>
            </a:r>
            <a:endParaRPr lang="en-US" sz="1200" dirty="0"/>
          </a:p>
        </p:txBody>
      </p:sp>
      <p:sp>
        <p:nvSpPr>
          <p:cNvPr id="34" name="Text 32"/>
          <p:cNvSpPr txBox="1"/>
          <p:nvPr/>
        </p:nvSpPr>
        <p:spPr>
          <a:xfrm>
            <a:off x="8293608" y="3840480"/>
            <a:ext cx="3227832" cy="411480"/>
          </a:xfrm>
          <a:prstGeom prst="rect">
            <a:avLst/>
          </a:prstGeom>
          <a:noFill/>
          <a:ln/>
        </p:spPr>
        <p:txBody>
          <a:bodyPr wrap="square" lIns="0" tIns="0" rIns="0" bIns="0" rtlCol="0" anchor="ctr"/>
          <a:lstStyle/>
          <a:p>
            <a:pPr indent="0" marL="0">
              <a:buNone/>
            </a:pPr>
            <a:r>
              <a:rPr lang="en-US" sz="1100" i="1" dirty="0">
                <a:solidFill>
                  <a:srgbClr val="187A5E"/>
                </a:solidFill>
                <a:latin typeface="Calibri" pitchFamily="34" charset="0"/>
                <a:ea typeface="Calibri" pitchFamily="34" charset="-122"/>
                <a:cs typeface="Calibri" pitchFamily="34" charset="-120"/>
              </a:rPr>
              <a:t>“It’s all learnable. It’s all teachable.”</a:t>
            </a:r>
            <a:endParaRPr lang="en-US" sz="1100" dirty="0"/>
          </a:p>
        </p:txBody>
      </p:sp>
      <p:sp>
        <p:nvSpPr>
          <p:cNvPr id="35" name="Tick box: Agree"/>
          <p:cNvSpPr txBox="1"/>
          <p:nvPr/>
        </p:nvSpPr>
        <p:spPr>
          <a:xfrm>
            <a:off x="8293608"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6" name="Text 34"/>
          <p:cNvSpPr txBox="1"/>
          <p:nvPr/>
        </p:nvSpPr>
        <p:spPr>
          <a:xfrm>
            <a:off x="8586216" y="4343400"/>
            <a:ext cx="8046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Agree</a:t>
            </a:r>
            <a:endParaRPr lang="en-US" sz="1200" dirty="0"/>
          </a:p>
        </p:txBody>
      </p:sp>
      <p:sp>
        <p:nvSpPr>
          <p:cNvPr id="37" name="Tick box: Change it"/>
          <p:cNvSpPr txBox="1"/>
          <p:nvPr/>
        </p:nvSpPr>
        <p:spPr>
          <a:xfrm>
            <a:off x="9436608" y="43616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8" name="Text 36"/>
          <p:cNvSpPr txBox="1"/>
          <p:nvPr/>
        </p:nvSpPr>
        <p:spPr>
          <a:xfrm>
            <a:off x="9729216" y="4343400"/>
            <a:ext cx="10789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Change it</a:t>
            </a:r>
            <a:endParaRPr lang="en-US" sz="1200" dirty="0"/>
          </a:p>
        </p:txBody>
      </p:sp>
      <p:sp>
        <p:nvSpPr>
          <p:cNvPr id="39" name="Input: Share of the week / changes"/>
          <p:cNvSpPr txBox="1"/>
          <p:nvPr/>
        </p:nvSpPr>
        <p:spPr>
          <a:xfrm>
            <a:off x="8293608" y="4709160"/>
            <a:ext cx="3182112" cy="12344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SHARE OF THE WEEK / CHANGES</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50% of the week. Add or remove tasks…</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08</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What your Assistant handles alone</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Your escalation framework, from the Alignment Session. Tick to confirm and add your own.</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3017520"/>
          </a:xfrm>
          <a:prstGeom prst="roundRect">
            <a:avLst>
              <a:gd name="adj" fmla="val 2424"/>
            </a:avLst>
          </a:prstGeom>
          <a:solidFill>
            <a:srgbClr val="E4F2EC"/>
          </a:solidFill>
          <a:ln w="9525">
            <a:solidFill>
              <a:srgbClr val="E4F2EC"/>
            </a:solidFill>
            <a:prstDash val="solid"/>
          </a:ln>
        </p:spPr>
      </p:sp>
      <p:sp>
        <p:nvSpPr>
          <p:cNvPr id="11" name="Text 9"/>
          <p:cNvSpPr txBox="1"/>
          <p:nvPr/>
        </p:nvSpPr>
        <p:spPr>
          <a:xfrm>
            <a:off x="685800" y="1920240"/>
            <a:ext cx="32004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HANDLES ALONE</a:t>
            </a:r>
            <a:endParaRPr lang="en-US" sz="1000" dirty="0"/>
          </a:p>
        </p:txBody>
      </p:sp>
      <p:sp>
        <p:nvSpPr>
          <p:cNvPr id="12" name="Tick box: SME retailer questions on rates and contracts"/>
          <p:cNvSpPr txBox="1"/>
          <p:nvPr/>
        </p:nvSpPr>
        <p:spPr>
          <a:xfrm>
            <a:off x="685800" y="23042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3" name="Text 11"/>
          <p:cNvSpPr txBox="1"/>
          <p:nvPr/>
        </p:nvSpPr>
        <p:spPr>
          <a:xfrm>
            <a:off x="978408" y="2286000"/>
            <a:ext cx="29535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SME retailer questions on rates and contracts</a:t>
            </a:r>
            <a:endParaRPr lang="en-US" sz="1200" dirty="0"/>
          </a:p>
        </p:txBody>
      </p:sp>
      <p:sp>
        <p:nvSpPr>
          <p:cNvPr id="14" name="Tick box: Following up retailers on invoices"/>
          <p:cNvSpPr txBox="1"/>
          <p:nvPr/>
        </p:nvSpPr>
        <p:spPr>
          <a:xfrm>
            <a:off x="685800" y="287121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5" name="Text 13"/>
          <p:cNvSpPr txBox="1"/>
          <p:nvPr/>
        </p:nvSpPr>
        <p:spPr>
          <a:xfrm>
            <a:off x="978408" y="2852928"/>
            <a:ext cx="29535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Following up retailers on invoices</a:t>
            </a:r>
            <a:endParaRPr lang="en-US" sz="1200" dirty="0"/>
          </a:p>
        </p:txBody>
      </p:sp>
      <p:sp>
        <p:nvSpPr>
          <p:cNvPr id="16" name="Tick box: Bookkeeping questions with your accountant"/>
          <p:cNvSpPr txBox="1"/>
          <p:nvPr/>
        </p:nvSpPr>
        <p:spPr>
          <a:xfrm>
            <a:off x="685800" y="343814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978408" y="3419856"/>
            <a:ext cx="29535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Bookkeeping questions with your accountant</a:t>
            </a:r>
            <a:endParaRPr lang="en-US" sz="1200" dirty="0"/>
          </a:p>
        </p:txBody>
      </p:sp>
      <p:sp>
        <p:nvSpPr>
          <p:cNvPr id="18" name="Tick box: Steps they’ve learned well, without checking with you"/>
          <p:cNvSpPr txBox="1"/>
          <p:nvPr/>
        </p:nvSpPr>
        <p:spPr>
          <a:xfrm>
            <a:off x="685800" y="400507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9" name="Text 17"/>
          <p:cNvSpPr txBox="1"/>
          <p:nvPr/>
        </p:nvSpPr>
        <p:spPr>
          <a:xfrm>
            <a:off x="978408" y="3986784"/>
            <a:ext cx="29535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Steps they’ve learned well, without checking with you</a:t>
            </a:r>
            <a:endParaRPr lang="en-US" sz="1200" dirty="0"/>
          </a:p>
        </p:txBody>
      </p:sp>
      <p:sp>
        <p:nvSpPr>
          <p:cNvPr id="20" name="Card"/>
          <p:cNvSpPr/>
          <p:nvPr/>
        </p:nvSpPr>
        <p:spPr>
          <a:xfrm>
            <a:off x="4261104" y="1783080"/>
            <a:ext cx="3639312" cy="3017520"/>
          </a:xfrm>
          <a:prstGeom prst="roundRect">
            <a:avLst>
              <a:gd name="adj" fmla="val 2424"/>
            </a:avLst>
          </a:prstGeom>
          <a:solidFill>
            <a:srgbClr val="FFFFFF"/>
          </a:solidFill>
          <a:ln w="9525">
            <a:solidFill>
              <a:srgbClr val="DDE4E0"/>
            </a:solidFill>
            <a:prstDash val="solid"/>
          </a:ln>
        </p:spPr>
      </p:sp>
      <p:sp>
        <p:nvSpPr>
          <p:cNvPr id="21" name="Text 19"/>
          <p:cNvSpPr txBox="1"/>
          <p:nvPr/>
        </p:nvSpPr>
        <p:spPr>
          <a:xfrm>
            <a:off x="4489704" y="1920240"/>
            <a:ext cx="3200400" cy="237744"/>
          </a:xfrm>
          <a:prstGeom prst="rect">
            <a:avLst/>
          </a:prstGeom>
          <a:noFill/>
          <a:ln/>
        </p:spPr>
        <p:txBody>
          <a:bodyPr wrap="square" lIns="0" tIns="0" rIns="0" bIns="0" rtlCol="0" anchor="ctr"/>
          <a:lstStyle/>
          <a:p>
            <a:pPr indent="0" marL="0">
              <a:buNone/>
            </a:pPr>
            <a:r>
              <a:rPr lang="en-US" sz="1000" b="1" spc="200" kern="0" dirty="0">
                <a:solidFill>
                  <a:srgbClr val="6B7480"/>
                </a:solidFill>
                <a:latin typeface="Calibri" pitchFamily="34" charset="0"/>
                <a:ea typeface="Calibri" pitchFamily="34" charset="-122"/>
                <a:cs typeface="Calibri" pitchFamily="34" charset="-120"/>
              </a:rPr>
              <a:t>RUNS THROUGH TOM</a:t>
            </a:r>
            <a:endParaRPr lang="en-US" sz="1000" dirty="0"/>
          </a:p>
        </p:txBody>
      </p:sp>
      <p:sp>
        <p:nvSpPr>
          <p:cNvPr id="22" name="Tick box: Contact with large-market (C&amp;amp;I) clients, about 100"/>
          <p:cNvSpPr txBox="1"/>
          <p:nvPr/>
        </p:nvSpPr>
        <p:spPr>
          <a:xfrm>
            <a:off x="4489704" y="23042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3" name="Text 21"/>
          <p:cNvSpPr txBox="1"/>
          <p:nvPr/>
        </p:nvSpPr>
        <p:spPr>
          <a:xfrm>
            <a:off x="4782312" y="2286000"/>
            <a:ext cx="29535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Contact with large-market (C&amp;I) clients, about 100</a:t>
            </a:r>
            <a:endParaRPr lang="en-US" sz="1200" dirty="0"/>
          </a:p>
        </p:txBody>
      </p:sp>
      <p:sp>
        <p:nvSpPr>
          <p:cNvPr id="24" name="Tick box: C&amp;amp;I client issues, unless you ask them to solve it"/>
          <p:cNvSpPr txBox="1"/>
          <p:nvPr/>
        </p:nvSpPr>
        <p:spPr>
          <a:xfrm>
            <a:off x="4489704" y="2871216"/>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5" name="Text 23"/>
          <p:cNvSpPr txBox="1"/>
          <p:nvPr/>
        </p:nvSpPr>
        <p:spPr>
          <a:xfrm>
            <a:off x="4782312" y="2852928"/>
            <a:ext cx="29535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C&amp;I client issues, unless you ask them to solve it</a:t>
            </a:r>
            <a:endParaRPr lang="en-US" sz="1200" dirty="0"/>
          </a:p>
        </p:txBody>
      </p:sp>
      <p:sp>
        <p:nvSpPr>
          <p:cNvPr id="26" name="Tick box: Anything a big mistake could affect"/>
          <p:cNvSpPr txBox="1"/>
          <p:nvPr/>
        </p:nvSpPr>
        <p:spPr>
          <a:xfrm>
            <a:off x="4489704" y="3438144"/>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7" name="Text 25"/>
          <p:cNvSpPr txBox="1"/>
          <p:nvPr/>
        </p:nvSpPr>
        <p:spPr>
          <a:xfrm>
            <a:off x="4782312" y="3419856"/>
            <a:ext cx="29535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Anything a big mistake could affect</a:t>
            </a:r>
            <a:endParaRPr lang="en-US" sz="1200" dirty="0"/>
          </a:p>
        </p:txBody>
      </p:sp>
      <p:sp>
        <p:nvSpPr>
          <p:cNvPr id="28" name="Tick box: New situations with no SOP yet"/>
          <p:cNvSpPr txBox="1"/>
          <p:nvPr/>
        </p:nvSpPr>
        <p:spPr>
          <a:xfrm>
            <a:off x="4489704" y="400507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9" name="Text 27"/>
          <p:cNvSpPr txBox="1"/>
          <p:nvPr/>
        </p:nvSpPr>
        <p:spPr>
          <a:xfrm>
            <a:off x="4782312" y="3986784"/>
            <a:ext cx="29535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New situations with no SOP yet</a:t>
            </a:r>
            <a:endParaRPr lang="en-US" sz="1200" dirty="0"/>
          </a:p>
        </p:txBody>
      </p:sp>
      <p:sp>
        <p:nvSpPr>
          <p:cNvPr id="30" name="Input: Decisions they can make alone"/>
          <p:cNvSpPr txBox="1"/>
          <p:nvPr/>
        </p:nvSpPr>
        <p:spPr>
          <a:xfrm>
            <a:off x="8065008" y="1783080"/>
            <a:ext cx="3657600" cy="14173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DECISIONS THEY CAN MAKE ALONE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e.g. chase a retailer twice before telling me…</a:t>
            </a:r>
            <a:endParaRPr lang="en-US" sz="900" dirty="0"/>
          </a:p>
        </p:txBody>
      </p:sp>
      <p:sp>
        <p:nvSpPr>
          <p:cNvPr id="31" name="Input: Always check with me first"/>
          <p:cNvSpPr txBox="1"/>
          <p:nvPr/>
        </p:nvSpPr>
        <p:spPr>
          <a:xfrm>
            <a:off x="8065008" y="3383280"/>
            <a:ext cx="3657600" cy="14173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ALWAYS CHECK WITH ME FIRST</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e.g. any rate over…</a:t>
            </a:r>
            <a:endParaRPr lang="en-US" sz="900" dirty="0"/>
          </a:p>
        </p:txBody>
      </p:sp>
      <p:sp>
        <p:nvSpPr>
          <p:cNvPr id="32" name="Card"/>
          <p:cNvSpPr/>
          <p:nvPr/>
        </p:nvSpPr>
        <p:spPr>
          <a:xfrm>
            <a:off x="457200" y="4937760"/>
            <a:ext cx="11274552" cy="1188720"/>
          </a:xfrm>
          <a:prstGeom prst="roundRect">
            <a:avLst>
              <a:gd name="adj" fmla="val 6154"/>
            </a:avLst>
          </a:prstGeom>
          <a:solidFill>
            <a:srgbClr val="F1F4F2"/>
          </a:solidFill>
          <a:ln w="9525">
            <a:solidFill>
              <a:srgbClr val="F1F4F2"/>
            </a:solidFill>
            <a:prstDash val="solid"/>
          </a:ln>
        </p:spPr>
      </p:sp>
      <p:sp>
        <p:nvSpPr>
          <p:cNvPr id="33" name="Text 31"/>
          <p:cNvSpPr txBox="1"/>
          <p:nvPr/>
        </p:nvSpPr>
        <p:spPr>
          <a:xfrm>
            <a:off x="685800" y="5047488"/>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MISTAKES</a:t>
            </a:r>
            <a:endParaRPr lang="en-US" sz="1000" dirty="0"/>
          </a:p>
        </p:txBody>
      </p:sp>
      <p:sp>
        <p:nvSpPr>
          <p:cNvPr id="34" name="Text 32"/>
          <p:cNvSpPr txBox="1"/>
          <p:nvPr/>
        </p:nvSpPr>
        <p:spPr>
          <a:xfrm>
            <a:off x="685800" y="5321808"/>
            <a:ext cx="7863840" cy="73152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Own it straight away; big issues to Tom immediately. Not repeating a mistake is what matters, and reading the SOP first. Your last hire checked everything with you, which slowed his learning.</a:t>
            </a:r>
            <a:endParaRPr lang="en-US" sz="1250" dirty="0"/>
          </a:p>
        </p:txBody>
      </p:sp>
      <p:sp>
        <p:nvSpPr>
          <p:cNvPr id="35" name="Tick box: That’s right"/>
          <p:cNvSpPr txBox="1"/>
          <p:nvPr/>
        </p:nvSpPr>
        <p:spPr>
          <a:xfrm>
            <a:off x="8778240" y="51846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6" name="Text 34"/>
          <p:cNvSpPr txBox="1"/>
          <p:nvPr/>
        </p:nvSpPr>
        <p:spPr>
          <a:xfrm>
            <a:off x="9070848" y="5166360"/>
            <a:ext cx="22677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That’s right</a:t>
            </a:r>
            <a:endParaRPr lang="en-US" sz="1200" dirty="0"/>
          </a:p>
        </p:txBody>
      </p:sp>
      <p:sp>
        <p:nvSpPr>
          <p:cNvPr id="37" name="Tick box: Let’s adjust it"/>
          <p:cNvSpPr txBox="1"/>
          <p:nvPr/>
        </p:nvSpPr>
        <p:spPr>
          <a:xfrm>
            <a:off x="8778240" y="55504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8" name="Text 36"/>
          <p:cNvSpPr txBox="1"/>
          <p:nvPr/>
        </p:nvSpPr>
        <p:spPr>
          <a:xfrm>
            <a:off x="9070848" y="5532120"/>
            <a:ext cx="22677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Let’s adjust it</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09</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The C&amp;I tender flow</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“A little more involved” than SME. Where should your Assistant start?</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Text 8"/>
          <p:cNvSpPr txBox="1"/>
          <p:nvPr/>
        </p:nvSpPr>
        <p:spPr>
          <a:xfrm>
            <a:off x="457200" y="1783080"/>
            <a:ext cx="2148840" cy="640080"/>
          </a:xfrm>
          <a:prstGeom prst="chevron">
            <a:avLst/>
          </a:prstGeom>
          <a:solidFill>
            <a:srgbClr val="187A5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LOA signed</a:t>
            </a:r>
            <a:endParaRPr lang="en-US" sz="1300" dirty="0"/>
          </a:p>
        </p:txBody>
      </p:sp>
      <p:sp>
        <p:nvSpPr>
          <p:cNvPr id="11" name="Text 9"/>
          <p:cNvSpPr txBox="1"/>
          <p:nvPr/>
        </p:nvSpPr>
        <p:spPr>
          <a:xfrm>
            <a:off x="640080" y="2514600"/>
            <a:ext cx="1828800" cy="54864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Client signs the form so we can collect data</a:t>
            </a:r>
            <a:endParaRPr lang="en-US" sz="1100" dirty="0"/>
          </a:p>
        </p:txBody>
      </p:sp>
      <p:sp>
        <p:nvSpPr>
          <p:cNvPr id="12" name="Text 10"/>
          <p:cNvSpPr txBox="1"/>
          <p:nvPr/>
        </p:nvSpPr>
        <p:spPr>
          <a:xfrm>
            <a:off x="2724912" y="1783080"/>
            <a:ext cx="2148840" cy="640080"/>
          </a:xfrm>
          <a:prstGeom prst="chevron">
            <a:avLst/>
          </a:prstGeom>
          <a:solidFill>
            <a:srgbClr val="187A5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Collect data</a:t>
            </a:r>
            <a:endParaRPr lang="en-US" sz="1300" dirty="0"/>
          </a:p>
        </p:txBody>
      </p:sp>
      <p:sp>
        <p:nvSpPr>
          <p:cNvPr id="13" name="Text 11"/>
          <p:cNvSpPr txBox="1"/>
          <p:nvPr/>
        </p:nvSpPr>
        <p:spPr>
          <a:xfrm>
            <a:off x="2907792" y="2514600"/>
            <a:ext cx="1828800" cy="54864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From retailers and metering providers</a:t>
            </a:r>
            <a:endParaRPr lang="en-US" sz="1100" dirty="0"/>
          </a:p>
        </p:txBody>
      </p:sp>
      <p:sp>
        <p:nvSpPr>
          <p:cNvPr id="14" name="Text 12"/>
          <p:cNvSpPr txBox="1"/>
          <p:nvPr/>
        </p:nvSpPr>
        <p:spPr>
          <a:xfrm>
            <a:off x="4992624" y="1783080"/>
            <a:ext cx="2148840" cy="640080"/>
          </a:xfrm>
          <a:prstGeom prst="chevron">
            <a:avLst/>
          </a:prstGeom>
          <a:solidFill>
            <a:srgbClr val="187A5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Set up &amp; upload</a:t>
            </a:r>
            <a:endParaRPr lang="en-US" sz="1300" dirty="0"/>
          </a:p>
        </p:txBody>
      </p:sp>
      <p:sp>
        <p:nvSpPr>
          <p:cNvPr id="15" name="Text 13"/>
          <p:cNvSpPr txBox="1"/>
          <p:nvPr/>
        </p:nvSpPr>
        <p:spPr>
          <a:xfrm>
            <a:off x="5175504" y="2514600"/>
            <a:ext cx="1828800" cy="54864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File set up in the brokerage software</a:t>
            </a:r>
            <a:endParaRPr lang="en-US" sz="1100" dirty="0"/>
          </a:p>
        </p:txBody>
      </p:sp>
      <p:sp>
        <p:nvSpPr>
          <p:cNvPr id="16" name="Text 14"/>
          <p:cNvSpPr txBox="1"/>
          <p:nvPr/>
        </p:nvSpPr>
        <p:spPr>
          <a:xfrm>
            <a:off x="7260336" y="1783080"/>
            <a:ext cx="2148840" cy="640080"/>
          </a:xfrm>
          <a:prstGeom prst="chevron">
            <a:avLst/>
          </a:prstGeom>
          <a:solidFill>
            <a:srgbClr val="187A5E"/>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Tender</a:t>
            </a:r>
            <a:endParaRPr lang="en-US" sz="1300" dirty="0"/>
          </a:p>
        </p:txBody>
      </p:sp>
      <p:sp>
        <p:nvSpPr>
          <p:cNvPr id="17" name="Text 15"/>
          <p:cNvSpPr txBox="1"/>
          <p:nvPr/>
        </p:nvSpPr>
        <p:spPr>
          <a:xfrm>
            <a:off x="7443216" y="2514600"/>
            <a:ext cx="1828800" cy="54864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8–10 retailer prices come back</a:t>
            </a:r>
            <a:endParaRPr lang="en-US" sz="1100" dirty="0"/>
          </a:p>
        </p:txBody>
      </p:sp>
      <p:sp>
        <p:nvSpPr>
          <p:cNvPr id="18" name="Text 16"/>
          <p:cNvSpPr txBox="1"/>
          <p:nvPr/>
        </p:nvSpPr>
        <p:spPr>
          <a:xfrm>
            <a:off x="9528048" y="1783080"/>
            <a:ext cx="2148840" cy="640080"/>
          </a:xfrm>
          <a:prstGeom prst="chevron">
            <a:avLst/>
          </a:prstGeom>
          <a:solidFill>
            <a:srgbClr val="11604A"/>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Upload &amp; run</a:t>
            </a:r>
            <a:endParaRPr lang="en-US" sz="1300" dirty="0"/>
          </a:p>
        </p:txBody>
      </p:sp>
      <p:sp>
        <p:nvSpPr>
          <p:cNvPr id="19" name="Text 17"/>
          <p:cNvSpPr txBox="1"/>
          <p:nvPr/>
        </p:nvSpPr>
        <p:spPr>
          <a:xfrm>
            <a:off x="9710928" y="2514600"/>
            <a:ext cx="1828800" cy="54864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Prices loaded, software run, results to Tom</a:t>
            </a:r>
            <a:endParaRPr lang="en-US" sz="1100" dirty="0"/>
          </a:p>
        </p:txBody>
      </p:sp>
      <p:sp>
        <p:nvSpPr>
          <p:cNvPr id="20" name="Card"/>
          <p:cNvSpPr/>
          <p:nvPr/>
        </p:nvSpPr>
        <p:spPr>
          <a:xfrm>
            <a:off x="457200" y="3200400"/>
            <a:ext cx="3657600" cy="2926080"/>
          </a:xfrm>
          <a:prstGeom prst="roundRect">
            <a:avLst>
              <a:gd name="adj" fmla="val 2500"/>
            </a:avLst>
          </a:prstGeom>
          <a:solidFill>
            <a:srgbClr val="F1F4F2"/>
          </a:solidFill>
          <a:ln w="9525">
            <a:solidFill>
              <a:srgbClr val="F1F4F2"/>
            </a:solidFill>
            <a:prstDash val="solid"/>
          </a:ln>
        </p:spPr>
      </p:sp>
      <p:sp>
        <p:nvSpPr>
          <p:cNvPr id="21" name="Text 19"/>
          <p:cNvSpPr txBox="1"/>
          <p:nvPr/>
        </p:nvSpPr>
        <p:spPr>
          <a:xfrm>
            <a:off x="685800" y="3337560"/>
            <a:ext cx="32004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ASSISTANT STARTS C&amp;I WORK</a:t>
            </a:r>
            <a:endParaRPr lang="en-US" sz="1000" dirty="0"/>
          </a:p>
        </p:txBody>
      </p:sp>
      <p:sp>
        <p:nvSpPr>
          <p:cNvPr id="22" name="Tick box: From Day 30"/>
          <p:cNvSpPr txBox="1"/>
          <p:nvPr/>
        </p:nvSpPr>
        <p:spPr>
          <a:xfrm>
            <a:off x="685800" y="367588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3" name="Text 21"/>
          <p:cNvSpPr txBox="1"/>
          <p:nvPr/>
        </p:nvSpPr>
        <p:spPr>
          <a:xfrm>
            <a:off x="978408" y="365760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From Day 30</a:t>
            </a:r>
            <a:endParaRPr lang="en-US" sz="1200" dirty="0"/>
          </a:p>
        </p:txBody>
      </p:sp>
      <p:sp>
        <p:nvSpPr>
          <p:cNvPr id="24" name="Tick box: From Day 60"/>
          <p:cNvSpPr txBox="1"/>
          <p:nvPr/>
        </p:nvSpPr>
        <p:spPr>
          <a:xfrm>
            <a:off x="685800" y="40416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5" name="Text 23"/>
          <p:cNvSpPr txBox="1"/>
          <p:nvPr/>
        </p:nvSpPr>
        <p:spPr>
          <a:xfrm>
            <a:off x="978408" y="402336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From Day 60</a:t>
            </a:r>
            <a:endParaRPr lang="en-US" sz="1200" dirty="0"/>
          </a:p>
        </p:txBody>
      </p:sp>
      <p:sp>
        <p:nvSpPr>
          <p:cNvPr id="26" name="Tick box: From Day 90"/>
          <p:cNvSpPr txBox="1"/>
          <p:nvPr/>
        </p:nvSpPr>
        <p:spPr>
          <a:xfrm>
            <a:off x="685800" y="440740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7" name="Text 25"/>
          <p:cNvSpPr txBox="1"/>
          <p:nvPr/>
        </p:nvSpPr>
        <p:spPr>
          <a:xfrm>
            <a:off x="978408" y="438912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From Day 90</a:t>
            </a:r>
            <a:endParaRPr lang="en-US" sz="1200" dirty="0"/>
          </a:p>
        </p:txBody>
      </p:sp>
      <p:sp>
        <p:nvSpPr>
          <p:cNvPr id="28" name="Tick box: Once SME is fully handed over"/>
          <p:cNvSpPr txBox="1"/>
          <p:nvPr/>
        </p:nvSpPr>
        <p:spPr>
          <a:xfrm>
            <a:off x="685800" y="47731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9" name="Text 27"/>
          <p:cNvSpPr txBox="1"/>
          <p:nvPr/>
        </p:nvSpPr>
        <p:spPr>
          <a:xfrm>
            <a:off x="978408" y="4754880"/>
            <a:ext cx="2907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Once SME is fully handed over</a:t>
            </a:r>
            <a:endParaRPr lang="en-US" sz="1200" dirty="0"/>
          </a:p>
        </p:txBody>
      </p:sp>
      <p:sp>
        <p:nvSpPr>
          <p:cNvPr id="30" name="Text 28"/>
          <p:cNvSpPr txBox="1"/>
          <p:nvPr/>
        </p:nvSpPr>
        <p:spPr>
          <a:xfrm>
            <a:off x="685800" y="5212080"/>
            <a:ext cx="3200400" cy="731520"/>
          </a:xfrm>
          <a:prstGeom prst="rect">
            <a:avLst/>
          </a:prstGeom>
          <a:noFill/>
          <a:ln/>
        </p:spPr>
        <p:txBody>
          <a:bodyPr wrap="square" lIns="0" tIns="0" rIns="0" bIns="0" rtlCol="0" anchor="t"/>
          <a:lstStyle/>
          <a:p>
            <a:pPr indent="0" marL="0">
              <a:buNone/>
            </a:pPr>
            <a:r>
              <a:rPr lang="en-US" sz="1100" dirty="0">
                <a:solidFill>
                  <a:srgbClr val="6B7480"/>
                </a:solidFill>
                <a:latin typeface="Calibri" pitchFamily="34" charset="0"/>
                <a:ea typeface="Calibri" pitchFamily="34" charset="-122"/>
                <a:cs typeface="Calibri" pitchFamily="34" charset="-120"/>
              </a:rPr>
              <a:t>The brokerage software comes with training from the provider.</a:t>
            </a:r>
            <a:endParaRPr lang="en-US" sz="1100" dirty="0"/>
          </a:p>
        </p:txBody>
      </p:sp>
      <p:sp>
        <p:nvSpPr>
          <p:cNvPr id="31" name="Input: Brokerage software &amp; training contact"/>
          <p:cNvSpPr txBox="1"/>
          <p:nvPr/>
        </p:nvSpPr>
        <p:spPr>
          <a:xfrm>
            <a:off x="4261104" y="3200400"/>
            <a:ext cx="3657600"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BROKERAGE SOFTWARE &amp; TRAINING CONTACT</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Software name and who runs the vendor training…</a:t>
            </a:r>
            <a:endParaRPr lang="en-US" sz="900" dirty="0"/>
          </a:p>
        </p:txBody>
      </p:sp>
      <p:sp>
        <p:nvSpPr>
          <p:cNvPr id="32" name="Input: Data checks before a tender goes out"/>
          <p:cNvSpPr txBox="1"/>
          <p:nvPr/>
        </p:nvSpPr>
        <p:spPr>
          <a:xfrm>
            <a:off x="4261104" y="4709160"/>
            <a:ext cx="3657600" cy="141732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DATA CHECKS BEFORE A TENDER GOES OUT</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NMIs, interval data gaps, distributor…</a:t>
            </a:r>
            <a:endParaRPr lang="en-US" sz="900" dirty="0"/>
          </a:p>
        </p:txBody>
      </p:sp>
      <p:sp>
        <p:nvSpPr>
          <p:cNvPr id="33" name="Input: C&amp;I notes"/>
          <p:cNvSpPr txBox="1"/>
          <p:nvPr/>
        </p:nvSpPr>
        <p:spPr>
          <a:xfrm>
            <a:off x="8065008" y="3200400"/>
            <a:ext cx="3657600" cy="29260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C&amp;I NOTES</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Thresholds, state billing differences, tariff terms the Assistant must learn…</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10</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Solar &amp; admin support</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Tick what to include, and when it should start.</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4023360"/>
                <a:gridCol w="1463040"/>
                <a:gridCol w="1828800"/>
                <a:gridCol w="3959352"/>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Task</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Include (X)</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Start from</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41148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Invoicing in Xero</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Minor bookkeeping (with your accountant)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Solar designs in OpenSolar</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Solar pricing sheets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Ordering equipment from suppliers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Freight and delivery bookings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Scheduling subcontractors for installs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Ad hoc admin</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Text 8"/>
          <p:cNvSpPr txBox="1"/>
          <p:nvPr/>
        </p:nvSpPr>
        <p:spPr>
          <a:xfrm>
            <a:off x="457200" y="5623560"/>
            <a:ext cx="11247120" cy="502920"/>
          </a:xfrm>
          <a:prstGeom prst="rect">
            <a:avLst/>
          </a:prstGeom>
          <a:noFill/>
          <a:ln/>
        </p:spPr>
        <p:txBody>
          <a:bodyPr wrap="square" lIns="0" tIns="0" rIns="0" bIns="0" rtlCol="0" anchor="t"/>
          <a:lstStyle/>
          <a:p>
            <a:pPr indent="0" marL="0">
              <a:buNone/>
            </a:pPr>
            <a:r>
              <a:rPr lang="en-US" sz="1150" i="1" dirty="0">
                <a:solidFill>
                  <a:srgbClr val="6B7480"/>
                </a:solidFill>
                <a:latin typeface="Calibri" pitchFamily="34" charset="0"/>
                <a:ea typeface="Calibri" pitchFamily="34" charset="-122"/>
                <a:cs typeface="Calibri" pitchFamily="34" charset="-120"/>
              </a:rPr>
              <a:t>On the Freedom Audit you mentioned Xero invoicing, minor bookkeeping, solar designs and pricing sheets: “It’s all learnable. It’s all teachable, but it is quite technical to start with.”</a:t>
            </a:r>
            <a:endParaRPr lang="en-US" sz="115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11</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Tools &amp; access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What your Assistant needs to know already, and what you’ll train.</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103120"/>
                <a:gridCol w="3840480"/>
                <a:gridCol w="1920240"/>
                <a:gridCol w="1828800"/>
                <a:gridCol w="1581912"/>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From our calls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Experience needed?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Who trains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Access ready (X)</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41148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Xero</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Non-negotiable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GoHighLevel</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Can be learned; CRM experience is enough</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Excel</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Experience needed</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Brokerage software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3–6 months to learn; vendor training</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DocuSign</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Used for contracts and LOAs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ClickUp</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Project management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OpenSolar</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Solar designs, learned over time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11480">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Tools &amp; logins spreadsheet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Already in your admin folder</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Text 8"/>
          <p:cNvSpPr txBox="1"/>
          <p:nvPr/>
        </p:nvSpPr>
        <p:spPr>
          <a:xfrm>
            <a:off x="457200" y="5623560"/>
            <a:ext cx="11247120" cy="457200"/>
          </a:xfrm>
          <a:prstGeom prst="rect">
            <a:avLst/>
          </a:prstGeom>
          <a:noFill/>
          <a:ln/>
        </p:spPr>
        <p:txBody>
          <a:bodyPr wrap="square" lIns="0" tIns="0" rIns="0" bIns="0" rtlCol="0" anchor="t"/>
          <a:lstStyle/>
          <a:p>
            <a:pPr indent="0" marL="0">
              <a:buNone/>
            </a:pPr>
            <a:r>
              <a:rPr lang="en-US" sz="1150" dirty="0">
                <a:solidFill>
                  <a:srgbClr val="6B7480"/>
                </a:solidFill>
                <a:latin typeface="Calibri" pitchFamily="34" charset="0"/>
                <a:ea typeface="Calibri" pitchFamily="34" charset="-122"/>
                <a:cs typeface="Calibri" pitchFamily="34" charset="-120"/>
              </a:rPr>
              <a:t>Experience needed? Type Must, Nice or Train. You said experience with complex job software (like simPRO) would be a bonus.</a:t>
            </a:r>
            <a:endParaRPr lang="en-US" sz="115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12</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ideal Assistant</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Rank your top three traits (type 1, 2 and 3 in the boxes).</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1188720"/>
          </a:xfrm>
          <a:prstGeom prst="roundRect">
            <a:avLst>
              <a:gd name="adj" fmla="val 6154"/>
            </a:avLst>
          </a:prstGeom>
          <a:solidFill>
            <a:srgbClr val="FFFFFF"/>
          </a:solidFill>
          <a:ln w="9525">
            <a:solidFill>
              <a:srgbClr val="DDE4E0"/>
            </a:solidFill>
            <a:prstDash val="solid"/>
          </a:ln>
        </p:spPr>
      </p:sp>
      <p:sp>
        <p:nvSpPr>
          <p:cNvPr id="11" name="Rank: Fast learner"/>
          <p:cNvSpPr txBox="1"/>
          <p:nvPr/>
        </p:nvSpPr>
        <p:spPr>
          <a:xfrm>
            <a:off x="640080" y="198424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12" name="Text 10"/>
          <p:cNvSpPr txBox="1"/>
          <p:nvPr/>
        </p:nvSpPr>
        <p:spPr>
          <a:xfrm>
            <a:off x="1188720" y="196596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Fast learner</a:t>
            </a:r>
            <a:endParaRPr lang="en-US" sz="1500" dirty="0"/>
          </a:p>
        </p:txBody>
      </p:sp>
      <p:sp>
        <p:nvSpPr>
          <p:cNvPr id="13" name="Text 11"/>
          <p:cNvSpPr txBox="1"/>
          <p:nvPr/>
        </p:nvSpPr>
        <p:spPr>
          <a:xfrm>
            <a:off x="1188720" y="235000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Picks up a process quickly, or goes back to the SOP with confidence.</a:t>
            </a:r>
            <a:endParaRPr lang="en-US" sz="1150" dirty="0"/>
          </a:p>
        </p:txBody>
      </p:sp>
      <p:sp>
        <p:nvSpPr>
          <p:cNvPr id="14" name="Card"/>
          <p:cNvSpPr/>
          <p:nvPr/>
        </p:nvSpPr>
        <p:spPr>
          <a:xfrm>
            <a:off x="4261104" y="1783080"/>
            <a:ext cx="3639312" cy="1188720"/>
          </a:xfrm>
          <a:prstGeom prst="roundRect">
            <a:avLst>
              <a:gd name="adj" fmla="val 6154"/>
            </a:avLst>
          </a:prstGeom>
          <a:solidFill>
            <a:srgbClr val="FFFFFF"/>
          </a:solidFill>
          <a:ln w="9525">
            <a:solidFill>
              <a:srgbClr val="DDE4E0"/>
            </a:solidFill>
            <a:prstDash val="solid"/>
          </a:ln>
        </p:spPr>
      </p:sp>
      <p:sp>
        <p:nvSpPr>
          <p:cNvPr id="15" name="Rank: Action over hesitation"/>
          <p:cNvSpPr txBox="1"/>
          <p:nvPr/>
        </p:nvSpPr>
        <p:spPr>
          <a:xfrm>
            <a:off x="4443984" y="198424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16" name="Text 14"/>
          <p:cNvSpPr txBox="1"/>
          <p:nvPr/>
        </p:nvSpPr>
        <p:spPr>
          <a:xfrm>
            <a:off x="4992624" y="196596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Action over hesitation</a:t>
            </a:r>
            <a:endParaRPr lang="en-US" sz="1500" dirty="0"/>
          </a:p>
        </p:txBody>
      </p:sp>
      <p:sp>
        <p:nvSpPr>
          <p:cNvPr id="17" name="Text 15"/>
          <p:cNvSpPr txBox="1"/>
          <p:nvPr/>
        </p:nvSpPr>
        <p:spPr>
          <a:xfrm>
            <a:off x="4992624" y="235000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Doesn’t spend 10 minutes discussing a 2-minute task.</a:t>
            </a:r>
            <a:endParaRPr lang="en-US" sz="1150" dirty="0"/>
          </a:p>
        </p:txBody>
      </p:sp>
      <p:sp>
        <p:nvSpPr>
          <p:cNvPr id="18" name="Card"/>
          <p:cNvSpPr/>
          <p:nvPr/>
        </p:nvSpPr>
        <p:spPr>
          <a:xfrm>
            <a:off x="8065008" y="1783080"/>
            <a:ext cx="3639312" cy="1188720"/>
          </a:xfrm>
          <a:prstGeom prst="roundRect">
            <a:avLst>
              <a:gd name="adj" fmla="val 6154"/>
            </a:avLst>
          </a:prstGeom>
          <a:solidFill>
            <a:srgbClr val="FFFFFF"/>
          </a:solidFill>
          <a:ln w="9525">
            <a:solidFill>
              <a:srgbClr val="DDE4E0"/>
            </a:solidFill>
            <a:prstDash val="solid"/>
          </a:ln>
        </p:spPr>
      </p:sp>
      <p:sp>
        <p:nvSpPr>
          <p:cNvPr id="19" name="Rank: 100% accurate"/>
          <p:cNvSpPr txBox="1"/>
          <p:nvPr/>
        </p:nvSpPr>
        <p:spPr>
          <a:xfrm>
            <a:off x="8247888" y="198424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20" name="Text 18"/>
          <p:cNvSpPr txBox="1"/>
          <p:nvPr/>
        </p:nvSpPr>
        <p:spPr>
          <a:xfrm>
            <a:off x="8796528" y="196596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100% accurate</a:t>
            </a:r>
            <a:endParaRPr lang="en-US" sz="1500" dirty="0"/>
          </a:p>
        </p:txBody>
      </p:sp>
      <p:sp>
        <p:nvSpPr>
          <p:cNvPr id="21" name="Text 19"/>
          <p:cNvSpPr txBox="1"/>
          <p:nvPr/>
        </p:nvSpPr>
        <p:spPr>
          <a:xfrm>
            <a:off x="8796528" y="235000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Checks reports before they go out; catches the wrong number.</a:t>
            </a:r>
            <a:endParaRPr lang="en-US" sz="1150" dirty="0"/>
          </a:p>
        </p:txBody>
      </p:sp>
      <p:sp>
        <p:nvSpPr>
          <p:cNvPr id="22" name="Card"/>
          <p:cNvSpPr/>
          <p:nvPr/>
        </p:nvSpPr>
        <p:spPr>
          <a:xfrm>
            <a:off x="457200" y="3108960"/>
            <a:ext cx="3639312" cy="1188720"/>
          </a:xfrm>
          <a:prstGeom prst="roundRect">
            <a:avLst>
              <a:gd name="adj" fmla="val 6154"/>
            </a:avLst>
          </a:prstGeom>
          <a:solidFill>
            <a:srgbClr val="FFFFFF"/>
          </a:solidFill>
          <a:ln w="9525">
            <a:solidFill>
              <a:srgbClr val="DDE4E0"/>
            </a:solidFill>
            <a:prstDash val="solid"/>
          </a:ln>
        </p:spPr>
      </p:sp>
      <p:sp>
        <p:nvSpPr>
          <p:cNvPr id="23" name="Rank: Owns mistakes"/>
          <p:cNvSpPr txBox="1"/>
          <p:nvPr/>
        </p:nvSpPr>
        <p:spPr>
          <a:xfrm>
            <a:off x="640080" y="331012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24" name="Text 22"/>
          <p:cNvSpPr txBox="1"/>
          <p:nvPr/>
        </p:nvSpPr>
        <p:spPr>
          <a:xfrm>
            <a:off x="1188720" y="329184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Owns mistakes</a:t>
            </a:r>
            <a:endParaRPr lang="en-US" sz="1500" dirty="0"/>
          </a:p>
        </p:txBody>
      </p:sp>
      <p:sp>
        <p:nvSpPr>
          <p:cNvPr id="25" name="Text 23"/>
          <p:cNvSpPr txBox="1"/>
          <p:nvPr/>
        </p:nvSpPr>
        <p:spPr>
          <a:xfrm>
            <a:off x="1188720" y="367588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Tells you straight away and doesn’t repeat them.</a:t>
            </a:r>
            <a:endParaRPr lang="en-US" sz="1150" dirty="0"/>
          </a:p>
        </p:txBody>
      </p:sp>
      <p:sp>
        <p:nvSpPr>
          <p:cNvPr id="26" name="Card"/>
          <p:cNvSpPr/>
          <p:nvPr/>
        </p:nvSpPr>
        <p:spPr>
          <a:xfrm>
            <a:off x="4261104" y="3108960"/>
            <a:ext cx="3639312" cy="1188720"/>
          </a:xfrm>
          <a:prstGeom prst="roundRect">
            <a:avLst>
              <a:gd name="adj" fmla="val 6154"/>
            </a:avLst>
          </a:prstGeom>
          <a:solidFill>
            <a:srgbClr val="FFFFFF"/>
          </a:solidFill>
          <a:ln w="9525">
            <a:solidFill>
              <a:srgbClr val="DDE4E0"/>
            </a:solidFill>
            <a:prstDash val="solid"/>
          </a:ln>
        </p:spPr>
      </p:sp>
      <p:sp>
        <p:nvSpPr>
          <p:cNvPr id="27" name="Rank: Improves systems"/>
          <p:cNvSpPr txBox="1"/>
          <p:nvPr/>
        </p:nvSpPr>
        <p:spPr>
          <a:xfrm>
            <a:off x="4443984" y="331012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28" name="Text 26"/>
          <p:cNvSpPr txBox="1"/>
          <p:nvPr/>
        </p:nvSpPr>
        <p:spPr>
          <a:xfrm>
            <a:off x="4992624" y="329184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Improves systems</a:t>
            </a:r>
            <a:endParaRPr lang="en-US" sz="1500" dirty="0"/>
          </a:p>
        </p:txBody>
      </p:sp>
      <p:sp>
        <p:nvSpPr>
          <p:cNvPr id="29" name="Text 27"/>
          <p:cNvSpPr txBox="1"/>
          <p:nvPr/>
        </p:nvSpPr>
        <p:spPr>
          <a:xfrm>
            <a:off x="4992624" y="367588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Suggests better ways rather than doing it the same way.</a:t>
            </a:r>
            <a:endParaRPr lang="en-US" sz="1150" dirty="0"/>
          </a:p>
        </p:txBody>
      </p:sp>
      <p:sp>
        <p:nvSpPr>
          <p:cNvPr id="30" name="Card"/>
          <p:cNvSpPr/>
          <p:nvPr/>
        </p:nvSpPr>
        <p:spPr>
          <a:xfrm>
            <a:off x="8065008" y="3108960"/>
            <a:ext cx="3639312" cy="1188720"/>
          </a:xfrm>
          <a:prstGeom prst="roundRect">
            <a:avLst>
              <a:gd name="adj" fmla="val 6154"/>
            </a:avLst>
          </a:prstGeom>
          <a:solidFill>
            <a:srgbClr val="FFFFFF"/>
          </a:solidFill>
          <a:ln w="9525">
            <a:solidFill>
              <a:srgbClr val="DDE4E0"/>
            </a:solidFill>
            <a:prstDash val="solid"/>
          </a:ln>
        </p:spPr>
      </p:sp>
      <p:sp>
        <p:nvSpPr>
          <p:cNvPr id="31" name="Rank: Confident"/>
          <p:cNvSpPr txBox="1"/>
          <p:nvPr/>
        </p:nvSpPr>
        <p:spPr>
          <a:xfrm>
            <a:off x="8247888" y="3310128"/>
            <a:ext cx="384048" cy="384048"/>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600" dirty="0"/>
          </a:p>
        </p:txBody>
      </p:sp>
      <p:sp>
        <p:nvSpPr>
          <p:cNvPr id="32" name="Text 30"/>
          <p:cNvSpPr txBox="1"/>
          <p:nvPr/>
        </p:nvSpPr>
        <p:spPr>
          <a:xfrm>
            <a:off x="8796528" y="3291840"/>
            <a:ext cx="2743200" cy="365760"/>
          </a:xfrm>
          <a:prstGeom prst="rect">
            <a:avLst/>
          </a:prstGeom>
          <a:noFill/>
          <a:ln/>
        </p:spPr>
        <p:txBody>
          <a:bodyPr wrap="square" lIns="0" tIns="0" rIns="0" bIns="0" rtlCol="0" anchor="ctr"/>
          <a:lstStyle/>
          <a:p>
            <a:pPr indent="0" marL="0">
              <a:buNone/>
            </a:pPr>
            <a:r>
              <a:rPr lang="en-US" sz="1500" b="1" dirty="0">
                <a:solidFill>
                  <a:srgbClr val="1B2430"/>
                </a:solidFill>
                <a:latin typeface="Cambria" pitchFamily="34" charset="0"/>
                <a:ea typeface="Cambria" pitchFamily="34" charset="-122"/>
                <a:cs typeface="Cambria" pitchFamily="34" charset="-120"/>
              </a:rPr>
              <a:t>Confident</a:t>
            </a:r>
            <a:endParaRPr lang="en-US" sz="1500" dirty="0"/>
          </a:p>
        </p:txBody>
      </p:sp>
      <p:sp>
        <p:nvSpPr>
          <p:cNvPr id="33" name="Text 31"/>
          <p:cNvSpPr txBox="1"/>
          <p:nvPr/>
        </p:nvSpPr>
        <p:spPr>
          <a:xfrm>
            <a:off x="8796528" y="3675888"/>
            <a:ext cx="2743200" cy="548640"/>
          </a:xfrm>
          <a:prstGeom prst="rect">
            <a:avLst/>
          </a:prstGeom>
          <a:noFill/>
          <a:ln/>
        </p:spPr>
        <p:txBody>
          <a:bodyPr wrap="square" lIns="0" tIns="0" rIns="0" bIns="0" rtlCol="0" anchor="t"/>
          <a:lstStyle/>
          <a:p>
            <a:pPr indent="0" marL="0">
              <a:buNone/>
            </a:pPr>
            <a:r>
              <a:rPr lang="en-US" sz="1150" dirty="0">
                <a:solidFill>
                  <a:srgbClr val="4A5563"/>
                </a:solidFill>
                <a:latin typeface="Calibri" pitchFamily="34" charset="0"/>
                <a:ea typeface="Calibri" pitchFamily="34" charset="-122"/>
                <a:cs typeface="Calibri" pitchFamily="34" charset="-120"/>
              </a:rPr>
              <a:t>Learns and decides without checking everything with you.</a:t>
            </a:r>
            <a:endParaRPr lang="en-US" sz="1150" dirty="0"/>
          </a:p>
        </p:txBody>
      </p:sp>
      <p:sp>
        <p:nvSpPr>
          <p:cNvPr id="34" name="Card"/>
          <p:cNvSpPr/>
          <p:nvPr/>
        </p:nvSpPr>
        <p:spPr>
          <a:xfrm>
            <a:off x="457200" y="4526280"/>
            <a:ext cx="5577840" cy="1600200"/>
          </a:xfrm>
          <a:prstGeom prst="roundRect">
            <a:avLst>
              <a:gd name="adj" fmla="val 4571"/>
            </a:avLst>
          </a:prstGeom>
          <a:solidFill>
            <a:srgbClr val="E4F2EC"/>
          </a:solidFill>
          <a:ln w="9525">
            <a:solidFill>
              <a:srgbClr val="E4F2EC"/>
            </a:solidFill>
            <a:prstDash val="solid"/>
          </a:ln>
        </p:spPr>
      </p:sp>
      <p:sp>
        <p:nvSpPr>
          <p:cNvPr id="35" name="Text 33"/>
          <p:cNvSpPr txBox="1"/>
          <p:nvPr/>
        </p:nvSpPr>
        <p:spPr>
          <a:xfrm>
            <a:off x="685800" y="4645152"/>
            <a:ext cx="36576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EXPERIENCE</a:t>
            </a:r>
            <a:endParaRPr lang="en-US" sz="1000" dirty="0"/>
          </a:p>
        </p:txBody>
      </p:sp>
      <p:sp>
        <p:nvSpPr>
          <p:cNvPr id="36" name="Text 34"/>
          <p:cNvSpPr txBox="1"/>
          <p:nvPr/>
        </p:nvSpPr>
        <p:spPr>
          <a:xfrm>
            <a:off x="685800" y="4937760"/>
            <a:ext cx="5120640" cy="548640"/>
          </a:xfrm>
          <a:prstGeom prst="rect">
            <a:avLst/>
          </a:prstGeom>
          <a:noFill/>
          <a:ln/>
        </p:spPr>
        <p:txBody>
          <a:bodyPr wrap="square" lIns="0" tIns="0" rIns="0" bIns="0" rtlCol="0" anchor="t"/>
          <a:lstStyle/>
          <a:p>
            <a:pPr indent="0" marL="0">
              <a:buNone/>
            </a:pPr>
            <a:r>
              <a:rPr lang="en-US" sz="1250" dirty="0">
                <a:solidFill>
                  <a:srgbClr val="1B2430"/>
                </a:solidFill>
                <a:latin typeface="Calibri" pitchFamily="34" charset="0"/>
                <a:ea typeface="Calibri" pitchFamily="34" charset="-122"/>
                <a:cs typeface="Calibri" pitchFamily="34" charset="-120"/>
              </a:rPr>
              <a:t>Energy, brokerage or solar experience is highly regarded but not essential. Xero is a must. Is that right?</a:t>
            </a:r>
            <a:endParaRPr lang="en-US" sz="1250" dirty="0"/>
          </a:p>
        </p:txBody>
      </p:sp>
      <p:sp>
        <p:nvSpPr>
          <p:cNvPr id="37" name="Tick box: Yes"/>
          <p:cNvSpPr txBox="1"/>
          <p:nvPr/>
        </p:nvSpPr>
        <p:spPr>
          <a:xfrm>
            <a:off x="685800"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8" name="Text 36"/>
          <p:cNvSpPr txBox="1"/>
          <p:nvPr/>
        </p:nvSpPr>
        <p:spPr>
          <a:xfrm>
            <a:off x="978408" y="5577840"/>
            <a:ext cx="6217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Yes</a:t>
            </a:r>
            <a:endParaRPr lang="en-US" sz="1200" dirty="0"/>
          </a:p>
        </p:txBody>
      </p:sp>
      <p:sp>
        <p:nvSpPr>
          <p:cNvPr id="39" name="Tick box: Energy experience is a must"/>
          <p:cNvSpPr txBox="1"/>
          <p:nvPr/>
        </p:nvSpPr>
        <p:spPr>
          <a:xfrm>
            <a:off x="1737360"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0" name="Text 38"/>
          <p:cNvSpPr txBox="1"/>
          <p:nvPr/>
        </p:nvSpPr>
        <p:spPr>
          <a:xfrm>
            <a:off x="2029968" y="5577840"/>
            <a:ext cx="263347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Energy experience is a must</a:t>
            </a:r>
            <a:endParaRPr lang="en-US" sz="1200" dirty="0"/>
          </a:p>
        </p:txBody>
      </p:sp>
      <p:sp>
        <p:nvSpPr>
          <p:cNvPr id="41" name="Input: What would make a candidate stand out?"/>
          <p:cNvSpPr txBox="1"/>
          <p:nvPr/>
        </p:nvSpPr>
        <p:spPr>
          <a:xfrm>
            <a:off x="6172200" y="4526280"/>
            <a:ext cx="5559552" cy="16002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MAKE A CANDIDATE STAND OUT?</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Experience with simPRO, Australian bills, tenders…</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13</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Success measures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From your position description. Type your own target in the amber column.</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011680"/>
                <a:gridCol w="4572000"/>
                <a:gridCol w="2011680"/>
                <a:gridCol w="2679192"/>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Your position description</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Your target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 to check</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475488">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Comparison reports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Same day the bill is received</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Ask: which bills are waiting?</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75488">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Contracts &amp; LOAs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Issued same business day; zero errors in NMI, rate or term</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Spot-check against the retailer offer</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75488">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C&amp;I accounts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Set up within 24 hours; 0% duplication</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Monthly CRM data audit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75488">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Tenders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Sent same day all data is in; under 1% error</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Review the compiled documents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75488">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CRM pipeline</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Every lead has a next step; none stalled over 3 business days</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GoHighLevel stage report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r h="475488">
                <a:tc>
                  <a:txBody>
                    <a:bodyPr/>
                    <a:lstStyle/>
                    <a:p>
                      <a:pPr indent="0" marL="0">
                        <a:buNone/>
                      </a:pPr>
                      <a:r>
                        <a:rPr lang="en-US" sz="1150" b="1" dirty="0">
                          <a:solidFill>
                            <a:srgbClr val="1B2430"/>
                          </a:solidFill>
                          <a:latin typeface="Calibri" pitchFamily="34" charset="0"/>
                          <a:ea typeface="Calibri" pitchFamily="34" charset="-122"/>
                          <a:cs typeface="Calibri" pitchFamily="34" charset="-120"/>
                        </a:rPr>
                        <a:t>SOPs &amp; improvement</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Key tasks documented; one improvement trialled each quarter</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r>
                        <a:rPr lang="en-US" sz="1150" dirty="0">
                          <a:solidFill>
                            <a:srgbClr val="1B2430"/>
                          </a:solidFill>
                          <a:latin typeface="Calibri" pitchFamily="34" charset="0"/>
                          <a:ea typeface="Calibri" pitchFamily="34" charset="-122"/>
                          <a:cs typeface="Calibri" pitchFamily="34" charset="-120"/>
                        </a:rPr>
                        <a:t>SOP library and wins log</a:t>
                      </a:r>
                      <a:endParaRPr lang="en-US" sz="115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r>
            </a:tbl>
          </a:graphicData>
        </a:graphic>
      </p:graphicFrame>
      <p:sp>
        <p:nvSpPr>
          <p:cNvPr id="11" name="Tick box: These are the right measures"/>
          <p:cNvSpPr txBox="1"/>
          <p:nvPr/>
        </p:nvSpPr>
        <p:spPr>
          <a:xfrm>
            <a:off x="457200" y="53675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2" name="Text 9"/>
          <p:cNvSpPr txBox="1"/>
          <p:nvPr/>
        </p:nvSpPr>
        <p:spPr>
          <a:xfrm>
            <a:off x="749808" y="5349240"/>
            <a:ext cx="272491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These are the right measures</a:t>
            </a:r>
            <a:endParaRPr lang="en-US" sz="1200" dirty="0"/>
          </a:p>
        </p:txBody>
      </p:sp>
      <p:sp>
        <p:nvSpPr>
          <p:cNvPr id="13" name="Tick box: Add or change some"/>
          <p:cNvSpPr txBox="1"/>
          <p:nvPr/>
        </p:nvSpPr>
        <p:spPr>
          <a:xfrm>
            <a:off x="3657600" y="53675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4" name="Text 11"/>
          <p:cNvSpPr txBox="1"/>
          <p:nvPr/>
        </p:nvSpPr>
        <p:spPr>
          <a:xfrm>
            <a:off x="3950208" y="5349240"/>
            <a:ext cx="245059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Add or change some</a:t>
            </a:r>
            <a:endParaRPr lang="en-US" sz="1200" dirty="0"/>
          </a:p>
        </p:txBody>
      </p:sp>
      <p:sp>
        <p:nvSpPr>
          <p:cNvPr id="15" name="Input: Measures to add"/>
          <p:cNvSpPr txBox="1"/>
          <p:nvPr/>
        </p:nvSpPr>
        <p:spPr>
          <a:xfrm>
            <a:off x="6766560" y="5120640"/>
            <a:ext cx="4965192" cy="10058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MEASURES TO ADD</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e.g. solar delivery dates confirmed…</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A  ·  14</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Package &amp; investment</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What we discussed on the Freedom Audit, with the 10% EO discount.</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FFFFFF"/>
          </a:solidFill>
          <a:ln w="9525">
            <a:solidFill>
              <a:srgbClr val="187A5E"/>
            </a:solidFill>
            <a:prstDash val="solid"/>
          </a:ln>
        </p:spPr>
      </p:sp>
      <p:sp>
        <p:nvSpPr>
          <p:cNvPr id="11" name="Text 9"/>
          <p:cNvSpPr txBox="1"/>
          <p:nvPr/>
        </p:nvSpPr>
        <p:spPr>
          <a:xfrm>
            <a:off x="685800" y="1965960"/>
            <a:ext cx="3200400" cy="365760"/>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Angel Managed</a:t>
            </a:r>
            <a:endParaRPr lang="en-US" sz="1800" dirty="0"/>
          </a:p>
        </p:txBody>
      </p:sp>
      <p:sp>
        <p:nvSpPr>
          <p:cNvPr id="12" name="Text 10"/>
          <p:cNvSpPr txBox="1"/>
          <p:nvPr/>
        </p:nvSpPr>
        <p:spPr>
          <a:xfrm>
            <a:off x="685800" y="2331720"/>
            <a:ext cx="3200400" cy="27432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EO member discount</a:t>
            </a:r>
            <a:endParaRPr lang="en-US" sz="1200" dirty="0"/>
          </a:p>
        </p:txBody>
      </p:sp>
      <p:sp>
        <p:nvSpPr>
          <p:cNvPr id="13" name="Text 11"/>
          <p:cNvSpPr txBox="1"/>
          <p:nvPr/>
        </p:nvSpPr>
        <p:spPr>
          <a:xfrm>
            <a:off x="685800" y="2651760"/>
            <a:ext cx="3200400" cy="548640"/>
          </a:xfrm>
          <a:prstGeom prst="rect">
            <a:avLst/>
          </a:prstGeom>
          <a:noFill/>
          <a:ln/>
        </p:spPr>
        <p:txBody>
          <a:bodyPr wrap="square" lIns="0" tIns="0" rIns="0" bIns="0" rtlCol="0" anchor="ctr"/>
          <a:lstStyle/>
          <a:p>
            <a:pPr indent="0" marL="0">
              <a:buNone/>
            </a:pPr>
            <a:r>
              <a:rPr lang="en-US" sz="3200" b="1" dirty="0">
                <a:solidFill>
                  <a:srgbClr val="187A5E"/>
                </a:solidFill>
                <a:latin typeface="Cambria" pitchFamily="34" charset="0"/>
                <a:ea typeface="Cambria" pitchFamily="34" charset="-122"/>
                <a:cs typeface="Cambria" pitchFamily="34" charset="-120"/>
              </a:rPr>
              <a:t>$997</a:t>
            </a:r>
            <a:endParaRPr lang="en-US" sz="3200" dirty="0"/>
          </a:p>
        </p:txBody>
      </p:sp>
      <p:sp>
        <p:nvSpPr>
          <p:cNvPr id="14" name="Text 12"/>
          <p:cNvSpPr txBox="1"/>
          <p:nvPr/>
        </p:nvSpPr>
        <p:spPr>
          <a:xfrm>
            <a:off x="685800" y="3200400"/>
            <a:ext cx="3200400" cy="274320"/>
          </a:xfrm>
          <a:prstGeom prst="rect">
            <a:avLst/>
          </a:prstGeom>
          <a:noFill/>
          <a:ln/>
        </p:spPr>
        <p:txBody>
          <a:bodyPr wrap="square" lIns="0" tIns="0" rIns="0" bIns="0" rtlCol="0" anchor="t"/>
          <a:lstStyle/>
          <a:p>
            <a:pPr indent="0" marL="0">
              <a:buNone/>
            </a:pPr>
            <a:r>
              <a:rPr lang="en-US" sz="1100" dirty="0">
                <a:solidFill>
                  <a:srgbClr val="4A5563"/>
                </a:solidFill>
                <a:latin typeface="Calibri" pitchFamily="34" charset="0"/>
                <a:ea typeface="Calibri" pitchFamily="34" charset="-122"/>
                <a:cs typeface="Calibri" pitchFamily="34" charset="-120"/>
              </a:rPr>
              <a:t>agency fee / month (normally $1,200)</a:t>
            </a:r>
            <a:endParaRPr lang="en-US" sz="1100" dirty="0"/>
          </a:p>
        </p:txBody>
      </p:sp>
      <p:sp>
        <p:nvSpPr>
          <p:cNvPr id="15" name="Text 13"/>
          <p:cNvSpPr txBox="1"/>
          <p:nvPr/>
        </p:nvSpPr>
        <p:spPr>
          <a:xfrm>
            <a:off x="685800" y="3611880"/>
            <a:ext cx="3200400" cy="16459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Payroll, a team leader and HR support</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Health vouchers, incentives and bonuses</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Monthly client success check-ins</a:t>
            </a:r>
            <a:endParaRPr lang="en-US" sz="1200" dirty="0"/>
          </a:p>
          <a:p>
            <a:pPr marL="342900" indent="-342900">
              <a:spcAft>
                <a:spcPts val="400"/>
              </a:spcAft>
              <a:buSzPct val="100000"/>
              <a:buChar char="•"/>
            </a:pPr>
            <a:r>
              <a:rPr lang="en-US" sz="1200" dirty="0">
                <a:solidFill>
                  <a:srgbClr val="4A5563"/>
                </a:solidFill>
                <a:latin typeface="Calibri" pitchFamily="34" charset="0"/>
                <a:ea typeface="Calibri" pitchFamily="34" charset="-122"/>
                <a:cs typeface="Calibri" pitchFamily="34" charset="-120"/>
              </a:rPr>
              <a:t>Free replacement any time, with a 1-week trial</a:t>
            </a:r>
            <a:endParaRPr lang="en-US" sz="1200" dirty="0"/>
          </a:p>
        </p:txBody>
      </p:sp>
      <p:sp>
        <p:nvSpPr>
          <p:cNvPr id="16" name="Tick box: Confirmed"/>
          <p:cNvSpPr txBox="1"/>
          <p:nvPr/>
        </p:nvSpPr>
        <p:spPr>
          <a:xfrm>
            <a:off x="685800" y="56875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978408" y="5669280"/>
            <a:ext cx="2450592" cy="256032"/>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Confirmed</a:t>
            </a:r>
            <a:endParaRPr lang="en-US" sz="1300" dirty="0"/>
          </a:p>
        </p:txBody>
      </p:sp>
      <p:sp>
        <p:nvSpPr>
          <p:cNvPr id="18" name="Card"/>
          <p:cNvSpPr/>
          <p:nvPr/>
        </p:nvSpPr>
        <p:spPr>
          <a:xfrm>
            <a:off x="4261104" y="1783080"/>
            <a:ext cx="3639312" cy="1737360"/>
          </a:xfrm>
          <a:prstGeom prst="roundRect">
            <a:avLst>
              <a:gd name="adj" fmla="val 4211"/>
            </a:avLst>
          </a:prstGeom>
          <a:solidFill>
            <a:srgbClr val="E4F2EC"/>
          </a:solidFill>
          <a:ln w="9525">
            <a:solidFill>
              <a:srgbClr val="E4F2EC"/>
            </a:solidFill>
            <a:prstDash val="solid"/>
          </a:ln>
        </p:spPr>
      </p:sp>
      <p:sp>
        <p:nvSpPr>
          <p:cNvPr id="19" name="Text 17"/>
          <p:cNvSpPr txBox="1"/>
          <p:nvPr/>
        </p:nvSpPr>
        <p:spPr>
          <a:xfrm>
            <a:off x="4480560" y="1920240"/>
            <a:ext cx="32004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TOTAL, FULL-TIME</a:t>
            </a:r>
            <a:endParaRPr lang="en-US" sz="1000" dirty="0"/>
          </a:p>
        </p:txBody>
      </p:sp>
      <p:sp>
        <p:nvSpPr>
          <p:cNvPr id="20" name="Text 18"/>
          <p:cNvSpPr txBox="1"/>
          <p:nvPr/>
        </p:nvSpPr>
        <p:spPr>
          <a:xfrm>
            <a:off x="4480560" y="2194560"/>
            <a:ext cx="3291840" cy="502920"/>
          </a:xfrm>
          <a:prstGeom prst="rect">
            <a:avLst/>
          </a:prstGeom>
          <a:noFill/>
          <a:ln/>
        </p:spPr>
        <p:txBody>
          <a:bodyPr wrap="square" lIns="0" tIns="0" rIns="0" bIns="0" rtlCol="0" anchor="ctr"/>
          <a:lstStyle/>
          <a:p>
            <a:pPr indent="0" marL="0">
              <a:buNone/>
            </a:pPr>
            <a:r>
              <a:rPr lang="en-US" sz="2400" b="1" dirty="0">
                <a:solidFill>
                  <a:srgbClr val="1B2430"/>
                </a:solidFill>
                <a:latin typeface="Cambria" pitchFamily="34" charset="0"/>
                <a:ea typeface="Cambria" pitchFamily="34" charset="-122"/>
                <a:cs typeface="Cambria" pitchFamily="34" charset="-120"/>
              </a:rPr>
              <a:t>$2,500–$3,000</a:t>
            </a:r>
            <a:endParaRPr lang="en-US" sz="2400" dirty="0"/>
          </a:p>
        </p:txBody>
      </p:sp>
      <p:sp>
        <p:nvSpPr>
          <p:cNvPr id="21" name="Text 19"/>
          <p:cNvSpPr txBox="1"/>
          <p:nvPr/>
        </p:nvSpPr>
        <p:spPr>
          <a:xfrm>
            <a:off x="4480560" y="2743200"/>
            <a:ext cx="3246120" cy="731520"/>
          </a:xfrm>
          <a:prstGeom prst="rect">
            <a:avLst/>
          </a:prstGeom>
          <a:noFill/>
          <a:ln/>
        </p:spPr>
        <p:txBody>
          <a:bodyPr wrap="square" lIns="0" tIns="0" rIns="0" bIns="0" rtlCol="0" anchor="t"/>
          <a:lstStyle/>
          <a:p>
            <a:pPr indent="0" marL="0">
              <a:buNone/>
            </a:pPr>
            <a:r>
              <a:rPr lang="en-US" sz="1150" dirty="0">
                <a:solidFill>
                  <a:srgbClr val="1B2430"/>
                </a:solidFill>
                <a:latin typeface="Calibri" pitchFamily="34" charset="0"/>
                <a:ea typeface="Calibri" pitchFamily="34" charset="-122"/>
                <a:cs typeface="Calibri" pitchFamily="34" charset="-120"/>
              </a:rPr>
              <a:t>AUD / month incl. your Assistant’s rate, excl. GST. You see each candidate’s rate on their profile.</a:t>
            </a:r>
            <a:endParaRPr lang="en-US" sz="1150" dirty="0"/>
          </a:p>
        </p:txBody>
      </p:sp>
      <p:sp>
        <p:nvSpPr>
          <p:cNvPr id="22" name="Card"/>
          <p:cNvSpPr/>
          <p:nvPr/>
        </p:nvSpPr>
        <p:spPr>
          <a:xfrm>
            <a:off x="4261104" y="3657600"/>
            <a:ext cx="3639312" cy="2468880"/>
          </a:xfrm>
          <a:prstGeom prst="roundRect">
            <a:avLst>
              <a:gd name="adj" fmla="val 2963"/>
            </a:avLst>
          </a:prstGeom>
          <a:solidFill>
            <a:srgbClr val="F1F4F2"/>
          </a:solidFill>
          <a:ln w="9525">
            <a:solidFill>
              <a:srgbClr val="F1F4F2"/>
            </a:solidFill>
            <a:prstDash val="solid"/>
          </a:ln>
        </p:spPr>
      </p:sp>
      <p:sp>
        <p:nvSpPr>
          <p:cNvPr id="23" name="Text 21"/>
          <p:cNvSpPr txBox="1"/>
          <p:nvPr/>
        </p:nvSpPr>
        <p:spPr>
          <a:xfrm>
            <a:off x="4480560" y="3767328"/>
            <a:ext cx="32004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THINGS YOU ASKED ABOUT</a:t>
            </a:r>
            <a:endParaRPr lang="en-US" sz="1000" dirty="0"/>
          </a:p>
        </p:txBody>
      </p:sp>
      <p:sp>
        <p:nvSpPr>
          <p:cNvPr id="24" name="Text 22"/>
          <p:cNvSpPr txBox="1"/>
          <p:nvPr/>
        </p:nvSpPr>
        <p:spPr>
          <a:xfrm>
            <a:off x="4480560" y="4069080"/>
            <a:ext cx="3246120" cy="1920240"/>
          </a:xfrm>
          <a:prstGeom prst="rect">
            <a:avLst/>
          </a:prstGeom>
          <a:noFill/>
          <a:ln/>
        </p:spPr>
        <p:txBody>
          <a:bodyPr wrap="square" lIns="0" tIns="0" rIns="0" bIns="0" rtlCol="0" anchor="t"/>
          <a:lstStyle/>
          <a:p>
            <a:pPr indent="0" marL="0">
              <a:buNone/>
            </a:pPr>
            <a:r>
              <a:rPr lang="en-US" sz="1150" dirty="0">
                <a:solidFill>
                  <a:srgbClr val="1B2430"/>
                </a:solidFill>
                <a:latin typeface="Calibri" pitchFamily="34" charset="0"/>
                <a:ea typeface="Calibri" pitchFamily="34" charset="-122"/>
                <a:cs typeface="Calibri" pitchFamily="34" charset="-120"/>
              </a:rPr>
              <a:t>• Invoiced monthly, in AUD</a:t>
            </a:r>
            <a:endParaRPr lang="en-US" sz="1150" dirty="0"/>
          </a:p>
          <a:p>
            <a:pPr indent="0" marL="0">
              <a:buNone/>
            </a:pPr>
            <a:r>
              <a:rPr lang="en-US" sz="1150" dirty="0">
                <a:solidFill>
                  <a:srgbClr val="1B2430"/>
                </a:solidFill>
                <a:latin typeface="Calibri" pitchFamily="34" charset="0"/>
                <a:ea typeface="Calibri" pitchFamily="34" charset="-122"/>
                <a:cs typeface="Calibri" pitchFamily="34" charset="-120"/>
              </a:rPr>
              <a:t>• Backup power and internet required</a:t>
            </a:r>
            <a:endParaRPr lang="en-US" sz="1150" dirty="0"/>
          </a:p>
          <a:p>
            <a:pPr indent="0" marL="0">
              <a:buNone/>
            </a:pPr>
            <a:r>
              <a:rPr lang="en-US" sz="1150" dirty="0">
                <a:solidFill>
                  <a:srgbClr val="1B2430"/>
                </a:solidFill>
                <a:latin typeface="Calibri" pitchFamily="34" charset="0"/>
                <a:ea typeface="Calibri" pitchFamily="34" charset="-122"/>
                <a:cs typeface="Calibri" pitchFamily="34" charset="-120"/>
              </a:rPr>
              <a:t>• Pacific Indemnity cover</a:t>
            </a:r>
            <a:endParaRPr lang="en-US" sz="1150" dirty="0"/>
          </a:p>
          <a:p>
            <a:pPr indent="0" marL="0">
              <a:buNone/>
            </a:pPr>
            <a:r>
              <a:rPr lang="en-US" sz="1150" dirty="0">
                <a:solidFill>
                  <a:srgbClr val="1B2430"/>
                </a:solidFill>
                <a:latin typeface="Calibri" pitchFamily="34" charset="0"/>
                <a:ea typeface="Calibri" pitchFamily="34" charset="-122"/>
                <a:cs typeface="Calibri" pitchFamily="34" charset="-120"/>
              </a:rPr>
              <a:t>• No time-tracking by default; we can add one</a:t>
            </a:r>
            <a:endParaRPr lang="en-US" sz="1150" dirty="0"/>
          </a:p>
          <a:p>
            <a:pPr indent="0" marL="0">
              <a:buNone/>
            </a:pPr>
            <a:r>
              <a:rPr lang="en-US" sz="1150" dirty="0">
                <a:solidFill>
                  <a:srgbClr val="1B2430"/>
                </a:solidFill>
                <a:latin typeface="Calibri" pitchFamily="34" charset="0"/>
                <a:ea typeface="Calibri" pitchFamily="34" charset="-122"/>
                <a:cs typeface="Calibri" pitchFamily="34" charset="-120"/>
              </a:rPr>
              <a:t>• $500 refundable deposit (paid 1 Oct)</a:t>
            </a:r>
            <a:endParaRPr lang="en-US" sz="1150" dirty="0"/>
          </a:p>
        </p:txBody>
      </p:sp>
      <p:sp>
        <p:nvSpPr>
          <p:cNvPr id="25" name="Card"/>
          <p:cNvSpPr/>
          <p:nvPr/>
        </p:nvSpPr>
        <p:spPr>
          <a:xfrm>
            <a:off x="8065008" y="1783080"/>
            <a:ext cx="3657600" cy="1737360"/>
          </a:xfrm>
          <a:prstGeom prst="roundRect">
            <a:avLst>
              <a:gd name="adj" fmla="val 4211"/>
            </a:avLst>
          </a:prstGeom>
          <a:solidFill>
            <a:srgbClr val="F1F4F2"/>
          </a:solidFill>
          <a:ln w="9525">
            <a:solidFill>
              <a:srgbClr val="F1F4F2"/>
            </a:solidFill>
            <a:prstDash val="solid"/>
          </a:ln>
        </p:spPr>
      </p:sp>
      <p:sp>
        <p:nvSpPr>
          <p:cNvPr id="26" name="Text 24"/>
          <p:cNvSpPr txBox="1"/>
          <p:nvPr/>
        </p:nvSpPr>
        <p:spPr>
          <a:xfrm>
            <a:off x="8275320" y="1920240"/>
            <a:ext cx="32004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YOUR CHOICES</a:t>
            </a:r>
            <a:endParaRPr lang="en-US" sz="1000" dirty="0"/>
          </a:p>
        </p:txBody>
      </p:sp>
      <p:sp>
        <p:nvSpPr>
          <p:cNvPr id="27" name="Tick box: Add time-tracking software"/>
          <p:cNvSpPr txBox="1"/>
          <p:nvPr/>
        </p:nvSpPr>
        <p:spPr>
          <a:xfrm>
            <a:off x="8275320" y="225856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8" name="Text 26"/>
          <p:cNvSpPr txBox="1"/>
          <p:nvPr/>
        </p:nvSpPr>
        <p:spPr>
          <a:xfrm>
            <a:off x="8567928" y="2240280"/>
            <a:ext cx="2907792" cy="256032"/>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Add time-tracking software</a:t>
            </a:r>
            <a:endParaRPr lang="en-US" sz="1150" dirty="0"/>
          </a:p>
        </p:txBody>
      </p:sp>
      <p:sp>
        <p:nvSpPr>
          <p:cNvPr id="29" name="Tick box: Pay Philippine public holidays"/>
          <p:cNvSpPr txBox="1"/>
          <p:nvPr/>
        </p:nvSpPr>
        <p:spPr>
          <a:xfrm>
            <a:off x="8275320" y="2606040"/>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8567928" y="2587752"/>
            <a:ext cx="2907792" cy="256032"/>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Pay Philippine public holidays</a:t>
            </a:r>
            <a:endParaRPr lang="en-US" sz="1150" dirty="0"/>
          </a:p>
        </p:txBody>
      </p:sp>
      <p:sp>
        <p:nvSpPr>
          <p:cNvPr id="31" name="Tick box: Make up holiday hours instead"/>
          <p:cNvSpPr txBox="1"/>
          <p:nvPr/>
        </p:nvSpPr>
        <p:spPr>
          <a:xfrm>
            <a:off x="8275320" y="2953512"/>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2" name="Text 30"/>
          <p:cNvSpPr txBox="1"/>
          <p:nvPr/>
        </p:nvSpPr>
        <p:spPr>
          <a:xfrm>
            <a:off x="8567928" y="2935224"/>
            <a:ext cx="2907792" cy="256032"/>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Make up holiday hours instead</a:t>
            </a:r>
            <a:endParaRPr lang="en-US" sz="1150" dirty="0"/>
          </a:p>
        </p:txBody>
      </p:sp>
      <p:sp>
        <p:nvSpPr>
          <p:cNvPr id="33" name="Input: Questions about the investment"/>
          <p:cNvSpPr txBox="1"/>
          <p:nvPr/>
        </p:nvSpPr>
        <p:spPr>
          <a:xfrm>
            <a:off x="8065008" y="3657600"/>
            <a:ext cx="3657600" cy="24688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QUESTIONS ABOUT THE INVESTMENT</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Anything you’d like us to walk through again?</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01</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Day 1 setup checklist</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Assign an owner and a date to each item. Type X when done.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4206240"/>
                <a:gridCol w="1828800"/>
                <a:gridCol w="1463040"/>
                <a:gridCol w="1005840"/>
                <a:gridCol w="2770632"/>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Done by</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Done (X)</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Company email for the Assistant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GoHighLevel access (SME, large and solar pipelines)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Xero access, right permission level</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DocuSign and ClickUp access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Brokerage software login and vendor training booked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Tools &amp; logins spreadsheet shared</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Loom videos of the SME process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02336">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WhatsApp set up for day-to-day messages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Text 8"/>
          <p:cNvSpPr txBox="1"/>
          <p:nvPr/>
        </p:nvSpPr>
        <p:spPr>
          <a:xfrm>
            <a:off x="457200" y="5532120"/>
            <a:ext cx="11247120" cy="54864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You already have a tools and logins spreadsheet in the administration folder, and planned Loom videos of the process.</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02</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First 90 days</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Learning, then owning, then operating. Set your own goal for each stage.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FFFFFF"/>
          </a:solidFill>
          <a:ln w="9525">
            <a:solidFill>
              <a:srgbClr val="DDE4E0"/>
            </a:solidFill>
            <a:prstDash val="solid"/>
          </a:ln>
        </p:spPr>
      </p:sp>
      <p:sp>
        <p:nvSpPr>
          <p:cNvPr id="11" name="Text 9"/>
          <p:cNvSpPr txBox="1"/>
          <p:nvPr/>
        </p:nvSpPr>
        <p:spPr>
          <a:xfrm>
            <a:off x="685800"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DAYS 1–30</a:t>
            </a:r>
            <a:endParaRPr lang="en-US" sz="1000" dirty="0"/>
          </a:p>
        </p:txBody>
      </p:sp>
      <p:sp>
        <p:nvSpPr>
          <p:cNvPr id="12" name="Text 10"/>
          <p:cNvSpPr txBox="1"/>
          <p:nvPr/>
        </p:nvSpPr>
        <p:spPr>
          <a:xfrm>
            <a:off x="685800" y="2194560"/>
            <a:ext cx="32004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Learn the SME process</a:t>
            </a:r>
            <a:endParaRPr lang="en-US" sz="1700" dirty="0"/>
          </a:p>
        </p:txBody>
      </p:sp>
      <p:sp>
        <p:nvSpPr>
          <p:cNvPr id="13" name="Text 11"/>
          <p:cNvSpPr txBox="1"/>
          <p:nvPr/>
        </p:nvSpPr>
        <p:spPr>
          <a:xfrm>
            <a:off x="685800" y="2651760"/>
            <a:ext cx="3200400" cy="1280160"/>
          </a:xfrm>
          <a:prstGeom prst="rect">
            <a:avLst/>
          </a:prstGeom>
          <a:noFill/>
          <a:ln/>
        </p:spPr>
        <p:txBody>
          <a:bodyPr wrap="square" lIns="0" tIns="0" rIns="0" bIns="0" rtlCol="0" anchor="t"/>
          <a:lstStyle/>
          <a:p>
            <a:pPr indent="0" marL="0">
              <a:buNone/>
            </a:pPr>
            <a:r>
              <a:rPr lang="en-US" sz="1250" dirty="0">
                <a:solidFill>
                  <a:srgbClr val="4A5563"/>
                </a:solidFill>
                <a:latin typeface="Calibri" pitchFamily="34" charset="0"/>
                <a:ea typeface="Calibri" pitchFamily="34" charset="-122"/>
                <a:cs typeface="Calibri" pitchFamily="34" charset="-120"/>
              </a:rPr>
              <a:t>Tom’s Looms and SOPs, bill terms, GoHighLevel, Xero and DocuSign. Produce reports and contracts, every one reviewed before it goes out.</a:t>
            </a:r>
            <a:endParaRPr lang="en-US" sz="1250" dirty="0"/>
          </a:p>
        </p:txBody>
      </p:sp>
      <p:sp>
        <p:nvSpPr>
          <p:cNvPr id="14" name="Input: Your goal for this stage"/>
          <p:cNvSpPr txBox="1"/>
          <p:nvPr/>
        </p:nvSpPr>
        <p:spPr>
          <a:xfrm>
            <a:off x="685800" y="4023360"/>
            <a:ext cx="3182112"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GOAL FOR THIS STAGE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What would make you happy by day 30?</a:t>
            </a:r>
            <a:endParaRPr lang="en-US" sz="900" dirty="0"/>
          </a:p>
        </p:txBody>
      </p:sp>
      <p:sp>
        <p:nvSpPr>
          <p:cNvPr id="15" name="Tick box: Achieved (tick at review)"/>
          <p:cNvSpPr txBox="1"/>
          <p:nvPr/>
        </p:nvSpPr>
        <p:spPr>
          <a:xfrm>
            <a:off x="685800"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6" name="Text 14"/>
          <p:cNvSpPr txBox="1"/>
          <p:nvPr/>
        </p:nvSpPr>
        <p:spPr>
          <a:xfrm>
            <a:off x="978408" y="5577840"/>
            <a:ext cx="28163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Achieved (tick at review)</a:t>
            </a:r>
            <a:endParaRPr lang="en-US" sz="1100" dirty="0"/>
          </a:p>
        </p:txBody>
      </p:sp>
      <p:sp>
        <p:nvSpPr>
          <p:cNvPr id="17" name="Card"/>
          <p:cNvSpPr/>
          <p:nvPr/>
        </p:nvSpPr>
        <p:spPr>
          <a:xfrm>
            <a:off x="4261104" y="1783080"/>
            <a:ext cx="3639312" cy="4343400"/>
          </a:xfrm>
          <a:prstGeom prst="roundRect">
            <a:avLst>
              <a:gd name="adj" fmla="val 2010"/>
            </a:avLst>
          </a:prstGeom>
          <a:solidFill>
            <a:srgbClr val="FFFFFF"/>
          </a:solidFill>
          <a:ln w="9525">
            <a:solidFill>
              <a:srgbClr val="DDE4E0"/>
            </a:solidFill>
            <a:prstDash val="solid"/>
          </a:ln>
        </p:spPr>
      </p:sp>
      <p:sp>
        <p:nvSpPr>
          <p:cNvPr id="18" name="Text 16"/>
          <p:cNvSpPr txBox="1"/>
          <p:nvPr/>
        </p:nvSpPr>
        <p:spPr>
          <a:xfrm>
            <a:off x="4489704"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DAYS 31–60</a:t>
            </a:r>
            <a:endParaRPr lang="en-US" sz="1000" dirty="0"/>
          </a:p>
        </p:txBody>
      </p:sp>
      <p:sp>
        <p:nvSpPr>
          <p:cNvPr id="19" name="Text 17"/>
          <p:cNvSpPr txBox="1"/>
          <p:nvPr/>
        </p:nvSpPr>
        <p:spPr>
          <a:xfrm>
            <a:off x="4489704" y="2194560"/>
            <a:ext cx="32004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Own SME</a:t>
            </a:r>
            <a:endParaRPr lang="en-US" sz="1700" dirty="0"/>
          </a:p>
        </p:txBody>
      </p:sp>
      <p:sp>
        <p:nvSpPr>
          <p:cNvPr id="20" name="Text 18"/>
          <p:cNvSpPr txBox="1"/>
          <p:nvPr/>
        </p:nvSpPr>
        <p:spPr>
          <a:xfrm>
            <a:off x="4489704" y="2651760"/>
            <a:ext cx="3200400" cy="1280160"/>
          </a:xfrm>
          <a:prstGeom prst="rect">
            <a:avLst/>
          </a:prstGeom>
          <a:noFill/>
          <a:ln/>
        </p:spPr>
        <p:txBody>
          <a:bodyPr wrap="square" lIns="0" tIns="0" rIns="0" bIns="0" rtlCol="0" anchor="t"/>
          <a:lstStyle/>
          <a:p>
            <a:pPr indent="0" marL="0">
              <a:buNone/>
            </a:pPr>
            <a:r>
              <a:rPr lang="en-US" sz="1250" dirty="0">
                <a:solidFill>
                  <a:srgbClr val="4A5563"/>
                </a:solidFill>
                <a:latin typeface="Calibri" pitchFamily="34" charset="0"/>
                <a:ea typeface="Calibri" pitchFamily="34" charset="-122"/>
                <a:cs typeface="Calibri" pitchFamily="34" charset="-120"/>
              </a:rPr>
              <a:t>Comparisons, contracts, LOAs and draft invoicing owned. Start C&amp;I account setup and handle routine retailer emails alone.</a:t>
            </a:r>
            <a:endParaRPr lang="en-US" sz="1250" dirty="0"/>
          </a:p>
        </p:txBody>
      </p:sp>
      <p:sp>
        <p:nvSpPr>
          <p:cNvPr id="21" name="Input: Your goal for this stage"/>
          <p:cNvSpPr txBox="1"/>
          <p:nvPr/>
        </p:nvSpPr>
        <p:spPr>
          <a:xfrm>
            <a:off x="4489704" y="4023360"/>
            <a:ext cx="3182112"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GOAL FOR THIS STAGE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What would make you happy by day 60?</a:t>
            </a:r>
            <a:endParaRPr lang="en-US" sz="900" dirty="0"/>
          </a:p>
        </p:txBody>
      </p:sp>
      <p:sp>
        <p:nvSpPr>
          <p:cNvPr id="22" name="Tick box: Achieved (tick at review)"/>
          <p:cNvSpPr txBox="1"/>
          <p:nvPr/>
        </p:nvSpPr>
        <p:spPr>
          <a:xfrm>
            <a:off x="4489704"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3" name="Text 21"/>
          <p:cNvSpPr txBox="1"/>
          <p:nvPr/>
        </p:nvSpPr>
        <p:spPr>
          <a:xfrm>
            <a:off x="4782312" y="5577840"/>
            <a:ext cx="28163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Achieved (tick at review)</a:t>
            </a:r>
            <a:endParaRPr lang="en-US" sz="1100" dirty="0"/>
          </a:p>
        </p:txBody>
      </p:sp>
      <p:sp>
        <p:nvSpPr>
          <p:cNvPr id="24" name="Card"/>
          <p:cNvSpPr/>
          <p:nvPr/>
        </p:nvSpPr>
        <p:spPr>
          <a:xfrm>
            <a:off x="8065008" y="1783080"/>
            <a:ext cx="3639312" cy="4343400"/>
          </a:xfrm>
          <a:prstGeom prst="roundRect">
            <a:avLst>
              <a:gd name="adj" fmla="val 2010"/>
            </a:avLst>
          </a:prstGeom>
          <a:solidFill>
            <a:srgbClr val="FFFFFF"/>
          </a:solidFill>
          <a:ln w="9525">
            <a:solidFill>
              <a:srgbClr val="DDE4E0"/>
            </a:solidFill>
            <a:prstDash val="solid"/>
          </a:ln>
        </p:spPr>
      </p:sp>
      <p:sp>
        <p:nvSpPr>
          <p:cNvPr id="25" name="Text 23"/>
          <p:cNvSpPr txBox="1"/>
          <p:nvPr/>
        </p:nvSpPr>
        <p:spPr>
          <a:xfrm>
            <a:off x="8293608"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DAYS 61–90</a:t>
            </a:r>
            <a:endParaRPr lang="en-US" sz="1000" dirty="0"/>
          </a:p>
        </p:txBody>
      </p:sp>
      <p:sp>
        <p:nvSpPr>
          <p:cNvPr id="26" name="Text 24"/>
          <p:cNvSpPr txBox="1"/>
          <p:nvPr/>
        </p:nvSpPr>
        <p:spPr>
          <a:xfrm>
            <a:off x="8293608" y="2194560"/>
            <a:ext cx="3200400" cy="3657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Operate</a:t>
            </a:r>
            <a:endParaRPr lang="en-US" sz="1700" dirty="0"/>
          </a:p>
        </p:txBody>
      </p:sp>
      <p:sp>
        <p:nvSpPr>
          <p:cNvPr id="27" name="Text 25"/>
          <p:cNvSpPr txBox="1"/>
          <p:nvPr/>
        </p:nvSpPr>
        <p:spPr>
          <a:xfrm>
            <a:off x="8293608" y="2651760"/>
            <a:ext cx="3200400" cy="1280160"/>
          </a:xfrm>
          <a:prstGeom prst="rect">
            <a:avLst/>
          </a:prstGeom>
          <a:noFill/>
          <a:ln/>
        </p:spPr>
        <p:txBody>
          <a:bodyPr wrap="square" lIns="0" tIns="0" rIns="0" bIns="0" rtlCol="0" anchor="t"/>
          <a:lstStyle/>
          <a:p>
            <a:pPr indent="0" marL="0">
              <a:buNone/>
            </a:pPr>
            <a:r>
              <a:rPr lang="en-US" sz="1250" dirty="0">
                <a:solidFill>
                  <a:srgbClr val="4A5563"/>
                </a:solidFill>
                <a:latin typeface="Calibri" pitchFamily="34" charset="0"/>
                <a:ea typeface="Calibri" pitchFamily="34" charset="-122"/>
                <a:cs typeface="Calibri" pitchFamily="34" charset="-120"/>
              </a:rPr>
              <a:t>The SME process is fully off Tom’s plate. Supporting C&amp;I tenders and solar bookings, and proposing a first improvement.</a:t>
            </a:r>
            <a:endParaRPr lang="en-US" sz="1250" dirty="0"/>
          </a:p>
        </p:txBody>
      </p:sp>
      <p:sp>
        <p:nvSpPr>
          <p:cNvPr id="28" name="Input: Your goal for this stage"/>
          <p:cNvSpPr txBox="1"/>
          <p:nvPr/>
        </p:nvSpPr>
        <p:spPr>
          <a:xfrm>
            <a:off x="8293608" y="4023360"/>
            <a:ext cx="3182112" cy="13716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GOAL FOR THIS STAGE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What would make you happy by day 90?</a:t>
            </a:r>
            <a:endParaRPr lang="en-US" sz="900" dirty="0"/>
          </a:p>
        </p:txBody>
      </p:sp>
      <p:sp>
        <p:nvSpPr>
          <p:cNvPr id="29" name="Tick box: Achieved (tick at review)"/>
          <p:cNvSpPr txBox="1"/>
          <p:nvPr/>
        </p:nvSpPr>
        <p:spPr>
          <a:xfrm>
            <a:off x="8293608" y="559612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8586216" y="5577840"/>
            <a:ext cx="2816352" cy="256032"/>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Achieved (tick at review)</a:t>
            </a:r>
            <a:endParaRPr lang="en-US" sz="11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03</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Working with Tom</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Fill this in together with your Assistant in Week 1. It becomes their guide to you.</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Input: How you like updates"/>
          <p:cNvSpPr txBox="1"/>
          <p:nvPr/>
        </p:nvSpPr>
        <p:spPr>
          <a:xfrm>
            <a:off x="457200" y="17830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HOW YOU LIKE UPDATES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Format and time of day…</a:t>
            </a:r>
            <a:endParaRPr lang="en-US" sz="900" dirty="0"/>
          </a:p>
        </p:txBody>
      </p:sp>
      <p:sp>
        <p:nvSpPr>
          <p:cNvPr id="11" name="Input: When to interrupt you"/>
          <p:cNvSpPr txBox="1"/>
          <p:nvPr/>
        </p:nvSpPr>
        <p:spPr>
          <a:xfrm>
            <a:off x="4261104" y="17830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WHEN TO INTERRUPT YOU</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And when to wait…</a:t>
            </a:r>
            <a:endParaRPr lang="en-US" sz="900" dirty="0"/>
          </a:p>
        </p:txBody>
      </p:sp>
      <p:sp>
        <p:nvSpPr>
          <p:cNvPr id="12" name="Input: Tone with clients &amp; retailers"/>
          <p:cNvSpPr txBox="1"/>
          <p:nvPr/>
        </p:nvSpPr>
        <p:spPr>
          <a:xfrm>
            <a:off x="8065008" y="17830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TONE WITH CLIENTS &amp; RETAILERS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Sign-off, formality…</a:t>
            </a:r>
            <a:endParaRPr lang="en-US" sz="900" dirty="0"/>
          </a:p>
        </p:txBody>
      </p:sp>
      <p:sp>
        <p:nvSpPr>
          <p:cNvPr id="13" name="Input: Decisions they make alone"/>
          <p:cNvSpPr txBox="1"/>
          <p:nvPr/>
        </p:nvSpPr>
        <p:spPr>
          <a:xfrm>
            <a:off x="457200" y="36118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DECISIONS THEY MAKE ALONE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Without asking you first…</a:t>
            </a:r>
            <a:endParaRPr lang="en-US" sz="900" dirty="0"/>
          </a:p>
        </p:txBody>
      </p:sp>
      <p:sp>
        <p:nvSpPr>
          <p:cNvPr id="14" name="Input: Pet peeves"/>
          <p:cNvSpPr txBox="1"/>
          <p:nvPr/>
        </p:nvSpPr>
        <p:spPr>
          <a:xfrm>
            <a:off x="4261104" y="36118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PET PEEVES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Things to always avoid…</a:t>
            </a:r>
            <a:endParaRPr lang="en-US" sz="900" dirty="0"/>
          </a:p>
        </p:txBody>
      </p:sp>
      <p:sp>
        <p:nvSpPr>
          <p:cNvPr id="15" name="Input: The Assistant’s own goals"/>
          <p:cNvSpPr txBox="1"/>
          <p:nvPr/>
        </p:nvSpPr>
        <p:spPr>
          <a:xfrm>
            <a:off x="8065008" y="3611880"/>
            <a:ext cx="3639312" cy="16916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THE ASSISTANT’S OWN GOALS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For their first 6 months…</a:t>
            </a:r>
            <a:endParaRPr lang="en-US" sz="900" dirty="0"/>
          </a:p>
        </p:txBody>
      </p:sp>
      <p:sp>
        <p:nvSpPr>
          <p:cNvPr id="16" name="Card"/>
          <p:cNvSpPr/>
          <p:nvPr/>
        </p:nvSpPr>
        <p:spPr>
          <a:xfrm>
            <a:off x="457200" y="5532120"/>
            <a:ext cx="11274552" cy="594360"/>
          </a:xfrm>
          <a:prstGeom prst="roundRect">
            <a:avLst>
              <a:gd name="adj" fmla="val 12308"/>
            </a:avLst>
          </a:prstGeom>
          <a:solidFill>
            <a:srgbClr val="E4F2EC"/>
          </a:solidFill>
          <a:ln w="9525">
            <a:solidFill>
              <a:srgbClr val="E4F2EC"/>
            </a:solidFill>
            <a:prstDash val="solid"/>
          </a:ln>
        </p:spPr>
      </p:sp>
      <p:sp>
        <p:nvSpPr>
          <p:cNvPr id="17" name="Text 15"/>
          <p:cNvSpPr txBox="1"/>
          <p:nvPr/>
        </p:nvSpPr>
        <p:spPr>
          <a:xfrm>
            <a:off x="685800" y="5623560"/>
            <a:ext cx="10789920" cy="41148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Already known: you track performance through EOS, talk work through on WhatsApp (often in the first hour of the day), and want mistakes owned straight away.</a:t>
            </a:r>
            <a:endParaRPr lang="en-US" sz="125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04</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Freedom Scorecard</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Fill this in together at each milestone review.</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4206240"/>
                <a:gridCol w="1371600"/>
                <a:gridCol w="1417320"/>
                <a:gridCol w="1417320"/>
                <a:gridCol w="1417320"/>
                <a:gridCol w="1444752"/>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Start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Day 30</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Day 90</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Month 6</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Month 12</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SME comparison reports sent same day (%)</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SME process steps Tom still does himself</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b="1" dirty="0">
                          <a:solidFill>
                            <a:srgbClr val="B26B0E"/>
                          </a:solidFill>
                          <a:latin typeface="Calibri" pitchFamily="34" charset="0"/>
                          <a:ea typeface="Calibri" pitchFamily="34" charset="-122"/>
                          <a:cs typeface="Calibri" pitchFamily="34" charset="-120"/>
                        </a:rPr>
                        <a:t>All 9</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Report or contract errors caught by Tom this month</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Leads stalled over 3 business days</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Freedom Stage (1–5)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r>
                        <a:rPr lang="en-US" sz="1100" b="1" dirty="0">
                          <a:solidFill>
                            <a:srgbClr val="B26B0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Assistant self-rating (1–5)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45720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Tom’s satisfaction (1–5)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Text 8"/>
          <p:cNvSpPr txBox="1"/>
          <p:nvPr/>
        </p:nvSpPr>
        <p:spPr>
          <a:xfrm>
            <a:off x="457200" y="5577840"/>
            <a:ext cx="10972800" cy="36576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Targets: Freedom Stage 3 (Outcome Owner) by Day 90 and 5 (Freedom) by Month 6.</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05</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Monthly KPI check-in</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Once a month with your Assistant or Account Manager: type ✓ for met, ✗ for not yet.</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496312"/>
                <a:gridCol w="731520"/>
                <a:gridCol w="731520"/>
                <a:gridCol w="731520"/>
                <a:gridCol w="731520"/>
                <a:gridCol w="731520"/>
                <a:gridCol w="731520"/>
                <a:gridCol w="731520"/>
                <a:gridCol w="731520"/>
                <a:gridCol w="731520"/>
                <a:gridCol w="731520"/>
                <a:gridCol w="731520"/>
                <a:gridCol w="73152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KPI</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M2</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M3</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M4</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M5</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M6</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M7</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M8</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M9</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M10</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M11</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M12</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187A5E"/>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Speed to client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Data accuracy</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Pipeline follow-through</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C&amp;I &amp; solar delivery</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r h="502920">
                <a:tc>
                  <a:txBody>
                    <a:bodyPr/>
                    <a:lstStyle/>
                    <a:p>
                      <a:pPr indent="0" marL="0">
                        <a:buNone/>
                      </a:pPr>
                      <a:r>
                        <a:rPr lang="en-US" sz="1100" b="1" dirty="0">
                          <a:solidFill>
                            <a:srgbClr val="1B2430"/>
                          </a:solidFill>
                          <a:latin typeface="Calibri" pitchFamily="34" charset="0"/>
                          <a:ea typeface="Calibri" pitchFamily="34" charset="-122"/>
                          <a:cs typeface="Calibri" pitchFamily="34" charset="-120"/>
                        </a:rPr>
                        <a:t>SOPs &amp; improvement</a:t>
                      </a: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c>
                  <a:txBody>
                    <a:bodyPr/>
                    <a:lstStyle/>
                    <a:p>
                      <a:pPr indent="0" marL="0">
                        <a:buNone/>
                      </a:pPr>
                      <a:endParaRPr lang="en-US" sz="1100" dirty="0">
                        <a:latin typeface="Calibri" charset="0"/>
                        <a:ea typeface="Calibri" charset="0"/>
                        <a:cs typeface="Calibri" charset="0"/>
                      </a:endParaRPr>
                    </a:p>
                  </a:txBody>
                  <a:tcPr marL="76200" marR="76200" marT="38100" marB="38100" anchor="ctr">
                    <a:lnL w="9525" cap="flat" cmpd="sng" algn="ctr">
                      <a:solidFill>
                        <a:srgbClr val="DDE4E0"/>
                      </a:solidFill>
                      <a:prstDash val="solid"/>
                      <a:round/>
                      <a:headEnd type="none" w="med" len="med"/>
                      <a:tailEnd type="none" w="med" len="med"/>
                    </a:lnL>
                    <a:lnR w="9525" cap="flat" cmpd="sng" algn="ctr">
                      <a:solidFill>
                        <a:srgbClr val="DDE4E0"/>
                      </a:solidFill>
                      <a:prstDash val="solid"/>
                      <a:round/>
                      <a:headEnd type="none" w="med" len="med"/>
                      <a:tailEnd type="none" w="med" len="med"/>
                    </a:lnR>
                    <a:lnT w="9525" cap="flat" cmpd="sng" algn="ctr">
                      <a:solidFill>
                        <a:srgbClr val="DDE4E0"/>
                      </a:solidFill>
                      <a:prstDash val="solid"/>
                      <a:round/>
                      <a:headEnd type="none" w="med" len="med"/>
                      <a:tailEnd type="none" w="med" len="med"/>
                    </a:lnT>
                    <a:lnB w="9525" cap="flat" cmpd="sng" algn="ctr">
                      <a:solidFill>
                        <a:srgbClr val="DDE4E0"/>
                      </a:solidFill>
                      <a:prstDash val="solid"/>
                      <a:round/>
                      <a:headEnd type="none" w="med" len="med"/>
                      <a:tailEnd type="none" w="med" len="med"/>
                    </a:lnB>
                    <a:solidFill>
                      <a:srgbClr val="FFF6E8"/>
                    </a:solidFill>
                  </a:tcPr>
                </a:tc>
              </a:tr>
            </a:tbl>
          </a:graphicData>
        </a:graphic>
      </p:graphicFrame>
      <p:sp>
        <p:nvSpPr>
          <p:cNvPr id="11" name="Input: This month’s note"/>
          <p:cNvSpPr txBox="1"/>
          <p:nvPr/>
        </p:nvSpPr>
        <p:spPr>
          <a:xfrm>
            <a:off x="457200" y="4983480"/>
            <a:ext cx="7498080"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THIS MONTH’S NOTE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What went well, what to change, any support needed…</a:t>
            </a:r>
            <a:endParaRPr lang="en-US" sz="900" dirty="0"/>
          </a:p>
        </p:txBody>
      </p:sp>
      <p:sp>
        <p:nvSpPr>
          <p:cNvPr id="12" name="Card"/>
          <p:cNvSpPr/>
          <p:nvPr/>
        </p:nvSpPr>
        <p:spPr>
          <a:xfrm>
            <a:off x="8092440" y="4983480"/>
            <a:ext cx="3639312" cy="1143000"/>
          </a:xfrm>
          <a:prstGeom prst="roundRect">
            <a:avLst>
              <a:gd name="adj" fmla="val 6400"/>
            </a:avLst>
          </a:prstGeom>
          <a:solidFill>
            <a:srgbClr val="E4F2EC"/>
          </a:solidFill>
          <a:ln w="9525">
            <a:solidFill>
              <a:srgbClr val="E4F2EC"/>
            </a:solidFill>
            <a:prstDash val="solid"/>
          </a:ln>
        </p:spPr>
      </p:sp>
      <p:sp>
        <p:nvSpPr>
          <p:cNvPr id="13" name="Text 10"/>
          <p:cNvSpPr txBox="1"/>
          <p:nvPr/>
        </p:nvSpPr>
        <p:spPr>
          <a:xfrm>
            <a:off x="8275320" y="5074920"/>
            <a:ext cx="3291840" cy="960120"/>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Two “not yet” months in a row? Raise it with your Account Manager. We’ll coach, adjust the plan, or step in.</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PART B  ·  06</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Delegation board</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Move items across at each review by retyping them. Add new ones any time.</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3639312" cy="4343400"/>
          </a:xfrm>
          <a:prstGeom prst="roundRect">
            <a:avLst>
              <a:gd name="adj" fmla="val 2010"/>
            </a:avLst>
          </a:prstGeom>
          <a:solidFill>
            <a:srgbClr val="E4F2EC"/>
          </a:solidFill>
          <a:ln w="9525">
            <a:solidFill>
              <a:srgbClr val="E4F2EC"/>
            </a:solidFill>
            <a:prstDash val="solid"/>
          </a:ln>
        </p:spPr>
      </p:sp>
      <p:sp>
        <p:nvSpPr>
          <p:cNvPr id="11" name="Text 9"/>
          <p:cNvSpPr txBox="1"/>
          <p:nvPr/>
        </p:nvSpPr>
        <p:spPr>
          <a:xfrm>
            <a:off x="685800"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DELEGATED</a:t>
            </a:r>
            <a:endParaRPr lang="en-US" sz="1000" dirty="0"/>
          </a:p>
        </p:txBody>
      </p:sp>
      <p:sp>
        <p:nvSpPr>
          <p:cNvPr id="12" name="Text 10"/>
          <p:cNvSpPr txBox="1"/>
          <p:nvPr/>
        </p:nvSpPr>
        <p:spPr>
          <a:xfrm>
            <a:off x="685800" y="2286000"/>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SME comparison reports</a:t>
            </a:r>
            <a:endParaRPr lang="en-US" sz="1200" dirty="0"/>
          </a:p>
        </p:txBody>
      </p:sp>
      <p:sp>
        <p:nvSpPr>
          <p:cNvPr id="13" name="Text 11"/>
          <p:cNvSpPr txBox="1"/>
          <p:nvPr/>
        </p:nvSpPr>
        <p:spPr>
          <a:xfrm>
            <a:off x="685800" y="2852928"/>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Contracts, LOAs &amp; DocuSign</a:t>
            </a:r>
            <a:endParaRPr lang="en-US" sz="1200" dirty="0"/>
          </a:p>
        </p:txBody>
      </p:sp>
      <p:sp>
        <p:nvSpPr>
          <p:cNvPr id="14" name="Text 12"/>
          <p:cNvSpPr txBox="1"/>
          <p:nvPr/>
        </p:nvSpPr>
        <p:spPr>
          <a:xfrm>
            <a:off x="685800" y="3419856"/>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Draft commission invoicing in Xero</a:t>
            </a:r>
            <a:endParaRPr lang="en-US" sz="1200" dirty="0"/>
          </a:p>
        </p:txBody>
      </p:sp>
      <p:sp>
        <p:nvSpPr>
          <p:cNvPr id="15" name="Input: Add an item"/>
          <p:cNvSpPr txBox="1"/>
          <p:nvPr/>
        </p:nvSpPr>
        <p:spPr>
          <a:xfrm>
            <a:off x="685800" y="406908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16" name="Input: Add an item"/>
          <p:cNvSpPr txBox="1"/>
          <p:nvPr/>
        </p:nvSpPr>
        <p:spPr>
          <a:xfrm>
            <a:off x="685800" y="507492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17" name="Card"/>
          <p:cNvSpPr/>
          <p:nvPr/>
        </p:nvSpPr>
        <p:spPr>
          <a:xfrm>
            <a:off x="4261104" y="1783080"/>
            <a:ext cx="3639312" cy="4343400"/>
          </a:xfrm>
          <a:prstGeom prst="roundRect">
            <a:avLst>
              <a:gd name="adj" fmla="val 2010"/>
            </a:avLst>
          </a:prstGeom>
          <a:solidFill>
            <a:srgbClr val="F1F4F2"/>
          </a:solidFill>
          <a:ln w="9525">
            <a:solidFill>
              <a:srgbClr val="F1F4F2"/>
            </a:solidFill>
            <a:prstDash val="solid"/>
          </a:ln>
        </p:spPr>
      </p:sp>
      <p:sp>
        <p:nvSpPr>
          <p:cNvPr id="18" name="Text 16"/>
          <p:cNvSpPr txBox="1"/>
          <p:nvPr/>
        </p:nvSpPr>
        <p:spPr>
          <a:xfrm>
            <a:off x="4489704"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IN PROGRESS</a:t>
            </a:r>
            <a:endParaRPr lang="en-US" sz="1000" dirty="0"/>
          </a:p>
        </p:txBody>
      </p:sp>
      <p:sp>
        <p:nvSpPr>
          <p:cNvPr id="19" name="Text 17"/>
          <p:cNvSpPr txBox="1"/>
          <p:nvPr/>
        </p:nvSpPr>
        <p:spPr>
          <a:xfrm>
            <a:off x="4489704" y="2286000"/>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GoHighLevel pipeline updates</a:t>
            </a:r>
            <a:endParaRPr lang="en-US" sz="1200" dirty="0"/>
          </a:p>
        </p:txBody>
      </p:sp>
      <p:sp>
        <p:nvSpPr>
          <p:cNvPr id="20" name="Text 18"/>
          <p:cNvSpPr txBox="1"/>
          <p:nvPr/>
        </p:nvSpPr>
        <p:spPr>
          <a:xfrm>
            <a:off x="4489704" y="2852928"/>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C&amp;I account &amp; data setup</a:t>
            </a:r>
            <a:endParaRPr lang="en-US" sz="1200" dirty="0"/>
          </a:p>
        </p:txBody>
      </p:sp>
      <p:sp>
        <p:nvSpPr>
          <p:cNvPr id="21" name="Text 19"/>
          <p:cNvSpPr txBox="1"/>
          <p:nvPr/>
        </p:nvSpPr>
        <p:spPr>
          <a:xfrm>
            <a:off x="4489704" y="3419856"/>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Retailer &amp; metering data chasing</a:t>
            </a:r>
            <a:endParaRPr lang="en-US" sz="1200" dirty="0"/>
          </a:p>
        </p:txBody>
      </p:sp>
      <p:sp>
        <p:nvSpPr>
          <p:cNvPr id="22" name="Input: Add an item"/>
          <p:cNvSpPr txBox="1"/>
          <p:nvPr/>
        </p:nvSpPr>
        <p:spPr>
          <a:xfrm>
            <a:off x="4489704" y="406908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23" name="Input: Add an item"/>
          <p:cNvSpPr txBox="1"/>
          <p:nvPr/>
        </p:nvSpPr>
        <p:spPr>
          <a:xfrm>
            <a:off x="4489704" y="507492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24" name="Card"/>
          <p:cNvSpPr/>
          <p:nvPr/>
        </p:nvSpPr>
        <p:spPr>
          <a:xfrm>
            <a:off x="8065008" y="1783080"/>
            <a:ext cx="3639312" cy="4343400"/>
          </a:xfrm>
          <a:prstGeom prst="roundRect">
            <a:avLst>
              <a:gd name="adj" fmla="val 2010"/>
            </a:avLst>
          </a:prstGeom>
          <a:solidFill>
            <a:srgbClr val="FFFFFF"/>
          </a:solidFill>
          <a:ln w="9525">
            <a:solidFill>
              <a:srgbClr val="DDE4E0"/>
            </a:solidFill>
            <a:prstDash val="solid"/>
          </a:ln>
        </p:spPr>
      </p:sp>
      <p:sp>
        <p:nvSpPr>
          <p:cNvPr id="25" name="Text 23"/>
          <p:cNvSpPr txBox="1"/>
          <p:nvPr/>
        </p:nvSpPr>
        <p:spPr>
          <a:xfrm>
            <a:off x="8293608" y="1920240"/>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NEXT TO DELEGATE</a:t>
            </a:r>
            <a:endParaRPr lang="en-US" sz="1000" dirty="0"/>
          </a:p>
        </p:txBody>
      </p:sp>
      <p:sp>
        <p:nvSpPr>
          <p:cNvPr id="26" name="Text 24"/>
          <p:cNvSpPr txBox="1"/>
          <p:nvPr/>
        </p:nvSpPr>
        <p:spPr>
          <a:xfrm>
            <a:off x="8293608" y="2286000"/>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C&amp;I tender compilation</a:t>
            </a:r>
            <a:endParaRPr lang="en-US" sz="1200" dirty="0"/>
          </a:p>
        </p:txBody>
      </p:sp>
      <p:sp>
        <p:nvSpPr>
          <p:cNvPr id="27" name="Text 25"/>
          <p:cNvSpPr txBox="1"/>
          <p:nvPr/>
        </p:nvSpPr>
        <p:spPr>
          <a:xfrm>
            <a:off x="8293608" y="2852928"/>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Solar supplier &amp; freight bookings</a:t>
            </a:r>
            <a:endParaRPr lang="en-US" sz="1200" dirty="0"/>
          </a:p>
        </p:txBody>
      </p:sp>
      <p:sp>
        <p:nvSpPr>
          <p:cNvPr id="28" name="Text 26"/>
          <p:cNvSpPr txBox="1"/>
          <p:nvPr/>
        </p:nvSpPr>
        <p:spPr>
          <a:xfrm>
            <a:off x="8293608" y="3419856"/>
            <a:ext cx="3182112" cy="457200"/>
          </a:xfrm>
          <a:prstGeom prst="roundRect">
            <a:avLst>
              <a:gd name="adj" fmla="val 12000"/>
            </a:avLst>
          </a:prstGeom>
          <a:solidFill>
            <a:srgbClr val="FFFFFF"/>
          </a:solidFill>
          <a:ln w="9525">
            <a:solidFill>
              <a:srgbClr val="DDE4E0"/>
            </a:solidFill>
          </a:ln>
        </p:spPr>
        <p:txBody>
          <a:bodyPr wrap="square" lIns="0" tIns="101600" rIns="10160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First calls to warm SME leads</a:t>
            </a:r>
            <a:endParaRPr lang="en-US" sz="1200" dirty="0"/>
          </a:p>
        </p:txBody>
      </p:sp>
      <p:sp>
        <p:nvSpPr>
          <p:cNvPr id="29" name="Input: Add an item"/>
          <p:cNvSpPr txBox="1"/>
          <p:nvPr/>
        </p:nvSpPr>
        <p:spPr>
          <a:xfrm>
            <a:off x="8293608" y="406908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30" name="Input: Add an item"/>
          <p:cNvSpPr txBox="1"/>
          <p:nvPr/>
        </p:nvSpPr>
        <p:spPr>
          <a:xfrm>
            <a:off x="8293608" y="5074920"/>
            <a:ext cx="3182112" cy="86868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ADD AN ITEM</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Type a new task…</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Eyebrow"/>
          <p:cNvSpPr txBox="1"/>
          <p:nvPr/>
        </p:nvSpPr>
        <p:spPr>
          <a:xfrm>
            <a:off x="457200" y="292608"/>
            <a:ext cx="5943600" cy="274320"/>
          </a:xfrm>
          <a:prstGeom prst="rect">
            <a:avLst/>
          </a:prstGeom>
          <a:noFill/>
          <a:ln/>
        </p:spPr>
        <p:txBody>
          <a:bodyPr wrap="square" lIns="0" tIns="0" rIns="0" bIns="0" rtlCol="0" anchor="ctr"/>
          <a:lstStyle/>
          <a:p>
            <a:pPr indent="0" marL="0">
              <a:buNone/>
            </a:pPr>
            <a:r>
              <a:rPr lang="en-US" sz="1000" b="1" spc="300" kern="0" dirty="0">
                <a:solidFill>
                  <a:srgbClr val="187A5E"/>
                </a:solidFill>
                <a:latin typeface="Calibri" pitchFamily="34" charset="0"/>
                <a:ea typeface="Calibri" pitchFamily="34" charset="-122"/>
                <a:cs typeface="Calibri" pitchFamily="34" charset="-120"/>
              </a:rPr>
              <a:t>OVER TO YOU</a:t>
            </a:r>
            <a:endParaRPr lang="en-US" sz="1000" dirty="0"/>
          </a:p>
        </p:txBody>
      </p:sp>
      <p:sp>
        <p:nvSpPr>
          <p:cNvPr id="3" name="Title"/>
          <p:cNvSpPr txBox="1"/>
          <p:nvPr/>
        </p:nvSpPr>
        <p:spPr>
          <a:xfrm>
            <a:off x="457200" y="621792"/>
            <a:ext cx="11277295" cy="566928"/>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Your feedback on this plan</a:t>
            </a:r>
            <a:endParaRPr lang="en-US" sz="3000" dirty="0"/>
          </a:p>
        </p:txBody>
      </p:sp>
      <p:sp>
        <p:nvSpPr>
          <p:cNvPr id="4" name="Subtitle"/>
          <p:cNvSpPr txBox="1"/>
          <p:nvPr/>
        </p:nvSpPr>
        <p:spPr>
          <a:xfrm>
            <a:off x="457200" y="1207008"/>
            <a:ext cx="11277295" cy="365760"/>
          </a:xfrm>
          <a:prstGeom prst="rect">
            <a:avLst/>
          </a:prstGeom>
          <a:noFill/>
          <a:ln/>
        </p:spPr>
        <p:txBody>
          <a:bodyPr wrap="square" lIns="0" tIns="0" rIns="0" bIns="0" rtlCol="0" anchor="ctr"/>
          <a:lstStyle/>
          <a:p>
            <a:pPr indent="0" marL="0">
              <a:buNone/>
            </a:pPr>
            <a:r>
              <a:rPr lang="en-US" sz="1400" dirty="0">
                <a:solidFill>
                  <a:srgbClr val="4A5563"/>
                </a:solidFill>
                <a:latin typeface="Calibri" pitchFamily="34" charset="0"/>
                <a:ea typeface="Calibri" pitchFamily="34" charset="-122"/>
                <a:cs typeface="Calibri" pitchFamily="34" charset="-120"/>
              </a:rPr>
              <a:t>Rate each part from 1 (not right yet) to 5 (spot on). Type X in one box per row.</a:t>
            </a:r>
            <a:endParaRPr lang="en-US" sz="1400" dirty="0"/>
          </a:p>
        </p:txBody>
      </p:sp>
      <p:sp>
        <p:nvSpPr>
          <p:cNvPr id="5" name="Nav: Menu"/>
          <p:cNvSpPr txBox="1"/>
          <p:nvPr/>
        </p:nvSpPr>
        <p:spPr>
          <a:xfrm>
            <a:off x="7167067" y="292608"/>
            <a:ext cx="56692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1" action="ppaction://hlinksldjump" tooltip="Go to Menu">
                  <a:extLst>
                    <a:ext uri="{A12FA001-AC4F-418D-AE19-62706E023703}">
                      <ahyp:hlinkClr xmlns:ahyp="http://schemas.microsoft.com/office/drawing/2018/hyperlinkcolor" val="tx"/>
                    </a:ext>
                  </a:extLst>
                </a:hlinkClick>
              </a:rPr>
              <a:t>Menu</a:t>
            </a:r>
            <a:endParaRPr lang="en-US" sz="1000" dirty="0"/>
          </a:p>
        </p:txBody>
      </p:sp>
      <p:sp>
        <p:nvSpPr>
          <p:cNvPr id="6" name="Nav: What we heard"/>
          <p:cNvSpPr txBox="1"/>
          <p:nvPr/>
        </p:nvSpPr>
        <p:spPr>
          <a:xfrm>
            <a:off x="7807147" y="292608"/>
            <a:ext cx="11841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2" action="ppaction://hlinksldjump" tooltip="Go to What we heard">
                  <a:extLst>
                    <a:ext uri="{A12FA001-AC4F-418D-AE19-62706E023703}">
                      <ahyp:hlinkClr xmlns:ahyp="http://schemas.microsoft.com/office/drawing/2018/hyperlinkcolor" val="tx"/>
                    </a:ext>
                  </a:extLst>
                </a:hlinkClick>
              </a:rPr>
              <a:t>What we heard</a:t>
            </a:r>
            <a:endParaRPr lang="en-US" sz="1000" dirty="0"/>
          </a:p>
        </p:txBody>
      </p:sp>
      <p:sp>
        <p:nvSpPr>
          <p:cNvPr id="7" name="Nav: The role"/>
          <p:cNvSpPr txBox="1"/>
          <p:nvPr/>
        </p:nvSpPr>
        <p:spPr>
          <a:xfrm>
            <a:off x="90644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3" action="ppaction://hlinksldjump" tooltip="Go to The role">
                  <a:extLst>
                    <a:ext uri="{A12FA001-AC4F-418D-AE19-62706E023703}">
                      <ahyp:hlinkClr xmlns:ahyp="http://schemas.microsoft.com/office/drawing/2018/hyperlinkcolor" val="tx"/>
                    </a:ext>
                  </a:extLst>
                </a:hlinkClick>
              </a:rPr>
              <a:t>The role</a:t>
            </a:r>
            <a:endParaRPr lang="en-US" sz="1000" dirty="0"/>
          </a:p>
        </p:txBody>
      </p:sp>
      <p:sp>
        <p:nvSpPr>
          <p:cNvPr id="8" name="Nav: Playbook"/>
          <p:cNvSpPr txBox="1"/>
          <p:nvPr/>
        </p:nvSpPr>
        <p:spPr>
          <a:xfrm>
            <a:off x="9978847" y="292608"/>
            <a:ext cx="841248" cy="274320"/>
          </a:xfrm>
          <a:prstGeom prst="roundRect">
            <a:avLst>
              <a:gd name="adj" fmla="val 50000"/>
            </a:avLst>
          </a:prstGeom>
          <a:solidFill>
            <a:srgbClr val="F1F4F2"/>
          </a:solidFill>
          <a:ln/>
        </p:spPr>
        <p:txBody>
          <a:bodyPr wrap="square" lIns="0" tIns="0" rIns="0" bIns="0" rtlCol="0" anchor="ctr"/>
          <a:lstStyle/>
          <a:p>
            <a:pPr algn="ctr" indent="0" marL="0">
              <a:buNone/>
            </a:pPr>
            <a:r>
              <a:rPr lang="en-US" sz="1000" u="sng" dirty="0">
                <a:solidFill>
                  <a:srgbClr val="4A5563"/>
                </a:solidFill>
                <a:latin typeface="Calibri" pitchFamily="34" charset="0"/>
                <a:ea typeface="Calibri" pitchFamily="34" charset="-122"/>
                <a:cs typeface="Calibri" pitchFamily="34" charset="-120"/>
                <a:hlinkClick r:id="rId4" action="ppaction://hlinksldjump" tooltip="Go to Playbook">
                  <a:extLst>
                    <a:ext uri="{A12FA001-AC4F-418D-AE19-62706E023703}">
                      <ahyp:hlinkClr xmlns:ahyp="http://schemas.microsoft.com/office/drawing/2018/hyperlinkcolor" val="tx"/>
                    </a:ext>
                  </a:extLst>
                </a:hlinkClick>
              </a:rPr>
              <a:t>Playbook</a:t>
            </a:r>
            <a:endParaRPr lang="en-US" sz="1000" dirty="0"/>
          </a:p>
        </p:txBody>
      </p:sp>
      <p:sp>
        <p:nvSpPr>
          <p:cNvPr id="9" name="Nav: Feedback"/>
          <p:cNvSpPr txBox="1"/>
          <p:nvPr/>
        </p:nvSpPr>
        <p:spPr>
          <a:xfrm>
            <a:off x="10893247" y="292608"/>
            <a:ext cx="841248" cy="274320"/>
          </a:xfrm>
          <a:prstGeom prst="roundRect">
            <a:avLst>
              <a:gd name="adj" fmla="val 50000"/>
            </a:avLst>
          </a:prstGeom>
          <a:solidFill>
            <a:srgbClr val="187A5E"/>
          </a:solidFill>
          <a:ln/>
        </p:spPr>
        <p:txBody>
          <a:bodyPr wrap="square" lIns="0" tIns="0" rIns="0" bIns="0" rtlCol="0" anchor="ctr"/>
          <a:lstStyle/>
          <a:p>
            <a:pPr algn="ctr" indent="0" marL="0">
              <a:buNone/>
            </a:pPr>
            <a:r>
              <a:rPr lang="en-US" sz="1000" b="1" u="sng" dirty="0">
                <a:solidFill>
                  <a:srgbClr val="FFFFFF"/>
                </a:solidFill>
                <a:latin typeface="Calibri" pitchFamily="34" charset="0"/>
                <a:ea typeface="Calibri" pitchFamily="34" charset="-122"/>
                <a:cs typeface="Calibri" pitchFamily="34" charset="-120"/>
                <a:hlinkClick r:id="rId5" action="ppaction://hlinksldjump" tooltip="Go to Feedback">
                  <a:extLst>
                    <a:ext uri="{A12FA001-AC4F-418D-AE19-62706E023703}">
                      <ahyp:hlinkClr xmlns:ahyp="http://schemas.microsoft.com/office/drawing/2018/hyperlinkcolor" val="tx"/>
                    </a:ext>
                  </a:extLst>
                </a:hlinkClick>
              </a:rPr>
              <a:t>Feedback</a:t>
            </a:r>
            <a:endParaRPr lang="en-US" sz="1000" dirty="0"/>
          </a:p>
        </p:txBody>
      </p:sp>
      <p:sp>
        <p:nvSpPr>
          <p:cNvPr id="10" name="Card"/>
          <p:cNvSpPr/>
          <p:nvPr/>
        </p:nvSpPr>
        <p:spPr>
          <a:xfrm>
            <a:off x="457200" y="1783080"/>
            <a:ext cx="5852160" cy="3063240"/>
          </a:xfrm>
          <a:prstGeom prst="roundRect">
            <a:avLst>
              <a:gd name="adj" fmla="val 2388"/>
            </a:avLst>
          </a:prstGeom>
          <a:solidFill>
            <a:srgbClr val="FFFFFF"/>
          </a:solidFill>
          <a:ln w="9525">
            <a:solidFill>
              <a:srgbClr val="DDE4E0"/>
            </a:solidFill>
            <a:prstDash val="solid"/>
          </a:ln>
        </p:spPr>
      </p:sp>
      <p:sp>
        <p:nvSpPr>
          <p:cNvPr id="11" name="Text 9"/>
          <p:cNvSpPr txBox="1"/>
          <p:nvPr/>
        </p:nvSpPr>
        <p:spPr>
          <a:xfrm>
            <a:off x="685800" y="196596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The goal &amp; what we heard</a:t>
            </a:r>
            <a:endParaRPr lang="en-US" sz="1300" dirty="0"/>
          </a:p>
        </p:txBody>
      </p:sp>
      <p:sp>
        <p:nvSpPr>
          <p:cNvPr id="12" name="Rating The goal &amp;amp; what we heard 1"/>
          <p:cNvSpPr txBox="1"/>
          <p:nvPr/>
        </p:nvSpPr>
        <p:spPr>
          <a:xfrm>
            <a:off x="38862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3" name="Text 11"/>
          <p:cNvSpPr txBox="1"/>
          <p:nvPr/>
        </p:nvSpPr>
        <p:spPr>
          <a:xfrm>
            <a:off x="41330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14" name="Rating The goal &amp;amp; what we heard 2"/>
          <p:cNvSpPr txBox="1"/>
          <p:nvPr/>
        </p:nvSpPr>
        <p:spPr>
          <a:xfrm>
            <a:off x="43434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5" name="Text 13"/>
          <p:cNvSpPr txBox="1"/>
          <p:nvPr/>
        </p:nvSpPr>
        <p:spPr>
          <a:xfrm>
            <a:off x="45902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16" name="Rating The goal &amp;amp; what we heard 3"/>
          <p:cNvSpPr txBox="1"/>
          <p:nvPr/>
        </p:nvSpPr>
        <p:spPr>
          <a:xfrm>
            <a:off x="48006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7" name="Text 15"/>
          <p:cNvSpPr txBox="1"/>
          <p:nvPr/>
        </p:nvSpPr>
        <p:spPr>
          <a:xfrm>
            <a:off x="50474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18" name="Rating The goal &amp;amp; what we heard 4"/>
          <p:cNvSpPr txBox="1"/>
          <p:nvPr/>
        </p:nvSpPr>
        <p:spPr>
          <a:xfrm>
            <a:off x="52578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19" name="Text 17"/>
          <p:cNvSpPr txBox="1"/>
          <p:nvPr/>
        </p:nvSpPr>
        <p:spPr>
          <a:xfrm>
            <a:off x="55046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20" name="Rating The goal &amp;amp; what we heard 5"/>
          <p:cNvSpPr txBox="1"/>
          <p:nvPr/>
        </p:nvSpPr>
        <p:spPr>
          <a:xfrm>
            <a:off x="5715000" y="199339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1" name="Text 19"/>
          <p:cNvSpPr txBox="1"/>
          <p:nvPr/>
        </p:nvSpPr>
        <p:spPr>
          <a:xfrm>
            <a:off x="5961888" y="198424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22" name="Text 20"/>
          <p:cNvSpPr txBox="1"/>
          <p:nvPr/>
        </p:nvSpPr>
        <p:spPr>
          <a:xfrm>
            <a:off x="685800" y="251460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Leverage gap &amp; Freedom Stage</a:t>
            </a:r>
            <a:endParaRPr lang="en-US" sz="1300" dirty="0"/>
          </a:p>
        </p:txBody>
      </p:sp>
      <p:sp>
        <p:nvSpPr>
          <p:cNvPr id="23" name="Rating Leverage gap &amp;amp; Freedom Stage 1"/>
          <p:cNvSpPr txBox="1"/>
          <p:nvPr/>
        </p:nvSpPr>
        <p:spPr>
          <a:xfrm>
            <a:off x="38862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4" name="Text 22"/>
          <p:cNvSpPr txBox="1"/>
          <p:nvPr/>
        </p:nvSpPr>
        <p:spPr>
          <a:xfrm>
            <a:off x="41330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25" name="Rating Leverage gap &amp;amp; Freedom Stage 2"/>
          <p:cNvSpPr txBox="1"/>
          <p:nvPr/>
        </p:nvSpPr>
        <p:spPr>
          <a:xfrm>
            <a:off x="43434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6" name="Text 24"/>
          <p:cNvSpPr txBox="1"/>
          <p:nvPr/>
        </p:nvSpPr>
        <p:spPr>
          <a:xfrm>
            <a:off x="45902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27" name="Rating Leverage gap &amp;amp; Freedom Stage 3"/>
          <p:cNvSpPr txBox="1"/>
          <p:nvPr/>
        </p:nvSpPr>
        <p:spPr>
          <a:xfrm>
            <a:off x="48006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28" name="Text 26"/>
          <p:cNvSpPr txBox="1"/>
          <p:nvPr/>
        </p:nvSpPr>
        <p:spPr>
          <a:xfrm>
            <a:off x="50474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29" name="Rating Leverage gap &amp;amp; Freedom Stage 4"/>
          <p:cNvSpPr txBox="1"/>
          <p:nvPr/>
        </p:nvSpPr>
        <p:spPr>
          <a:xfrm>
            <a:off x="52578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0" name="Text 28"/>
          <p:cNvSpPr txBox="1"/>
          <p:nvPr/>
        </p:nvSpPr>
        <p:spPr>
          <a:xfrm>
            <a:off x="55046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31" name="Rating Leverage gap &amp;amp; Freedom Stage 5"/>
          <p:cNvSpPr txBox="1"/>
          <p:nvPr/>
        </p:nvSpPr>
        <p:spPr>
          <a:xfrm>
            <a:off x="5715000" y="254203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2" name="Text 30"/>
          <p:cNvSpPr txBox="1"/>
          <p:nvPr/>
        </p:nvSpPr>
        <p:spPr>
          <a:xfrm>
            <a:off x="5961888" y="253288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33" name="Text 31"/>
          <p:cNvSpPr txBox="1"/>
          <p:nvPr/>
        </p:nvSpPr>
        <p:spPr>
          <a:xfrm>
            <a:off x="685800" y="306324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The role &amp; SME process</a:t>
            </a:r>
            <a:endParaRPr lang="en-US" sz="1300" dirty="0"/>
          </a:p>
        </p:txBody>
      </p:sp>
      <p:sp>
        <p:nvSpPr>
          <p:cNvPr id="34" name="Rating The role &amp;amp; SME process 1"/>
          <p:cNvSpPr txBox="1"/>
          <p:nvPr/>
        </p:nvSpPr>
        <p:spPr>
          <a:xfrm>
            <a:off x="38862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5" name="Text 33"/>
          <p:cNvSpPr txBox="1"/>
          <p:nvPr/>
        </p:nvSpPr>
        <p:spPr>
          <a:xfrm>
            <a:off x="41330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36" name="Rating The role &amp;amp; SME process 2"/>
          <p:cNvSpPr txBox="1"/>
          <p:nvPr/>
        </p:nvSpPr>
        <p:spPr>
          <a:xfrm>
            <a:off x="43434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7" name="Text 35"/>
          <p:cNvSpPr txBox="1"/>
          <p:nvPr/>
        </p:nvSpPr>
        <p:spPr>
          <a:xfrm>
            <a:off x="45902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38" name="Rating The role &amp;amp; SME process 3"/>
          <p:cNvSpPr txBox="1"/>
          <p:nvPr/>
        </p:nvSpPr>
        <p:spPr>
          <a:xfrm>
            <a:off x="48006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39" name="Text 37"/>
          <p:cNvSpPr txBox="1"/>
          <p:nvPr/>
        </p:nvSpPr>
        <p:spPr>
          <a:xfrm>
            <a:off x="50474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40" name="Rating The role &amp;amp; SME process 4"/>
          <p:cNvSpPr txBox="1"/>
          <p:nvPr/>
        </p:nvSpPr>
        <p:spPr>
          <a:xfrm>
            <a:off x="52578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1" name="Text 39"/>
          <p:cNvSpPr txBox="1"/>
          <p:nvPr/>
        </p:nvSpPr>
        <p:spPr>
          <a:xfrm>
            <a:off x="55046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42" name="Rating The role &amp;amp; SME process 5"/>
          <p:cNvSpPr txBox="1"/>
          <p:nvPr/>
        </p:nvSpPr>
        <p:spPr>
          <a:xfrm>
            <a:off x="5715000" y="309067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3" name="Text 41"/>
          <p:cNvSpPr txBox="1"/>
          <p:nvPr/>
        </p:nvSpPr>
        <p:spPr>
          <a:xfrm>
            <a:off x="5961888" y="308152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44" name="Text 42"/>
          <p:cNvSpPr txBox="1"/>
          <p:nvPr/>
        </p:nvSpPr>
        <p:spPr>
          <a:xfrm>
            <a:off x="685800" y="361188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Success measures</a:t>
            </a:r>
            <a:endParaRPr lang="en-US" sz="1300" dirty="0"/>
          </a:p>
        </p:txBody>
      </p:sp>
      <p:sp>
        <p:nvSpPr>
          <p:cNvPr id="45" name="Rating Success measures 1"/>
          <p:cNvSpPr txBox="1"/>
          <p:nvPr/>
        </p:nvSpPr>
        <p:spPr>
          <a:xfrm>
            <a:off x="38862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6" name="Text 44"/>
          <p:cNvSpPr txBox="1"/>
          <p:nvPr/>
        </p:nvSpPr>
        <p:spPr>
          <a:xfrm>
            <a:off x="41330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47" name="Rating Success measures 2"/>
          <p:cNvSpPr txBox="1"/>
          <p:nvPr/>
        </p:nvSpPr>
        <p:spPr>
          <a:xfrm>
            <a:off x="43434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48" name="Text 46"/>
          <p:cNvSpPr txBox="1"/>
          <p:nvPr/>
        </p:nvSpPr>
        <p:spPr>
          <a:xfrm>
            <a:off x="45902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49" name="Rating Success measures 3"/>
          <p:cNvSpPr txBox="1"/>
          <p:nvPr/>
        </p:nvSpPr>
        <p:spPr>
          <a:xfrm>
            <a:off x="48006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0" name="Text 48"/>
          <p:cNvSpPr txBox="1"/>
          <p:nvPr/>
        </p:nvSpPr>
        <p:spPr>
          <a:xfrm>
            <a:off x="50474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51" name="Rating Success measures 4"/>
          <p:cNvSpPr txBox="1"/>
          <p:nvPr/>
        </p:nvSpPr>
        <p:spPr>
          <a:xfrm>
            <a:off x="52578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2" name="Text 50"/>
          <p:cNvSpPr txBox="1"/>
          <p:nvPr/>
        </p:nvSpPr>
        <p:spPr>
          <a:xfrm>
            <a:off x="55046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53" name="Rating Success measures 5"/>
          <p:cNvSpPr txBox="1"/>
          <p:nvPr/>
        </p:nvSpPr>
        <p:spPr>
          <a:xfrm>
            <a:off x="5715000" y="363931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4" name="Text 52"/>
          <p:cNvSpPr txBox="1"/>
          <p:nvPr/>
        </p:nvSpPr>
        <p:spPr>
          <a:xfrm>
            <a:off x="5961888" y="363016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55" name="Text 53"/>
          <p:cNvSpPr txBox="1"/>
          <p:nvPr/>
        </p:nvSpPr>
        <p:spPr>
          <a:xfrm>
            <a:off x="685800" y="4160520"/>
            <a:ext cx="3108960" cy="29260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Overall, does this feel like your business?</a:t>
            </a:r>
            <a:endParaRPr lang="en-US" sz="1300" dirty="0"/>
          </a:p>
        </p:txBody>
      </p:sp>
      <p:sp>
        <p:nvSpPr>
          <p:cNvPr id="56" name="Rating Overall, does this feel like your business? 1"/>
          <p:cNvSpPr txBox="1"/>
          <p:nvPr/>
        </p:nvSpPr>
        <p:spPr>
          <a:xfrm>
            <a:off x="38862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7" name="Text 55"/>
          <p:cNvSpPr txBox="1"/>
          <p:nvPr/>
        </p:nvSpPr>
        <p:spPr>
          <a:xfrm>
            <a:off x="41330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1</a:t>
            </a:r>
            <a:endParaRPr lang="en-US" sz="1000" dirty="0"/>
          </a:p>
        </p:txBody>
      </p:sp>
      <p:sp>
        <p:nvSpPr>
          <p:cNvPr id="58" name="Rating Overall, does this feel like your business? 2"/>
          <p:cNvSpPr txBox="1"/>
          <p:nvPr/>
        </p:nvSpPr>
        <p:spPr>
          <a:xfrm>
            <a:off x="43434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59" name="Text 57"/>
          <p:cNvSpPr txBox="1"/>
          <p:nvPr/>
        </p:nvSpPr>
        <p:spPr>
          <a:xfrm>
            <a:off x="45902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2</a:t>
            </a:r>
            <a:endParaRPr lang="en-US" sz="1000" dirty="0"/>
          </a:p>
        </p:txBody>
      </p:sp>
      <p:sp>
        <p:nvSpPr>
          <p:cNvPr id="60" name="Rating Overall, does this feel like your business? 3"/>
          <p:cNvSpPr txBox="1"/>
          <p:nvPr/>
        </p:nvSpPr>
        <p:spPr>
          <a:xfrm>
            <a:off x="48006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61" name="Text 59"/>
          <p:cNvSpPr txBox="1"/>
          <p:nvPr/>
        </p:nvSpPr>
        <p:spPr>
          <a:xfrm>
            <a:off x="50474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3</a:t>
            </a:r>
            <a:endParaRPr lang="en-US" sz="1000" dirty="0"/>
          </a:p>
        </p:txBody>
      </p:sp>
      <p:sp>
        <p:nvSpPr>
          <p:cNvPr id="62" name="Rating Overall, does this feel like your business? 4"/>
          <p:cNvSpPr txBox="1"/>
          <p:nvPr/>
        </p:nvSpPr>
        <p:spPr>
          <a:xfrm>
            <a:off x="52578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63" name="Text 61"/>
          <p:cNvSpPr txBox="1"/>
          <p:nvPr/>
        </p:nvSpPr>
        <p:spPr>
          <a:xfrm>
            <a:off x="55046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4</a:t>
            </a:r>
            <a:endParaRPr lang="en-US" sz="1000" dirty="0"/>
          </a:p>
        </p:txBody>
      </p:sp>
      <p:sp>
        <p:nvSpPr>
          <p:cNvPr id="64" name="Rating Overall, does this feel like your business? 5"/>
          <p:cNvSpPr txBox="1"/>
          <p:nvPr/>
        </p:nvSpPr>
        <p:spPr>
          <a:xfrm>
            <a:off x="5715000" y="4187952"/>
            <a:ext cx="237744" cy="237744"/>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65" name="Text 63"/>
          <p:cNvSpPr txBox="1"/>
          <p:nvPr/>
        </p:nvSpPr>
        <p:spPr>
          <a:xfrm>
            <a:off x="5961888" y="4178808"/>
            <a:ext cx="182880" cy="256032"/>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5</a:t>
            </a:r>
            <a:endParaRPr lang="en-US" sz="1000" dirty="0"/>
          </a:p>
        </p:txBody>
      </p:sp>
      <p:sp>
        <p:nvSpPr>
          <p:cNvPr id="66" name="Input: What would you change?"/>
          <p:cNvSpPr txBox="1"/>
          <p:nvPr/>
        </p:nvSpPr>
        <p:spPr>
          <a:xfrm>
            <a:off x="6492240" y="1783080"/>
            <a:ext cx="5239512" cy="14630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WOULD YOU CHANGE?</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Anything that doesn’t fit how Spinifex works…</a:t>
            </a:r>
            <a:endParaRPr lang="en-US" sz="900" dirty="0"/>
          </a:p>
        </p:txBody>
      </p:sp>
      <p:sp>
        <p:nvSpPr>
          <p:cNvPr id="67" name="Input: What did we miss?"/>
          <p:cNvSpPr txBox="1"/>
          <p:nvPr/>
        </p:nvSpPr>
        <p:spPr>
          <a:xfrm>
            <a:off x="6492240" y="3383280"/>
            <a:ext cx="5239512" cy="146304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WHAT DID WE MISS?</a:t>
            </a:r>
            <a:endParaRPr lang="en-US" sz="900" dirty="0"/>
          </a:p>
          <a:p>
            <a:pPr indent="0" marL="0">
              <a:spcAft>
                <a:spcPts val="300"/>
              </a:spcAft>
              <a:buNone/>
            </a:pPr>
            <a:r>
              <a:rPr lang="en-US" sz="1200" i="1" dirty="0">
                <a:solidFill>
                  <a:srgbClr val="9AA3AD"/>
                </a:solidFill>
                <a:latin typeface="Calibri" pitchFamily="34" charset="0"/>
                <a:ea typeface="Calibri" pitchFamily="34" charset="-122"/>
                <a:cs typeface="Calibri" pitchFamily="34" charset="-120"/>
              </a:rPr>
              <a:t>Tasks, tools, people or busy periods…</a:t>
            </a:r>
            <a:endParaRPr lang="en-US" sz="900" dirty="0"/>
          </a:p>
        </p:txBody>
      </p:sp>
      <p:sp>
        <p:nvSpPr>
          <p:cNvPr id="68" name="Card"/>
          <p:cNvSpPr/>
          <p:nvPr/>
        </p:nvSpPr>
        <p:spPr>
          <a:xfrm>
            <a:off x="457200" y="4983480"/>
            <a:ext cx="5852160" cy="1143000"/>
          </a:xfrm>
          <a:prstGeom prst="roundRect">
            <a:avLst>
              <a:gd name="adj" fmla="val 6400"/>
            </a:avLst>
          </a:prstGeom>
          <a:solidFill>
            <a:srgbClr val="E4F2EC"/>
          </a:solidFill>
          <a:ln w="9525">
            <a:solidFill>
              <a:srgbClr val="E4F2EC"/>
            </a:solidFill>
            <a:prstDash val="solid"/>
          </a:ln>
        </p:spPr>
      </p:sp>
      <p:sp>
        <p:nvSpPr>
          <p:cNvPr id="69" name="Text 67"/>
          <p:cNvSpPr txBox="1"/>
          <p:nvPr/>
        </p:nvSpPr>
        <p:spPr>
          <a:xfrm>
            <a:off x="685800" y="5093208"/>
            <a:ext cx="2743200" cy="237744"/>
          </a:xfrm>
          <a:prstGeom prst="rect">
            <a:avLst/>
          </a:prstGeom>
          <a:noFill/>
          <a:ln/>
        </p:spPr>
        <p:txBody>
          <a:bodyPr wrap="square" lIns="0" tIns="0" rIns="0" bIns="0" rtlCol="0" anchor="ctr"/>
          <a:lstStyle/>
          <a:p>
            <a:pPr indent="0" marL="0">
              <a:buNone/>
            </a:pPr>
            <a:r>
              <a:rPr lang="en-US" sz="1000" b="1" spc="200" kern="0" dirty="0">
                <a:solidFill>
                  <a:srgbClr val="187A5E"/>
                </a:solidFill>
                <a:latin typeface="Calibri" pitchFamily="34" charset="0"/>
                <a:ea typeface="Calibri" pitchFamily="34" charset="-122"/>
                <a:cs typeface="Calibri" pitchFamily="34" charset="-120"/>
              </a:rPr>
              <a:t>READY TO GO?</a:t>
            </a:r>
            <a:endParaRPr lang="en-US" sz="1000" dirty="0"/>
          </a:p>
        </p:txBody>
      </p:sp>
      <p:sp>
        <p:nvSpPr>
          <p:cNvPr id="70" name="Tick box: Yes, let’s proceed"/>
          <p:cNvSpPr txBox="1"/>
          <p:nvPr/>
        </p:nvSpPr>
        <p:spPr>
          <a:xfrm>
            <a:off x="685800" y="54132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71" name="Text 69"/>
          <p:cNvSpPr txBox="1"/>
          <p:nvPr/>
        </p:nvSpPr>
        <p:spPr>
          <a:xfrm>
            <a:off x="978408" y="5394960"/>
            <a:ext cx="208483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Yes, let’s proceed</a:t>
            </a:r>
            <a:endParaRPr lang="en-US" sz="1200" dirty="0"/>
          </a:p>
        </p:txBody>
      </p:sp>
      <p:sp>
        <p:nvSpPr>
          <p:cNvPr id="72" name="Tick box: Let’s talk first"/>
          <p:cNvSpPr txBox="1"/>
          <p:nvPr/>
        </p:nvSpPr>
        <p:spPr>
          <a:xfrm>
            <a:off x="3200400" y="5413248"/>
            <a:ext cx="219456" cy="219456"/>
          </a:xfrm>
          <a:prstGeom prst="rect">
            <a:avLst/>
          </a:prstGeom>
          <a:solidFill>
            <a:srgbClr val="FFFFFF"/>
          </a:solidFill>
          <a:ln w="15875">
            <a:solidFill>
              <a:srgbClr val="B26B0E"/>
            </a:solidFill>
          </a:ln>
        </p:spPr>
        <p:txBody>
          <a:bodyPr wrap="square" lIns="0" tIns="0" rIns="0" bIns="0" rtlCol="0" anchor="ctr"/>
          <a:lstStyle/>
          <a:p>
            <a:pPr algn="ctr" indent="0" marL="0">
              <a:buNone/>
            </a:pPr>
            <a:endParaRPr lang="en-US" sz="1200" dirty="0"/>
          </a:p>
        </p:txBody>
      </p:sp>
      <p:sp>
        <p:nvSpPr>
          <p:cNvPr id="73" name="Text 71"/>
          <p:cNvSpPr txBox="1"/>
          <p:nvPr/>
        </p:nvSpPr>
        <p:spPr>
          <a:xfrm>
            <a:off x="3493008" y="5394960"/>
            <a:ext cx="2084832" cy="256032"/>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Let’s talk first</a:t>
            </a:r>
            <a:endParaRPr lang="en-US" sz="1200" dirty="0"/>
          </a:p>
        </p:txBody>
      </p:sp>
      <p:sp>
        <p:nvSpPr>
          <p:cNvPr id="74" name="Input: Your name"/>
          <p:cNvSpPr txBox="1"/>
          <p:nvPr/>
        </p:nvSpPr>
        <p:spPr>
          <a:xfrm>
            <a:off x="6492240" y="4983480"/>
            <a:ext cx="2560320"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YOUR NAME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Tom Warriner</a:t>
            </a:r>
            <a:endParaRPr lang="en-US" sz="900" dirty="0"/>
          </a:p>
        </p:txBody>
      </p:sp>
      <p:sp>
        <p:nvSpPr>
          <p:cNvPr id="75" name="Input: Date"/>
          <p:cNvSpPr txBox="1"/>
          <p:nvPr/>
        </p:nvSpPr>
        <p:spPr>
          <a:xfrm>
            <a:off x="9189720" y="4983480"/>
            <a:ext cx="2542032" cy="1143000"/>
          </a:xfrm>
          <a:prstGeom prst="rect">
            <a:avLst/>
          </a:prstGeom>
          <a:solidFill>
            <a:srgbClr val="FFF6E8"/>
          </a:solidFill>
          <a:ln w="12700">
            <a:solidFill>
              <a:srgbClr val="B26B0E"/>
            </a:solidFill>
            <a:prstDash val="dash"/>
          </a:ln>
        </p:spPr>
        <p:txBody>
          <a:bodyPr wrap="square" lIns="76200" tIns="101600" rIns="101600" bIns="76200" rtlCol="0" anchor="t"/>
          <a:lstStyle/>
          <a:p>
            <a:pPr indent="0" marL="0">
              <a:spcAft>
                <a:spcPts val="300"/>
              </a:spcAft>
              <a:buNone/>
            </a:pPr>
            <a:r>
              <a:rPr lang="en-US" sz="900" b="1" spc="100" kern="0" dirty="0">
                <a:solidFill>
                  <a:srgbClr val="B26B0E"/>
                </a:solidFill>
                <a:latin typeface="Calibri" pitchFamily="34" charset="0"/>
                <a:ea typeface="Calibri" pitchFamily="34" charset="-122"/>
                <a:cs typeface="Calibri" pitchFamily="34" charset="-120"/>
              </a:rPr>
              <a:t>✎ DATE</a:t>
            </a:r>
            <a:endParaRPr lang="en-US" sz="900" dirty="0"/>
          </a:p>
          <a:p>
            <a:pPr indent="0" marL="0">
              <a:spcAft>
                <a:spcPts val="300"/>
              </a:spcAft>
              <a:buNone/>
            </a:pPr>
            <a:r>
              <a:rPr lang="en-US" sz="1100" i="1" dirty="0">
                <a:solidFill>
                  <a:srgbClr val="9AA3AD"/>
                </a:solidFill>
                <a:latin typeface="Calibri" pitchFamily="34" charset="0"/>
                <a:ea typeface="Calibri" pitchFamily="34" charset="-122"/>
                <a:cs typeface="Calibri" pitchFamily="34" charset="-120"/>
              </a:rPr>
              <a:t>dd / mm / yyyy</a:t>
            </a:r>
            <a:endParaRPr lang="en-US" sz="9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8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9692640" y="-1097280"/>
            <a:ext cx="3657600" cy="3657600"/>
          </a:xfrm>
          <a:prstGeom prst="ellipse">
            <a:avLst/>
          </a:prstGeom>
          <a:solidFill>
            <a:srgbClr val="243041"/>
          </a:solidFill>
          <a:ln w="12700">
            <a:solidFill>
              <a:srgbClr val="243041"/>
            </a:solidFill>
            <a:prstDash val="solid"/>
          </a:ln>
        </p:spPr>
      </p:sp>
      <p:sp>
        <p:nvSpPr>
          <p:cNvPr id="3" name="Text 1"/>
          <p:cNvSpPr txBox="1"/>
          <p:nvPr/>
        </p:nvSpPr>
        <p:spPr>
          <a:xfrm>
            <a:off x="731520" y="1463040"/>
            <a:ext cx="5486400" cy="320040"/>
          </a:xfrm>
          <a:prstGeom prst="rect">
            <a:avLst/>
          </a:prstGeom>
          <a:noFill/>
          <a:ln/>
        </p:spPr>
        <p:txBody>
          <a:bodyPr wrap="square" lIns="0" tIns="0" rIns="0" bIns="0" rtlCol="0" anchor="ctr"/>
          <a:lstStyle/>
          <a:p>
            <a:pPr indent="0" marL="0">
              <a:buNone/>
            </a:pPr>
            <a:r>
              <a:rPr lang="en-US" sz="1200" b="1" spc="400" kern="0" dirty="0">
                <a:solidFill>
                  <a:srgbClr val="3CC29A"/>
                </a:solidFill>
                <a:latin typeface="Calibri" pitchFamily="34" charset="0"/>
                <a:ea typeface="Calibri" pitchFamily="34" charset="-122"/>
                <a:cs typeface="Calibri" pitchFamily="34" charset="-120"/>
              </a:rPr>
              <a:t>THE GOAL</a:t>
            </a:r>
            <a:endParaRPr lang="en-US" sz="1200" dirty="0"/>
          </a:p>
        </p:txBody>
      </p:sp>
      <p:sp>
        <p:nvSpPr>
          <p:cNvPr id="4" name="Text 2"/>
          <p:cNvSpPr txBox="1"/>
          <p:nvPr/>
        </p:nvSpPr>
        <p:spPr>
          <a:xfrm>
            <a:off x="731520" y="1874520"/>
            <a:ext cx="9601200" cy="1097280"/>
          </a:xfrm>
          <a:prstGeom prst="rect">
            <a:avLst/>
          </a:prstGeom>
          <a:noFill/>
          <a:ln/>
        </p:spPr>
        <p:txBody>
          <a:bodyPr wrap="square" lIns="0" tIns="0" rIns="0" bIns="0" rtlCol="0" anchor="ctr"/>
          <a:lstStyle/>
          <a:p>
            <a:pPr indent="0" marL="0">
              <a:buNone/>
            </a:pPr>
            <a:r>
              <a:rPr lang="en-US" sz="4000" b="1" dirty="0">
                <a:solidFill>
                  <a:srgbClr val="F4F6F3"/>
                </a:solidFill>
                <a:latin typeface="Cambria" pitchFamily="34" charset="0"/>
                <a:ea typeface="Cambria" pitchFamily="34" charset="-122"/>
                <a:cs typeface="Cambria" pitchFamily="34" charset="-120"/>
              </a:rPr>
              <a:t>More time to grow Spinifex</a:t>
            </a:r>
            <a:endParaRPr lang="en-US" sz="4000" dirty="0"/>
          </a:p>
        </p:txBody>
      </p:sp>
      <p:sp>
        <p:nvSpPr>
          <p:cNvPr id="5" name="Text 3"/>
          <p:cNvSpPr txBox="1"/>
          <p:nvPr/>
        </p:nvSpPr>
        <p:spPr>
          <a:xfrm>
            <a:off x="731520" y="3154680"/>
            <a:ext cx="8229600" cy="914400"/>
          </a:xfrm>
          <a:prstGeom prst="rect">
            <a:avLst/>
          </a:prstGeom>
          <a:noFill/>
          <a:ln/>
        </p:spPr>
        <p:txBody>
          <a:bodyPr wrap="square" lIns="0" tIns="0" rIns="0" bIns="0" rtlCol="0" anchor="t"/>
          <a:lstStyle/>
          <a:p>
            <a:pPr indent="0" marL="0">
              <a:buNone/>
            </a:pPr>
            <a:r>
              <a:rPr lang="en-US" sz="1600" dirty="0">
                <a:solidFill>
                  <a:srgbClr val="BFC9D3"/>
                </a:solidFill>
                <a:latin typeface="Calibri" pitchFamily="34" charset="0"/>
                <a:ea typeface="Calibri" pitchFamily="34" charset="-122"/>
                <a:cs typeface="Calibri" pitchFamily="34" charset="-120"/>
              </a:rPr>
              <a:t>Save this file with your notes and email it back to Gail, or bring it to our next call. We’ll turn your answers into the final plan and your Assistant’s position description.</a:t>
            </a:r>
            <a:endParaRPr lang="en-US" sz="1600" dirty="0"/>
          </a:p>
        </p:txBody>
      </p:sp>
      <p:sp>
        <p:nvSpPr>
          <p:cNvPr id="6" name="Text 4"/>
          <p:cNvSpPr txBox="1"/>
          <p:nvPr/>
        </p:nvSpPr>
        <p:spPr>
          <a:xfrm>
            <a:off x="731520" y="4343400"/>
            <a:ext cx="2194560" cy="457200"/>
          </a:xfrm>
          <a:prstGeom prst="roundRect">
            <a:avLst>
              <a:gd name="adj" fmla="val 50000"/>
            </a:avLst>
          </a:prstGeom>
          <a:solidFill>
            <a:srgbClr val="187A5E"/>
          </a:solidFill>
          <a:ln/>
        </p:spPr>
        <p:txBody>
          <a:bodyPr wrap="square" lIns="0" tIns="0" rIns="0" bIns="0" rtlCol="0" anchor="ctr"/>
          <a:lstStyle/>
          <a:p>
            <a:pPr algn="ctr" indent="0" marL="0">
              <a:buNone/>
            </a:pPr>
            <a:r>
              <a:rPr lang="en-US" sz="1400" b="1" u="sng" dirty="0">
                <a:solidFill>
                  <a:srgbClr val="FFFFFF"/>
                </a:solidFill>
                <a:latin typeface="Calibri" pitchFamily="34" charset="0"/>
                <a:ea typeface="Calibri" pitchFamily="34" charset="-122"/>
                <a:cs typeface="Calibri" pitchFamily="34" charset="-120"/>
                <a:hlinkClick r:id="rId1" action="ppaction://hlinksldjump" tooltip="Menu">
                  <a:extLst>
                    <a:ext uri="{A12FA001-AC4F-418D-AE19-62706E023703}">
                      <ahyp:hlinkClr xmlns:ahyp="http://schemas.microsoft.com/office/drawing/2018/hyperlinkcolor" val="tx"/>
                    </a:ext>
                  </a:extLst>
                </a:hlinkClick>
              </a:rPr>
              <a:t>Back to the menu</a:t>
            </a:r>
            <a:endParaRPr lang="en-US" sz="1400" dirty="0"/>
          </a:p>
        </p:txBody>
      </p:sp>
      <p:sp>
        <p:nvSpPr>
          <p:cNvPr id="7" name="Text 5"/>
          <p:cNvSpPr txBox="1"/>
          <p:nvPr/>
        </p:nvSpPr>
        <p:spPr>
          <a:xfrm>
            <a:off x="3108960" y="4343400"/>
            <a:ext cx="2194560" cy="457200"/>
          </a:xfrm>
          <a:prstGeom prst="roundRect">
            <a:avLst>
              <a:gd name="adj" fmla="val 50000"/>
            </a:avLst>
          </a:prstGeom>
          <a:solidFill>
            <a:srgbClr val="243041"/>
          </a:solidFill>
          <a:ln/>
        </p:spPr>
        <p:txBody>
          <a:bodyPr wrap="square" lIns="0" tIns="0" rIns="0" bIns="0" rtlCol="0" anchor="ctr"/>
          <a:lstStyle/>
          <a:p>
            <a:pPr algn="ctr" indent="0" marL="0">
              <a:buNone/>
            </a:pPr>
            <a:r>
              <a:rPr lang="en-US" sz="1400" u="sng" dirty="0">
                <a:solidFill>
                  <a:srgbClr val="F4F6F3"/>
                </a:solidFill>
                <a:latin typeface="Calibri" pitchFamily="34" charset="0"/>
                <a:ea typeface="Calibri" pitchFamily="34" charset="-122"/>
                <a:cs typeface="Calibri" pitchFamily="34" charset="-120"/>
                <a:hlinkClick r:id="rId2" action="ppaction://hlinksldjump" tooltip="Feedback">
                  <a:extLst>
                    <a:ext uri="{A12FA001-AC4F-418D-AE19-62706E023703}">
                      <ahyp:hlinkClr xmlns:ahyp="http://schemas.microsoft.com/office/drawing/2018/hyperlinkcolor" val="tx"/>
                    </a:ext>
                  </a:extLst>
                </a:hlinkClick>
              </a:rPr>
              <a:t>Give feedback</a:t>
            </a:r>
            <a:endParaRPr lang="en-US" sz="1400" dirty="0"/>
          </a:p>
        </p:txBody>
      </p:sp>
    </p:spTree>
  </p:cSld>
  <p:clrMapOvr>
    <a:masterClrMapping/>
  </p:clrMapOvr>
</p:sld>
</file>

<file path=ppt/theme/theme1.xml><?xml version="1.0" encoding="utf-8"?>
<a:theme xmlns:a="http://schemas.openxmlformats.org/drawingml/2006/main" name="Outsourcing Angel Interactive">
  <a:themeElements>
    <a:clrScheme name="Outsourcing Angel Interactive">
      <a:dk1>
        <a:srgbClr val="1B2430"/>
      </a:dk1>
      <a:lt1>
        <a:srgbClr val="FAFBF9"/>
      </a:lt1>
      <a:dk2>
        <a:srgbClr val="4A5563"/>
      </a:dk2>
      <a:lt2>
        <a:srgbClr val="E4F2EC"/>
      </a:lt2>
      <a:accent1>
        <a:srgbClr val="187A5E"/>
      </a:accent1>
      <a:accent2>
        <a:srgbClr val="B26B0E"/>
      </a:accent2>
      <a:accent3>
        <a:srgbClr val="11604A"/>
      </a:accent3>
      <a:accent4>
        <a:srgbClr val="3CC29A"/>
      </a:accent4>
      <a:accent5>
        <a:srgbClr val="6B7480"/>
      </a:accent5>
      <a:accent6>
        <a:srgbClr val="DDE4E0"/>
      </a:accent6>
      <a:hlink>
        <a:srgbClr val="187A5E"/>
      </a:hlink>
      <a:folHlink>
        <a:srgbClr val="11604A"/>
      </a:folHlink>
    </a:clrScheme>
    <a:fontScheme name="Outsourcing Angel Interact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Outsourcing Angel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Tom Warriner – Interactive Freedom Plan</dc:title>
  <dc:subject>PptxGenJS Presentation</dc:subject>
  <dc:creator>Gail Galima-Mendoza, Outsourcing Angel</dc:creator>
  <cp:lastModifiedBy>Gail Galima-Mendoza, Outsourcing Angel</cp:lastModifiedBy>
  <cp:revision>1</cp:revision>
  <dcterms:created xsi:type="dcterms:W3CDTF">2026-10-20T04:38:12Z</dcterms:created>
  <dcterms:modified xsi:type="dcterms:W3CDTF">2026-10-20T04:38:12Z</dcterms:modified>
</cp:coreProperties>
</file>