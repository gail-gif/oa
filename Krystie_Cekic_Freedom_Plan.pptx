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31.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86" r:id="rId37"/>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417e0172-c641-9f94-7c44-aaac5bea8d6c}">
          <p14:sldIdLst>
            <p14:sldId id="256"/>
          </p14:sldIdLst>
        </p14:section>
        <p14:section name="Getting oriented" id="{fb90ef12-b11e-0163-bfcc-ebd09ec4c9f1}">
          <p14:sldIdLst>
            <p14:sldId id="257"/>
          </p14:sldIdLst>
        </p14:section>
        <p14:section name="Part A: Our Recommendation" id="{44ac627f-39ca-05da-1752-eb783245ef15}">
          <p14:sldIdLst>
            <p14:sldId id="258"/>
            <p14:sldId id="259"/>
            <p14:sldId id="260"/>
            <p14:sldId id="261"/>
            <p14:sldId id="262"/>
            <p14:sldId id="263"/>
            <p14:sldId id="264"/>
            <p14:sldId id="265"/>
            <p14:sldId id="266"/>
          </p14:sldIdLst>
        </p14:section>
        <p14:section name="Part B: Your Freedom Playbook" id="{ed8888ad-7452-6a93-a7f1-06a5ab604da6}">
          <p14:sldIdLst>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  <Relationship Id="rId37" Type="http://schemas.openxmlformats.org/officeDocument/2006/relationships/slide" Target="slides/slide3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1 of Krystie Cekic’s Freedom Plan for the Events Admin Coordinator role at The Play Agency, built from the 16 October 2026 Freedom Audit and the 20 October 2026 Alignment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short ‘user manual’ for working with Krystie. The first column is pre-filled from the Freedom Audit and Alignment Session; the rest is completed together in Week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P Cover">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P Divider">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630936" y="6446520"/>
            <a:ext cx="5486400" cy="228600"/>
          </a:xfrm>
          <a:prstGeom prst="rect">
            <a:avLst/>
          </a:prstGeom>
          <a:noFill/>
          <a:ln/>
        </p:spPr>
        <p:txBody>
          <a:bodyPr wrap="square" lIns="0" tIns="0" rIns="0" bIns="0" rtlCol="0" anchor="ctr"/>
          <a:lstStyle/>
          <a:p>
            <a:pPr indent="0" marL="0">
              <a:buNone/>
            </a:pPr>
            <a:r>
              <a:rPr lang="en-US" sz="800" spc="200" kern="0" dirty="0">
                <a:solidFill>
                  <a:srgbClr val="AEB9BD"/>
                </a:solidFill>
              </a:rPr>
              <a:t>OUTSOURCING ANGEL  ·  THE FREEDOM PLAN™</a:t>
            </a:r>
            <a:endParaRPr lang="en-US" sz="800" dirty="0"/>
          </a:p>
        </p:txBody>
      </p:sp>
      <p:sp>
        <p:nvSpPr>
          <p:cNvPr id="3" name="Text 1"/>
          <p:cNvSpPr/>
          <p:nvPr>
            <p:ph idx="101" type="body" hasCustomPrompt="1"/>
          </p:nvPr>
        </p:nvSpPr>
        <p:spPr>
          <a:xfrm>
            <a:off x="630936" y="2148840"/>
            <a:ext cx="8229600" cy="320040"/>
          </a:xfrm>
          <a:prstGeom prst="rect">
            <a:avLst/>
          </a:prstGeom>
          <a:noFill/>
          <a:ln/>
        </p:spPr>
        <p:txBody>
          <a:bodyPr wrap="square" rtlCol="0"/>
          <a:lstStyle>
            <a:lvl1pPr indent="0" marL="0">
              <a:buNone/>
              <a:defRPr lang="en-US" sz="1200" b="1" spc="300" kern="0" dirty="0">
                <a:solidFill>
                  <a:srgbClr val="7FE0C2"/>
                </a:solidFill>
              </a:defRPr>
            </a:lvl1pPr>
          </a:lstStyle>
          <a:p>
            <a:pPr indent="0" marL="0">
              <a:buNone/>
            </a:pPr>
            <a:endParaRPr lang="en-US" sz="1200" dirty="0"/>
          </a:p>
        </p:txBody>
      </p:sp>
      <p:sp>
        <p:nvSpPr>
          <p:cNvPr id="4" name="Text 1"/>
          <p:cNvSpPr/>
          <p:nvPr>
            <p:ph idx="102" type="title" hasCustomPrompt="1"/>
          </p:nvPr>
        </p:nvSpPr>
        <p:spPr>
          <a:xfrm>
            <a:off x="630936" y="2560320"/>
            <a:ext cx="9144000" cy="91440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5" name="Text 1"/>
          <p:cNvSpPr/>
          <p:nvPr>
            <p:ph idx="103" type="body" hasCustomPrompt="1"/>
          </p:nvPr>
        </p:nvSpPr>
        <p:spPr>
          <a:xfrm>
            <a:off x="630936" y="3611880"/>
            <a:ext cx="7863840" cy="1005840"/>
          </a:xfrm>
          <a:prstGeom prst="rect">
            <a:avLst/>
          </a:prstGeom>
          <a:noFill/>
          <a:ln/>
        </p:spPr>
        <p:txBody>
          <a:bodyPr wrap="square" rtlCol="0"/>
          <a:lstStyle>
            <a:lvl1pPr indent="0" marL="0">
              <a:buNone/>
              <a:defRPr lang="en-US" sz="1500" dirty="0">
                <a:solidFill>
                  <a:srgbClr val="DBE3E6"/>
                </a:solidFill>
              </a:defRPr>
            </a:lvl1pPr>
          </a:lstStyle>
          <a:p>
            <a:pPr indent="0" marL="0">
              <a:buNone/>
            </a:pPr>
            <a:endParaRPr lang="en-US" sz="150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AEB9BD"/>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P 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630936" y="6446520"/>
            <a:ext cx="5486400" cy="228600"/>
          </a:xfrm>
          <a:prstGeom prst="rect">
            <a:avLst/>
          </a:prstGeom>
          <a:noFill/>
          <a:ln/>
        </p:spPr>
        <p:txBody>
          <a:bodyPr wrap="square" lIns="0" tIns="0" rIns="0" bIns="0" rtlCol="0" anchor="ctr"/>
          <a:lstStyle/>
          <a:p>
            <a:pPr indent="0" marL="0">
              <a:buNone/>
            </a:pPr>
            <a:r>
              <a:rPr lang="en-US" sz="800" spc="200" kern="0" dirty="0">
                <a:solidFill>
                  <a:schemeClr val="accent3"/>
                </a:solidFill>
              </a:rPr>
              <a:t>OUTSOURCING ANGEL  ·  THE FREEDOM PLAN™</a:t>
            </a:r>
            <a:endParaRPr lang="en-US" sz="800" dirty="0"/>
          </a:p>
        </p:txBody>
      </p:sp>
      <p:sp>
        <p:nvSpPr>
          <p:cNvPr id="3" name="Text 1"/>
          <p:cNvSpPr/>
          <p:nvPr>
            <p:ph idx="101" type="body" hasCustomPrompt="1"/>
          </p:nvPr>
        </p:nvSpPr>
        <p:spPr>
          <a:xfrm>
            <a:off x="630936" y="411480"/>
            <a:ext cx="10058400" cy="274320"/>
          </a:xfrm>
          <a:prstGeom prst="rect">
            <a:avLst/>
          </a:prstGeom>
          <a:noFill/>
          <a:ln/>
        </p:spPr>
        <p:txBody>
          <a:bodyPr wrap="square" rtlCol="0"/>
          <a:lstStyle>
            <a:lvl1pPr indent="0" marL="0">
              <a:buNone/>
              <a:defRPr lang="en-US" sz="1100" b="1" spc="200" kern="0" dirty="0">
                <a:solidFill>
                  <a:schemeClr val="accent1"/>
                </a:solidFill>
              </a:defRPr>
            </a:lvl1pPr>
          </a:lstStyle>
          <a:p>
            <a:pPr indent="0" marL="0">
              <a:buNone/>
            </a:pPr>
            <a:endParaRPr lang="en-US" sz="1100" dirty="0"/>
          </a:p>
        </p:txBody>
      </p:sp>
      <p:sp>
        <p:nvSpPr>
          <p:cNvPr id="4" name="Text 1"/>
          <p:cNvSpPr/>
          <p:nvPr>
            <p:ph idx="102" type="title" hasCustomPrompt="1"/>
          </p:nvPr>
        </p:nvSpPr>
        <p:spPr>
          <a:xfrm>
            <a:off x="630936" y="731520"/>
            <a:ext cx="10515600" cy="594360"/>
          </a:xfrm>
          <a:prstGeom prst="rect">
            <a:avLst/>
          </a:prstGeom>
          <a:noFill/>
          <a:ln/>
        </p:spPr>
        <p:txBody>
          <a:bodyPr wrap="square" rtlCol="0"/>
          <a:lstStyle>
            <a:lvl1pPr algn="l" indent="0" marL="0">
              <a:buNone/>
              <a:defRPr lang="en-US" sz="30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AEB9BD"/>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4.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 circle top"/>
          <p:cNvSpPr/>
          <p:nvPr/>
        </p:nvSpPr>
        <p:spPr>
          <a:xfrm>
            <a:off x="9966960" y="-1463040"/>
            <a:ext cx="4023360" cy="4023360"/>
          </a:xfrm>
          <a:prstGeom prst="ellipse">
            <a:avLst/>
          </a:prstGeom>
          <a:solidFill>
            <a:srgbClr val="263240"/>
          </a:solidFill>
          <a:ln/>
        </p:spPr>
      </p:sp>
      <p:sp>
        <p:nvSpPr>
          <p:cNvPr id="3" name="cover circle"/>
          <p:cNvSpPr/>
          <p:nvPr/>
        </p:nvSpPr>
        <p:spPr>
          <a:xfrm>
            <a:off x="-1280160" y="4937760"/>
            <a:ext cx="3291840" cy="3291840"/>
          </a:xfrm>
          <a:prstGeom prst="ellipse">
            <a:avLst/>
          </a:prstGeom>
          <a:solidFill>
            <a:srgbClr val="263240"/>
          </a:solidFill>
          <a:ln/>
        </p:spPr>
      </p:sp>
      <p:sp>
        <p:nvSpPr>
          <p:cNvPr id="4" name="logo plate"/>
          <p:cNvSpPr/>
          <p:nvPr/>
        </p:nvSpPr>
        <p:spPr>
          <a:xfrm>
            <a:off x="630936" y="566928"/>
            <a:ext cx="2468880" cy="502920"/>
          </a:xfrm>
          <a:prstGeom prst="roundRect">
            <a:avLst>
              <a:gd name="adj" fmla="val 14545"/>
            </a:avLst>
          </a:prstGeom>
          <a:solidFill>
            <a:schemeClr val="bg1"/>
          </a:solidFill>
          <a:ln/>
        </p:spPr>
      </p:sp>
      <p:sp>
        <p:nvSpPr>
          <p:cNvPr id="5" name="Text 3"/>
          <p:cNvSpPr txBox="1"/>
          <p:nvPr/>
        </p:nvSpPr>
        <p:spPr>
          <a:xfrm>
            <a:off x="630936" y="566928"/>
            <a:ext cx="2468880" cy="502920"/>
          </a:xfrm>
          <a:prstGeom prst="rect">
            <a:avLst/>
          </a:prstGeom>
          <a:noFill/>
          <a:ln/>
        </p:spPr>
        <p:txBody>
          <a:bodyPr wrap="square" lIns="0" tIns="0" rIns="0" bIns="0" rtlCol="0" anchor="ctr"/>
          <a:lstStyle/>
          <a:p>
            <a:pPr algn="ctr" indent="0" marL="0">
              <a:buNone/>
            </a:pPr>
            <a:r>
              <a:rPr lang="en-US" sz="1300" b="1" dirty="0">
                <a:solidFill>
                  <a:schemeClr val="accent1"/>
                </a:solidFill>
              </a:rPr>
              <a:t>OUTSOURCING</a:t>
            </a:r>
            <a:pPr algn="ctr" indent="0" marL="0">
              <a:buNone/>
            </a:pPr>
            <a:r>
              <a:rPr lang="en-US" sz="1300" b="1" dirty="0">
                <a:solidFill>
                  <a:schemeClr val="tx1"/>
                </a:solidFill>
              </a:rPr>
              <a:t>ANGEL</a:t>
            </a:r>
            <a:endParaRPr lang="en-US" sz="1300" dirty="0"/>
          </a:p>
        </p:txBody>
      </p:sp>
      <p:sp>
        <p:nvSpPr>
          <p:cNvPr id="6" name="Text 4"/>
          <p:cNvSpPr txBox="1"/>
          <p:nvPr/>
        </p:nvSpPr>
        <p:spPr>
          <a:xfrm>
            <a:off x="630936" y="1417320"/>
            <a:ext cx="7315200" cy="274320"/>
          </a:xfrm>
          <a:prstGeom prst="rect">
            <a:avLst/>
          </a:prstGeom>
          <a:noFill/>
          <a:ln/>
        </p:spPr>
        <p:txBody>
          <a:bodyPr wrap="square" lIns="0" tIns="0" rIns="0" bIns="0" rtlCol="0" anchor="ctr"/>
          <a:lstStyle/>
          <a:p>
            <a:pPr indent="0" marL="0">
              <a:buNone/>
            </a:pPr>
            <a:r>
              <a:rPr lang="en-US" sz="1200" b="1" spc="300" kern="0" dirty="0">
                <a:solidFill>
                  <a:srgbClr val="7FE0C2"/>
                </a:solidFill>
              </a:rPr>
              <a:t>A LIVING DOCUMENT  ·  VERSION 1</a:t>
            </a:r>
            <a:endParaRPr lang="en-US" sz="1200" dirty="0"/>
          </a:p>
        </p:txBody>
      </p:sp>
      <p:sp>
        <p:nvSpPr>
          <p:cNvPr id="7" name="Text 5"/>
          <p:cNvSpPr txBox="1"/>
          <p:nvPr/>
        </p:nvSpPr>
        <p:spPr>
          <a:xfrm>
            <a:off x="630936" y="1783080"/>
            <a:ext cx="7315200" cy="1417320"/>
          </a:xfrm>
          <a:prstGeom prst="rect">
            <a:avLst/>
          </a:prstGeom>
          <a:noFill/>
          <a:ln/>
        </p:spPr>
        <p:txBody>
          <a:bodyPr wrap="square" lIns="0" tIns="0" rIns="0" bIns="0" rtlCol="0" anchor="t"/>
          <a:lstStyle/>
          <a:p>
            <a:pPr indent="0" marL="0">
              <a:buNone/>
            </a:pPr>
            <a:r>
              <a:rPr lang="en-US" sz="4800" b="1" dirty="0">
                <a:solidFill>
                  <a:schemeClr val="bg1"/>
                </a:solidFill>
                <a:latin typeface="Cambria" pitchFamily="34" charset="0"/>
                <a:ea typeface="Cambria" pitchFamily="34" charset="-122"/>
                <a:cs typeface="Cambria" pitchFamily="34" charset="-120"/>
              </a:rPr>
              <a:t>THE FREEDOM</a:t>
            </a:r>
            <a:endParaRPr lang="en-US" sz="4800" dirty="0"/>
          </a:p>
          <a:p>
            <a:pPr indent="0" marL="0">
              <a:buNone/>
            </a:pPr>
            <a:r>
              <a:rPr lang="en-US" sz="4800" b="1" dirty="0">
                <a:solidFill>
                  <a:schemeClr val="accent2"/>
                </a:solidFill>
                <a:latin typeface="Cambria" pitchFamily="34" charset="0"/>
                <a:ea typeface="Cambria" pitchFamily="34" charset="-122"/>
                <a:cs typeface="Cambria" pitchFamily="34" charset="-120"/>
              </a:rPr>
              <a:t>PLAN™</a:t>
            </a:r>
            <a:endParaRPr lang="en-US" sz="4800" dirty="0"/>
          </a:p>
        </p:txBody>
      </p:sp>
      <p:sp>
        <p:nvSpPr>
          <p:cNvPr id="8" name="Text 6"/>
          <p:cNvSpPr txBox="1"/>
          <p:nvPr/>
        </p:nvSpPr>
        <p:spPr>
          <a:xfrm>
            <a:off x="630936" y="3383280"/>
            <a:ext cx="8229600" cy="365760"/>
          </a:xfrm>
          <a:prstGeom prst="rect">
            <a:avLst/>
          </a:prstGeom>
          <a:noFill/>
          <a:ln/>
        </p:spPr>
        <p:txBody>
          <a:bodyPr wrap="square" lIns="0" tIns="0" rIns="0" bIns="0" rtlCol="0" anchor="ctr"/>
          <a:lstStyle/>
          <a:p>
            <a:pPr indent="0" marL="0">
              <a:buNone/>
            </a:pPr>
            <a:r>
              <a:rPr lang="en-US" sz="1700" dirty="0">
                <a:solidFill>
                  <a:schemeClr val="bg1"/>
                </a:solidFill>
              </a:rPr>
              <a:t>Prepared for </a:t>
            </a:r>
            <a:pPr indent="0" marL="0">
              <a:buNone/>
            </a:pPr>
            <a:r>
              <a:rPr lang="en-US" sz="1700" b="1" dirty="0">
                <a:solidFill>
                  <a:schemeClr val="bg1"/>
                </a:solidFill>
              </a:rPr>
              <a:t>Krystie Cekic</a:t>
            </a:r>
            <a:pPr indent="0" marL="0">
              <a:buNone/>
            </a:pPr>
            <a:r>
              <a:rPr lang="en-US" sz="1700" dirty="0">
                <a:solidFill>
                  <a:schemeClr val="bg1"/>
                </a:solidFill>
              </a:rPr>
              <a:t>  |  </a:t>
            </a:r>
            <a:pPr indent="0" marL="0">
              <a:buNone/>
            </a:pPr>
            <a:r>
              <a:rPr lang="en-US" sz="1700" b="1" dirty="0">
                <a:solidFill>
                  <a:schemeClr val="bg1"/>
                </a:solidFill>
              </a:rPr>
              <a:t>The Play Agency</a:t>
            </a:r>
            <a:endParaRPr lang="en-US" sz="1700" dirty="0"/>
          </a:p>
        </p:txBody>
      </p:sp>
      <p:sp>
        <p:nvSpPr>
          <p:cNvPr id="9" name="Text 7"/>
          <p:cNvSpPr txBox="1"/>
          <p:nvPr/>
        </p:nvSpPr>
        <p:spPr>
          <a:xfrm>
            <a:off x="630936" y="3931920"/>
            <a:ext cx="7589520" cy="914400"/>
          </a:xfrm>
          <a:prstGeom prst="rect">
            <a:avLst/>
          </a:prstGeom>
          <a:noFill/>
          <a:ln/>
        </p:spPr>
        <p:txBody>
          <a:bodyPr wrap="square" lIns="0" tIns="0" rIns="0" bIns="0" rtlCol="0" anchor="t"/>
          <a:lstStyle/>
          <a:p>
            <a:pPr indent="0" marL="0">
              <a:buNone/>
            </a:pPr>
            <a:r>
              <a:rPr lang="en-US" sz="1300" dirty="0">
                <a:solidFill>
                  <a:srgbClr val="AEB9BD"/>
                </a:solidFill>
              </a:rPr>
              <a:t>Your plan for building a trusted Events Admin Coordinator through Outsourcing Angel’s 5D Freedom Staffing System™. Part A is our recommendation. Part B is your Freedom Playbook: the part you, your Coordinator and our team keep using for the whole relationship.</a:t>
            </a:r>
            <a:endParaRPr lang="en-US" sz="1300" dirty="0"/>
          </a:p>
        </p:txBody>
      </p:sp>
      <p:sp>
        <p:nvSpPr>
          <p:cNvPr id="10" name="Text 8"/>
          <p:cNvSpPr txBox="1"/>
          <p:nvPr/>
        </p:nvSpPr>
        <p:spPr>
          <a:xfrm>
            <a:off x="630936" y="6263640"/>
            <a:ext cx="8229600" cy="274320"/>
          </a:xfrm>
          <a:prstGeom prst="rect">
            <a:avLst/>
          </a:prstGeom>
          <a:noFill/>
          <a:ln/>
        </p:spPr>
        <p:txBody>
          <a:bodyPr wrap="square" lIns="0" tIns="0" rIns="0" bIns="0" rtlCol="0" anchor="ctr"/>
          <a:lstStyle/>
          <a:p>
            <a:pPr indent="0" marL="0">
              <a:buNone/>
            </a:pPr>
            <a:r>
              <a:rPr lang="en-US" sz="1000" dirty="0">
                <a:solidFill>
                  <a:srgbClr val="AEB9BD"/>
                </a:solidFill>
              </a:rPr>
              <a:t>Version 1  ·  October 2026  ·  Prepared by Gail Galima-Mendoza, Outsourcing Angel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GETTING ORIENTED</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How to use your Freedom Plan</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Built from your Freedom Audit: your time, your bottlenecks and your goals. It has two parts, and one of them grows with you.</a:t>
            </a:r>
            <a:endParaRPr lang="en-US" sz="1300" dirty="0"/>
          </a:p>
        </p:txBody>
      </p:sp>
      <p:sp>
        <p:nvSpPr>
          <p:cNvPr id="5" name="card"/>
          <p:cNvSpPr/>
          <p:nvPr/>
        </p:nvSpPr>
        <p:spPr>
          <a:xfrm>
            <a:off x="630936" y="1965960"/>
            <a:ext cx="5327752" cy="1965960"/>
          </a:xfrm>
          <a:prstGeom prst="roundRect">
            <a:avLst>
              <a:gd name="adj" fmla="val 3721"/>
            </a:avLst>
          </a:prstGeom>
          <a:solidFill>
            <a:schemeClr val="bg1"/>
          </a:solidFill>
          <a:ln w="12700">
            <a:solidFill>
              <a:schemeClr val="accent5"/>
            </a:solidFill>
            <a:prstDash val="solid"/>
          </a:ln>
        </p:spPr>
      </p:sp>
      <p:sp>
        <p:nvSpPr>
          <p:cNvPr id="6" name="Text 4"/>
          <p:cNvSpPr txBox="1"/>
          <p:nvPr/>
        </p:nvSpPr>
        <p:spPr>
          <a:xfrm>
            <a:off x="950976" y="2194560"/>
            <a:ext cx="27432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PART A</a:t>
            </a:r>
            <a:endParaRPr lang="en-US" sz="1050" dirty="0"/>
          </a:p>
        </p:txBody>
      </p:sp>
      <p:sp>
        <p:nvSpPr>
          <p:cNvPr id="7" name="Text 5"/>
          <p:cNvSpPr txBox="1"/>
          <p:nvPr/>
        </p:nvSpPr>
        <p:spPr>
          <a:xfrm>
            <a:off x="950976" y="2468880"/>
            <a:ext cx="4687672" cy="45720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Our Recommendation</a:t>
            </a:r>
            <a:endParaRPr lang="en-US" sz="2000" dirty="0"/>
          </a:p>
        </p:txBody>
      </p:sp>
      <p:sp>
        <p:nvSpPr>
          <p:cNvPr id="8" name="Text 6"/>
          <p:cNvSpPr txBox="1"/>
          <p:nvPr/>
        </p:nvSpPr>
        <p:spPr>
          <a:xfrm>
            <a:off x="950976" y="2971800"/>
            <a:ext cx="4687672" cy="548640"/>
          </a:xfrm>
          <a:prstGeom prst="rect">
            <a:avLst/>
          </a:prstGeom>
          <a:noFill/>
          <a:ln/>
        </p:spPr>
        <p:txBody>
          <a:bodyPr wrap="square" lIns="0" tIns="0" rIns="0" bIns="0" rtlCol="0" anchor="t"/>
          <a:lstStyle/>
          <a:p>
            <a:pPr indent="0" marL="0">
              <a:buNone/>
            </a:pPr>
            <a:r>
              <a:rPr lang="en-US" sz="1250" dirty="0">
                <a:solidFill>
                  <a:schemeClr val="accent3"/>
                </a:solidFill>
              </a:rPr>
              <a:t>What we heard, the role we recommend, your workflow and investment. Read it once, use it to decide.</a:t>
            </a:r>
            <a:endParaRPr lang="en-US" sz="1250" dirty="0"/>
          </a:p>
        </p:txBody>
      </p:sp>
      <p:sp>
        <p:nvSpPr>
          <p:cNvPr id="9" name="Text 7"/>
          <p:cNvSpPr txBox="1"/>
          <p:nvPr/>
        </p:nvSpPr>
        <p:spPr>
          <a:xfrm>
            <a:off x="950976" y="3520440"/>
            <a:ext cx="4687672" cy="274320"/>
          </a:xfrm>
          <a:prstGeom prst="rect">
            <a:avLst/>
          </a:prstGeom>
          <a:noFill/>
          <a:ln/>
        </p:spPr>
        <p:txBody>
          <a:bodyPr wrap="square" lIns="0" tIns="0" rIns="0" bIns="0" rtlCol="0" anchor="ctr"/>
          <a:lstStyle/>
          <a:p>
            <a:pPr indent="0" marL="0">
              <a:buNone/>
            </a:pPr>
            <a:r>
              <a:rPr lang="en-US" sz="1150" b="1" dirty="0">
                <a:solidFill>
                  <a:schemeClr val="accent1"/>
                </a:solidFill>
              </a:rPr>
              <a:t>Used once, before you hire</a:t>
            </a:r>
            <a:endParaRPr lang="en-US" sz="1150" dirty="0"/>
          </a:p>
        </p:txBody>
      </p:sp>
      <p:sp>
        <p:nvSpPr>
          <p:cNvPr id="10" name="card"/>
          <p:cNvSpPr/>
          <p:nvPr/>
        </p:nvSpPr>
        <p:spPr>
          <a:xfrm>
            <a:off x="6233008" y="1965960"/>
            <a:ext cx="5327752" cy="1965960"/>
          </a:xfrm>
          <a:prstGeom prst="roundRect">
            <a:avLst>
              <a:gd name="adj" fmla="val 3721"/>
            </a:avLst>
          </a:prstGeom>
          <a:solidFill>
            <a:schemeClr val="accent4"/>
          </a:solidFill>
          <a:ln/>
        </p:spPr>
      </p:sp>
      <p:sp>
        <p:nvSpPr>
          <p:cNvPr id="11" name="Text 9"/>
          <p:cNvSpPr txBox="1"/>
          <p:nvPr/>
        </p:nvSpPr>
        <p:spPr>
          <a:xfrm>
            <a:off x="6553048" y="2194560"/>
            <a:ext cx="27432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PART B</a:t>
            </a:r>
            <a:endParaRPr lang="en-US" sz="1050" dirty="0"/>
          </a:p>
        </p:txBody>
      </p:sp>
      <p:sp>
        <p:nvSpPr>
          <p:cNvPr id="12" name="Text 10"/>
          <p:cNvSpPr txBox="1"/>
          <p:nvPr/>
        </p:nvSpPr>
        <p:spPr>
          <a:xfrm>
            <a:off x="6553048" y="2468880"/>
            <a:ext cx="4687672" cy="45720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Your Freedom Playbook</a:t>
            </a:r>
            <a:endParaRPr lang="en-US" sz="2000" dirty="0"/>
          </a:p>
        </p:txBody>
      </p:sp>
      <p:sp>
        <p:nvSpPr>
          <p:cNvPr id="13" name="Text 11"/>
          <p:cNvSpPr txBox="1"/>
          <p:nvPr/>
        </p:nvSpPr>
        <p:spPr>
          <a:xfrm>
            <a:off x="6553048" y="2971800"/>
            <a:ext cx="4687672" cy="548640"/>
          </a:xfrm>
          <a:prstGeom prst="rect">
            <a:avLst/>
          </a:prstGeom>
          <a:noFill/>
          <a:ln/>
        </p:spPr>
        <p:txBody>
          <a:bodyPr wrap="square" lIns="0" tIns="0" rIns="0" bIns="0" rtlCol="0" anchor="t"/>
          <a:lstStyle/>
          <a:p>
            <a:pPr indent="0" marL="0">
              <a:buNone/>
            </a:pPr>
            <a:r>
              <a:rPr lang="en-US" sz="1250" dirty="0">
                <a:solidFill>
                  <a:schemeClr val="accent3"/>
                </a:solidFill>
              </a:rPr>
              <a:t>A first-time starter pack, your 12-month journey, scorecard, KPIs, delegation list, SOP library and wins.</a:t>
            </a:r>
            <a:endParaRPr lang="en-US" sz="1250" dirty="0"/>
          </a:p>
        </p:txBody>
      </p:sp>
      <p:sp>
        <p:nvSpPr>
          <p:cNvPr id="14" name="Text 12"/>
          <p:cNvSpPr txBox="1"/>
          <p:nvPr/>
        </p:nvSpPr>
        <p:spPr>
          <a:xfrm>
            <a:off x="6553048" y="3520440"/>
            <a:ext cx="4687672" cy="274320"/>
          </a:xfrm>
          <a:prstGeom prst="rect">
            <a:avLst/>
          </a:prstGeom>
          <a:noFill/>
          <a:ln/>
        </p:spPr>
        <p:txBody>
          <a:bodyPr wrap="square" lIns="0" tIns="0" rIns="0" bIns="0" rtlCol="0" anchor="ctr"/>
          <a:lstStyle/>
          <a:p>
            <a:pPr indent="0" marL="0">
              <a:buNone/>
            </a:pPr>
            <a:r>
              <a:rPr lang="en-US" sz="1150" b="1" dirty="0">
                <a:solidFill>
                  <a:schemeClr val="accent1"/>
                </a:solidFill>
              </a:rPr>
              <a:t>Used for the whole relationship</a:t>
            </a:r>
            <a:endParaRPr lang="en-US" sz="1150" dirty="0"/>
          </a:p>
        </p:txBody>
      </p:sp>
      <p:sp>
        <p:nvSpPr>
          <p:cNvPr id="15" name="Text 13"/>
          <p:cNvSpPr txBox="1"/>
          <p:nvPr/>
        </p:nvSpPr>
        <p:spPr>
          <a:xfrm>
            <a:off x="630936" y="4206240"/>
            <a:ext cx="45720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WHO KEEPS IT ALIVE</a:t>
            </a:r>
            <a:endParaRPr lang="en-US" sz="1050" dirty="0"/>
          </a:p>
        </p:txBody>
      </p:sp>
      <p:sp>
        <p:nvSpPr>
          <p:cNvPr id="16" name="who 1 circle"/>
          <p:cNvSpPr/>
          <p:nvPr/>
        </p:nvSpPr>
        <p:spPr>
          <a:xfrm>
            <a:off x="630936" y="4572000"/>
            <a:ext cx="457200" cy="457200"/>
          </a:xfrm>
          <a:prstGeom prst="ellipse">
            <a:avLst/>
          </a:prstGeom>
          <a:solidFill>
            <a:schemeClr val="accent1"/>
          </a:solidFill>
          <a:ln/>
        </p:spPr>
      </p:sp>
      <p:pic>
        <p:nvPicPr>
          <p:cNvPr id="17" name="who 1" descr="who 1">    </p:cNvPr>
          <p:cNvPicPr>
            <a:picLocks noChangeAspect="1"/>
          </p:cNvPicPr>
          <p:nvPr/>
        </p:nvPicPr>
        <p:blipFill>
          <a:blip r:embed="rId1"/>
          <a:stretch>
            <a:fillRect/>
          </a:stretch>
        </p:blipFill>
        <p:spPr>
          <a:xfrm>
            <a:off x="745236" y="4686300"/>
            <a:ext cx="228600" cy="228600"/>
          </a:xfrm>
          <a:prstGeom prst="rect">
            <a:avLst/>
          </a:prstGeom>
        </p:spPr>
      </p:pic>
      <p:sp>
        <p:nvSpPr>
          <p:cNvPr id="18" name="Text 15"/>
          <p:cNvSpPr txBox="1"/>
          <p:nvPr/>
        </p:nvSpPr>
        <p:spPr>
          <a:xfrm>
            <a:off x="1225296" y="4553712"/>
            <a:ext cx="2866034" cy="274320"/>
          </a:xfrm>
          <a:prstGeom prst="rect">
            <a:avLst/>
          </a:prstGeom>
          <a:noFill/>
          <a:ln/>
        </p:spPr>
        <p:txBody>
          <a:bodyPr wrap="square" lIns="0" tIns="0" rIns="0" bIns="0" rtlCol="0" anchor="ctr"/>
          <a:lstStyle/>
          <a:p>
            <a:pPr indent="0" marL="0">
              <a:buNone/>
            </a:pPr>
            <a:r>
              <a:rPr lang="en-US" sz="1300" b="1" dirty="0">
                <a:solidFill>
                  <a:schemeClr val="tx1"/>
                </a:solidFill>
              </a:rPr>
              <a:t>Krystie</a:t>
            </a:r>
            <a:endParaRPr lang="en-US" sz="1300" dirty="0"/>
          </a:p>
        </p:txBody>
      </p:sp>
      <p:sp>
        <p:nvSpPr>
          <p:cNvPr id="19" name="Text 16"/>
          <p:cNvSpPr txBox="1"/>
          <p:nvPr/>
        </p:nvSpPr>
        <p:spPr>
          <a:xfrm>
            <a:off x="1225296" y="4846320"/>
            <a:ext cx="2866034" cy="685800"/>
          </a:xfrm>
          <a:prstGeom prst="rect">
            <a:avLst/>
          </a:prstGeom>
          <a:noFill/>
          <a:ln/>
        </p:spPr>
        <p:txBody>
          <a:bodyPr wrap="square" lIns="0" tIns="0" rIns="0" bIns="0" rtlCol="0" anchor="t"/>
          <a:lstStyle/>
          <a:p>
            <a:pPr indent="0" marL="0">
              <a:buNone/>
            </a:pPr>
            <a:r>
              <a:rPr lang="en-US" sz="1150" dirty="0">
                <a:solidFill>
                  <a:schemeClr val="accent3"/>
                </a:solidFill>
              </a:rPr>
              <a:t>Brings it to every check-in and adds to the “Next to delegate” list</a:t>
            </a:r>
            <a:endParaRPr lang="en-US" sz="1150" dirty="0"/>
          </a:p>
        </p:txBody>
      </p:sp>
      <p:sp>
        <p:nvSpPr>
          <p:cNvPr id="20" name="who 2 circle"/>
          <p:cNvSpPr/>
          <p:nvPr/>
        </p:nvSpPr>
        <p:spPr>
          <a:xfrm>
            <a:off x="4319930" y="4572000"/>
            <a:ext cx="457200" cy="457200"/>
          </a:xfrm>
          <a:prstGeom prst="ellipse">
            <a:avLst/>
          </a:prstGeom>
          <a:solidFill>
            <a:schemeClr val="accent1"/>
          </a:solidFill>
          <a:ln/>
        </p:spPr>
      </p:sp>
      <p:pic>
        <p:nvPicPr>
          <p:cNvPr id="21" name="who 2" descr="who 2">    </p:cNvPr>
          <p:cNvPicPr>
            <a:picLocks noChangeAspect="1"/>
          </p:cNvPicPr>
          <p:nvPr/>
        </p:nvPicPr>
        <p:blipFill>
          <a:blip r:embed="rId2"/>
          <a:stretch>
            <a:fillRect/>
          </a:stretch>
        </p:blipFill>
        <p:spPr>
          <a:xfrm>
            <a:off x="4434230" y="4686300"/>
            <a:ext cx="228600" cy="228600"/>
          </a:xfrm>
          <a:prstGeom prst="rect">
            <a:avLst/>
          </a:prstGeom>
        </p:spPr>
      </p:pic>
      <p:sp>
        <p:nvSpPr>
          <p:cNvPr id="22" name="Text 18"/>
          <p:cNvSpPr txBox="1"/>
          <p:nvPr/>
        </p:nvSpPr>
        <p:spPr>
          <a:xfrm>
            <a:off x="4914290" y="4553712"/>
            <a:ext cx="2866034" cy="274320"/>
          </a:xfrm>
          <a:prstGeom prst="rect">
            <a:avLst/>
          </a:prstGeom>
          <a:noFill/>
          <a:ln/>
        </p:spPr>
        <p:txBody>
          <a:bodyPr wrap="square" lIns="0" tIns="0" rIns="0" bIns="0" rtlCol="0" anchor="ctr"/>
          <a:lstStyle/>
          <a:p>
            <a:pPr indent="0" marL="0">
              <a:buNone/>
            </a:pPr>
            <a:r>
              <a:rPr lang="en-US" sz="1300" b="1" dirty="0">
                <a:solidFill>
                  <a:schemeClr val="tx1"/>
                </a:solidFill>
              </a:rPr>
              <a:t>Your Coordinator</a:t>
            </a:r>
            <a:endParaRPr lang="en-US" sz="1300" dirty="0"/>
          </a:p>
        </p:txBody>
      </p:sp>
      <p:sp>
        <p:nvSpPr>
          <p:cNvPr id="23" name="Text 19"/>
          <p:cNvSpPr txBox="1"/>
          <p:nvPr/>
        </p:nvSpPr>
        <p:spPr>
          <a:xfrm>
            <a:off x="4914290" y="4846320"/>
            <a:ext cx="2866034" cy="685800"/>
          </a:xfrm>
          <a:prstGeom prst="rect">
            <a:avLst/>
          </a:prstGeom>
          <a:noFill/>
          <a:ln/>
        </p:spPr>
        <p:txBody>
          <a:bodyPr wrap="square" lIns="0" tIns="0" rIns="0" bIns="0" rtlCol="0" anchor="t"/>
          <a:lstStyle/>
          <a:p>
            <a:pPr indent="0" marL="0">
              <a:buNone/>
            </a:pPr>
            <a:r>
              <a:rPr lang="en-US" sz="1150" dirty="0">
                <a:solidFill>
                  <a:schemeClr val="accent3"/>
                </a:solidFill>
              </a:rPr>
              <a:t>Updates the SOP library and wins log, and self-assesses at each review</a:t>
            </a:r>
            <a:endParaRPr lang="en-US" sz="1150" dirty="0"/>
          </a:p>
        </p:txBody>
      </p:sp>
      <p:sp>
        <p:nvSpPr>
          <p:cNvPr id="24" name="who 3 circle"/>
          <p:cNvSpPr/>
          <p:nvPr/>
        </p:nvSpPr>
        <p:spPr>
          <a:xfrm>
            <a:off x="8008925" y="4572000"/>
            <a:ext cx="457200" cy="457200"/>
          </a:xfrm>
          <a:prstGeom prst="ellipse">
            <a:avLst/>
          </a:prstGeom>
          <a:solidFill>
            <a:schemeClr val="accent1"/>
          </a:solidFill>
          <a:ln/>
        </p:spPr>
      </p:sp>
      <p:pic>
        <p:nvPicPr>
          <p:cNvPr id="25" name="who 3" descr="who 3">    </p:cNvPr>
          <p:cNvPicPr>
            <a:picLocks noChangeAspect="1"/>
          </p:cNvPicPr>
          <p:nvPr/>
        </p:nvPicPr>
        <p:blipFill>
          <a:blip r:embed="rId3"/>
          <a:stretch>
            <a:fillRect/>
          </a:stretch>
        </p:blipFill>
        <p:spPr>
          <a:xfrm>
            <a:off x="8123225" y="4686300"/>
            <a:ext cx="228600" cy="228600"/>
          </a:xfrm>
          <a:prstGeom prst="rect">
            <a:avLst/>
          </a:prstGeom>
        </p:spPr>
      </p:pic>
      <p:sp>
        <p:nvSpPr>
          <p:cNvPr id="26" name="Text 21"/>
          <p:cNvSpPr txBox="1"/>
          <p:nvPr/>
        </p:nvSpPr>
        <p:spPr>
          <a:xfrm>
            <a:off x="8603285" y="4553712"/>
            <a:ext cx="2866034" cy="274320"/>
          </a:xfrm>
          <a:prstGeom prst="rect">
            <a:avLst/>
          </a:prstGeom>
          <a:noFill/>
          <a:ln/>
        </p:spPr>
        <p:txBody>
          <a:bodyPr wrap="square" lIns="0" tIns="0" rIns="0" bIns="0" rtlCol="0" anchor="ctr"/>
          <a:lstStyle/>
          <a:p>
            <a:pPr indent="0" marL="0">
              <a:buNone/>
            </a:pPr>
            <a:r>
              <a:rPr lang="en-US" sz="1300" b="1" dirty="0">
                <a:solidFill>
                  <a:schemeClr val="tx1"/>
                </a:solidFill>
              </a:rPr>
              <a:t>Outsourcing Angel</a:t>
            </a:r>
            <a:endParaRPr lang="en-US" sz="1300" dirty="0"/>
          </a:p>
        </p:txBody>
      </p:sp>
      <p:sp>
        <p:nvSpPr>
          <p:cNvPr id="27" name="Text 22"/>
          <p:cNvSpPr txBox="1"/>
          <p:nvPr/>
        </p:nvSpPr>
        <p:spPr>
          <a:xfrm>
            <a:off x="8603285" y="4846320"/>
            <a:ext cx="2866034" cy="685800"/>
          </a:xfrm>
          <a:prstGeom prst="rect">
            <a:avLst/>
          </a:prstGeom>
          <a:noFill/>
          <a:ln/>
        </p:spPr>
        <p:txBody>
          <a:bodyPr wrap="square" lIns="0" tIns="0" rIns="0" bIns="0" rtlCol="0" anchor="t"/>
          <a:lstStyle/>
          <a:p>
            <a:pPr indent="0" marL="0">
              <a:buNone/>
            </a:pPr>
            <a:r>
              <a:rPr lang="en-US" sz="1150" dirty="0">
                <a:solidFill>
                  <a:schemeClr val="accent3"/>
                </a:solidFill>
              </a:rPr>
              <a:t>Provides the plan, payroll and support whenever you need it</a:t>
            </a:r>
            <a:endParaRPr lang="en-US" sz="1150" dirty="0"/>
          </a:p>
        </p:txBody>
      </p:sp>
      <p:sp>
        <p:nvSpPr>
          <p:cNvPr id="28" name="callout"/>
          <p:cNvSpPr/>
          <p:nvPr/>
        </p:nvSpPr>
        <p:spPr>
          <a:xfrm>
            <a:off x="630936" y="5669280"/>
            <a:ext cx="10929823" cy="502920"/>
          </a:xfrm>
          <a:prstGeom prst="roundRect">
            <a:avLst>
              <a:gd name="adj" fmla="val 14545"/>
            </a:avLst>
          </a:prstGeom>
          <a:solidFill>
            <a:schemeClr val="accent4"/>
          </a:solidFill>
          <a:ln/>
        </p:spPr>
      </p:sp>
      <p:sp>
        <p:nvSpPr>
          <p:cNvPr id="29" name="Text 24"/>
          <p:cNvSpPr txBox="1"/>
          <p:nvPr/>
        </p:nvSpPr>
        <p:spPr>
          <a:xfrm>
            <a:off x="859536" y="5669280"/>
            <a:ext cx="10472623" cy="502920"/>
          </a:xfrm>
          <a:prstGeom prst="rect">
            <a:avLst/>
          </a:prstGeom>
          <a:noFill/>
          <a:ln/>
        </p:spPr>
        <p:txBody>
          <a:bodyPr wrap="square" lIns="0" tIns="0" rIns="0" bIns="0" rtlCol="0" anchor="ctr"/>
          <a:lstStyle/>
          <a:p>
            <a:pPr indent="0" marL="0">
              <a:buNone/>
            </a:pPr>
            <a:r>
              <a:rPr lang="en-US" sz="1250" b="1" dirty="0">
                <a:solidFill>
                  <a:schemeClr val="accent1"/>
                </a:solidFill>
              </a:rPr>
              <a:t>Your live copy sits in a shared folder that you, your Coordinator and your Outsourcing Angel team can all open and update.</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630936" y="2148840"/>
            <a:ext cx="8229600" cy="320040"/>
          </a:xfrm>
          <a:prstGeom prst="rect">
            <a:avLst/>
          </a:prstGeom>
          <a:noFill/>
          <a:ln/>
        </p:spPr>
        <p:txBody>
          <a:bodyPr wrap="square" lIns="0" tIns="0" rIns="0" bIns="0" rtlCol="0"/>
          <a:lstStyle/>
          <a:p>
            <a:pPr indent="0" marL="0">
              <a:buNone/>
            </a:pPr>
            <a:r>
              <a:rPr lang="en-US" sz="1200" b="1" spc="300" kern="0" dirty="0">
                <a:solidFill>
                  <a:srgbClr val="7FE0C2"/>
                </a:solidFill>
              </a:rPr>
              <a:t>PART A</a:t>
            </a:r>
            <a:endParaRPr lang="en-US" sz="1200" dirty="0"/>
          </a:p>
        </p:txBody>
      </p:sp>
      <p:sp>
        <p:nvSpPr>
          <p:cNvPr id="3" name="Text 1"/>
          <p:cNvSpPr/>
          <p:nvPr>
            <p:ph idx="102" type="title" hasCustomPrompt="1"/>
          </p:nvPr>
        </p:nvSpPr>
        <p:spPr>
          <a:xfrm>
            <a:off x="630936" y="2560320"/>
            <a:ext cx="9144000" cy="914400"/>
          </a:xfrm>
          <a:prstGeom prst="rect">
            <a:avLst/>
          </a:prstGeom>
          <a:noFill/>
          <a:ln/>
        </p:spPr>
        <p:txBody>
          <a:bodyPr wrap="square" lIns="0" tIns="0" rIns="0" bIns="0" rtlCol="0" anchor="ctr"/>
          <a:lstStyle/>
          <a:p>
            <a:pPr algn="l" indent="0" marL="0">
              <a:buNone/>
            </a:pPr>
            <a:r>
              <a:rPr lang="en-US" sz="4000" b="1" dirty="0">
                <a:solidFill>
                  <a:schemeClr val="bg1"/>
                </a:solidFill>
                <a:latin typeface="Cambria" pitchFamily="34" charset="0"/>
                <a:ea typeface="Cambria" pitchFamily="34" charset="-122"/>
                <a:cs typeface="Cambria" pitchFamily="34" charset="-120"/>
              </a:rPr>
              <a:t>Our Recommendation</a:t>
            </a:r>
            <a:endParaRPr lang="en-US" sz="4000" dirty="0"/>
          </a:p>
        </p:txBody>
      </p:sp>
      <p:sp>
        <p:nvSpPr>
          <p:cNvPr id="4" name="Text 1"/>
          <p:cNvSpPr/>
          <p:nvPr>
            <p:ph idx="103" type="body" hasCustomPrompt="1"/>
          </p:nvPr>
        </p:nvSpPr>
        <p:spPr>
          <a:xfrm>
            <a:off x="630936" y="3611880"/>
            <a:ext cx="7863840" cy="1005840"/>
          </a:xfrm>
          <a:prstGeom prst="rect">
            <a:avLst/>
          </a:prstGeom>
          <a:noFill/>
          <a:ln/>
        </p:spPr>
        <p:txBody>
          <a:bodyPr wrap="square" lIns="0" tIns="0" rIns="0" bIns="0" rtlCol="0" anchor="t"/>
          <a:lstStyle/>
          <a:p>
            <a:pPr indent="0" marL="0">
              <a:buNone/>
            </a:pPr>
            <a:r>
              <a:rPr lang="en-US" sz="1500" dirty="0">
                <a:solidFill>
                  <a:srgbClr val="DBE3E6"/>
                </a:solidFill>
              </a:rPr>
              <a:t>What we heard in your Freedom Audit, the role we recommend, and how we’ll find the right person. Use this part to decide.</a:t>
            </a:r>
            <a:endParaRPr lang="en-US" sz="150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AEB9BD"/>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A  ·  01</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Key Observations</a:t>
            </a:r>
            <a:endParaRPr lang="en-US" sz="3000" dirty="0"/>
          </a:p>
        </p:txBody>
      </p:sp>
      <p:sp>
        <p:nvSpPr>
          <p:cNvPr id="4" name="Text 2"/>
          <p:cNvSpPr txBox="1"/>
          <p:nvPr/>
        </p:nvSpPr>
        <p:spPr>
          <a:xfrm>
            <a:off x="630936" y="1417320"/>
            <a:ext cx="10929823" cy="960120"/>
          </a:xfrm>
          <a:prstGeom prst="rect">
            <a:avLst/>
          </a:prstGeom>
          <a:noFill/>
          <a:ln/>
        </p:spPr>
        <p:txBody>
          <a:bodyPr wrap="square" lIns="0" tIns="0" rIns="0" bIns="0" rtlCol="0" anchor="t"/>
          <a:lstStyle/>
          <a:p>
            <a:pPr indent="0" marL="0">
              <a:buNone/>
            </a:pPr>
            <a:r>
              <a:rPr lang="en-US" sz="1350" dirty="0">
                <a:solidFill>
                  <a:schemeClr val="accent3"/>
                </a:solidFill>
              </a:rPr>
              <a:t>The Play Agency creates iconic events nationwide: styling, entertainment, prop hire and event packages for corporate and private clients. Every inquiry runs through Pipedrive, and from September to December, peak party season, the small creative team is at capacity.</a:t>
            </a:r>
            <a:endParaRPr lang="en-US" sz="1350" dirty="0"/>
          </a:p>
        </p:txBody>
      </p:sp>
      <p:sp>
        <p:nvSpPr>
          <p:cNvPr id="5" name="card"/>
          <p:cNvSpPr/>
          <p:nvPr/>
        </p:nvSpPr>
        <p:spPr>
          <a:xfrm>
            <a:off x="630936" y="2560320"/>
            <a:ext cx="5327752" cy="2057400"/>
          </a:xfrm>
          <a:prstGeom prst="roundRect">
            <a:avLst>
              <a:gd name="adj" fmla="val 3556"/>
            </a:avLst>
          </a:prstGeom>
          <a:solidFill>
            <a:schemeClr val="bg1"/>
          </a:solidFill>
          <a:ln w="12700">
            <a:solidFill>
              <a:schemeClr val="accent5"/>
            </a:solidFill>
            <a:prstDash val="solid"/>
          </a:ln>
        </p:spPr>
      </p:sp>
      <p:sp>
        <p:nvSpPr>
          <p:cNvPr id="6" name="Text 4"/>
          <p:cNvSpPr txBox="1"/>
          <p:nvPr/>
        </p:nvSpPr>
        <p:spPr>
          <a:xfrm>
            <a:off x="905256" y="2743200"/>
            <a:ext cx="477911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WHAT WE HEARD</a:t>
            </a:r>
            <a:endParaRPr lang="en-US" sz="1050" dirty="0"/>
          </a:p>
        </p:txBody>
      </p:sp>
      <p:sp>
        <p:nvSpPr>
          <p:cNvPr id="7" name="Text 5"/>
          <p:cNvSpPr txBox="1"/>
          <p:nvPr/>
        </p:nvSpPr>
        <p:spPr>
          <a:xfrm>
            <a:off x="905256" y="3063240"/>
            <a:ext cx="4779112" cy="1463040"/>
          </a:xfrm>
          <a:prstGeom prst="rect">
            <a:avLst/>
          </a:prstGeom>
          <a:noFill/>
          <a:ln/>
        </p:spPr>
        <p:txBody>
          <a:bodyPr wrap="square" lIns="0" tIns="0" rIns="0" bIns="0" rtlCol="0" anchor="t"/>
          <a:lstStyle/>
          <a:p>
            <a:pPr indent="0" marL="0">
              <a:buNone/>
            </a:pPr>
            <a:r>
              <a:rPr lang="en-US" sz="1250" dirty="0">
                <a:solidFill>
                  <a:schemeClr val="accent3"/>
                </a:solidFill>
              </a:rPr>
              <a:t>Website inquiries land in Pipedrive · reply templates already written · styling goes to Belinda, entertainment to Chantel · calendar invites and invoices sent from Pipedrive · quick questions answered in the team chat.</a:t>
            </a:r>
            <a:endParaRPr lang="en-US" sz="1250" dirty="0"/>
          </a:p>
        </p:txBody>
      </p:sp>
      <p:sp>
        <p:nvSpPr>
          <p:cNvPr id="8" name="card"/>
          <p:cNvSpPr/>
          <p:nvPr/>
        </p:nvSpPr>
        <p:spPr>
          <a:xfrm>
            <a:off x="6233008" y="2560320"/>
            <a:ext cx="5327752" cy="2057400"/>
          </a:xfrm>
          <a:prstGeom prst="roundRect">
            <a:avLst>
              <a:gd name="adj" fmla="val 3556"/>
            </a:avLst>
          </a:prstGeom>
          <a:solidFill>
            <a:schemeClr val="bg1"/>
          </a:solidFill>
          <a:ln w="12700">
            <a:solidFill>
              <a:schemeClr val="accent5"/>
            </a:solidFill>
            <a:prstDash val="solid"/>
          </a:ln>
        </p:spPr>
      </p:sp>
      <p:sp>
        <p:nvSpPr>
          <p:cNvPr id="9" name="Text 7"/>
          <p:cNvSpPr txBox="1"/>
          <p:nvPr/>
        </p:nvSpPr>
        <p:spPr>
          <a:xfrm>
            <a:off x="6507328" y="2743200"/>
            <a:ext cx="477911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HIRING INSIGHT</a:t>
            </a:r>
            <a:endParaRPr lang="en-US" sz="1050" dirty="0"/>
          </a:p>
        </p:txBody>
      </p:sp>
      <p:sp>
        <p:nvSpPr>
          <p:cNvPr id="10" name="Text 8"/>
          <p:cNvSpPr txBox="1"/>
          <p:nvPr/>
        </p:nvSpPr>
        <p:spPr>
          <a:xfrm>
            <a:off x="6507328" y="3063240"/>
            <a:ext cx="4779112" cy="1463040"/>
          </a:xfrm>
          <a:prstGeom prst="rect">
            <a:avLst/>
          </a:prstGeom>
          <a:noFill/>
          <a:ln/>
        </p:spPr>
        <p:txBody>
          <a:bodyPr wrap="square" lIns="0" tIns="0" rIns="0" bIns="0" rtlCol="0" anchor="t"/>
          <a:lstStyle/>
          <a:p>
            <a:pPr indent="0" marL="0">
              <a:buNone/>
            </a:pPr>
            <a:r>
              <a:rPr lang="en-US" sz="1250" dirty="0">
                <a:solidFill>
                  <a:schemeClr val="accent3"/>
                </a:solidFill>
              </a:rPr>
              <a:t>Krystie built the systems and will train and manage the Coordinator with a company workbook. She wants someone bubbly, fun and detail-focused, not corporate, who lifts the tedious admin off a creative team.</a:t>
            </a:r>
            <a:endParaRPr lang="en-US" sz="1250" dirty="0"/>
          </a:p>
        </p:txBody>
      </p:sp>
      <p:sp>
        <p:nvSpPr>
          <p:cNvPr id="11" name="callout"/>
          <p:cNvSpPr/>
          <p:nvPr/>
        </p:nvSpPr>
        <p:spPr>
          <a:xfrm>
            <a:off x="630936" y="4846320"/>
            <a:ext cx="10929823" cy="868680"/>
          </a:xfrm>
          <a:prstGeom prst="roundRect">
            <a:avLst>
              <a:gd name="adj" fmla="val 8421"/>
            </a:avLst>
          </a:prstGeom>
          <a:solidFill>
            <a:schemeClr val="accent4"/>
          </a:solidFill>
          <a:ln/>
        </p:spPr>
      </p:sp>
      <p:sp>
        <p:nvSpPr>
          <p:cNvPr id="12" name="Text 10"/>
          <p:cNvSpPr txBox="1"/>
          <p:nvPr/>
        </p:nvSpPr>
        <p:spPr>
          <a:xfrm>
            <a:off x="859536" y="4846320"/>
            <a:ext cx="10472623" cy="868680"/>
          </a:xfrm>
          <a:prstGeom prst="rect">
            <a:avLst/>
          </a:prstGeom>
          <a:noFill/>
          <a:ln/>
        </p:spPr>
        <p:txBody>
          <a:bodyPr wrap="square" lIns="0" tIns="0" rIns="0" bIns="0" rtlCol="0" anchor="ctr"/>
          <a:lstStyle/>
          <a:p>
            <a:pPr indent="0" marL="0">
              <a:buNone/>
            </a:pPr>
            <a:r>
              <a:rPr lang="en-US" sz="1250" b="1" dirty="0">
                <a:solidFill>
                  <a:schemeClr val="accent1"/>
                </a:solidFill>
              </a:rPr>
              <a:t>Our recommendation: a part-time Events Admin Coordinator who owns the inquiry-to-invoice workflow in Pipedrive, so Belinda, Chantel and Krystie can focus on designing and delivering events.</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A  ·  02</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Leverage Gap Analysis</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The Play Agency’s biggest leverage point: one detail-focused Coordinator who owns every inquiry from first reply to paid invoice.</a:t>
            </a:r>
            <a:endParaRPr lang="en-US" sz="1300" dirty="0"/>
          </a:p>
        </p:txBody>
      </p:sp>
      <p:sp>
        <p:nvSpPr>
          <p:cNvPr id="5" name="card"/>
          <p:cNvSpPr/>
          <p:nvPr/>
        </p:nvSpPr>
        <p:spPr>
          <a:xfrm>
            <a:off x="630936" y="2011680"/>
            <a:ext cx="5327752" cy="3566160"/>
          </a:xfrm>
          <a:prstGeom prst="roundRect">
            <a:avLst>
              <a:gd name="adj" fmla="val 2051"/>
            </a:avLst>
          </a:prstGeom>
          <a:solidFill>
            <a:schemeClr val="bg1"/>
          </a:solidFill>
          <a:ln w="12700">
            <a:solidFill>
              <a:schemeClr val="accent5"/>
            </a:solidFill>
            <a:prstDash val="solid"/>
          </a:ln>
        </p:spPr>
      </p:sp>
      <p:sp>
        <p:nvSpPr>
          <p:cNvPr id="6" name="Text 4"/>
          <p:cNvSpPr txBox="1"/>
          <p:nvPr/>
        </p:nvSpPr>
        <p:spPr>
          <a:xfrm>
            <a:off x="950976" y="2240280"/>
            <a:ext cx="468767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TODAY</a:t>
            </a:r>
            <a:endParaRPr lang="en-US" sz="1050" dirty="0"/>
          </a:p>
        </p:txBody>
      </p:sp>
      <p:sp>
        <p:nvSpPr>
          <p:cNvPr id="7" name="Text 5"/>
          <p:cNvSpPr txBox="1"/>
          <p:nvPr/>
        </p:nvSpPr>
        <p:spPr>
          <a:xfrm>
            <a:off x="950976" y="2606040"/>
            <a:ext cx="4687672" cy="2743200"/>
          </a:xfrm>
          <a:prstGeom prst="rect">
            <a:avLst/>
          </a:prstGeom>
          <a:noFill/>
          <a:ln/>
        </p:spPr>
        <p:txBody>
          <a:bodyPr wrap="square" lIns="0" tIns="0" rIns="0" bIns="0" rtlCol="0" anchor="t"/>
          <a:lstStyle/>
          <a:p>
            <a:pPr marL="203200" indent="-203200">
              <a:spcAft>
                <a:spcPts val="1400"/>
              </a:spcAft>
              <a:buSzPct val="100000"/>
              <a:buChar char="•"/>
            </a:pPr>
            <a:r>
              <a:rPr lang="en-US" sz="1350" dirty="0">
                <a:solidFill>
                  <a:schemeClr val="accent3"/>
                </a:solidFill>
              </a:rPr>
              <a:t>The creative team handles its own inquiry admin in peak season</a:t>
            </a:r>
            <a:endParaRPr lang="en-US" sz="1350" dirty="0"/>
          </a:p>
          <a:p>
            <a:pPr marL="203200" indent="-203200">
              <a:spcAft>
                <a:spcPts val="1400"/>
              </a:spcAft>
              <a:buSzPct val="100000"/>
              <a:buChar char="•"/>
            </a:pPr>
            <a:r>
              <a:rPr lang="en-US" sz="1350" dirty="0">
                <a:solidFill>
                  <a:schemeClr val="accent3"/>
                </a:solidFill>
              </a:rPr>
              <a:t>Replies and follow-ups slip when the team is at capacity</a:t>
            </a:r>
            <a:endParaRPr lang="en-US" sz="1350" dirty="0"/>
          </a:p>
          <a:p>
            <a:pPr marL="203200" indent="-203200">
              <a:spcAft>
                <a:spcPts val="1400"/>
              </a:spcAft>
              <a:buSzPct val="100000"/>
              <a:buChar char="•"/>
            </a:pPr>
            <a:r>
              <a:rPr lang="en-US" sz="1350" dirty="0">
                <a:solidFill>
                  <a:schemeClr val="accent3"/>
                </a:solidFill>
              </a:rPr>
              <a:t>Invites, invoices and payment chasers done by the designers</a:t>
            </a:r>
            <a:endParaRPr lang="en-US" sz="1350" dirty="0"/>
          </a:p>
        </p:txBody>
      </p:sp>
      <p:sp>
        <p:nvSpPr>
          <p:cNvPr id="8" name="card"/>
          <p:cNvSpPr/>
          <p:nvPr/>
        </p:nvSpPr>
        <p:spPr>
          <a:xfrm>
            <a:off x="6233008" y="2011680"/>
            <a:ext cx="5327752" cy="3566160"/>
          </a:xfrm>
          <a:prstGeom prst="roundRect">
            <a:avLst>
              <a:gd name="adj" fmla="val 2051"/>
            </a:avLst>
          </a:prstGeom>
          <a:solidFill>
            <a:schemeClr val="accent4"/>
          </a:solidFill>
          <a:ln/>
        </p:spPr>
      </p:sp>
      <p:sp>
        <p:nvSpPr>
          <p:cNvPr id="9" name="Text 7"/>
          <p:cNvSpPr txBox="1"/>
          <p:nvPr/>
        </p:nvSpPr>
        <p:spPr>
          <a:xfrm>
            <a:off x="6553048" y="2240280"/>
            <a:ext cx="468767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WHERE WE’RE GOING</a:t>
            </a:r>
            <a:endParaRPr lang="en-US" sz="1050" dirty="0"/>
          </a:p>
        </p:txBody>
      </p:sp>
      <p:sp>
        <p:nvSpPr>
          <p:cNvPr id="10" name="Text 8"/>
          <p:cNvSpPr txBox="1"/>
          <p:nvPr/>
        </p:nvSpPr>
        <p:spPr>
          <a:xfrm>
            <a:off x="6553048" y="2606040"/>
            <a:ext cx="4687672" cy="2743200"/>
          </a:xfrm>
          <a:prstGeom prst="rect">
            <a:avLst/>
          </a:prstGeom>
          <a:noFill/>
          <a:ln/>
        </p:spPr>
        <p:txBody>
          <a:bodyPr wrap="square" lIns="0" tIns="0" rIns="0" bIns="0" rtlCol="0" anchor="t"/>
          <a:lstStyle/>
          <a:p>
            <a:pPr marL="203200" indent="-203200">
              <a:spcAft>
                <a:spcPts val="1400"/>
              </a:spcAft>
              <a:buSzPct val="100000"/>
              <a:buChar char="•"/>
            </a:pPr>
            <a:r>
              <a:rPr lang="en-US" sz="1350" dirty="0">
                <a:solidFill>
                  <a:schemeClr val="tx1"/>
                </a:solidFill>
              </a:rPr>
              <a:t>Every new inquiry answered within the hour, same day at the latest</a:t>
            </a:r>
            <a:endParaRPr lang="en-US" sz="1350" dirty="0"/>
          </a:p>
          <a:p>
            <a:pPr marL="203200" indent="-203200">
              <a:spcAft>
                <a:spcPts val="1400"/>
              </a:spcAft>
              <a:buSzPct val="100000"/>
              <a:buChar char="•"/>
            </a:pPr>
            <a:r>
              <a:rPr lang="en-US" sz="1350" dirty="0">
                <a:solidFill>
                  <a:schemeClr val="tx1"/>
                </a:solidFill>
              </a:rPr>
              <a:t>Every deal complete in Pipedrive and assigned to the right designer</a:t>
            </a:r>
            <a:endParaRPr lang="en-US" sz="1350" dirty="0"/>
          </a:p>
          <a:p>
            <a:pPr marL="203200" indent="-203200">
              <a:spcAft>
                <a:spcPts val="1400"/>
              </a:spcAft>
              <a:buSzPct val="100000"/>
              <a:buChar char="•"/>
            </a:pPr>
            <a:r>
              <a:rPr lang="en-US" sz="1350" dirty="0">
                <a:solidFill>
                  <a:schemeClr val="tx1"/>
                </a:solidFill>
              </a:rPr>
              <a:t>Invites, invoices and payment follow-ups handled for the team</a:t>
            </a:r>
            <a:endParaRPr lang="en-US" sz="13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A  ·  03</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Your Freedom Stage</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Where the business is today, and the path this plan takes. We revisit this at every review in Part B.</a:t>
            </a:r>
            <a:endParaRPr lang="en-US" sz="1300" dirty="0"/>
          </a:p>
        </p:txBody>
      </p:sp>
      <p:sp>
        <p:nvSpPr>
          <p:cNvPr id="5" name="stage line"/>
          <p:cNvSpPr/>
          <p:nvPr/>
        </p:nvSpPr>
        <p:spPr>
          <a:xfrm>
            <a:off x="1088136" y="3063240"/>
            <a:ext cx="10015423" cy="0"/>
          </a:xfrm>
          <a:prstGeom prst="line">
            <a:avLst/>
          </a:prstGeom>
          <a:noFill/>
          <a:ln w="38100">
            <a:solidFill>
              <a:schemeClr val="accent5"/>
            </a:solidFill>
            <a:prstDash val="solid"/>
          </a:ln>
        </p:spPr>
      </p:sp>
      <p:sp>
        <p:nvSpPr>
          <p:cNvPr id="6" name="stage 1"/>
          <p:cNvSpPr/>
          <p:nvPr/>
        </p:nvSpPr>
        <p:spPr>
          <a:xfrm>
            <a:off x="768096" y="2743200"/>
            <a:ext cx="640080" cy="640080"/>
          </a:xfrm>
          <a:prstGeom prst="ellipse">
            <a:avLst/>
          </a:prstGeom>
          <a:solidFill>
            <a:schemeClr val="tx1"/>
          </a:solidFill>
          <a:ln w="25400">
            <a:solidFill>
              <a:schemeClr val="tx1"/>
            </a:solidFill>
            <a:prstDash val="solid"/>
          </a:ln>
        </p:spPr>
      </p:sp>
      <p:sp>
        <p:nvSpPr>
          <p:cNvPr id="7" name="Text 5"/>
          <p:cNvSpPr txBox="1"/>
          <p:nvPr/>
        </p:nvSpPr>
        <p:spPr>
          <a:xfrm>
            <a:off x="768096" y="274320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6"/>
          <p:cNvSpPr txBox="1"/>
          <p:nvPr/>
        </p:nvSpPr>
        <p:spPr>
          <a:xfrm>
            <a:off x="173736" y="3520440"/>
            <a:ext cx="1828800" cy="274320"/>
          </a:xfrm>
          <a:prstGeom prst="rect">
            <a:avLst/>
          </a:prstGeom>
          <a:noFill/>
          <a:ln/>
        </p:spPr>
        <p:txBody>
          <a:bodyPr wrap="square" lIns="0" tIns="0" rIns="0" bIns="0" rtlCol="0" anchor="ctr"/>
          <a:lstStyle/>
          <a:p>
            <a:pPr algn="ctr" indent="0" marL="0">
              <a:buNone/>
            </a:pPr>
            <a:r>
              <a:rPr lang="en-US" sz="1300" b="1" dirty="0">
                <a:solidFill>
                  <a:schemeClr val="tx1"/>
                </a:solidFill>
              </a:rPr>
              <a:t>Task Delegator</a:t>
            </a:r>
            <a:endParaRPr lang="en-US" sz="1300" dirty="0"/>
          </a:p>
        </p:txBody>
      </p:sp>
      <p:sp>
        <p:nvSpPr>
          <p:cNvPr id="9" name="Text 7"/>
          <p:cNvSpPr txBox="1"/>
          <p:nvPr/>
        </p:nvSpPr>
        <p:spPr>
          <a:xfrm>
            <a:off x="173736" y="3813048"/>
            <a:ext cx="1828800" cy="256032"/>
          </a:xfrm>
          <a:prstGeom prst="rect">
            <a:avLst/>
          </a:prstGeom>
          <a:noFill/>
          <a:ln/>
        </p:spPr>
        <p:txBody>
          <a:bodyPr wrap="square" lIns="0" tIns="0" rIns="0" bIns="0" rtlCol="0" anchor="ctr"/>
          <a:lstStyle/>
          <a:p>
            <a:pPr algn="ctr" indent="0" marL="0">
              <a:buNone/>
            </a:pPr>
            <a:r>
              <a:rPr lang="en-US" sz="1000" b="1" spc="100" kern="0" dirty="0">
                <a:solidFill>
                  <a:schemeClr val="accent3"/>
                </a:solidFill>
              </a:rPr>
              <a:t>TODAY</a:t>
            </a:r>
            <a:endParaRPr lang="en-US" sz="1000" dirty="0"/>
          </a:p>
        </p:txBody>
      </p:sp>
      <p:sp>
        <p:nvSpPr>
          <p:cNvPr id="10" name="stage 2"/>
          <p:cNvSpPr/>
          <p:nvPr/>
        </p:nvSpPr>
        <p:spPr>
          <a:xfrm>
            <a:off x="3271952" y="2743200"/>
            <a:ext cx="640080" cy="640080"/>
          </a:xfrm>
          <a:prstGeom prst="ellipse">
            <a:avLst/>
          </a:prstGeom>
          <a:solidFill>
            <a:schemeClr val="bg1"/>
          </a:solidFill>
          <a:ln w="25400">
            <a:solidFill>
              <a:schemeClr val="accent5"/>
            </a:solidFill>
            <a:prstDash val="solid"/>
          </a:ln>
        </p:spPr>
      </p:sp>
      <p:sp>
        <p:nvSpPr>
          <p:cNvPr id="11" name="Text 9"/>
          <p:cNvSpPr txBox="1"/>
          <p:nvPr/>
        </p:nvSpPr>
        <p:spPr>
          <a:xfrm>
            <a:off x="3271952" y="2743200"/>
            <a:ext cx="640080" cy="640080"/>
          </a:xfrm>
          <a:prstGeom prst="rect">
            <a:avLst/>
          </a:prstGeom>
          <a:noFill/>
          <a:ln/>
        </p:spPr>
        <p:txBody>
          <a:bodyPr wrap="square" lIns="0" tIns="0" rIns="0" bIns="0" rtlCol="0" anchor="ctr"/>
          <a:lstStyle/>
          <a:p>
            <a:pPr algn="ctr" indent="0" marL="0">
              <a:buNone/>
            </a:pPr>
            <a:r>
              <a:rPr lang="en-US" sz="1600" b="1" dirty="0">
                <a:solidFill>
                  <a:schemeClr val="accent3"/>
                </a:solidFill>
              </a:rPr>
              <a:t>2</a:t>
            </a:r>
            <a:endParaRPr lang="en-US" sz="1600" dirty="0"/>
          </a:p>
        </p:txBody>
      </p:sp>
      <p:sp>
        <p:nvSpPr>
          <p:cNvPr id="12" name="Text 10"/>
          <p:cNvSpPr txBox="1"/>
          <p:nvPr/>
        </p:nvSpPr>
        <p:spPr>
          <a:xfrm>
            <a:off x="2677592" y="3520440"/>
            <a:ext cx="1828800" cy="274320"/>
          </a:xfrm>
          <a:prstGeom prst="rect">
            <a:avLst/>
          </a:prstGeom>
          <a:noFill/>
          <a:ln/>
        </p:spPr>
        <p:txBody>
          <a:bodyPr wrap="square" lIns="0" tIns="0" rIns="0" bIns="0" rtlCol="0" anchor="ctr"/>
          <a:lstStyle/>
          <a:p>
            <a:pPr algn="ctr" indent="0" marL="0">
              <a:buNone/>
            </a:pPr>
            <a:r>
              <a:rPr lang="en-US" sz="1300" b="1" dirty="0">
                <a:solidFill>
                  <a:schemeClr val="tx1"/>
                </a:solidFill>
              </a:rPr>
              <a:t>Process Builder</a:t>
            </a:r>
            <a:endParaRPr lang="en-US" sz="1300" dirty="0"/>
          </a:p>
        </p:txBody>
      </p:sp>
      <p:sp>
        <p:nvSpPr>
          <p:cNvPr id="13" name="stage 3"/>
          <p:cNvSpPr/>
          <p:nvPr/>
        </p:nvSpPr>
        <p:spPr>
          <a:xfrm>
            <a:off x="5775808" y="2743200"/>
            <a:ext cx="640080" cy="640080"/>
          </a:xfrm>
          <a:prstGeom prst="ellipse">
            <a:avLst/>
          </a:prstGeom>
          <a:solidFill>
            <a:schemeClr val="accent2"/>
          </a:solidFill>
          <a:ln w="25400">
            <a:solidFill>
              <a:schemeClr val="accent2"/>
            </a:solidFill>
            <a:prstDash val="solid"/>
          </a:ln>
        </p:spPr>
      </p:sp>
      <p:sp>
        <p:nvSpPr>
          <p:cNvPr id="14" name="Text 12"/>
          <p:cNvSpPr txBox="1"/>
          <p:nvPr/>
        </p:nvSpPr>
        <p:spPr>
          <a:xfrm>
            <a:off x="5775808" y="274320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Text 13"/>
          <p:cNvSpPr txBox="1"/>
          <p:nvPr/>
        </p:nvSpPr>
        <p:spPr>
          <a:xfrm>
            <a:off x="5181448" y="3520440"/>
            <a:ext cx="1828800" cy="274320"/>
          </a:xfrm>
          <a:prstGeom prst="rect">
            <a:avLst/>
          </a:prstGeom>
          <a:noFill/>
          <a:ln/>
        </p:spPr>
        <p:txBody>
          <a:bodyPr wrap="square" lIns="0" tIns="0" rIns="0" bIns="0" rtlCol="0" anchor="ctr"/>
          <a:lstStyle/>
          <a:p>
            <a:pPr algn="ctr" indent="0" marL="0">
              <a:buNone/>
            </a:pPr>
            <a:r>
              <a:rPr lang="en-US" sz="1300" b="1" dirty="0">
                <a:solidFill>
                  <a:schemeClr val="tx1"/>
                </a:solidFill>
              </a:rPr>
              <a:t>Outcome Owner</a:t>
            </a:r>
            <a:endParaRPr lang="en-US" sz="1300" dirty="0"/>
          </a:p>
        </p:txBody>
      </p:sp>
      <p:sp>
        <p:nvSpPr>
          <p:cNvPr id="16" name="Text 14"/>
          <p:cNvSpPr txBox="1"/>
          <p:nvPr/>
        </p:nvSpPr>
        <p:spPr>
          <a:xfrm>
            <a:off x="5181448" y="3813048"/>
            <a:ext cx="1828800" cy="256032"/>
          </a:xfrm>
          <a:prstGeom prst="rect">
            <a:avLst/>
          </a:prstGeom>
          <a:noFill/>
          <a:ln/>
        </p:spPr>
        <p:txBody>
          <a:bodyPr wrap="square" lIns="0" tIns="0" rIns="0" bIns="0" rtlCol="0" anchor="ctr"/>
          <a:lstStyle/>
          <a:p>
            <a:pPr algn="ctr" indent="0" marL="0">
              <a:buNone/>
            </a:pPr>
            <a:r>
              <a:rPr lang="en-US" sz="1000" b="1" spc="100" kern="0" dirty="0">
                <a:solidFill>
                  <a:schemeClr val="accent1"/>
                </a:solidFill>
              </a:rPr>
              <a:t>DAY 90 TARGET</a:t>
            </a:r>
            <a:endParaRPr lang="en-US" sz="1000" dirty="0"/>
          </a:p>
        </p:txBody>
      </p:sp>
      <p:sp>
        <p:nvSpPr>
          <p:cNvPr id="17" name="stage 4"/>
          <p:cNvSpPr/>
          <p:nvPr/>
        </p:nvSpPr>
        <p:spPr>
          <a:xfrm>
            <a:off x="8279663" y="2743200"/>
            <a:ext cx="640080" cy="640080"/>
          </a:xfrm>
          <a:prstGeom prst="ellipse">
            <a:avLst/>
          </a:prstGeom>
          <a:solidFill>
            <a:schemeClr val="bg1"/>
          </a:solidFill>
          <a:ln w="25400">
            <a:solidFill>
              <a:schemeClr val="accent5"/>
            </a:solidFill>
            <a:prstDash val="solid"/>
          </a:ln>
        </p:spPr>
      </p:sp>
      <p:sp>
        <p:nvSpPr>
          <p:cNvPr id="18" name="Text 16"/>
          <p:cNvSpPr txBox="1"/>
          <p:nvPr/>
        </p:nvSpPr>
        <p:spPr>
          <a:xfrm>
            <a:off x="8279663" y="2743200"/>
            <a:ext cx="640080" cy="640080"/>
          </a:xfrm>
          <a:prstGeom prst="rect">
            <a:avLst/>
          </a:prstGeom>
          <a:noFill/>
          <a:ln/>
        </p:spPr>
        <p:txBody>
          <a:bodyPr wrap="square" lIns="0" tIns="0" rIns="0" bIns="0" rtlCol="0" anchor="ctr"/>
          <a:lstStyle/>
          <a:p>
            <a:pPr algn="ctr" indent="0" marL="0">
              <a:buNone/>
            </a:pPr>
            <a:r>
              <a:rPr lang="en-US" sz="1600" b="1" dirty="0">
                <a:solidFill>
                  <a:schemeClr val="accent3"/>
                </a:solidFill>
              </a:rPr>
              <a:t>4</a:t>
            </a:r>
            <a:endParaRPr lang="en-US" sz="1600" dirty="0"/>
          </a:p>
        </p:txBody>
      </p:sp>
      <p:sp>
        <p:nvSpPr>
          <p:cNvPr id="19" name="Text 17"/>
          <p:cNvSpPr txBox="1"/>
          <p:nvPr/>
        </p:nvSpPr>
        <p:spPr>
          <a:xfrm>
            <a:off x="7685303" y="3520440"/>
            <a:ext cx="1828800" cy="274320"/>
          </a:xfrm>
          <a:prstGeom prst="rect">
            <a:avLst/>
          </a:prstGeom>
          <a:noFill/>
          <a:ln/>
        </p:spPr>
        <p:txBody>
          <a:bodyPr wrap="square" lIns="0" tIns="0" rIns="0" bIns="0" rtlCol="0" anchor="ctr"/>
          <a:lstStyle/>
          <a:p>
            <a:pPr algn="ctr" indent="0" marL="0">
              <a:buNone/>
            </a:pPr>
            <a:r>
              <a:rPr lang="en-US" sz="1300" b="1" dirty="0">
                <a:solidFill>
                  <a:schemeClr val="tx1"/>
                </a:solidFill>
              </a:rPr>
              <a:t>Operator</a:t>
            </a:r>
            <a:endParaRPr lang="en-US" sz="1300" dirty="0"/>
          </a:p>
        </p:txBody>
      </p:sp>
      <p:sp>
        <p:nvSpPr>
          <p:cNvPr id="20" name="stage 5"/>
          <p:cNvSpPr/>
          <p:nvPr/>
        </p:nvSpPr>
        <p:spPr>
          <a:xfrm>
            <a:off x="10783519" y="2743200"/>
            <a:ext cx="640080" cy="640080"/>
          </a:xfrm>
          <a:prstGeom prst="ellipse">
            <a:avLst/>
          </a:prstGeom>
          <a:solidFill>
            <a:schemeClr val="accent1"/>
          </a:solidFill>
          <a:ln w="25400">
            <a:solidFill>
              <a:schemeClr val="accent1"/>
            </a:solidFill>
            <a:prstDash val="solid"/>
          </a:ln>
        </p:spPr>
      </p:sp>
      <p:sp>
        <p:nvSpPr>
          <p:cNvPr id="21" name="Text 19"/>
          <p:cNvSpPr txBox="1"/>
          <p:nvPr/>
        </p:nvSpPr>
        <p:spPr>
          <a:xfrm>
            <a:off x="10783519" y="274320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2" name="Text 20"/>
          <p:cNvSpPr txBox="1"/>
          <p:nvPr/>
        </p:nvSpPr>
        <p:spPr>
          <a:xfrm>
            <a:off x="10189159" y="3520440"/>
            <a:ext cx="1828800" cy="274320"/>
          </a:xfrm>
          <a:prstGeom prst="rect">
            <a:avLst/>
          </a:prstGeom>
          <a:noFill/>
          <a:ln/>
        </p:spPr>
        <p:txBody>
          <a:bodyPr wrap="square" lIns="0" tIns="0" rIns="0" bIns="0" rtlCol="0" anchor="ctr"/>
          <a:lstStyle/>
          <a:p>
            <a:pPr algn="ctr" indent="0" marL="0">
              <a:buNone/>
            </a:pPr>
            <a:r>
              <a:rPr lang="en-US" sz="1300" b="1" dirty="0">
                <a:solidFill>
                  <a:schemeClr val="tx1"/>
                </a:solidFill>
              </a:rPr>
              <a:t>Freedom</a:t>
            </a:r>
            <a:endParaRPr lang="en-US" sz="1300" dirty="0"/>
          </a:p>
        </p:txBody>
      </p:sp>
      <p:sp>
        <p:nvSpPr>
          <p:cNvPr id="23" name="Text 21"/>
          <p:cNvSpPr txBox="1"/>
          <p:nvPr/>
        </p:nvSpPr>
        <p:spPr>
          <a:xfrm>
            <a:off x="10189159" y="3813048"/>
            <a:ext cx="1828800" cy="256032"/>
          </a:xfrm>
          <a:prstGeom prst="rect">
            <a:avLst/>
          </a:prstGeom>
          <a:noFill/>
          <a:ln/>
        </p:spPr>
        <p:txBody>
          <a:bodyPr wrap="square" lIns="0" tIns="0" rIns="0" bIns="0" rtlCol="0" anchor="ctr"/>
          <a:lstStyle/>
          <a:p>
            <a:pPr algn="ctr" indent="0" marL="0">
              <a:buNone/>
            </a:pPr>
            <a:r>
              <a:rPr lang="en-US" sz="1000" b="1" spc="100" kern="0" dirty="0">
                <a:solidFill>
                  <a:schemeClr val="accent1"/>
                </a:solidFill>
              </a:rPr>
              <a:t>MONTH 6 TARGET</a:t>
            </a:r>
            <a:endParaRPr lang="en-US" sz="1000" dirty="0"/>
          </a:p>
        </p:txBody>
      </p:sp>
      <p:sp>
        <p:nvSpPr>
          <p:cNvPr id="24" name="callout"/>
          <p:cNvSpPr/>
          <p:nvPr/>
        </p:nvSpPr>
        <p:spPr>
          <a:xfrm>
            <a:off x="630936" y="4572000"/>
            <a:ext cx="10929823" cy="868680"/>
          </a:xfrm>
          <a:prstGeom prst="roundRect">
            <a:avLst>
              <a:gd name="adj" fmla="val 8421"/>
            </a:avLst>
          </a:prstGeom>
          <a:solidFill>
            <a:schemeClr val="accent4"/>
          </a:solidFill>
          <a:ln/>
        </p:spPr>
      </p:sp>
      <p:sp>
        <p:nvSpPr>
          <p:cNvPr id="25" name="Text 23"/>
          <p:cNvSpPr txBox="1"/>
          <p:nvPr/>
        </p:nvSpPr>
        <p:spPr>
          <a:xfrm>
            <a:off x="859536" y="4572000"/>
            <a:ext cx="10472623" cy="868680"/>
          </a:xfrm>
          <a:prstGeom prst="rect">
            <a:avLst/>
          </a:prstGeom>
          <a:noFill/>
          <a:ln/>
        </p:spPr>
        <p:txBody>
          <a:bodyPr wrap="square" lIns="0" tIns="0" rIns="0" bIns="0" rtlCol="0" anchor="ctr"/>
          <a:lstStyle/>
          <a:p>
            <a:pPr indent="0" marL="0">
              <a:buNone/>
            </a:pPr>
            <a:r>
              <a:rPr lang="en-US" sz="1250" b="1" dirty="0">
                <a:solidFill>
                  <a:schemeClr val="accent1"/>
                </a:solidFill>
              </a:rPr>
              <a:t>Krystie wants the team to feel free to create. We aim for Outcome Owner by Day 90 and Freedom by Month 6: a Coordinator who runs the inquiry-to-invoice workflow independently, with light oversight.</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A  ·  04  ·  DESIGN</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The Role We Recommend</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An Events Admin Coordinator who owns six areas, so the creative team is free to design and deliver events.</a:t>
            </a:r>
            <a:endParaRPr lang="en-US" sz="1300" dirty="0"/>
          </a:p>
        </p:txBody>
      </p:sp>
      <p:sp>
        <p:nvSpPr>
          <p:cNvPr id="5" name="card"/>
          <p:cNvSpPr/>
          <p:nvPr/>
        </p:nvSpPr>
        <p:spPr>
          <a:xfrm>
            <a:off x="630936" y="1965960"/>
            <a:ext cx="3521354" cy="1874520"/>
          </a:xfrm>
          <a:prstGeom prst="roundRect">
            <a:avLst>
              <a:gd name="adj" fmla="val 3902"/>
            </a:avLst>
          </a:prstGeom>
          <a:solidFill>
            <a:schemeClr val="bg2"/>
          </a:solidFill>
          <a:ln/>
        </p:spPr>
      </p:sp>
      <p:sp>
        <p:nvSpPr>
          <p:cNvPr id="6" name="area 1 circle"/>
          <p:cNvSpPr/>
          <p:nvPr/>
        </p:nvSpPr>
        <p:spPr>
          <a:xfrm>
            <a:off x="905256" y="2240280"/>
            <a:ext cx="502920" cy="502920"/>
          </a:xfrm>
          <a:prstGeom prst="ellipse">
            <a:avLst/>
          </a:prstGeom>
          <a:solidFill>
            <a:schemeClr val="accent1"/>
          </a:solidFill>
          <a:ln/>
        </p:spPr>
      </p:sp>
      <p:pic>
        <p:nvPicPr>
          <p:cNvPr id="7" name="area 1" descr="area 1">    </p:cNvPr>
          <p:cNvPicPr>
            <a:picLocks noChangeAspect="1"/>
          </p:cNvPicPr>
          <p:nvPr/>
        </p:nvPicPr>
        <p:blipFill>
          <a:blip r:embed="rId1"/>
          <a:stretch>
            <a:fillRect/>
          </a:stretch>
        </p:blipFill>
        <p:spPr>
          <a:xfrm>
            <a:off x="1030986" y="2366010"/>
            <a:ext cx="251460" cy="251460"/>
          </a:xfrm>
          <a:prstGeom prst="rect">
            <a:avLst/>
          </a:prstGeom>
        </p:spPr>
      </p:pic>
      <p:sp>
        <p:nvSpPr>
          <p:cNvPr id="8" name="Text 5"/>
          <p:cNvSpPr txBox="1"/>
          <p:nvPr/>
        </p:nvSpPr>
        <p:spPr>
          <a:xfrm>
            <a:off x="1545336" y="2240280"/>
            <a:ext cx="2424074" cy="502920"/>
          </a:xfrm>
          <a:prstGeom prst="rect">
            <a:avLst/>
          </a:prstGeom>
          <a:noFill/>
          <a:ln/>
        </p:spPr>
        <p:txBody>
          <a:bodyPr wrap="square" lIns="0" tIns="0" rIns="0" bIns="0" rtlCol="0" anchor="ctr"/>
          <a:lstStyle/>
          <a:p>
            <a:pPr indent="0" marL="0">
              <a:buNone/>
            </a:pPr>
            <a:r>
              <a:rPr lang="en-US" sz="1400" b="1" dirty="0">
                <a:solidFill>
                  <a:schemeClr val="tx1"/>
                </a:solidFill>
              </a:rPr>
              <a:t>Inquiry Response</a:t>
            </a:r>
            <a:endParaRPr lang="en-US" sz="1400" dirty="0"/>
          </a:p>
        </p:txBody>
      </p:sp>
      <p:sp>
        <p:nvSpPr>
          <p:cNvPr id="9" name="Text 6"/>
          <p:cNvSpPr txBox="1"/>
          <p:nvPr/>
        </p:nvSpPr>
        <p:spPr>
          <a:xfrm>
            <a:off x="905256" y="2880360"/>
            <a:ext cx="2972714" cy="822960"/>
          </a:xfrm>
          <a:prstGeom prst="rect">
            <a:avLst/>
          </a:prstGeom>
          <a:noFill/>
          <a:ln/>
        </p:spPr>
        <p:txBody>
          <a:bodyPr wrap="square" lIns="0" tIns="0" rIns="0" bIns="0" rtlCol="0" anchor="t"/>
          <a:lstStyle/>
          <a:p>
            <a:pPr indent="0" marL="0">
              <a:buNone/>
            </a:pPr>
            <a:r>
              <a:rPr lang="en-US" sz="1200" dirty="0">
                <a:solidFill>
                  <a:schemeClr val="accent3"/>
                </a:solidFill>
              </a:rPr>
              <a:t>Replying to every new inquiry within the hour, using the email templates.</a:t>
            </a:r>
            <a:endParaRPr lang="en-US" sz="1200" dirty="0"/>
          </a:p>
        </p:txBody>
      </p:sp>
      <p:sp>
        <p:nvSpPr>
          <p:cNvPr id="10" name="card"/>
          <p:cNvSpPr/>
          <p:nvPr/>
        </p:nvSpPr>
        <p:spPr>
          <a:xfrm>
            <a:off x="4335170" y="1965960"/>
            <a:ext cx="3521354" cy="1874520"/>
          </a:xfrm>
          <a:prstGeom prst="roundRect">
            <a:avLst>
              <a:gd name="adj" fmla="val 3902"/>
            </a:avLst>
          </a:prstGeom>
          <a:solidFill>
            <a:schemeClr val="bg2"/>
          </a:solidFill>
          <a:ln/>
        </p:spPr>
      </p:sp>
      <p:sp>
        <p:nvSpPr>
          <p:cNvPr id="11" name="area 2 circle"/>
          <p:cNvSpPr/>
          <p:nvPr/>
        </p:nvSpPr>
        <p:spPr>
          <a:xfrm>
            <a:off x="4609490" y="2240280"/>
            <a:ext cx="502920" cy="502920"/>
          </a:xfrm>
          <a:prstGeom prst="ellipse">
            <a:avLst/>
          </a:prstGeom>
          <a:solidFill>
            <a:schemeClr val="accent1"/>
          </a:solidFill>
          <a:ln/>
        </p:spPr>
      </p:sp>
      <p:pic>
        <p:nvPicPr>
          <p:cNvPr id="12" name="area 2" descr="area 2">    </p:cNvPr>
          <p:cNvPicPr>
            <a:picLocks noChangeAspect="1"/>
          </p:cNvPicPr>
          <p:nvPr/>
        </p:nvPicPr>
        <p:blipFill>
          <a:blip r:embed="rId2"/>
          <a:stretch>
            <a:fillRect/>
          </a:stretch>
        </p:blipFill>
        <p:spPr>
          <a:xfrm>
            <a:off x="4735220" y="2366010"/>
            <a:ext cx="251460" cy="251460"/>
          </a:xfrm>
          <a:prstGeom prst="rect">
            <a:avLst/>
          </a:prstGeom>
        </p:spPr>
      </p:pic>
      <p:sp>
        <p:nvSpPr>
          <p:cNvPr id="13" name="Text 9"/>
          <p:cNvSpPr txBox="1"/>
          <p:nvPr/>
        </p:nvSpPr>
        <p:spPr>
          <a:xfrm>
            <a:off x="5249570" y="2240280"/>
            <a:ext cx="2424074" cy="502920"/>
          </a:xfrm>
          <a:prstGeom prst="rect">
            <a:avLst/>
          </a:prstGeom>
          <a:noFill/>
          <a:ln/>
        </p:spPr>
        <p:txBody>
          <a:bodyPr wrap="square" lIns="0" tIns="0" rIns="0" bIns="0" rtlCol="0" anchor="ctr"/>
          <a:lstStyle/>
          <a:p>
            <a:pPr indent="0" marL="0">
              <a:buNone/>
            </a:pPr>
            <a:r>
              <a:rPr lang="en-US" sz="1400" b="1" dirty="0">
                <a:solidFill>
                  <a:schemeClr val="tx1"/>
                </a:solidFill>
              </a:rPr>
              <a:t>Inquiry Screening</a:t>
            </a:r>
            <a:endParaRPr lang="en-US" sz="1400" dirty="0"/>
          </a:p>
        </p:txBody>
      </p:sp>
      <p:sp>
        <p:nvSpPr>
          <p:cNvPr id="14" name="Text 10"/>
          <p:cNvSpPr txBox="1"/>
          <p:nvPr/>
        </p:nvSpPr>
        <p:spPr>
          <a:xfrm>
            <a:off x="4609490" y="2880360"/>
            <a:ext cx="2972714" cy="822960"/>
          </a:xfrm>
          <a:prstGeom prst="rect">
            <a:avLst/>
          </a:prstGeom>
          <a:noFill/>
          <a:ln/>
        </p:spPr>
        <p:txBody>
          <a:bodyPr wrap="square" lIns="0" tIns="0" rIns="0" bIns="0" rtlCol="0" anchor="t"/>
          <a:lstStyle/>
          <a:p>
            <a:pPr indent="0" marL="0">
              <a:buNone/>
            </a:pPr>
            <a:r>
              <a:rPr lang="en-US" sz="1200" dirty="0">
                <a:solidFill>
                  <a:schemeClr val="accent3"/>
                </a:solidFill>
              </a:rPr>
              <a:t>Capturing date, time, location, service, guest count, event type and budget.</a:t>
            </a:r>
            <a:endParaRPr lang="en-US" sz="1200" dirty="0"/>
          </a:p>
        </p:txBody>
      </p:sp>
      <p:sp>
        <p:nvSpPr>
          <p:cNvPr id="15" name="card"/>
          <p:cNvSpPr/>
          <p:nvPr/>
        </p:nvSpPr>
        <p:spPr>
          <a:xfrm>
            <a:off x="8039405" y="1965960"/>
            <a:ext cx="3521354" cy="1874520"/>
          </a:xfrm>
          <a:prstGeom prst="roundRect">
            <a:avLst>
              <a:gd name="adj" fmla="val 3902"/>
            </a:avLst>
          </a:prstGeom>
          <a:solidFill>
            <a:schemeClr val="bg2"/>
          </a:solidFill>
          <a:ln/>
        </p:spPr>
      </p:sp>
      <p:sp>
        <p:nvSpPr>
          <p:cNvPr id="16" name="area 3 circle"/>
          <p:cNvSpPr/>
          <p:nvPr/>
        </p:nvSpPr>
        <p:spPr>
          <a:xfrm>
            <a:off x="8313725" y="2240280"/>
            <a:ext cx="502920" cy="502920"/>
          </a:xfrm>
          <a:prstGeom prst="ellipse">
            <a:avLst/>
          </a:prstGeom>
          <a:solidFill>
            <a:schemeClr val="accent1"/>
          </a:solidFill>
          <a:ln/>
        </p:spPr>
      </p:sp>
      <p:pic>
        <p:nvPicPr>
          <p:cNvPr id="17" name="area 3" descr="area 3">    </p:cNvPr>
          <p:cNvPicPr>
            <a:picLocks noChangeAspect="1"/>
          </p:cNvPicPr>
          <p:nvPr/>
        </p:nvPicPr>
        <p:blipFill>
          <a:blip r:embed="rId3"/>
          <a:stretch>
            <a:fillRect/>
          </a:stretch>
        </p:blipFill>
        <p:spPr>
          <a:xfrm>
            <a:off x="8439455" y="2366010"/>
            <a:ext cx="251460" cy="251460"/>
          </a:xfrm>
          <a:prstGeom prst="rect">
            <a:avLst/>
          </a:prstGeom>
        </p:spPr>
      </p:pic>
      <p:sp>
        <p:nvSpPr>
          <p:cNvPr id="18" name="Text 13"/>
          <p:cNvSpPr txBox="1"/>
          <p:nvPr/>
        </p:nvSpPr>
        <p:spPr>
          <a:xfrm>
            <a:off x="8953805" y="2240280"/>
            <a:ext cx="2424074" cy="502920"/>
          </a:xfrm>
          <a:prstGeom prst="rect">
            <a:avLst/>
          </a:prstGeom>
          <a:noFill/>
          <a:ln/>
        </p:spPr>
        <p:txBody>
          <a:bodyPr wrap="square" lIns="0" tIns="0" rIns="0" bIns="0" rtlCol="0" anchor="ctr"/>
          <a:lstStyle/>
          <a:p>
            <a:pPr indent="0" marL="0">
              <a:buNone/>
            </a:pPr>
            <a:r>
              <a:rPr lang="en-US" sz="1400" b="1" dirty="0">
                <a:solidFill>
                  <a:schemeClr val="tx1"/>
                </a:solidFill>
              </a:rPr>
              <a:t>Pipedrive &amp; Assignment</a:t>
            </a:r>
            <a:endParaRPr lang="en-US" sz="1400" dirty="0"/>
          </a:p>
        </p:txBody>
      </p:sp>
      <p:sp>
        <p:nvSpPr>
          <p:cNvPr id="19" name="Text 14"/>
          <p:cNvSpPr txBox="1"/>
          <p:nvPr/>
        </p:nvSpPr>
        <p:spPr>
          <a:xfrm>
            <a:off x="8313725" y="2880360"/>
            <a:ext cx="2972714" cy="822960"/>
          </a:xfrm>
          <a:prstGeom prst="rect">
            <a:avLst/>
          </a:prstGeom>
          <a:noFill/>
          <a:ln/>
        </p:spPr>
        <p:txBody>
          <a:bodyPr wrap="square" lIns="0" tIns="0" rIns="0" bIns="0" rtlCol="0" anchor="t"/>
          <a:lstStyle/>
          <a:p>
            <a:pPr indent="0" marL="0">
              <a:buNone/>
            </a:pPr>
            <a:r>
              <a:rPr lang="en-US" sz="1200" dirty="0">
                <a:solidFill>
                  <a:schemeClr val="accent3"/>
                </a:solidFill>
              </a:rPr>
              <a:t>Creating each deal and assigning it to Belinda, Chantel or Krystie.</a:t>
            </a:r>
            <a:endParaRPr lang="en-US" sz="1200" dirty="0"/>
          </a:p>
        </p:txBody>
      </p:sp>
      <p:sp>
        <p:nvSpPr>
          <p:cNvPr id="20" name="card"/>
          <p:cNvSpPr/>
          <p:nvPr/>
        </p:nvSpPr>
        <p:spPr>
          <a:xfrm>
            <a:off x="630936" y="4023360"/>
            <a:ext cx="3521354" cy="1874520"/>
          </a:xfrm>
          <a:prstGeom prst="roundRect">
            <a:avLst>
              <a:gd name="adj" fmla="val 3902"/>
            </a:avLst>
          </a:prstGeom>
          <a:solidFill>
            <a:schemeClr val="bg2"/>
          </a:solidFill>
          <a:ln/>
        </p:spPr>
      </p:sp>
      <p:sp>
        <p:nvSpPr>
          <p:cNvPr id="21" name="area 4 circle"/>
          <p:cNvSpPr/>
          <p:nvPr/>
        </p:nvSpPr>
        <p:spPr>
          <a:xfrm>
            <a:off x="905256" y="4297680"/>
            <a:ext cx="502920" cy="502920"/>
          </a:xfrm>
          <a:prstGeom prst="ellipse">
            <a:avLst/>
          </a:prstGeom>
          <a:solidFill>
            <a:schemeClr val="accent1"/>
          </a:solidFill>
          <a:ln/>
        </p:spPr>
      </p:sp>
      <p:pic>
        <p:nvPicPr>
          <p:cNvPr id="22" name="area 4" descr="area 4">    </p:cNvPr>
          <p:cNvPicPr>
            <a:picLocks noChangeAspect="1"/>
          </p:cNvPicPr>
          <p:nvPr/>
        </p:nvPicPr>
        <p:blipFill>
          <a:blip r:embed="rId4"/>
          <a:stretch>
            <a:fillRect/>
          </a:stretch>
        </p:blipFill>
        <p:spPr>
          <a:xfrm>
            <a:off x="1030986" y="4423410"/>
            <a:ext cx="251460" cy="251460"/>
          </a:xfrm>
          <a:prstGeom prst="rect">
            <a:avLst/>
          </a:prstGeom>
        </p:spPr>
      </p:pic>
      <p:sp>
        <p:nvSpPr>
          <p:cNvPr id="23" name="Text 17"/>
          <p:cNvSpPr txBox="1"/>
          <p:nvPr/>
        </p:nvSpPr>
        <p:spPr>
          <a:xfrm>
            <a:off x="1545336" y="4297680"/>
            <a:ext cx="2424074" cy="502920"/>
          </a:xfrm>
          <a:prstGeom prst="rect">
            <a:avLst/>
          </a:prstGeom>
          <a:noFill/>
          <a:ln/>
        </p:spPr>
        <p:txBody>
          <a:bodyPr wrap="square" lIns="0" tIns="0" rIns="0" bIns="0" rtlCol="0" anchor="ctr"/>
          <a:lstStyle/>
          <a:p>
            <a:pPr indent="0" marL="0">
              <a:buNone/>
            </a:pPr>
            <a:r>
              <a:rPr lang="en-US" sz="1400" b="1" dirty="0">
                <a:solidFill>
                  <a:schemeClr val="tx1"/>
                </a:solidFill>
              </a:rPr>
              <a:t>Follow-Ups</a:t>
            </a:r>
            <a:endParaRPr lang="en-US" sz="1400" dirty="0"/>
          </a:p>
        </p:txBody>
      </p:sp>
      <p:sp>
        <p:nvSpPr>
          <p:cNvPr id="24" name="Text 18"/>
          <p:cNvSpPr txBox="1"/>
          <p:nvPr/>
        </p:nvSpPr>
        <p:spPr>
          <a:xfrm>
            <a:off x="905256" y="4937760"/>
            <a:ext cx="2972714" cy="822960"/>
          </a:xfrm>
          <a:prstGeom prst="rect">
            <a:avLst/>
          </a:prstGeom>
          <a:noFill/>
          <a:ln/>
        </p:spPr>
        <p:txBody>
          <a:bodyPr wrap="square" lIns="0" tIns="0" rIns="0" bIns="0" rtlCol="0" anchor="t"/>
          <a:lstStyle/>
          <a:p>
            <a:pPr indent="0" marL="0">
              <a:buNone/>
            </a:pPr>
            <a:r>
              <a:rPr lang="en-US" sz="1200" dirty="0">
                <a:solidFill>
                  <a:schemeClr val="accent3"/>
                </a:solidFill>
              </a:rPr>
              <a:t>The 3-day rule: follow up on day 3, final email on day 6, then close.</a:t>
            </a:r>
            <a:endParaRPr lang="en-US" sz="1200" dirty="0"/>
          </a:p>
        </p:txBody>
      </p:sp>
      <p:sp>
        <p:nvSpPr>
          <p:cNvPr id="25" name="card"/>
          <p:cNvSpPr/>
          <p:nvPr/>
        </p:nvSpPr>
        <p:spPr>
          <a:xfrm>
            <a:off x="4335170" y="4023360"/>
            <a:ext cx="3521354" cy="1874520"/>
          </a:xfrm>
          <a:prstGeom prst="roundRect">
            <a:avLst>
              <a:gd name="adj" fmla="val 3902"/>
            </a:avLst>
          </a:prstGeom>
          <a:solidFill>
            <a:schemeClr val="bg2"/>
          </a:solidFill>
          <a:ln/>
        </p:spPr>
      </p:sp>
      <p:sp>
        <p:nvSpPr>
          <p:cNvPr id="26" name="area 5 circle"/>
          <p:cNvSpPr/>
          <p:nvPr/>
        </p:nvSpPr>
        <p:spPr>
          <a:xfrm>
            <a:off x="4609490" y="4297680"/>
            <a:ext cx="502920" cy="502920"/>
          </a:xfrm>
          <a:prstGeom prst="ellipse">
            <a:avLst/>
          </a:prstGeom>
          <a:solidFill>
            <a:schemeClr val="accent1"/>
          </a:solidFill>
          <a:ln/>
        </p:spPr>
      </p:sp>
      <p:pic>
        <p:nvPicPr>
          <p:cNvPr id="27" name="area 5" descr="area 5">    </p:cNvPr>
          <p:cNvPicPr>
            <a:picLocks noChangeAspect="1"/>
          </p:cNvPicPr>
          <p:nvPr/>
        </p:nvPicPr>
        <p:blipFill>
          <a:blip r:embed="rId5"/>
          <a:stretch>
            <a:fillRect/>
          </a:stretch>
        </p:blipFill>
        <p:spPr>
          <a:xfrm>
            <a:off x="4735220" y="4423410"/>
            <a:ext cx="251460" cy="251460"/>
          </a:xfrm>
          <a:prstGeom prst="rect">
            <a:avLst/>
          </a:prstGeom>
        </p:spPr>
      </p:pic>
      <p:sp>
        <p:nvSpPr>
          <p:cNvPr id="28" name="Text 21"/>
          <p:cNvSpPr txBox="1"/>
          <p:nvPr/>
        </p:nvSpPr>
        <p:spPr>
          <a:xfrm>
            <a:off x="5249570" y="4297680"/>
            <a:ext cx="2424074" cy="502920"/>
          </a:xfrm>
          <a:prstGeom prst="rect">
            <a:avLst/>
          </a:prstGeom>
          <a:noFill/>
          <a:ln/>
        </p:spPr>
        <p:txBody>
          <a:bodyPr wrap="square" lIns="0" tIns="0" rIns="0" bIns="0" rtlCol="0" anchor="ctr"/>
          <a:lstStyle/>
          <a:p>
            <a:pPr indent="0" marL="0">
              <a:buNone/>
            </a:pPr>
            <a:r>
              <a:rPr lang="en-US" sz="1400" b="1" dirty="0">
                <a:solidFill>
                  <a:schemeClr val="tx1"/>
                </a:solidFill>
              </a:rPr>
              <a:t>Bookings &amp; Invoicing</a:t>
            </a:r>
            <a:endParaRPr lang="en-US" sz="1400" dirty="0"/>
          </a:p>
        </p:txBody>
      </p:sp>
      <p:sp>
        <p:nvSpPr>
          <p:cNvPr id="29" name="Text 22"/>
          <p:cNvSpPr txBox="1"/>
          <p:nvPr/>
        </p:nvSpPr>
        <p:spPr>
          <a:xfrm>
            <a:off x="4609490" y="4937760"/>
            <a:ext cx="2972714" cy="822960"/>
          </a:xfrm>
          <a:prstGeom prst="rect">
            <a:avLst/>
          </a:prstGeom>
          <a:noFill/>
          <a:ln/>
        </p:spPr>
        <p:txBody>
          <a:bodyPr wrap="square" lIns="0" tIns="0" rIns="0" bIns="0" rtlCol="0" anchor="t"/>
          <a:lstStyle/>
          <a:p>
            <a:pPr indent="0" marL="0">
              <a:buNone/>
            </a:pPr>
            <a:r>
              <a:rPr lang="en-US" sz="1200" dirty="0">
                <a:solidFill>
                  <a:schemeClr val="accent3"/>
                </a:solidFill>
              </a:rPr>
              <a:t>Supplier calendar invites, client invoices and payment follow-ups.</a:t>
            </a:r>
            <a:endParaRPr lang="en-US" sz="1200" dirty="0"/>
          </a:p>
        </p:txBody>
      </p:sp>
      <p:sp>
        <p:nvSpPr>
          <p:cNvPr id="30" name="card"/>
          <p:cNvSpPr/>
          <p:nvPr/>
        </p:nvSpPr>
        <p:spPr>
          <a:xfrm>
            <a:off x="8039405" y="4023360"/>
            <a:ext cx="3521354" cy="1874520"/>
          </a:xfrm>
          <a:prstGeom prst="roundRect">
            <a:avLst>
              <a:gd name="adj" fmla="val 3902"/>
            </a:avLst>
          </a:prstGeom>
          <a:solidFill>
            <a:schemeClr val="bg2"/>
          </a:solidFill>
          <a:ln/>
        </p:spPr>
      </p:sp>
      <p:sp>
        <p:nvSpPr>
          <p:cNvPr id="31" name="area 6 circle"/>
          <p:cNvSpPr/>
          <p:nvPr/>
        </p:nvSpPr>
        <p:spPr>
          <a:xfrm>
            <a:off x="8313725" y="4297680"/>
            <a:ext cx="502920" cy="502920"/>
          </a:xfrm>
          <a:prstGeom prst="ellipse">
            <a:avLst/>
          </a:prstGeom>
          <a:solidFill>
            <a:schemeClr val="accent1"/>
          </a:solidFill>
          <a:ln/>
        </p:spPr>
      </p:sp>
      <p:pic>
        <p:nvPicPr>
          <p:cNvPr id="32" name="area 6" descr="area 6">    </p:cNvPr>
          <p:cNvPicPr>
            <a:picLocks noChangeAspect="1"/>
          </p:cNvPicPr>
          <p:nvPr/>
        </p:nvPicPr>
        <p:blipFill>
          <a:blip r:embed="rId6"/>
          <a:stretch>
            <a:fillRect/>
          </a:stretch>
        </p:blipFill>
        <p:spPr>
          <a:xfrm>
            <a:off x="8439455" y="4423410"/>
            <a:ext cx="251460" cy="251460"/>
          </a:xfrm>
          <a:prstGeom prst="rect">
            <a:avLst/>
          </a:prstGeom>
        </p:spPr>
      </p:pic>
      <p:sp>
        <p:nvSpPr>
          <p:cNvPr id="33" name="Text 25"/>
          <p:cNvSpPr txBox="1"/>
          <p:nvPr/>
        </p:nvSpPr>
        <p:spPr>
          <a:xfrm>
            <a:off x="8953805" y="4297680"/>
            <a:ext cx="2424074" cy="502920"/>
          </a:xfrm>
          <a:prstGeom prst="rect">
            <a:avLst/>
          </a:prstGeom>
          <a:noFill/>
          <a:ln/>
        </p:spPr>
        <p:txBody>
          <a:bodyPr wrap="square" lIns="0" tIns="0" rIns="0" bIns="0" rtlCol="0" anchor="ctr"/>
          <a:lstStyle/>
          <a:p>
            <a:pPr indent="0" marL="0">
              <a:buNone/>
            </a:pPr>
            <a:r>
              <a:rPr lang="en-US" sz="1400" b="1" dirty="0">
                <a:solidFill>
                  <a:schemeClr val="tx1"/>
                </a:solidFill>
              </a:rPr>
              <a:t>Quick Quotes &amp; PA Support</a:t>
            </a:r>
            <a:endParaRPr lang="en-US" sz="1400" dirty="0"/>
          </a:p>
        </p:txBody>
      </p:sp>
      <p:sp>
        <p:nvSpPr>
          <p:cNvPr id="34" name="Text 26"/>
          <p:cNvSpPr txBox="1"/>
          <p:nvPr/>
        </p:nvSpPr>
        <p:spPr>
          <a:xfrm>
            <a:off x="8313725" y="4937760"/>
            <a:ext cx="2972714" cy="822960"/>
          </a:xfrm>
          <a:prstGeom prst="rect">
            <a:avLst/>
          </a:prstGeom>
          <a:noFill/>
          <a:ln/>
        </p:spPr>
        <p:txBody>
          <a:bodyPr wrap="square" lIns="0" tIns="0" rIns="0" bIns="0" rtlCol="0" anchor="t"/>
          <a:lstStyle/>
          <a:p>
            <a:pPr indent="0" marL="0">
              <a:buNone/>
            </a:pPr>
            <a:r>
              <a:rPr lang="en-US" sz="1200" dirty="0">
                <a:solidFill>
                  <a:schemeClr val="accent3"/>
                </a:solidFill>
              </a:rPr>
              <a:t>Pricing brochures for set packages, and PA tasks in quieter months.</a:t>
            </a:r>
            <a:endParaRPr lang="en-US" sz="120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A  ·  05  ·  DISCOVER</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Securing the Right Hire</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Recommended role: Events Admin Coordinator (part-time, 20 hrs/week, Mon–Fri 9am–1pm Sydney time)</a:t>
            </a:r>
            <a:endParaRPr lang="en-US" sz="1300" dirty="0"/>
          </a:p>
        </p:txBody>
      </p:sp>
      <p:sp>
        <p:nvSpPr>
          <p:cNvPr id="5" name="card"/>
          <p:cNvSpPr/>
          <p:nvPr/>
        </p:nvSpPr>
        <p:spPr>
          <a:xfrm>
            <a:off x="630936" y="1965960"/>
            <a:ext cx="5373472" cy="1691640"/>
          </a:xfrm>
          <a:prstGeom prst="roundRect">
            <a:avLst>
              <a:gd name="adj" fmla="val 4324"/>
            </a:avLst>
          </a:prstGeom>
          <a:solidFill>
            <a:schemeClr val="bg1"/>
          </a:solidFill>
          <a:ln w="12700">
            <a:solidFill>
              <a:schemeClr val="accent5"/>
            </a:solidFill>
            <a:prstDash val="solid"/>
          </a:ln>
        </p:spPr>
      </p:sp>
      <p:sp>
        <p:nvSpPr>
          <p:cNvPr id="6" name="Text 4"/>
          <p:cNvSpPr txBox="1"/>
          <p:nvPr/>
        </p:nvSpPr>
        <p:spPr>
          <a:xfrm>
            <a:off x="905256" y="2194560"/>
            <a:ext cx="482483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EXPERIENCE</a:t>
            </a:r>
            <a:endParaRPr lang="en-US" sz="1050" dirty="0"/>
          </a:p>
        </p:txBody>
      </p:sp>
      <p:sp>
        <p:nvSpPr>
          <p:cNvPr id="7" name="Text 5"/>
          <p:cNvSpPr txBox="1"/>
          <p:nvPr/>
        </p:nvSpPr>
        <p:spPr>
          <a:xfrm>
            <a:off x="905256" y="2514600"/>
            <a:ext cx="4824832" cy="1051560"/>
          </a:xfrm>
          <a:prstGeom prst="rect">
            <a:avLst/>
          </a:prstGeom>
          <a:noFill/>
          <a:ln/>
        </p:spPr>
        <p:txBody>
          <a:bodyPr wrap="square" lIns="0" tIns="0" rIns="0" bIns="0" rtlCol="0" anchor="t"/>
          <a:lstStyle/>
          <a:p>
            <a:pPr indent="0" marL="0">
              <a:buNone/>
            </a:pPr>
            <a:r>
              <a:rPr lang="en-US" sz="1250" dirty="0">
                <a:solidFill>
                  <a:schemeClr val="accent3"/>
                </a:solidFill>
              </a:rPr>
              <a:t>3+ years in admin, customer service or inquiry management, ideally with events, hospitality or bookings. Pipedrive or similar CRM experience.</a:t>
            </a:r>
            <a:endParaRPr lang="en-US" sz="1250" dirty="0"/>
          </a:p>
        </p:txBody>
      </p:sp>
      <p:sp>
        <p:nvSpPr>
          <p:cNvPr id="8" name="card"/>
          <p:cNvSpPr/>
          <p:nvPr/>
        </p:nvSpPr>
        <p:spPr>
          <a:xfrm>
            <a:off x="6187288" y="1965960"/>
            <a:ext cx="5373472" cy="1691640"/>
          </a:xfrm>
          <a:prstGeom prst="roundRect">
            <a:avLst>
              <a:gd name="adj" fmla="val 4324"/>
            </a:avLst>
          </a:prstGeom>
          <a:solidFill>
            <a:schemeClr val="bg1"/>
          </a:solidFill>
          <a:ln w="12700">
            <a:solidFill>
              <a:schemeClr val="accent5"/>
            </a:solidFill>
            <a:prstDash val="solid"/>
          </a:ln>
        </p:spPr>
      </p:sp>
      <p:sp>
        <p:nvSpPr>
          <p:cNvPr id="9" name="Text 7"/>
          <p:cNvSpPr txBox="1"/>
          <p:nvPr/>
        </p:nvSpPr>
        <p:spPr>
          <a:xfrm>
            <a:off x="6461608" y="2194560"/>
            <a:ext cx="482483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KEY SKILLS</a:t>
            </a:r>
            <a:endParaRPr lang="en-US" sz="1050" dirty="0"/>
          </a:p>
        </p:txBody>
      </p:sp>
      <p:sp>
        <p:nvSpPr>
          <p:cNvPr id="10" name="Text 8"/>
          <p:cNvSpPr txBox="1"/>
          <p:nvPr/>
        </p:nvSpPr>
        <p:spPr>
          <a:xfrm>
            <a:off x="6461608" y="2514600"/>
            <a:ext cx="4824832" cy="1051560"/>
          </a:xfrm>
          <a:prstGeom prst="rect">
            <a:avLst/>
          </a:prstGeom>
          <a:noFill/>
          <a:ln/>
        </p:spPr>
        <p:txBody>
          <a:bodyPr wrap="square" lIns="0" tIns="0" rIns="0" bIns="0" rtlCol="0" anchor="t"/>
          <a:lstStyle/>
          <a:p>
            <a:pPr indent="0" marL="0">
              <a:buNone/>
            </a:pPr>
            <a:r>
              <a:rPr lang="en-US" sz="1250" dirty="0">
                <a:solidFill>
                  <a:schemeClr val="accent3"/>
                </a:solidFill>
              </a:rPr>
              <a:t>Fast, warm written replies; strong attention to detail in data entry; a clear communicator who asks questions and isn’t shy; calm across many inquiries.</a:t>
            </a:r>
            <a:endParaRPr lang="en-US" sz="1250" dirty="0"/>
          </a:p>
        </p:txBody>
      </p:sp>
      <p:sp>
        <p:nvSpPr>
          <p:cNvPr id="11" name="card"/>
          <p:cNvSpPr/>
          <p:nvPr/>
        </p:nvSpPr>
        <p:spPr>
          <a:xfrm>
            <a:off x="630936" y="3840480"/>
            <a:ext cx="5373472" cy="1691640"/>
          </a:xfrm>
          <a:prstGeom prst="roundRect">
            <a:avLst>
              <a:gd name="adj" fmla="val 4324"/>
            </a:avLst>
          </a:prstGeom>
          <a:solidFill>
            <a:schemeClr val="bg1"/>
          </a:solidFill>
          <a:ln w="12700">
            <a:solidFill>
              <a:schemeClr val="accent5"/>
            </a:solidFill>
            <a:prstDash val="solid"/>
          </a:ln>
        </p:spPr>
      </p:sp>
      <p:sp>
        <p:nvSpPr>
          <p:cNvPr id="12" name="Text 10"/>
          <p:cNvSpPr txBox="1"/>
          <p:nvPr/>
        </p:nvSpPr>
        <p:spPr>
          <a:xfrm>
            <a:off x="905256" y="4069080"/>
            <a:ext cx="482483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TOOLS &amp; SYSTEMS</a:t>
            </a:r>
            <a:endParaRPr lang="en-US" sz="1050" dirty="0"/>
          </a:p>
        </p:txBody>
      </p:sp>
      <p:sp>
        <p:nvSpPr>
          <p:cNvPr id="13" name="Text 11"/>
          <p:cNvSpPr txBox="1"/>
          <p:nvPr/>
        </p:nvSpPr>
        <p:spPr>
          <a:xfrm>
            <a:off x="905256" y="4389120"/>
            <a:ext cx="4824832" cy="1051560"/>
          </a:xfrm>
          <a:prstGeom prst="rect">
            <a:avLst/>
          </a:prstGeom>
          <a:noFill/>
          <a:ln/>
        </p:spPr>
        <p:txBody>
          <a:bodyPr wrap="square" lIns="0" tIns="0" rIns="0" bIns="0" rtlCol="0" anchor="t"/>
          <a:lstStyle/>
          <a:p>
            <a:pPr indent="0" marL="0">
              <a:buNone/>
            </a:pPr>
            <a:r>
              <a:rPr lang="en-US" sz="1250" dirty="0">
                <a:solidFill>
                  <a:schemeClr val="accent3"/>
                </a:solidFill>
              </a:rPr>
              <a:t>Pipedrive (deals, templates, calendar invites, invoices), Google Workspace, the team chat and email templates.</a:t>
            </a:r>
            <a:endParaRPr lang="en-US" sz="1250" dirty="0"/>
          </a:p>
        </p:txBody>
      </p:sp>
      <p:sp>
        <p:nvSpPr>
          <p:cNvPr id="14" name="card"/>
          <p:cNvSpPr/>
          <p:nvPr/>
        </p:nvSpPr>
        <p:spPr>
          <a:xfrm>
            <a:off x="6187288" y="3840480"/>
            <a:ext cx="5373472" cy="1691640"/>
          </a:xfrm>
          <a:prstGeom prst="roundRect">
            <a:avLst>
              <a:gd name="adj" fmla="val 4324"/>
            </a:avLst>
          </a:prstGeom>
          <a:solidFill>
            <a:schemeClr val="bg1"/>
          </a:solidFill>
          <a:ln w="12700">
            <a:solidFill>
              <a:schemeClr val="accent5"/>
            </a:solidFill>
            <a:prstDash val="solid"/>
          </a:ln>
        </p:spPr>
      </p:sp>
      <p:sp>
        <p:nvSpPr>
          <p:cNvPr id="15" name="Text 13"/>
          <p:cNvSpPr txBox="1"/>
          <p:nvPr/>
        </p:nvSpPr>
        <p:spPr>
          <a:xfrm>
            <a:off x="6461608" y="4069080"/>
            <a:ext cx="482483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PERSONALITY &amp; CULTURE FIT</a:t>
            </a:r>
            <a:endParaRPr lang="en-US" sz="1050" dirty="0"/>
          </a:p>
        </p:txBody>
      </p:sp>
      <p:sp>
        <p:nvSpPr>
          <p:cNvPr id="16" name="Text 14"/>
          <p:cNvSpPr txBox="1"/>
          <p:nvPr/>
        </p:nvSpPr>
        <p:spPr>
          <a:xfrm>
            <a:off x="6461608" y="4389120"/>
            <a:ext cx="4824832" cy="1051560"/>
          </a:xfrm>
          <a:prstGeom prst="rect">
            <a:avLst/>
          </a:prstGeom>
          <a:noFill/>
          <a:ln/>
        </p:spPr>
        <p:txBody>
          <a:bodyPr wrap="square" lIns="0" tIns="0" rIns="0" bIns="0" rtlCol="0" anchor="t"/>
          <a:lstStyle/>
          <a:p>
            <a:pPr indent="0" marL="0">
              <a:buNone/>
            </a:pPr>
            <a:r>
              <a:rPr lang="en-US" sz="1250" dirty="0">
                <a:solidFill>
                  <a:schemeClr val="accent3"/>
                </a:solidFill>
              </a:rPr>
              <a:t>Bubbly, friendly and fun, with a bit of humour; not corporate or too serious. A natural fit for a family-oriented, creative team.</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A  ·  07</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Investment Overview</a:t>
            </a:r>
            <a:endParaRPr lang="en-US" sz="3000" dirty="0"/>
          </a:p>
        </p:txBody>
      </p:sp>
      <p:sp>
        <p:nvSpPr>
          <p:cNvPr id="4" name="card"/>
          <p:cNvSpPr/>
          <p:nvPr/>
        </p:nvSpPr>
        <p:spPr>
          <a:xfrm>
            <a:off x="630936" y="1508760"/>
            <a:ext cx="5327752" cy="1737360"/>
          </a:xfrm>
          <a:prstGeom prst="roundRect">
            <a:avLst>
              <a:gd name="adj" fmla="val 4211"/>
            </a:avLst>
          </a:prstGeom>
          <a:solidFill>
            <a:schemeClr val="bg1"/>
          </a:solidFill>
          <a:ln w="12700">
            <a:solidFill>
              <a:schemeClr val="accent1"/>
            </a:solidFill>
            <a:prstDash val="solid"/>
          </a:ln>
        </p:spPr>
      </p:sp>
      <p:sp>
        <p:nvSpPr>
          <p:cNvPr id="5" name="Text 3"/>
          <p:cNvSpPr txBox="1"/>
          <p:nvPr/>
        </p:nvSpPr>
        <p:spPr>
          <a:xfrm>
            <a:off x="950976" y="1737360"/>
            <a:ext cx="468767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ANGEL ESSENTIAL  ·  10% DISCOUNT</a:t>
            </a:r>
            <a:endParaRPr lang="en-US" sz="1050" dirty="0"/>
          </a:p>
        </p:txBody>
      </p:sp>
      <p:sp>
        <p:nvSpPr>
          <p:cNvPr id="6" name="Text 4"/>
          <p:cNvSpPr txBox="1"/>
          <p:nvPr/>
        </p:nvSpPr>
        <p:spPr>
          <a:xfrm>
            <a:off x="950976" y="2057400"/>
            <a:ext cx="4687672" cy="64008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$720</a:t>
            </a:r>
            <a:endParaRPr lang="en-US" sz="3200" dirty="0"/>
          </a:p>
        </p:txBody>
      </p:sp>
      <p:sp>
        <p:nvSpPr>
          <p:cNvPr id="7" name="Text 5"/>
          <p:cNvSpPr txBox="1"/>
          <p:nvPr/>
        </p:nvSpPr>
        <p:spPr>
          <a:xfrm>
            <a:off x="950976" y="2697480"/>
            <a:ext cx="4687672" cy="320040"/>
          </a:xfrm>
          <a:prstGeom prst="rect">
            <a:avLst/>
          </a:prstGeom>
          <a:noFill/>
          <a:ln/>
        </p:spPr>
        <p:txBody>
          <a:bodyPr wrap="square" lIns="0" tIns="0" rIns="0" bIns="0" rtlCol="0" anchor="ctr"/>
          <a:lstStyle/>
          <a:p>
            <a:pPr indent="0" marL="0">
              <a:buNone/>
            </a:pPr>
            <a:r>
              <a:rPr lang="en-US" sz="1250" dirty="0">
                <a:solidFill>
                  <a:schemeClr val="accent3"/>
                </a:solidFill>
              </a:rPr>
              <a:t>AUD / month agency fee  ·  excl. GST</a:t>
            </a:r>
            <a:endParaRPr lang="en-US" sz="1250" dirty="0"/>
          </a:p>
        </p:txBody>
      </p:sp>
      <p:sp>
        <p:nvSpPr>
          <p:cNvPr id="8" name="card"/>
          <p:cNvSpPr/>
          <p:nvPr/>
        </p:nvSpPr>
        <p:spPr>
          <a:xfrm>
            <a:off x="6233008" y="1508760"/>
            <a:ext cx="5327752" cy="1737360"/>
          </a:xfrm>
          <a:prstGeom prst="roundRect">
            <a:avLst>
              <a:gd name="adj" fmla="val 4211"/>
            </a:avLst>
          </a:prstGeom>
          <a:solidFill>
            <a:schemeClr val="bg2"/>
          </a:solidFill>
          <a:ln/>
        </p:spPr>
      </p:sp>
      <p:sp>
        <p:nvSpPr>
          <p:cNvPr id="9" name="Text 7"/>
          <p:cNvSpPr txBox="1"/>
          <p:nvPr/>
        </p:nvSpPr>
        <p:spPr>
          <a:xfrm>
            <a:off x="6553048" y="1737360"/>
            <a:ext cx="468767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TOTAL  ·  PART-TIME</a:t>
            </a:r>
            <a:endParaRPr lang="en-US" sz="1050" dirty="0"/>
          </a:p>
        </p:txBody>
      </p:sp>
      <p:sp>
        <p:nvSpPr>
          <p:cNvPr id="10" name="Text 8"/>
          <p:cNvSpPr txBox="1"/>
          <p:nvPr/>
        </p:nvSpPr>
        <p:spPr>
          <a:xfrm>
            <a:off x="6553048" y="2057400"/>
            <a:ext cx="4687672" cy="64008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$1,587</a:t>
            </a:r>
            <a:endParaRPr lang="en-US" sz="3200" dirty="0"/>
          </a:p>
        </p:txBody>
      </p:sp>
      <p:sp>
        <p:nvSpPr>
          <p:cNvPr id="11" name="Text 9"/>
          <p:cNvSpPr txBox="1"/>
          <p:nvPr/>
        </p:nvSpPr>
        <p:spPr>
          <a:xfrm>
            <a:off x="6553048" y="2697480"/>
            <a:ext cx="4687672" cy="320040"/>
          </a:xfrm>
          <a:prstGeom prst="rect">
            <a:avLst/>
          </a:prstGeom>
          <a:noFill/>
          <a:ln/>
        </p:spPr>
        <p:txBody>
          <a:bodyPr wrap="square" lIns="0" tIns="0" rIns="0" bIns="0" rtlCol="0" anchor="ctr"/>
          <a:lstStyle/>
          <a:p>
            <a:pPr indent="0" marL="0">
              <a:buNone/>
            </a:pPr>
            <a:r>
              <a:rPr lang="en-US" sz="1250" dirty="0">
                <a:solidFill>
                  <a:schemeClr val="accent3"/>
                </a:solidFill>
              </a:rPr>
              <a:t>AUD / month incl. your Coordinator’s rate  ·  excl. GST</a:t>
            </a:r>
            <a:endParaRPr lang="en-US" sz="1250" dirty="0"/>
          </a:p>
        </p:txBody>
      </p:sp>
      <p:sp>
        <p:nvSpPr>
          <p:cNvPr id="12" name="card"/>
          <p:cNvSpPr/>
          <p:nvPr/>
        </p:nvSpPr>
        <p:spPr>
          <a:xfrm>
            <a:off x="630936" y="3474720"/>
            <a:ext cx="10929823" cy="1051560"/>
          </a:xfrm>
          <a:prstGeom prst="roundRect">
            <a:avLst>
              <a:gd name="adj" fmla="val 6957"/>
            </a:avLst>
          </a:prstGeom>
          <a:solidFill>
            <a:schemeClr val="bg2"/>
          </a:solidFill>
          <a:ln/>
        </p:spPr>
      </p:sp>
      <p:sp>
        <p:nvSpPr>
          <p:cNvPr id="13" name="Text 11"/>
          <p:cNvSpPr txBox="1"/>
          <p:nvPr/>
        </p:nvSpPr>
        <p:spPr>
          <a:xfrm>
            <a:off x="950976" y="3474720"/>
            <a:ext cx="10289743" cy="1051560"/>
          </a:xfrm>
          <a:prstGeom prst="rect">
            <a:avLst/>
          </a:prstGeom>
          <a:noFill/>
          <a:ln/>
        </p:spPr>
        <p:txBody>
          <a:bodyPr wrap="square" lIns="0" tIns="0" rIns="0" bIns="0" rtlCol="0" anchor="ctr"/>
          <a:lstStyle/>
          <a:p>
            <a:pPr indent="0" marL="0">
              <a:buNone/>
            </a:pPr>
            <a:r>
              <a:rPr lang="en-US" sz="1250" b="1" dirty="0">
                <a:solidFill>
                  <a:schemeClr val="tx1"/>
                </a:solidFill>
              </a:rPr>
              <a:t>Breakdown: </a:t>
            </a:r>
            <a:pPr indent="0" marL="0">
              <a:buNone/>
            </a:pPr>
            <a:r>
              <a:rPr lang="en-US" sz="1250" dirty="0">
                <a:solidFill>
                  <a:schemeClr val="accent3"/>
                </a:solidFill>
              </a:rPr>
              <a:t>the Angel Essential agency fee is $800 less a 10% discount, and covers payroll, a health voucher and annual incentives. Your Coordinator’s rate ($10/hr, 20 hrs/week) averages $867/month, paid to them in full.</a:t>
            </a:r>
            <a:endParaRPr lang="en-US" sz="1250" dirty="0"/>
          </a:p>
        </p:txBody>
      </p:sp>
      <p:sp>
        <p:nvSpPr>
          <p:cNvPr id="14" name="card"/>
          <p:cNvSpPr/>
          <p:nvPr/>
        </p:nvSpPr>
        <p:spPr>
          <a:xfrm>
            <a:off x="630936" y="4709160"/>
            <a:ext cx="10929823" cy="1051560"/>
          </a:xfrm>
          <a:prstGeom prst="roundRect">
            <a:avLst>
              <a:gd name="adj" fmla="val 6957"/>
            </a:avLst>
          </a:prstGeom>
          <a:solidFill>
            <a:schemeClr val="accent4"/>
          </a:solidFill>
          <a:ln/>
        </p:spPr>
      </p:sp>
      <p:sp>
        <p:nvSpPr>
          <p:cNvPr id="15" name="Text 13"/>
          <p:cNvSpPr txBox="1"/>
          <p:nvPr/>
        </p:nvSpPr>
        <p:spPr>
          <a:xfrm>
            <a:off x="950976" y="4709160"/>
            <a:ext cx="10289743" cy="1051560"/>
          </a:xfrm>
          <a:prstGeom prst="rect">
            <a:avLst/>
          </a:prstGeom>
          <a:noFill/>
          <a:ln/>
        </p:spPr>
        <p:txBody>
          <a:bodyPr wrap="square" lIns="0" tIns="0" rIns="0" bIns="0" rtlCol="0" anchor="ctr"/>
          <a:lstStyle/>
          <a:p>
            <a:pPr indent="0" marL="0">
              <a:buNone/>
            </a:pPr>
            <a:r>
              <a:rPr lang="en-US" sz="1250" b="1" dirty="0">
                <a:solidFill>
                  <a:schemeClr val="accent1"/>
                </a:solidFill>
              </a:rPr>
              <a:t>Terms discussed: </a:t>
            </a:r>
            <a:pPr indent="0" marL="0">
              <a:buNone/>
            </a:pPr>
            <a:r>
              <a:rPr lang="en-US" sz="1250" dirty="0">
                <a:solidFill>
                  <a:schemeClr val="tx1"/>
                </a:solidFill>
              </a:rPr>
              <a:t>$500 refundable deposit (paid 16 October) · 3-month minimum, then 30-day notice · hours flex up from 20/week · free replacement within the first 30 days, then a fair fee.</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A  ·  08</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Next Steps</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We check in at every stage. If something isn’t working, we adjust. If it’s working, we build on it.</a:t>
            </a:r>
            <a:endParaRPr lang="en-US" sz="1300" dirty="0"/>
          </a:p>
        </p:txBody>
      </p:sp>
      <p:sp>
        <p:nvSpPr>
          <p:cNvPr id="5" name="card"/>
          <p:cNvSpPr/>
          <p:nvPr/>
        </p:nvSpPr>
        <p:spPr>
          <a:xfrm>
            <a:off x="630936" y="2011680"/>
            <a:ext cx="10929823" cy="640080"/>
          </a:xfrm>
          <a:prstGeom prst="roundRect">
            <a:avLst>
              <a:gd name="adj" fmla="val 11429"/>
            </a:avLst>
          </a:prstGeom>
          <a:solidFill>
            <a:schemeClr val="bg1"/>
          </a:solidFill>
          <a:ln w="12700">
            <a:solidFill>
              <a:schemeClr val="accent5"/>
            </a:solidFill>
            <a:prstDash val="solid"/>
          </a:ln>
        </p:spPr>
      </p:sp>
      <p:sp>
        <p:nvSpPr>
          <p:cNvPr id="6" name="number 1"/>
          <p:cNvSpPr/>
          <p:nvPr/>
        </p:nvSpPr>
        <p:spPr>
          <a:xfrm>
            <a:off x="859536" y="2139696"/>
            <a:ext cx="384048" cy="384048"/>
          </a:xfrm>
          <a:prstGeom prst="ellipse">
            <a:avLst/>
          </a:prstGeom>
          <a:solidFill>
            <a:schemeClr val="accent1"/>
          </a:solidFill>
          <a:ln/>
        </p:spPr>
      </p:sp>
      <p:sp>
        <p:nvSpPr>
          <p:cNvPr id="7" name="Text 5"/>
          <p:cNvSpPr txBox="1"/>
          <p:nvPr/>
        </p:nvSpPr>
        <p:spPr>
          <a:xfrm>
            <a:off x="859536" y="213969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8" name="Text 6"/>
          <p:cNvSpPr txBox="1"/>
          <p:nvPr/>
        </p:nvSpPr>
        <p:spPr>
          <a:xfrm>
            <a:off x="1453896" y="2011680"/>
            <a:ext cx="9832543" cy="640080"/>
          </a:xfrm>
          <a:prstGeom prst="rect">
            <a:avLst/>
          </a:prstGeom>
          <a:noFill/>
          <a:ln/>
        </p:spPr>
        <p:txBody>
          <a:bodyPr wrap="square" lIns="0" tIns="0" rIns="0" bIns="0" rtlCol="0" anchor="ctr"/>
          <a:lstStyle/>
          <a:p>
            <a:pPr indent="0" marL="0">
              <a:buNone/>
            </a:pPr>
            <a:r>
              <a:rPr lang="en-US" sz="1400" dirty="0">
                <a:solidFill>
                  <a:schemeClr val="tx1"/>
                </a:solidFill>
              </a:rPr>
              <a:t>Deposit paid (16 October) and Alignment Session held (20 October)</a:t>
            </a:r>
            <a:endParaRPr lang="en-US" sz="1400" dirty="0"/>
          </a:p>
        </p:txBody>
      </p:sp>
      <p:sp>
        <p:nvSpPr>
          <p:cNvPr id="9" name="card"/>
          <p:cNvSpPr/>
          <p:nvPr/>
        </p:nvSpPr>
        <p:spPr>
          <a:xfrm>
            <a:off x="630936" y="2788920"/>
            <a:ext cx="10929823" cy="640080"/>
          </a:xfrm>
          <a:prstGeom prst="roundRect">
            <a:avLst>
              <a:gd name="adj" fmla="val 11429"/>
            </a:avLst>
          </a:prstGeom>
          <a:solidFill>
            <a:schemeClr val="bg1"/>
          </a:solidFill>
          <a:ln w="12700">
            <a:solidFill>
              <a:schemeClr val="accent5"/>
            </a:solidFill>
            <a:prstDash val="solid"/>
          </a:ln>
        </p:spPr>
      </p:sp>
      <p:sp>
        <p:nvSpPr>
          <p:cNvPr id="10" name="number 2"/>
          <p:cNvSpPr/>
          <p:nvPr/>
        </p:nvSpPr>
        <p:spPr>
          <a:xfrm>
            <a:off x="859536" y="2916936"/>
            <a:ext cx="384048" cy="384048"/>
          </a:xfrm>
          <a:prstGeom prst="ellipse">
            <a:avLst/>
          </a:prstGeom>
          <a:solidFill>
            <a:schemeClr val="accent1"/>
          </a:solidFill>
          <a:ln/>
        </p:spPr>
      </p:sp>
      <p:sp>
        <p:nvSpPr>
          <p:cNvPr id="11" name="Text 9"/>
          <p:cNvSpPr txBox="1"/>
          <p:nvPr/>
        </p:nvSpPr>
        <p:spPr>
          <a:xfrm>
            <a:off x="859536" y="291693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2" name="Text 10"/>
          <p:cNvSpPr txBox="1"/>
          <p:nvPr/>
        </p:nvSpPr>
        <p:spPr>
          <a:xfrm>
            <a:off x="1453896" y="2788920"/>
            <a:ext cx="9832543" cy="640080"/>
          </a:xfrm>
          <a:prstGeom prst="rect">
            <a:avLst/>
          </a:prstGeom>
          <a:noFill/>
          <a:ln/>
        </p:spPr>
        <p:txBody>
          <a:bodyPr wrap="square" lIns="0" tIns="0" rIns="0" bIns="0" rtlCol="0" anchor="ctr"/>
          <a:lstStyle/>
          <a:p>
            <a:pPr indent="0" marL="0">
              <a:buNone/>
            </a:pPr>
            <a:r>
              <a:rPr lang="en-US" sz="1400" dirty="0">
                <a:solidFill>
                  <a:schemeClr val="tx1"/>
                </a:solidFill>
              </a:rPr>
              <a:t>Shortlist shared (23 October); Krystie interviewed Clio (27 October)</a:t>
            </a:r>
            <a:endParaRPr lang="en-US" sz="1400" dirty="0"/>
          </a:p>
        </p:txBody>
      </p:sp>
      <p:sp>
        <p:nvSpPr>
          <p:cNvPr id="13" name="card"/>
          <p:cNvSpPr/>
          <p:nvPr/>
        </p:nvSpPr>
        <p:spPr>
          <a:xfrm>
            <a:off x="630936" y="3566160"/>
            <a:ext cx="10929823" cy="640080"/>
          </a:xfrm>
          <a:prstGeom prst="roundRect">
            <a:avLst>
              <a:gd name="adj" fmla="val 11429"/>
            </a:avLst>
          </a:prstGeom>
          <a:solidFill>
            <a:schemeClr val="bg1"/>
          </a:solidFill>
          <a:ln w="12700">
            <a:solidFill>
              <a:schemeClr val="accent5"/>
            </a:solidFill>
            <a:prstDash val="solid"/>
          </a:ln>
        </p:spPr>
      </p:sp>
      <p:sp>
        <p:nvSpPr>
          <p:cNvPr id="14" name="number 3"/>
          <p:cNvSpPr/>
          <p:nvPr/>
        </p:nvSpPr>
        <p:spPr>
          <a:xfrm>
            <a:off x="859536" y="3694176"/>
            <a:ext cx="384048" cy="384048"/>
          </a:xfrm>
          <a:prstGeom prst="ellipse">
            <a:avLst/>
          </a:prstGeom>
          <a:solidFill>
            <a:schemeClr val="accent1"/>
          </a:solidFill>
          <a:ln/>
        </p:spPr>
      </p:sp>
      <p:sp>
        <p:nvSpPr>
          <p:cNvPr id="15" name="Text 13"/>
          <p:cNvSpPr txBox="1"/>
          <p:nvPr/>
        </p:nvSpPr>
        <p:spPr>
          <a:xfrm>
            <a:off x="859536" y="369417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6" name="Text 14"/>
          <p:cNvSpPr txBox="1"/>
          <p:nvPr/>
        </p:nvSpPr>
        <p:spPr>
          <a:xfrm>
            <a:off x="1453896" y="3566160"/>
            <a:ext cx="9832543" cy="640080"/>
          </a:xfrm>
          <a:prstGeom prst="rect">
            <a:avLst/>
          </a:prstGeom>
          <a:noFill/>
          <a:ln/>
        </p:spPr>
        <p:txBody>
          <a:bodyPr wrap="square" lIns="0" tIns="0" rIns="0" bIns="0" rtlCol="0" anchor="ctr"/>
          <a:lstStyle/>
          <a:p>
            <a:pPr indent="0" marL="0">
              <a:buNone/>
            </a:pPr>
            <a:r>
              <a:rPr lang="en-US" sz="1400" dirty="0">
                <a:solidFill>
                  <a:schemeClr val="tx1"/>
                </a:solidFill>
              </a:rPr>
              <a:t>Clio confirmed; Freedom Plan review on 30 October</a:t>
            </a:r>
            <a:endParaRPr lang="en-US" sz="1400" dirty="0"/>
          </a:p>
        </p:txBody>
      </p:sp>
      <p:sp>
        <p:nvSpPr>
          <p:cNvPr id="17" name="card"/>
          <p:cNvSpPr/>
          <p:nvPr/>
        </p:nvSpPr>
        <p:spPr>
          <a:xfrm>
            <a:off x="630936" y="4343400"/>
            <a:ext cx="10929823" cy="640080"/>
          </a:xfrm>
          <a:prstGeom prst="roundRect">
            <a:avLst>
              <a:gd name="adj" fmla="val 11429"/>
            </a:avLst>
          </a:prstGeom>
          <a:solidFill>
            <a:schemeClr val="bg1"/>
          </a:solidFill>
          <a:ln w="12700">
            <a:solidFill>
              <a:schemeClr val="accent5"/>
            </a:solidFill>
            <a:prstDash val="solid"/>
          </a:ln>
        </p:spPr>
      </p:sp>
      <p:sp>
        <p:nvSpPr>
          <p:cNvPr id="18" name="number 4"/>
          <p:cNvSpPr/>
          <p:nvPr/>
        </p:nvSpPr>
        <p:spPr>
          <a:xfrm>
            <a:off x="859536" y="4471416"/>
            <a:ext cx="384048" cy="384048"/>
          </a:xfrm>
          <a:prstGeom prst="ellipse">
            <a:avLst/>
          </a:prstGeom>
          <a:solidFill>
            <a:schemeClr val="accent1"/>
          </a:solidFill>
          <a:ln/>
        </p:spPr>
      </p:sp>
      <p:sp>
        <p:nvSpPr>
          <p:cNvPr id="19" name="Text 17"/>
          <p:cNvSpPr txBox="1"/>
          <p:nvPr/>
        </p:nvSpPr>
        <p:spPr>
          <a:xfrm>
            <a:off x="859536" y="447141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0" name="Text 18"/>
          <p:cNvSpPr txBox="1"/>
          <p:nvPr/>
        </p:nvSpPr>
        <p:spPr>
          <a:xfrm>
            <a:off x="1453896" y="4343400"/>
            <a:ext cx="9832543" cy="640080"/>
          </a:xfrm>
          <a:prstGeom prst="rect">
            <a:avLst/>
          </a:prstGeom>
          <a:noFill/>
          <a:ln/>
        </p:spPr>
        <p:txBody>
          <a:bodyPr wrap="square" lIns="0" tIns="0" rIns="0" bIns="0" rtlCol="0" anchor="ctr"/>
          <a:lstStyle/>
          <a:p>
            <a:pPr indent="0" marL="0">
              <a:buNone/>
            </a:pPr>
            <a:r>
              <a:rPr lang="en-US" sz="1400" b="1" dirty="0">
                <a:solidFill>
                  <a:schemeClr val="tx1"/>
                </a:solidFill>
              </a:rPr>
              <a:t>Clio starts Monday 2 November: access, workbook and Part B together</a:t>
            </a:r>
            <a:endParaRPr lang="en-US" sz="1400" dirty="0"/>
          </a:p>
        </p:txBody>
      </p:sp>
      <p:sp>
        <p:nvSpPr>
          <p:cNvPr id="21" name="callout"/>
          <p:cNvSpPr/>
          <p:nvPr/>
        </p:nvSpPr>
        <p:spPr>
          <a:xfrm>
            <a:off x="630936" y="5257800"/>
            <a:ext cx="10929823" cy="548640"/>
          </a:xfrm>
          <a:prstGeom prst="roundRect">
            <a:avLst>
              <a:gd name="adj" fmla="val 13333"/>
            </a:avLst>
          </a:prstGeom>
          <a:solidFill>
            <a:schemeClr val="accent4"/>
          </a:solidFill>
          <a:ln/>
        </p:spPr>
      </p:sp>
      <p:sp>
        <p:nvSpPr>
          <p:cNvPr id="22" name="Text 20"/>
          <p:cNvSpPr txBox="1"/>
          <p:nvPr/>
        </p:nvSpPr>
        <p:spPr>
          <a:xfrm>
            <a:off x="859536" y="5257800"/>
            <a:ext cx="10472623" cy="548640"/>
          </a:xfrm>
          <a:prstGeom prst="rect">
            <a:avLst/>
          </a:prstGeom>
          <a:noFill/>
          <a:ln/>
        </p:spPr>
        <p:txBody>
          <a:bodyPr wrap="square" lIns="0" tIns="0" rIns="0" bIns="0" rtlCol="0" anchor="ctr"/>
          <a:lstStyle/>
          <a:p>
            <a:pPr indent="0" marL="0">
              <a:buNone/>
            </a:pPr>
            <a:r>
              <a:rPr lang="en-US" sz="1250" b="1" dirty="0">
                <a:solidFill>
                  <a:schemeClr val="accent1"/>
                </a:solidFill>
              </a:rPr>
              <a:t>From Day 1 onwards, Part B becomes your working plan.</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630936" y="2148840"/>
            <a:ext cx="8229600" cy="320040"/>
          </a:xfrm>
          <a:prstGeom prst="rect">
            <a:avLst/>
          </a:prstGeom>
          <a:noFill/>
          <a:ln/>
        </p:spPr>
        <p:txBody>
          <a:bodyPr wrap="square" lIns="0" tIns="0" rIns="0" bIns="0" rtlCol="0"/>
          <a:lstStyle/>
          <a:p>
            <a:pPr indent="0" marL="0">
              <a:buNone/>
            </a:pPr>
            <a:r>
              <a:rPr lang="en-US" sz="1200" b="1" spc="300" kern="0" dirty="0">
                <a:solidFill>
                  <a:srgbClr val="7FE0C2"/>
                </a:solidFill>
              </a:rPr>
              <a:t>PART B</a:t>
            </a:r>
            <a:endParaRPr lang="en-US" sz="1200" dirty="0"/>
          </a:p>
        </p:txBody>
      </p:sp>
      <p:sp>
        <p:nvSpPr>
          <p:cNvPr id="3" name="Text 1"/>
          <p:cNvSpPr/>
          <p:nvPr>
            <p:ph idx="102" type="title" hasCustomPrompt="1"/>
          </p:nvPr>
        </p:nvSpPr>
        <p:spPr>
          <a:xfrm>
            <a:off x="630936" y="2560320"/>
            <a:ext cx="9144000" cy="914400"/>
          </a:xfrm>
          <a:prstGeom prst="rect">
            <a:avLst/>
          </a:prstGeom>
          <a:noFill/>
          <a:ln/>
        </p:spPr>
        <p:txBody>
          <a:bodyPr wrap="square" lIns="0" tIns="0" rIns="0" bIns="0" rtlCol="0" anchor="ctr"/>
          <a:lstStyle/>
          <a:p>
            <a:pPr algn="l" indent="0" marL="0">
              <a:buNone/>
            </a:pPr>
            <a:r>
              <a:rPr lang="en-US" sz="4000" b="1" dirty="0">
                <a:solidFill>
                  <a:schemeClr val="bg1"/>
                </a:solidFill>
                <a:latin typeface="Cambria" pitchFamily="34" charset="0"/>
                <a:ea typeface="Cambria" pitchFamily="34" charset="-122"/>
                <a:cs typeface="Cambria" pitchFamily="34" charset="-120"/>
              </a:rPr>
              <a:t>Your Freedom Playbook</a:t>
            </a:r>
            <a:endParaRPr lang="en-US" sz="4000" dirty="0"/>
          </a:p>
        </p:txBody>
      </p:sp>
      <p:sp>
        <p:nvSpPr>
          <p:cNvPr id="4" name="Text 1"/>
          <p:cNvSpPr/>
          <p:nvPr>
            <p:ph idx="103" type="body" hasCustomPrompt="1"/>
          </p:nvPr>
        </p:nvSpPr>
        <p:spPr>
          <a:xfrm>
            <a:off x="630936" y="3611880"/>
            <a:ext cx="7863840" cy="1005840"/>
          </a:xfrm>
          <a:prstGeom prst="rect">
            <a:avLst/>
          </a:prstGeom>
          <a:noFill/>
          <a:ln/>
        </p:spPr>
        <p:txBody>
          <a:bodyPr wrap="square" lIns="0" tIns="0" rIns="0" bIns="0" rtlCol="0" anchor="t"/>
          <a:lstStyle/>
          <a:p>
            <a:pPr indent="0" marL="0">
              <a:buNone/>
            </a:pPr>
            <a:r>
              <a:rPr lang="en-US" sz="1500" dirty="0">
                <a:solidFill>
                  <a:srgbClr val="DBE3E6"/>
                </a:solidFill>
              </a:rPr>
              <a:t>The part you keep. Use it at every check-in with your Coordinator and your Outsourcing Angel team, from Day 1 to Month 12 and beyond.</a:t>
            </a:r>
            <a:endParaRPr lang="en-US" sz="150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AEB9BD"/>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STARTER PACK  ·  1 OF 4  ·  FIRST-TIME CLIENTS</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Get Ready for Day 1</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Hiring your first offshore team member? These four pages help you start strong. Worked with a VA before? Skim them.</a:t>
            </a:r>
            <a:endParaRPr lang="en-US" sz="1300" dirty="0"/>
          </a:p>
        </p:txBody>
      </p:sp>
      <p:sp>
        <p:nvSpPr>
          <p:cNvPr id="5" name="card"/>
          <p:cNvSpPr/>
          <p:nvPr/>
        </p:nvSpPr>
        <p:spPr>
          <a:xfrm>
            <a:off x="630936" y="1965960"/>
            <a:ext cx="5669280" cy="4160520"/>
          </a:xfrm>
          <a:prstGeom prst="roundRect">
            <a:avLst>
              <a:gd name="adj" fmla="val 1758"/>
            </a:avLst>
          </a:prstGeom>
          <a:solidFill>
            <a:schemeClr val="bg1"/>
          </a:solidFill>
          <a:ln w="12700">
            <a:solidFill>
              <a:schemeClr val="accent5"/>
            </a:solidFill>
            <a:prstDash val="solid"/>
          </a:ln>
        </p:spPr>
      </p:sp>
      <p:sp>
        <p:nvSpPr>
          <p:cNvPr id="6" name="Text 4"/>
          <p:cNvSpPr txBox="1"/>
          <p:nvPr/>
        </p:nvSpPr>
        <p:spPr>
          <a:xfrm>
            <a:off x="905256" y="2148840"/>
            <a:ext cx="512064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SETUP CHECKLIST: BEFORE DAY 1</a:t>
            </a:r>
            <a:endParaRPr lang="en-US" sz="1050" dirty="0"/>
          </a:p>
        </p:txBody>
      </p:sp>
      <p:sp>
        <p:nvSpPr>
          <p:cNvPr id="7" name="Text 5"/>
          <p:cNvSpPr txBox="1"/>
          <p:nvPr/>
        </p:nvSpPr>
        <p:spPr>
          <a:xfrm>
            <a:off x="905256" y="2542032"/>
            <a:ext cx="320040" cy="365760"/>
          </a:xfrm>
          <a:prstGeom prst="rect">
            <a:avLst/>
          </a:prstGeom>
          <a:noFill/>
          <a:ln/>
        </p:spPr>
        <p:txBody>
          <a:bodyPr wrap="square" lIns="0" tIns="0" rIns="0" bIns="0" rtlCol="0" anchor="ctr"/>
          <a:lstStyle/>
          <a:p>
            <a:pPr indent="0" marL="0">
              <a:buNone/>
            </a:pPr>
            <a:r>
              <a:rPr lang="en-US" sz="1600" dirty="0">
                <a:solidFill>
                  <a:schemeClr val="accent1"/>
                </a:solidFill>
              </a:rPr>
              <a:t>☐</a:t>
            </a:r>
            <a:endParaRPr lang="en-US" sz="1600" dirty="0"/>
          </a:p>
        </p:txBody>
      </p:sp>
      <p:sp>
        <p:nvSpPr>
          <p:cNvPr id="8" name="Text 6"/>
          <p:cNvSpPr txBox="1"/>
          <p:nvPr/>
        </p:nvSpPr>
        <p:spPr>
          <a:xfrm>
            <a:off x="1316736" y="2542032"/>
            <a:ext cx="4754880" cy="365760"/>
          </a:xfrm>
          <a:prstGeom prst="rect">
            <a:avLst/>
          </a:prstGeom>
          <a:noFill/>
          <a:ln/>
        </p:spPr>
        <p:txBody>
          <a:bodyPr wrap="square" lIns="0" tIns="0" rIns="0" bIns="0" rtlCol="0" anchor="ctr"/>
          <a:lstStyle/>
          <a:p>
            <a:pPr indent="0" marL="0">
              <a:buNone/>
            </a:pPr>
            <a:r>
              <a:rPr lang="en-US" sz="1300" dirty="0">
                <a:solidFill>
                  <a:schemeClr val="tx1"/>
                </a:solidFill>
              </a:rPr>
              <a:t>Google Workspace email and team chat</a:t>
            </a:r>
            <a:endParaRPr lang="en-US" sz="1300" dirty="0"/>
          </a:p>
        </p:txBody>
      </p:sp>
      <p:sp>
        <p:nvSpPr>
          <p:cNvPr id="9" name="Text 7"/>
          <p:cNvSpPr txBox="1"/>
          <p:nvPr/>
        </p:nvSpPr>
        <p:spPr>
          <a:xfrm>
            <a:off x="905256" y="3035808"/>
            <a:ext cx="320040" cy="365760"/>
          </a:xfrm>
          <a:prstGeom prst="rect">
            <a:avLst/>
          </a:prstGeom>
          <a:noFill/>
          <a:ln/>
        </p:spPr>
        <p:txBody>
          <a:bodyPr wrap="square" lIns="0" tIns="0" rIns="0" bIns="0" rtlCol="0" anchor="ctr"/>
          <a:lstStyle/>
          <a:p>
            <a:pPr indent="0" marL="0">
              <a:buNone/>
            </a:pPr>
            <a:r>
              <a:rPr lang="en-US" sz="1600" dirty="0">
                <a:solidFill>
                  <a:schemeClr val="accent1"/>
                </a:solidFill>
              </a:rPr>
              <a:t>☐</a:t>
            </a:r>
            <a:endParaRPr lang="en-US" sz="1600" dirty="0"/>
          </a:p>
        </p:txBody>
      </p:sp>
      <p:sp>
        <p:nvSpPr>
          <p:cNvPr id="10" name="Text 8"/>
          <p:cNvSpPr txBox="1"/>
          <p:nvPr/>
        </p:nvSpPr>
        <p:spPr>
          <a:xfrm>
            <a:off x="1316736" y="3035808"/>
            <a:ext cx="4754880" cy="365760"/>
          </a:xfrm>
          <a:prstGeom prst="rect">
            <a:avLst/>
          </a:prstGeom>
          <a:noFill/>
          <a:ln/>
        </p:spPr>
        <p:txBody>
          <a:bodyPr wrap="square" lIns="0" tIns="0" rIns="0" bIns="0" rtlCol="0" anchor="ctr"/>
          <a:lstStyle/>
          <a:p>
            <a:pPr indent="0" marL="0">
              <a:buNone/>
            </a:pPr>
            <a:r>
              <a:rPr lang="en-US" sz="1300" dirty="0">
                <a:solidFill>
                  <a:schemeClr val="tx1"/>
                </a:solidFill>
              </a:rPr>
              <a:t>Pipedrive access, with the right permissions</a:t>
            </a:r>
            <a:endParaRPr lang="en-US" sz="1300" dirty="0"/>
          </a:p>
        </p:txBody>
      </p:sp>
      <p:sp>
        <p:nvSpPr>
          <p:cNvPr id="11" name="Text 9"/>
          <p:cNvSpPr txBox="1"/>
          <p:nvPr/>
        </p:nvSpPr>
        <p:spPr>
          <a:xfrm>
            <a:off x="905256" y="3529584"/>
            <a:ext cx="320040" cy="365760"/>
          </a:xfrm>
          <a:prstGeom prst="rect">
            <a:avLst/>
          </a:prstGeom>
          <a:noFill/>
          <a:ln/>
        </p:spPr>
        <p:txBody>
          <a:bodyPr wrap="square" lIns="0" tIns="0" rIns="0" bIns="0" rtlCol="0" anchor="ctr"/>
          <a:lstStyle/>
          <a:p>
            <a:pPr indent="0" marL="0">
              <a:buNone/>
            </a:pPr>
            <a:r>
              <a:rPr lang="en-US" sz="1600" dirty="0">
                <a:solidFill>
                  <a:schemeClr val="accent1"/>
                </a:solidFill>
              </a:rPr>
              <a:t>☐</a:t>
            </a:r>
            <a:endParaRPr lang="en-US" sz="1600" dirty="0"/>
          </a:p>
        </p:txBody>
      </p:sp>
      <p:sp>
        <p:nvSpPr>
          <p:cNvPr id="12" name="Text 10"/>
          <p:cNvSpPr txBox="1"/>
          <p:nvPr/>
        </p:nvSpPr>
        <p:spPr>
          <a:xfrm>
            <a:off x="1316736" y="3529584"/>
            <a:ext cx="4754880" cy="365760"/>
          </a:xfrm>
          <a:prstGeom prst="rect">
            <a:avLst/>
          </a:prstGeom>
          <a:noFill/>
          <a:ln/>
        </p:spPr>
        <p:txBody>
          <a:bodyPr wrap="square" lIns="0" tIns="0" rIns="0" bIns="0" rtlCol="0" anchor="ctr"/>
          <a:lstStyle/>
          <a:p>
            <a:pPr indent="0" marL="0">
              <a:buNone/>
            </a:pPr>
            <a:r>
              <a:rPr lang="en-US" sz="1300" dirty="0">
                <a:solidFill>
                  <a:schemeClr val="tx1"/>
                </a:solidFill>
              </a:rPr>
              <a:t>A password manager to share logins safely</a:t>
            </a:r>
            <a:endParaRPr lang="en-US" sz="1300" dirty="0"/>
          </a:p>
        </p:txBody>
      </p:sp>
      <p:sp>
        <p:nvSpPr>
          <p:cNvPr id="13" name="Text 11"/>
          <p:cNvSpPr txBox="1"/>
          <p:nvPr/>
        </p:nvSpPr>
        <p:spPr>
          <a:xfrm>
            <a:off x="905256" y="4023360"/>
            <a:ext cx="320040" cy="365760"/>
          </a:xfrm>
          <a:prstGeom prst="rect">
            <a:avLst/>
          </a:prstGeom>
          <a:noFill/>
          <a:ln/>
        </p:spPr>
        <p:txBody>
          <a:bodyPr wrap="square" lIns="0" tIns="0" rIns="0" bIns="0" rtlCol="0" anchor="ctr"/>
          <a:lstStyle/>
          <a:p>
            <a:pPr indent="0" marL="0">
              <a:buNone/>
            </a:pPr>
            <a:r>
              <a:rPr lang="en-US" sz="1600" dirty="0">
                <a:solidFill>
                  <a:schemeClr val="accent1"/>
                </a:solidFill>
              </a:rPr>
              <a:t>☐</a:t>
            </a:r>
            <a:endParaRPr lang="en-US" sz="1600" dirty="0"/>
          </a:p>
        </p:txBody>
      </p:sp>
      <p:sp>
        <p:nvSpPr>
          <p:cNvPr id="14" name="Text 12"/>
          <p:cNvSpPr txBox="1"/>
          <p:nvPr/>
        </p:nvSpPr>
        <p:spPr>
          <a:xfrm>
            <a:off x="1316736" y="4023360"/>
            <a:ext cx="4754880" cy="365760"/>
          </a:xfrm>
          <a:prstGeom prst="rect">
            <a:avLst/>
          </a:prstGeom>
          <a:noFill/>
          <a:ln/>
        </p:spPr>
        <p:txBody>
          <a:bodyPr wrap="square" lIns="0" tIns="0" rIns="0" bIns="0" rtlCol="0" anchor="ctr"/>
          <a:lstStyle/>
          <a:p>
            <a:pPr indent="0" marL="0">
              <a:buNone/>
            </a:pPr>
            <a:r>
              <a:rPr lang="en-US" sz="1300" dirty="0">
                <a:solidFill>
                  <a:schemeClr val="tx1"/>
                </a:solidFill>
              </a:rPr>
              <a:t>Two-factor authentication switched on</a:t>
            </a:r>
            <a:endParaRPr lang="en-US" sz="1300" dirty="0"/>
          </a:p>
        </p:txBody>
      </p:sp>
      <p:sp>
        <p:nvSpPr>
          <p:cNvPr id="15" name="Text 13"/>
          <p:cNvSpPr txBox="1"/>
          <p:nvPr/>
        </p:nvSpPr>
        <p:spPr>
          <a:xfrm>
            <a:off x="905256" y="4517136"/>
            <a:ext cx="320040" cy="365760"/>
          </a:xfrm>
          <a:prstGeom prst="rect">
            <a:avLst/>
          </a:prstGeom>
          <a:noFill/>
          <a:ln/>
        </p:spPr>
        <p:txBody>
          <a:bodyPr wrap="square" lIns="0" tIns="0" rIns="0" bIns="0" rtlCol="0" anchor="ctr"/>
          <a:lstStyle/>
          <a:p>
            <a:pPr indent="0" marL="0">
              <a:buNone/>
            </a:pPr>
            <a:r>
              <a:rPr lang="en-US" sz="1600" dirty="0">
                <a:solidFill>
                  <a:schemeClr val="accent1"/>
                </a:solidFill>
              </a:rPr>
              <a:t>☐</a:t>
            </a:r>
            <a:endParaRPr lang="en-US" sz="1600" dirty="0"/>
          </a:p>
        </p:txBody>
      </p:sp>
      <p:sp>
        <p:nvSpPr>
          <p:cNvPr id="16" name="Text 14"/>
          <p:cNvSpPr txBox="1"/>
          <p:nvPr/>
        </p:nvSpPr>
        <p:spPr>
          <a:xfrm>
            <a:off x="1316736" y="4517136"/>
            <a:ext cx="4754880" cy="365760"/>
          </a:xfrm>
          <a:prstGeom prst="rect">
            <a:avLst/>
          </a:prstGeom>
          <a:noFill/>
          <a:ln/>
        </p:spPr>
        <p:txBody>
          <a:bodyPr wrap="square" lIns="0" tIns="0" rIns="0" bIns="0" rtlCol="0" anchor="ctr"/>
          <a:lstStyle/>
          <a:p>
            <a:pPr indent="0" marL="0">
              <a:buNone/>
            </a:pPr>
            <a:r>
              <a:rPr lang="en-US" sz="1300" dirty="0">
                <a:solidFill>
                  <a:schemeClr val="tx1"/>
                </a:solidFill>
              </a:rPr>
              <a:t>Company workbook and onboarding docs shared</a:t>
            </a:r>
            <a:endParaRPr lang="en-US" sz="1300" dirty="0"/>
          </a:p>
        </p:txBody>
      </p:sp>
      <p:sp>
        <p:nvSpPr>
          <p:cNvPr id="17" name="Text 15"/>
          <p:cNvSpPr txBox="1"/>
          <p:nvPr/>
        </p:nvSpPr>
        <p:spPr>
          <a:xfrm>
            <a:off x="905256" y="5010912"/>
            <a:ext cx="320040" cy="365760"/>
          </a:xfrm>
          <a:prstGeom prst="rect">
            <a:avLst/>
          </a:prstGeom>
          <a:noFill/>
          <a:ln/>
        </p:spPr>
        <p:txBody>
          <a:bodyPr wrap="square" lIns="0" tIns="0" rIns="0" bIns="0" rtlCol="0" anchor="ctr"/>
          <a:lstStyle/>
          <a:p>
            <a:pPr indent="0" marL="0">
              <a:buNone/>
            </a:pPr>
            <a:r>
              <a:rPr lang="en-US" sz="1600" dirty="0">
                <a:solidFill>
                  <a:schemeClr val="accent1"/>
                </a:solidFill>
              </a:rPr>
              <a:t>☐</a:t>
            </a:r>
            <a:endParaRPr lang="en-US" sz="1600" dirty="0"/>
          </a:p>
        </p:txBody>
      </p:sp>
      <p:sp>
        <p:nvSpPr>
          <p:cNvPr id="18" name="Text 16"/>
          <p:cNvSpPr txBox="1"/>
          <p:nvPr/>
        </p:nvSpPr>
        <p:spPr>
          <a:xfrm>
            <a:off x="1316736" y="5010912"/>
            <a:ext cx="4754880" cy="365760"/>
          </a:xfrm>
          <a:prstGeom prst="rect">
            <a:avLst/>
          </a:prstGeom>
          <a:noFill/>
          <a:ln/>
        </p:spPr>
        <p:txBody>
          <a:bodyPr wrap="square" lIns="0" tIns="0" rIns="0" bIns="0" rtlCol="0" anchor="ctr"/>
          <a:lstStyle/>
          <a:p>
            <a:pPr indent="0" marL="0">
              <a:buNone/>
            </a:pPr>
            <a:r>
              <a:rPr lang="en-US" sz="1300" dirty="0">
                <a:solidFill>
                  <a:schemeClr val="tx1"/>
                </a:solidFill>
              </a:rPr>
              <a:t>Email templates and pricing brochures shared</a:t>
            </a:r>
            <a:endParaRPr lang="en-US" sz="1300" dirty="0"/>
          </a:p>
        </p:txBody>
      </p:sp>
      <p:sp>
        <p:nvSpPr>
          <p:cNvPr id="19" name="Text 17"/>
          <p:cNvSpPr txBox="1"/>
          <p:nvPr/>
        </p:nvSpPr>
        <p:spPr>
          <a:xfrm>
            <a:off x="905256" y="5504688"/>
            <a:ext cx="320040" cy="365760"/>
          </a:xfrm>
          <a:prstGeom prst="rect">
            <a:avLst/>
          </a:prstGeom>
          <a:noFill/>
          <a:ln/>
        </p:spPr>
        <p:txBody>
          <a:bodyPr wrap="square" lIns="0" tIns="0" rIns="0" bIns="0" rtlCol="0" anchor="ctr"/>
          <a:lstStyle/>
          <a:p>
            <a:pPr indent="0" marL="0">
              <a:buNone/>
            </a:pPr>
            <a:r>
              <a:rPr lang="en-US" sz="1600" dirty="0">
                <a:solidFill>
                  <a:schemeClr val="accent1"/>
                </a:solidFill>
              </a:rPr>
              <a:t>☐</a:t>
            </a:r>
            <a:endParaRPr lang="en-US" sz="1600" dirty="0"/>
          </a:p>
        </p:txBody>
      </p:sp>
      <p:sp>
        <p:nvSpPr>
          <p:cNvPr id="20" name="Text 18"/>
          <p:cNvSpPr txBox="1"/>
          <p:nvPr/>
        </p:nvSpPr>
        <p:spPr>
          <a:xfrm>
            <a:off x="1316736" y="5504688"/>
            <a:ext cx="4754880" cy="365760"/>
          </a:xfrm>
          <a:prstGeom prst="rect">
            <a:avLst/>
          </a:prstGeom>
          <a:noFill/>
          <a:ln/>
        </p:spPr>
        <p:txBody>
          <a:bodyPr wrap="square" lIns="0" tIns="0" rIns="0" bIns="0" rtlCol="0" anchor="ctr"/>
          <a:lstStyle/>
          <a:p>
            <a:pPr indent="0" marL="0">
              <a:buNone/>
            </a:pPr>
            <a:r>
              <a:rPr lang="en-US" sz="1300" dirty="0">
                <a:solidFill>
                  <a:schemeClr val="tx1"/>
                </a:solidFill>
              </a:rPr>
              <a:t>Confidentiality agreement signed</a:t>
            </a:r>
            <a:endParaRPr lang="en-US" sz="1300" dirty="0"/>
          </a:p>
        </p:txBody>
      </p:sp>
      <p:sp>
        <p:nvSpPr>
          <p:cNvPr id="21" name="card"/>
          <p:cNvSpPr/>
          <p:nvPr/>
        </p:nvSpPr>
        <p:spPr>
          <a:xfrm>
            <a:off x="6528816" y="1965960"/>
            <a:ext cx="5031943" cy="1920240"/>
          </a:xfrm>
          <a:prstGeom prst="roundRect">
            <a:avLst>
              <a:gd name="adj" fmla="val 3810"/>
            </a:avLst>
          </a:prstGeom>
          <a:solidFill>
            <a:schemeClr val="accent4"/>
          </a:solidFill>
          <a:ln/>
        </p:spPr>
      </p:sp>
      <p:sp>
        <p:nvSpPr>
          <p:cNvPr id="22" name="Text 20"/>
          <p:cNvSpPr txBox="1"/>
          <p:nvPr/>
        </p:nvSpPr>
        <p:spPr>
          <a:xfrm>
            <a:off x="6803136" y="2148840"/>
            <a:ext cx="4483303"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YOUR TIME COMMITMENT</a:t>
            </a:r>
            <a:endParaRPr lang="en-US" sz="1050" dirty="0"/>
          </a:p>
        </p:txBody>
      </p:sp>
      <p:sp>
        <p:nvSpPr>
          <p:cNvPr id="23" name="Text 21"/>
          <p:cNvSpPr txBox="1"/>
          <p:nvPr/>
        </p:nvSpPr>
        <p:spPr>
          <a:xfrm>
            <a:off x="6803136" y="2468880"/>
            <a:ext cx="4483303" cy="50292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30 minutes a day</a:t>
            </a:r>
            <a:endParaRPr lang="en-US" sz="2400" dirty="0"/>
          </a:p>
        </p:txBody>
      </p:sp>
      <p:sp>
        <p:nvSpPr>
          <p:cNvPr id="24" name="Text 22"/>
          <p:cNvSpPr txBox="1"/>
          <p:nvPr/>
        </p:nvSpPr>
        <p:spPr>
          <a:xfrm>
            <a:off x="6803136" y="3017520"/>
            <a:ext cx="4483303" cy="731520"/>
          </a:xfrm>
          <a:prstGeom prst="rect">
            <a:avLst/>
          </a:prstGeom>
          <a:noFill/>
          <a:ln/>
        </p:spPr>
        <p:txBody>
          <a:bodyPr wrap="square" lIns="0" tIns="0" rIns="0" bIns="0" rtlCol="0" anchor="t"/>
          <a:lstStyle/>
          <a:p>
            <a:pPr indent="0" marL="0">
              <a:buNone/>
            </a:pPr>
            <a:r>
              <a:rPr lang="en-US" sz="1250" dirty="0">
                <a:solidFill>
                  <a:schemeClr val="tx1"/>
                </a:solidFill>
              </a:rPr>
              <a:t>for the first 2 weeks: briefing, answering questions and reviewing work. It pays back many times over.</a:t>
            </a:r>
            <a:endParaRPr lang="en-US" sz="1250" dirty="0"/>
          </a:p>
        </p:txBody>
      </p:sp>
      <p:sp>
        <p:nvSpPr>
          <p:cNvPr id="25" name="card"/>
          <p:cNvSpPr/>
          <p:nvPr/>
        </p:nvSpPr>
        <p:spPr>
          <a:xfrm>
            <a:off x="6528816" y="4069080"/>
            <a:ext cx="5031943" cy="2057400"/>
          </a:xfrm>
          <a:prstGeom prst="roundRect">
            <a:avLst>
              <a:gd name="adj" fmla="val 3556"/>
            </a:avLst>
          </a:prstGeom>
          <a:solidFill>
            <a:schemeClr val="bg1"/>
          </a:solidFill>
          <a:ln w="12700">
            <a:solidFill>
              <a:schemeClr val="accent5"/>
            </a:solidFill>
            <a:prstDash val="solid"/>
          </a:ln>
        </p:spPr>
      </p:sp>
      <p:sp>
        <p:nvSpPr>
          <p:cNvPr id="26" name="Text 24"/>
          <p:cNvSpPr txBox="1"/>
          <p:nvPr/>
        </p:nvSpPr>
        <p:spPr>
          <a:xfrm>
            <a:off x="6803136" y="4251960"/>
            <a:ext cx="4483303"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HOURS, TIME ZONES &amp; LEAVE</a:t>
            </a:r>
            <a:endParaRPr lang="en-US" sz="1050" dirty="0"/>
          </a:p>
        </p:txBody>
      </p:sp>
      <p:sp>
        <p:nvSpPr>
          <p:cNvPr id="27" name="Text 25"/>
          <p:cNvSpPr txBox="1"/>
          <p:nvPr/>
        </p:nvSpPr>
        <p:spPr>
          <a:xfrm>
            <a:off x="6803136" y="4572000"/>
            <a:ext cx="4483303" cy="822960"/>
          </a:xfrm>
          <a:prstGeom prst="rect">
            <a:avLst/>
          </a:prstGeom>
          <a:noFill/>
          <a:ln/>
        </p:spPr>
        <p:txBody>
          <a:bodyPr wrap="square" lIns="0" tIns="0" rIns="0" bIns="0" rtlCol="0" anchor="t"/>
          <a:lstStyle/>
          <a:p>
            <a:pPr indent="0" marL="0">
              <a:buNone/>
            </a:pPr>
            <a:r>
              <a:rPr lang="en-US" sz="1250" dirty="0">
                <a:solidFill>
                  <a:schemeClr val="accent3"/>
                </a:solidFill>
              </a:rPr>
              <a:t>Mon–Fri, 9am–1pm Sydney time (20 hrs/week). Check Philippine public holidays, and plan leave cover in advance with Outsourcing Angel.</a:t>
            </a:r>
            <a:endParaRPr lang="en-US" sz="1250" dirty="0"/>
          </a:p>
        </p:txBody>
      </p:sp>
      <p:sp>
        <p:nvSpPr>
          <p:cNvPr id="28" name="Text 26"/>
          <p:cNvSpPr txBox="1"/>
          <p:nvPr/>
        </p:nvSpPr>
        <p:spPr>
          <a:xfrm>
            <a:off x="6803136" y="5577840"/>
            <a:ext cx="4483303" cy="320040"/>
          </a:xfrm>
          <a:prstGeom prst="rect">
            <a:avLst/>
          </a:prstGeom>
          <a:noFill/>
          <a:ln/>
        </p:spPr>
        <p:txBody>
          <a:bodyPr wrap="square" lIns="0" tIns="0" rIns="0" bIns="0" rtlCol="0" anchor="ctr"/>
          <a:lstStyle/>
          <a:p>
            <a:pPr indent="0" marL="0">
              <a:buNone/>
            </a:pPr>
            <a:r>
              <a:rPr lang="en-US" sz="1200" b="1" dirty="0">
                <a:solidFill>
                  <a:schemeClr val="tx1"/>
                </a:solidFill>
              </a:rPr>
              <a:t>Coordinator’s hours: </a:t>
            </a:r>
            <a:pPr indent="0" marL="0">
              <a:buNone/>
            </a:pPr>
            <a:r>
              <a:rPr lang="en-US" sz="1200" dirty="0">
                <a:solidFill>
                  <a:schemeClr val="accent3"/>
                </a:solidFill>
              </a:rPr>
              <a:t>________________     </a:t>
            </a:r>
            <a:pPr indent="0" marL="0">
              <a:buNone/>
            </a:pPr>
            <a:r>
              <a:rPr lang="en-US" sz="1200" b="1" dirty="0">
                <a:solidFill>
                  <a:schemeClr val="tx1"/>
                </a:solidFill>
              </a:rPr>
              <a:t>Escalate to: </a:t>
            </a:r>
            <a:pPr indent="0" marL="0">
              <a:buNone/>
            </a:pPr>
            <a:r>
              <a:rPr lang="en-US" sz="1200" dirty="0">
                <a:solidFill>
                  <a:schemeClr val="accent3"/>
                </a:solidFill>
              </a:rPr>
              <a:t>____________</a:t>
            </a:r>
            <a:endParaRPr lang="en-US" sz="120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STARTER PACK  ·  2 OF 4</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How to Delegate</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Clear briefs are the single biggest factor in a great first month.</a:t>
            </a:r>
            <a:endParaRPr lang="en-US" sz="1300" dirty="0"/>
          </a:p>
        </p:txBody>
      </p:sp>
      <p:sp>
        <p:nvSpPr>
          <p:cNvPr id="5" name="card"/>
          <p:cNvSpPr/>
          <p:nvPr/>
        </p:nvSpPr>
        <p:spPr>
          <a:xfrm>
            <a:off x="630936" y="1920240"/>
            <a:ext cx="5120640" cy="3383280"/>
          </a:xfrm>
          <a:prstGeom prst="roundRect">
            <a:avLst>
              <a:gd name="adj" fmla="val 2162"/>
            </a:avLst>
          </a:prstGeom>
          <a:solidFill>
            <a:schemeClr val="bg1"/>
          </a:solidFill>
          <a:ln w="12700">
            <a:solidFill>
              <a:schemeClr val="accent5"/>
            </a:solidFill>
            <a:prstDash val="solid"/>
          </a:ln>
        </p:spPr>
      </p:sp>
      <p:sp>
        <p:nvSpPr>
          <p:cNvPr id="6" name="Text 4"/>
          <p:cNvSpPr txBox="1"/>
          <p:nvPr/>
        </p:nvSpPr>
        <p:spPr>
          <a:xfrm>
            <a:off x="905256" y="2103120"/>
            <a:ext cx="45720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THE 5-PART BRIEF: USE IT FOR EVERY TASK</a:t>
            </a:r>
            <a:endParaRPr lang="en-US" sz="1050" dirty="0"/>
          </a:p>
        </p:txBody>
      </p:sp>
      <p:sp>
        <p:nvSpPr>
          <p:cNvPr id="7" name="number 1"/>
          <p:cNvSpPr/>
          <p:nvPr/>
        </p:nvSpPr>
        <p:spPr>
          <a:xfrm>
            <a:off x="905256" y="2514600"/>
            <a:ext cx="365760" cy="365760"/>
          </a:xfrm>
          <a:prstGeom prst="ellipse">
            <a:avLst/>
          </a:prstGeom>
          <a:solidFill>
            <a:schemeClr val="accent1"/>
          </a:solidFill>
          <a:ln/>
        </p:spPr>
      </p:sp>
      <p:sp>
        <p:nvSpPr>
          <p:cNvPr id="8" name="Text 6"/>
          <p:cNvSpPr txBox="1"/>
          <p:nvPr/>
        </p:nvSpPr>
        <p:spPr>
          <a:xfrm>
            <a:off x="905256" y="251460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9" name="Text 7"/>
          <p:cNvSpPr txBox="1"/>
          <p:nvPr/>
        </p:nvSpPr>
        <p:spPr>
          <a:xfrm>
            <a:off x="1408176" y="2514600"/>
            <a:ext cx="4114800" cy="365760"/>
          </a:xfrm>
          <a:prstGeom prst="rect">
            <a:avLst/>
          </a:prstGeom>
          <a:noFill/>
          <a:ln/>
        </p:spPr>
        <p:txBody>
          <a:bodyPr wrap="square" lIns="0" tIns="0" rIns="0" bIns="0" rtlCol="0" anchor="ctr"/>
          <a:lstStyle/>
          <a:p>
            <a:pPr indent="0" marL="0">
              <a:buNone/>
            </a:pPr>
            <a:r>
              <a:rPr lang="en-US" sz="1300" b="1" dirty="0">
                <a:solidFill>
                  <a:schemeClr val="tx1"/>
                </a:solidFill>
              </a:rPr>
              <a:t>Outcome: </a:t>
            </a:r>
            <a:pPr indent="0" marL="0">
              <a:buNone/>
            </a:pPr>
            <a:r>
              <a:rPr lang="en-US" sz="1300" dirty="0">
                <a:solidFill>
                  <a:schemeClr val="accent3"/>
                </a:solidFill>
              </a:rPr>
              <a:t>what “done” looks like</a:t>
            </a:r>
            <a:endParaRPr lang="en-US" sz="1300" dirty="0"/>
          </a:p>
        </p:txBody>
      </p:sp>
      <p:sp>
        <p:nvSpPr>
          <p:cNvPr id="10" name="number 2"/>
          <p:cNvSpPr/>
          <p:nvPr/>
        </p:nvSpPr>
        <p:spPr>
          <a:xfrm>
            <a:off x="905256" y="3063240"/>
            <a:ext cx="365760" cy="365760"/>
          </a:xfrm>
          <a:prstGeom prst="ellipse">
            <a:avLst/>
          </a:prstGeom>
          <a:solidFill>
            <a:schemeClr val="accent1"/>
          </a:solidFill>
          <a:ln/>
        </p:spPr>
      </p:sp>
      <p:sp>
        <p:nvSpPr>
          <p:cNvPr id="11" name="Text 9"/>
          <p:cNvSpPr txBox="1"/>
          <p:nvPr/>
        </p:nvSpPr>
        <p:spPr>
          <a:xfrm>
            <a:off x="905256" y="306324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2" name="Text 10"/>
          <p:cNvSpPr txBox="1"/>
          <p:nvPr/>
        </p:nvSpPr>
        <p:spPr>
          <a:xfrm>
            <a:off x="1408176" y="3063240"/>
            <a:ext cx="4114800" cy="365760"/>
          </a:xfrm>
          <a:prstGeom prst="rect">
            <a:avLst/>
          </a:prstGeom>
          <a:noFill/>
          <a:ln/>
        </p:spPr>
        <p:txBody>
          <a:bodyPr wrap="square" lIns="0" tIns="0" rIns="0" bIns="0" rtlCol="0" anchor="ctr"/>
          <a:lstStyle/>
          <a:p>
            <a:pPr indent="0" marL="0">
              <a:buNone/>
            </a:pPr>
            <a:r>
              <a:rPr lang="en-US" sz="1300" b="1" dirty="0">
                <a:solidFill>
                  <a:schemeClr val="tx1"/>
                </a:solidFill>
              </a:rPr>
              <a:t>Context: </a:t>
            </a:r>
            <a:pPr indent="0" marL="0">
              <a:buNone/>
            </a:pPr>
            <a:r>
              <a:rPr lang="en-US" sz="1300" dirty="0">
                <a:solidFill>
                  <a:schemeClr val="accent3"/>
                </a:solidFill>
              </a:rPr>
              <a:t>why it matters</a:t>
            </a:r>
            <a:endParaRPr lang="en-US" sz="1300" dirty="0"/>
          </a:p>
        </p:txBody>
      </p:sp>
      <p:sp>
        <p:nvSpPr>
          <p:cNvPr id="13" name="number 3"/>
          <p:cNvSpPr/>
          <p:nvPr/>
        </p:nvSpPr>
        <p:spPr>
          <a:xfrm>
            <a:off x="905256" y="3611880"/>
            <a:ext cx="365760" cy="365760"/>
          </a:xfrm>
          <a:prstGeom prst="ellipse">
            <a:avLst/>
          </a:prstGeom>
          <a:solidFill>
            <a:schemeClr val="accent1"/>
          </a:solidFill>
          <a:ln/>
        </p:spPr>
      </p:sp>
      <p:sp>
        <p:nvSpPr>
          <p:cNvPr id="14" name="Text 12"/>
          <p:cNvSpPr txBox="1"/>
          <p:nvPr/>
        </p:nvSpPr>
        <p:spPr>
          <a:xfrm>
            <a:off x="905256" y="361188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5" name="Text 13"/>
          <p:cNvSpPr txBox="1"/>
          <p:nvPr/>
        </p:nvSpPr>
        <p:spPr>
          <a:xfrm>
            <a:off x="1408176" y="3611880"/>
            <a:ext cx="4114800" cy="365760"/>
          </a:xfrm>
          <a:prstGeom prst="rect">
            <a:avLst/>
          </a:prstGeom>
          <a:noFill/>
          <a:ln/>
        </p:spPr>
        <p:txBody>
          <a:bodyPr wrap="square" lIns="0" tIns="0" rIns="0" bIns="0" rtlCol="0" anchor="ctr"/>
          <a:lstStyle/>
          <a:p>
            <a:pPr indent="0" marL="0">
              <a:buNone/>
            </a:pPr>
            <a:r>
              <a:rPr lang="en-US" sz="1300" b="1" dirty="0">
                <a:solidFill>
                  <a:schemeClr val="tx1"/>
                </a:solidFill>
              </a:rPr>
              <a:t>Deadline: </a:t>
            </a:r>
            <a:pPr indent="0" marL="0">
              <a:buNone/>
            </a:pPr>
            <a:r>
              <a:rPr lang="en-US" sz="1300" dirty="0">
                <a:solidFill>
                  <a:schemeClr val="accent3"/>
                </a:solidFill>
              </a:rPr>
              <a:t>when you need it</a:t>
            </a:r>
            <a:endParaRPr lang="en-US" sz="1300" dirty="0"/>
          </a:p>
        </p:txBody>
      </p:sp>
      <p:sp>
        <p:nvSpPr>
          <p:cNvPr id="16" name="number 4"/>
          <p:cNvSpPr/>
          <p:nvPr/>
        </p:nvSpPr>
        <p:spPr>
          <a:xfrm>
            <a:off x="905256" y="4160520"/>
            <a:ext cx="365760" cy="365760"/>
          </a:xfrm>
          <a:prstGeom prst="ellipse">
            <a:avLst/>
          </a:prstGeom>
          <a:solidFill>
            <a:schemeClr val="accent1"/>
          </a:solidFill>
          <a:ln/>
        </p:spPr>
      </p:sp>
      <p:sp>
        <p:nvSpPr>
          <p:cNvPr id="17" name="Text 15"/>
          <p:cNvSpPr txBox="1"/>
          <p:nvPr/>
        </p:nvSpPr>
        <p:spPr>
          <a:xfrm>
            <a:off x="905256" y="416052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8" name="Text 16"/>
          <p:cNvSpPr txBox="1"/>
          <p:nvPr/>
        </p:nvSpPr>
        <p:spPr>
          <a:xfrm>
            <a:off x="1408176" y="4160520"/>
            <a:ext cx="4114800" cy="365760"/>
          </a:xfrm>
          <a:prstGeom prst="rect">
            <a:avLst/>
          </a:prstGeom>
          <a:noFill/>
          <a:ln/>
        </p:spPr>
        <p:txBody>
          <a:bodyPr wrap="square" lIns="0" tIns="0" rIns="0" bIns="0" rtlCol="0" anchor="ctr"/>
          <a:lstStyle/>
          <a:p>
            <a:pPr indent="0" marL="0">
              <a:buNone/>
            </a:pPr>
            <a:r>
              <a:rPr lang="en-US" sz="1300" b="1" dirty="0">
                <a:solidFill>
                  <a:schemeClr val="tx1"/>
                </a:solidFill>
              </a:rPr>
              <a:t>Example: </a:t>
            </a:r>
            <a:pPr indent="0" marL="0">
              <a:buNone/>
            </a:pPr>
            <a:r>
              <a:rPr lang="en-US" sz="1300" dirty="0">
                <a:solidFill>
                  <a:schemeClr val="accent3"/>
                </a:solidFill>
              </a:rPr>
              <a:t>show what good looks like</a:t>
            </a:r>
            <a:endParaRPr lang="en-US" sz="1300" dirty="0"/>
          </a:p>
        </p:txBody>
      </p:sp>
      <p:sp>
        <p:nvSpPr>
          <p:cNvPr id="19" name="number 5"/>
          <p:cNvSpPr/>
          <p:nvPr/>
        </p:nvSpPr>
        <p:spPr>
          <a:xfrm>
            <a:off x="905256" y="4709160"/>
            <a:ext cx="365760" cy="365760"/>
          </a:xfrm>
          <a:prstGeom prst="ellipse">
            <a:avLst/>
          </a:prstGeom>
          <a:solidFill>
            <a:schemeClr val="accent1"/>
          </a:solidFill>
          <a:ln/>
        </p:spPr>
      </p:sp>
      <p:sp>
        <p:nvSpPr>
          <p:cNvPr id="20" name="Text 18"/>
          <p:cNvSpPr txBox="1"/>
          <p:nvPr/>
        </p:nvSpPr>
        <p:spPr>
          <a:xfrm>
            <a:off x="905256" y="470916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1" name="Text 19"/>
          <p:cNvSpPr txBox="1"/>
          <p:nvPr/>
        </p:nvSpPr>
        <p:spPr>
          <a:xfrm>
            <a:off x="1408176" y="4709160"/>
            <a:ext cx="4114800" cy="365760"/>
          </a:xfrm>
          <a:prstGeom prst="rect">
            <a:avLst/>
          </a:prstGeom>
          <a:noFill/>
          <a:ln/>
        </p:spPr>
        <p:txBody>
          <a:bodyPr wrap="square" lIns="0" tIns="0" rIns="0" bIns="0" rtlCol="0" anchor="ctr"/>
          <a:lstStyle/>
          <a:p>
            <a:pPr indent="0" marL="0">
              <a:buNone/>
            </a:pPr>
            <a:r>
              <a:rPr lang="en-US" sz="1300" b="1" dirty="0">
                <a:solidFill>
                  <a:schemeClr val="tx1"/>
                </a:solidFill>
              </a:rPr>
              <a:t>Who to ask: </a:t>
            </a:r>
            <a:pPr indent="0" marL="0">
              <a:buNone/>
            </a:pPr>
            <a:r>
              <a:rPr lang="en-US" sz="1300" dirty="0">
                <a:solidFill>
                  <a:schemeClr val="accent3"/>
                </a:solidFill>
              </a:rPr>
              <a:t>if they get stuck</a:t>
            </a:r>
            <a:endParaRPr lang="en-US" sz="1300" dirty="0"/>
          </a:p>
        </p:txBody>
      </p:sp>
      <p:sp>
        <p:nvSpPr>
          <p:cNvPr id="22" name="callout"/>
          <p:cNvSpPr/>
          <p:nvPr/>
        </p:nvSpPr>
        <p:spPr>
          <a:xfrm>
            <a:off x="630936" y="5440680"/>
            <a:ext cx="5120640" cy="731520"/>
          </a:xfrm>
          <a:prstGeom prst="roundRect">
            <a:avLst>
              <a:gd name="adj" fmla="val 10000"/>
            </a:avLst>
          </a:prstGeom>
          <a:solidFill>
            <a:schemeClr val="accent4"/>
          </a:solidFill>
          <a:ln/>
        </p:spPr>
      </p:sp>
      <p:sp>
        <p:nvSpPr>
          <p:cNvPr id="23" name="Text 21"/>
          <p:cNvSpPr txBox="1"/>
          <p:nvPr/>
        </p:nvSpPr>
        <p:spPr>
          <a:xfrm>
            <a:off x="859536" y="5440680"/>
            <a:ext cx="4663440" cy="731520"/>
          </a:xfrm>
          <a:prstGeom prst="rect">
            <a:avLst/>
          </a:prstGeom>
          <a:noFill/>
          <a:ln/>
        </p:spPr>
        <p:txBody>
          <a:bodyPr wrap="square" lIns="0" tIns="0" rIns="0" bIns="0" rtlCol="0" anchor="ctr"/>
          <a:lstStyle/>
          <a:p>
            <a:pPr indent="0" marL="0">
              <a:buNone/>
            </a:pPr>
            <a:r>
              <a:rPr lang="en-US" sz="1250" b="1" dirty="0">
                <a:solidFill>
                  <a:schemeClr val="accent1"/>
                </a:solidFill>
              </a:rPr>
              <a:t>Golden rule: record yourself doing a task once (Loom or a screen recording). Your Coordinator turns it into an SOP for your library.</a:t>
            </a:r>
            <a:endParaRPr lang="en-US" sz="1250" dirty="0"/>
          </a:p>
        </p:txBody>
      </p:sp>
      <p:sp>
        <p:nvSpPr>
          <p:cNvPr id="24" name="card"/>
          <p:cNvSpPr/>
          <p:nvPr/>
        </p:nvSpPr>
        <p:spPr>
          <a:xfrm>
            <a:off x="5980176" y="1920240"/>
            <a:ext cx="5580583" cy="4251960"/>
          </a:xfrm>
          <a:prstGeom prst="roundRect">
            <a:avLst>
              <a:gd name="adj" fmla="val 1720"/>
            </a:avLst>
          </a:prstGeom>
          <a:solidFill>
            <a:schemeClr val="bg2"/>
          </a:solidFill>
          <a:ln/>
        </p:spPr>
      </p:sp>
      <p:sp>
        <p:nvSpPr>
          <p:cNvPr id="25" name="Text 23"/>
          <p:cNvSpPr txBox="1"/>
          <p:nvPr/>
        </p:nvSpPr>
        <p:spPr>
          <a:xfrm>
            <a:off x="6254496" y="2103120"/>
            <a:ext cx="5031943"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YOUR FIRST 10 TASKS: QUICK WINS FOR WEEK 1</a:t>
            </a:r>
            <a:endParaRPr lang="en-US" sz="1050" dirty="0"/>
          </a:p>
        </p:txBody>
      </p:sp>
      <p:sp>
        <p:nvSpPr>
          <p:cNvPr id="26" name="task 1"/>
          <p:cNvSpPr/>
          <p:nvPr/>
        </p:nvSpPr>
        <p:spPr>
          <a:xfrm>
            <a:off x="6254496" y="2514600"/>
            <a:ext cx="2424532" cy="603504"/>
          </a:xfrm>
          <a:prstGeom prst="roundRect">
            <a:avLst>
              <a:gd name="adj" fmla="val 12121"/>
            </a:avLst>
          </a:prstGeom>
          <a:solidFill>
            <a:schemeClr val="bg1"/>
          </a:solidFill>
          <a:ln w="12700">
            <a:solidFill>
              <a:schemeClr val="accent5"/>
            </a:solidFill>
            <a:prstDash val="solid"/>
          </a:ln>
        </p:spPr>
      </p:sp>
      <p:sp>
        <p:nvSpPr>
          <p:cNvPr id="27" name="Text 25"/>
          <p:cNvSpPr txBox="1"/>
          <p:nvPr/>
        </p:nvSpPr>
        <p:spPr>
          <a:xfrm>
            <a:off x="6364224" y="2514600"/>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1</a:t>
            </a:r>
            <a:endParaRPr lang="en-US" sz="1400" dirty="0"/>
          </a:p>
        </p:txBody>
      </p:sp>
      <p:sp>
        <p:nvSpPr>
          <p:cNvPr id="28" name="Text 26"/>
          <p:cNvSpPr txBox="1"/>
          <p:nvPr/>
        </p:nvSpPr>
        <p:spPr>
          <a:xfrm>
            <a:off x="6711696" y="2514600"/>
            <a:ext cx="1875892" cy="603504"/>
          </a:xfrm>
          <a:prstGeom prst="rect">
            <a:avLst/>
          </a:prstGeom>
          <a:noFill/>
          <a:ln/>
        </p:spPr>
        <p:txBody>
          <a:bodyPr wrap="square" lIns="0" tIns="0" rIns="0" bIns="0" rtlCol="0" anchor="ctr"/>
          <a:lstStyle/>
          <a:p>
            <a:pPr indent="0" marL="0">
              <a:buNone/>
            </a:pPr>
            <a:r>
              <a:rPr lang="en-US" sz="1150" dirty="0">
                <a:solidFill>
                  <a:schemeClr val="tx1"/>
                </a:solidFill>
              </a:rPr>
              <a:t>Read the company workbook</a:t>
            </a:r>
            <a:endParaRPr lang="en-US" sz="1150" dirty="0"/>
          </a:p>
        </p:txBody>
      </p:sp>
      <p:sp>
        <p:nvSpPr>
          <p:cNvPr id="29" name="task 2"/>
          <p:cNvSpPr/>
          <p:nvPr/>
        </p:nvSpPr>
        <p:spPr>
          <a:xfrm>
            <a:off x="6254496" y="3227832"/>
            <a:ext cx="2424532" cy="603504"/>
          </a:xfrm>
          <a:prstGeom prst="roundRect">
            <a:avLst>
              <a:gd name="adj" fmla="val 12121"/>
            </a:avLst>
          </a:prstGeom>
          <a:solidFill>
            <a:schemeClr val="bg1"/>
          </a:solidFill>
          <a:ln w="12700">
            <a:solidFill>
              <a:schemeClr val="accent5"/>
            </a:solidFill>
            <a:prstDash val="solid"/>
          </a:ln>
        </p:spPr>
      </p:sp>
      <p:sp>
        <p:nvSpPr>
          <p:cNvPr id="30" name="Text 28"/>
          <p:cNvSpPr txBox="1"/>
          <p:nvPr/>
        </p:nvSpPr>
        <p:spPr>
          <a:xfrm>
            <a:off x="6364224" y="3227832"/>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2</a:t>
            </a:r>
            <a:endParaRPr lang="en-US" sz="1400" dirty="0"/>
          </a:p>
        </p:txBody>
      </p:sp>
      <p:sp>
        <p:nvSpPr>
          <p:cNvPr id="31" name="Text 29"/>
          <p:cNvSpPr txBox="1"/>
          <p:nvPr/>
        </p:nvSpPr>
        <p:spPr>
          <a:xfrm>
            <a:off x="6711696" y="3227832"/>
            <a:ext cx="1875892" cy="603504"/>
          </a:xfrm>
          <a:prstGeom prst="rect">
            <a:avLst/>
          </a:prstGeom>
          <a:noFill/>
          <a:ln/>
        </p:spPr>
        <p:txBody>
          <a:bodyPr wrap="square" lIns="0" tIns="0" rIns="0" bIns="0" rtlCol="0" anchor="ctr"/>
          <a:lstStyle/>
          <a:p>
            <a:pPr indent="0" marL="0">
              <a:buNone/>
            </a:pPr>
            <a:r>
              <a:rPr lang="en-US" sz="1150" dirty="0">
                <a:solidFill>
                  <a:schemeClr val="tx1"/>
                </a:solidFill>
              </a:rPr>
              <a:t>Learn the Pipedrive deal stages</a:t>
            </a:r>
            <a:endParaRPr lang="en-US" sz="1150" dirty="0"/>
          </a:p>
        </p:txBody>
      </p:sp>
      <p:sp>
        <p:nvSpPr>
          <p:cNvPr id="32" name="task 3"/>
          <p:cNvSpPr/>
          <p:nvPr/>
        </p:nvSpPr>
        <p:spPr>
          <a:xfrm>
            <a:off x="6254496" y="3941064"/>
            <a:ext cx="2424532" cy="603504"/>
          </a:xfrm>
          <a:prstGeom prst="roundRect">
            <a:avLst>
              <a:gd name="adj" fmla="val 12121"/>
            </a:avLst>
          </a:prstGeom>
          <a:solidFill>
            <a:schemeClr val="bg1"/>
          </a:solidFill>
          <a:ln w="12700">
            <a:solidFill>
              <a:schemeClr val="accent5"/>
            </a:solidFill>
            <a:prstDash val="solid"/>
          </a:ln>
        </p:spPr>
      </p:sp>
      <p:sp>
        <p:nvSpPr>
          <p:cNvPr id="33" name="Text 31"/>
          <p:cNvSpPr txBox="1"/>
          <p:nvPr/>
        </p:nvSpPr>
        <p:spPr>
          <a:xfrm>
            <a:off x="6364224" y="3941064"/>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3</a:t>
            </a:r>
            <a:endParaRPr lang="en-US" sz="1400" dirty="0"/>
          </a:p>
        </p:txBody>
      </p:sp>
      <p:sp>
        <p:nvSpPr>
          <p:cNvPr id="34" name="Text 32"/>
          <p:cNvSpPr txBox="1"/>
          <p:nvPr/>
        </p:nvSpPr>
        <p:spPr>
          <a:xfrm>
            <a:off x="6711696" y="3941064"/>
            <a:ext cx="1875892" cy="603504"/>
          </a:xfrm>
          <a:prstGeom prst="rect">
            <a:avLst/>
          </a:prstGeom>
          <a:noFill/>
          <a:ln/>
        </p:spPr>
        <p:txBody>
          <a:bodyPr wrap="square" lIns="0" tIns="0" rIns="0" bIns="0" rtlCol="0" anchor="ctr"/>
          <a:lstStyle/>
          <a:p>
            <a:pPr indent="0" marL="0">
              <a:buNone/>
            </a:pPr>
            <a:r>
              <a:rPr lang="en-US" sz="1150" dirty="0">
                <a:solidFill>
                  <a:schemeClr val="tx1"/>
                </a:solidFill>
              </a:rPr>
              <a:t>Join the team chat and meet the team</a:t>
            </a:r>
            <a:endParaRPr lang="en-US" sz="1150" dirty="0"/>
          </a:p>
        </p:txBody>
      </p:sp>
      <p:sp>
        <p:nvSpPr>
          <p:cNvPr id="35" name="task 4"/>
          <p:cNvSpPr/>
          <p:nvPr/>
        </p:nvSpPr>
        <p:spPr>
          <a:xfrm>
            <a:off x="6254496" y="4654296"/>
            <a:ext cx="2424532" cy="603504"/>
          </a:xfrm>
          <a:prstGeom prst="roundRect">
            <a:avLst>
              <a:gd name="adj" fmla="val 12121"/>
            </a:avLst>
          </a:prstGeom>
          <a:solidFill>
            <a:schemeClr val="bg1"/>
          </a:solidFill>
          <a:ln w="12700">
            <a:solidFill>
              <a:schemeClr val="accent5"/>
            </a:solidFill>
            <a:prstDash val="solid"/>
          </a:ln>
        </p:spPr>
      </p:sp>
      <p:sp>
        <p:nvSpPr>
          <p:cNvPr id="36" name="Text 34"/>
          <p:cNvSpPr txBox="1"/>
          <p:nvPr/>
        </p:nvSpPr>
        <p:spPr>
          <a:xfrm>
            <a:off x="6364224" y="4654296"/>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4</a:t>
            </a:r>
            <a:endParaRPr lang="en-US" sz="1400" dirty="0"/>
          </a:p>
        </p:txBody>
      </p:sp>
      <p:sp>
        <p:nvSpPr>
          <p:cNvPr id="37" name="Text 35"/>
          <p:cNvSpPr txBox="1"/>
          <p:nvPr/>
        </p:nvSpPr>
        <p:spPr>
          <a:xfrm>
            <a:off x="6711696" y="4654296"/>
            <a:ext cx="1875892" cy="603504"/>
          </a:xfrm>
          <a:prstGeom prst="rect">
            <a:avLst/>
          </a:prstGeom>
          <a:noFill/>
          <a:ln/>
        </p:spPr>
        <p:txBody>
          <a:bodyPr wrap="square" lIns="0" tIns="0" rIns="0" bIns="0" rtlCol="0" anchor="ctr"/>
          <a:lstStyle/>
          <a:p>
            <a:pPr indent="0" marL="0">
              <a:buNone/>
            </a:pPr>
            <a:r>
              <a:rPr lang="en-US" sz="1150" dirty="0">
                <a:solidFill>
                  <a:schemeClr val="tx1"/>
                </a:solidFill>
              </a:rPr>
              <a:t>Reply to new inquiries using templates</a:t>
            </a:r>
            <a:endParaRPr lang="en-US" sz="1150" dirty="0"/>
          </a:p>
        </p:txBody>
      </p:sp>
      <p:sp>
        <p:nvSpPr>
          <p:cNvPr id="38" name="task 5"/>
          <p:cNvSpPr/>
          <p:nvPr/>
        </p:nvSpPr>
        <p:spPr>
          <a:xfrm>
            <a:off x="6254496" y="5367528"/>
            <a:ext cx="2424532" cy="603504"/>
          </a:xfrm>
          <a:prstGeom prst="roundRect">
            <a:avLst>
              <a:gd name="adj" fmla="val 12121"/>
            </a:avLst>
          </a:prstGeom>
          <a:solidFill>
            <a:schemeClr val="bg1"/>
          </a:solidFill>
          <a:ln w="12700">
            <a:solidFill>
              <a:schemeClr val="accent5"/>
            </a:solidFill>
            <a:prstDash val="solid"/>
          </a:ln>
        </p:spPr>
      </p:sp>
      <p:sp>
        <p:nvSpPr>
          <p:cNvPr id="39" name="Text 37"/>
          <p:cNvSpPr txBox="1"/>
          <p:nvPr/>
        </p:nvSpPr>
        <p:spPr>
          <a:xfrm>
            <a:off x="6364224" y="5367528"/>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5</a:t>
            </a:r>
            <a:endParaRPr lang="en-US" sz="1400" dirty="0"/>
          </a:p>
        </p:txBody>
      </p:sp>
      <p:sp>
        <p:nvSpPr>
          <p:cNvPr id="40" name="Text 38"/>
          <p:cNvSpPr txBox="1"/>
          <p:nvPr/>
        </p:nvSpPr>
        <p:spPr>
          <a:xfrm>
            <a:off x="6711696" y="5367528"/>
            <a:ext cx="1875892" cy="603504"/>
          </a:xfrm>
          <a:prstGeom prst="rect">
            <a:avLst/>
          </a:prstGeom>
          <a:noFill/>
          <a:ln/>
        </p:spPr>
        <p:txBody>
          <a:bodyPr wrap="square" lIns="0" tIns="0" rIns="0" bIns="0" rtlCol="0" anchor="ctr"/>
          <a:lstStyle/>
          <a:p>
            <a:pPr indent="0" marL="0">
              <a:buNone/>
            </a:pPr>
            <a:r>
              <a:rPr lang="en-US" sz="1150" dirty="0">
                <a:solidFill>
                  <a:schemeClr val="tx1"/>
                </a:solidFill>
              </a:rPr>
              <a:t>Set up five deals for review</a:t>
            </a:r>
            <a:endParaRPr lang="en-US" sz="1150" dirty="0"/>
          </a:p>
        </p:txBody>
      </p:sp>
      <p:sp>
        <p:nvSpPr>
          <p:cNvPr id="41" name="task 6"/>
          <p:cNvSpPr/>
          <p:nvPr/>
        </p:nvSpPr>
        <p:spPr>
          <a:xfrm>
            <a:off x="8861908" y="2514600"/>
            <a:ext cx="2424532" cy="603504"/>
          </a:xfrm>
          <a:prstGeom prst="roundRect">
            <a:avLst>
              <a:gd name="adj" fmla="val 12121"/>
            </a:avLst>
          </a:prstGeom>
          <a:solidFill>
            <a:schemeClr val="bg1"/>
          </a:solidFill>
          <a:ln w="12700">
            <a:solidFill>
              <a:schemeClr val="accent5"/>
            </a:solidFill>
            <a:prstDash val="solid"/>
          </a:ln>
        </p:spPr>
      </p:sp>
      <p:sp>
        <p:nvSpPr>
          <p:cNvPr id="42" name="Text 40"/>
          <p:cNvSpPr txBox="1"/>
          <p:nvPr/>
        </p:nvSpPr>
        <p:spPr>
          <a:xfrm>
            <a:off x="8971636" y="2514600"/>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6</a:t>
            </a:r>
            <a:endParaRPr lang="en-US" sz="1400" dirty="0"/>
          </a:p>
        </p:txBody>
      </p:sp>
      <p:sp>
        <p:nvSpPr>
          <p:cNvPr id="43" name="Text 41"/>
          <p:cNvSpPr txBox="1"/>
          <p:nvPr/>
        </p:nvSpPr>
        <p:spPr>
          <a:xfrm>
            <a:off x="9319108" y="2514600"/>
            <a:ext cx="1875892" cy="603504"/>
          </a:xfrm>
          <a:prstGeom prst="rect">
            <a:avLst/>
          </a:prstGeom>
          <a:noFill/>
          <a:ln/>
        </p:spPr>
        <p:txBody>
          <a:bodyPr wrap="square" lIns="0" tIns="0" rIns="0" bIns="0" rtlCol="0" anchor="ctr"/>
          <a:lstStyle/>
          <a:p>
            <a:pPr indent="0" marL="0">
              <a:buNone/>
            </a:pPr>
            <a:r>
              <a:rPr lang="en-US" sz="1150" dirty="0">
                <a:solidFill>
                  <a:schemeClr val="tx1"/>
                </a:solidFill>
              </a:rPr>
              <a:t>Assign deals to Belinda or Chantel</a:t>
            </a:r>
            <a:endParaRPr lang="en-US" sz="1150" dirty="0"/>
          </a:p>
        </p:txBody>
      </p:sp>
      <p:sp>
        <p:nvSpPr>
          <p:cNvPr id="44" name="task 7"/>
          <p:cNvSpPr/>
          <p:nvPr/>
        </p:nvSpPr>
        <p:spPr>
          <a:xfrm>
            <a:off x="8861908" y="3227832"/>
            <a:ext cx="2424532" cy="603504"/>
          </a:xfrm>
          <a:prstGeom prst="roundRect">
            <a:avLst>
              <a:gd name="adj" fmla="val 12121"/>
            </a:avLst>
          </a:prstGeom>
          <a:solidFill>
            <a:schemeClr val="bg1"/>
          </a:solidFill>
          <a:ln w="12700">
            <a:solidFill>
              <a:schemeClr val="accent5"/>
            </a:solidFill>
            <a:prstDash val="solid"/>
          </a:ln>
        </p:spPr>
      </p:sp>
      <p:sp>
        <p:nvSpPr>
          <p:cNvPr id="45" name="Text 43"/>
          <p:cNvSpPr txBox="1"/>
          <p:nvPr/>
        </p:nvSpPr>
        <p:spPr>
          <a:xfrm>
            <a:off x="8971636" y="3227832"/>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7</a:t>
            </a:r>
            <a:endParaRPr lang="en-US" sz="1400" dirty="0"/>
          </a:p>
        </p:txBody>
      </p:sp>
      <p:sp>
        <p:nvSpPr>
          <p:cNvPr id="46" name="Text 44"/>
          <p:cNvSpPr txBox="1"/>
          <p:nvPr/>
        </p:nvSpPr>
        <p:spPr>
          <a:xfrm>
            <a:off x="9319108" y="3227832"/>
            <a:ext cx="1875892" cy="603504"/>
          </a:xfrm>
          <a:prstGeom prst="rect">
            <a:avLst/>
          </a:prstGeom>
          <a:noFill/>
          <a:ln/>
        </p:spPr>
        <p:txBody>
          <a:bodyPr wrap="square" lIns="0" tIns="0" rIns="0" bIns="0" rtlCol="0" anchor="ctr"/>
          <a:lstStyle/>
          <a:p>
            <a:pPr indent="0" marL="0">
              <a:buNone/>
            </a:pPr>
            <a:r>
              <a:rPr lang="en-US" sz="1150" dirty="0">
                <a:solidFill>
                  <a:schemeClr val="tx1"/>
                </a:solidFill>
              </a:rPr>
              <a:t>Run the 3-day follow-up check</a:t>
            </a:r>
            <a:endParaRPr lang="en-US" sz="1150" dirty="0"/>
          </a:p>
        </p:txBody>
      </p:sp>
      <p:sp>
        <p:nvSpPr>
          <p:cNvPr id="47" name="task 8"/>
          <p:cNvSpPr/>
          <p:nvPr/>
        </p:nvSpPr>
        <p:spPr>
          <a:xfrm>
            <a:off x="8861908" y="3941064"/>
            <a:ext cx="2424532" cy="603504"/>
          </a:xfrm>
          <a:prstGeom prst="roundRect">
            <a:avLst>
              <a:gd name="adj" fmla="val 12121"/>
            </a:avLst>
          </a:prstGeom>
          <a:solidFill>
            <a:schemeClr val="bg1"/>
          </a:solidFill>
          <a:ln w="12700">
            <a:solidFill>
              <a:schemeClr val="accent5"/>
            </a:solidFill>
            <a:prstDash val="solid"/>
          </a:ln>
        </p:spPr>
      </p:sp>
      <p:sp>
        <p:nvSpPr>
          <p:cNvPr id="48" name="Text 46"/>
          <p:cNvSpPr txBox="1"/>
          <p:nvPr/>
        </p:nvSpPr>
        <p:spPr>
          <a:xfrm>
            <a:off x="8971636" y="3941064"/>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8</a:t>
            </a:r>
            <a:endParaRPr lang="en-US" sz="1400" dirty="0"/>
          </a:p>
        </p:txBody>
      </p:sp>
      <p:sp>
        <p:nvSpPr>
          <p:cNvPr id="49" name="Text 47"/>
          <p:cNvSpPr txBox="1"/>
          <p:nvPr/>
        </p:nvSpPr>
        <p:spPr>
          <a:xfrm>
            <a:off x="9319108" y="3941064"/>
            <a:ext cx="1875892" cy="603504"/>
          </a:xfrm>
          <a:prstGeom prst="rect">
            <a:avLst/>
          </a:prstGeom>
          <a:noFill/>
          <a:ln/>
        </p:spPr>
        <p:txBody>
          <a:bodyPr wrap="square" lIns="0" tIns="0" rIns="0" bIns="0" rtlCol="0" anchor="ctr"/>
          <a:lstStyle/>
          <a:p>
            <a:pPr indent="0" marL="0">
              <a:buNone/>
            </a:pPr>
            <a:r>
              <a:rPr lang="en-US" sz="1150" dirty="0">
                <a:solidFill>
                  <a:schemeClr val="tx1"/>
                </a:solidFill>
              </a:rPr>
              <a:t>Send a supplier calendar invite</a:t>
            </a:r>
            <a:endParaRPr lang="en-US" sz="1150" dirty="0"/>
          </a:p>
        </p:txBody>
      </p:sp>
      <p:sp>
        <p:nvSpPr>
          <p:cNvPr id="50" name="task 9"/>
          <p:cNvSpPr/>
          <p:nvPr/>
        </p:nvSpPr>
        <p:spPr>
          <a:xfrm>
            <a:off x="8861908" y="4654296"/>
            <a:ext cx="2424532" cy="603504"/>
          </a:xfrm>
          <a:prstGeom prst="roundRect">
            <a:avLst>
              <a:gd name="adj" fmla="val 12121"/>
            </a:avLst>
          </a:prstGeom>
          <a:solidFill>
            <a:schemeClr val="bg1"/>
          </a:solidFill>
          <a:ln w="12700">
            <a:solidFill>
              <a:schemeClr val="accent5"/>
            </a:solidFill>
            <a:prstDash val="solid"/>
          </a:ln>
        </p:spPr>
      </p:sp>
      <p:sp>
        <p:nvSpPr>
          <p:cNvPr id="51" name="Text 49"/>
          <p:cNvSpPr txBox="1"/>
          <p:nvPr/>
        </p:nvSpPr>
        <p:spPr>
          <a:xfrm>
            <a:off x="8971636" y="4654296"/>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9</a:t>
            </a:r>
            <a:endParaRPr lang="en-US" sz="1400" dirty="0"/>
          </a:p>
        </p:txBody>
      </p:sp>
      <p:sp>
        <p:nvSpPr>
          <p:cNvPr id="52" name="Text 50"/>
          <p:cNvSpPr txBox="1"/>
          <p:nvPr/>
        </p:nvSpPr>
        <p:spPr>
          <a:xfrm>
            <a:off x="9319108" y="4654296"/>
            <a:ext cx="1875892" cy="603504"/>
          </a:xfrm>
          <a:prstGeom prst="rect">
            <a:avLst/>
          </a:prstGeom>
          <a:noFill/>
          <a:ln/>
        </p:spPr>
        <p:txBody>
          <a:bodyPr wrap="square" lIns="0" tIns="0" rIns="0" bIns="0" rtlCol="0" anchor="ctr"/>
          <a:lstStyle/>
          <a:p>
            <a:pPr indent="0" marL="0">
              <a:buNone/>
            </a:pPr>
            <a:r>
              <a:rPr lang="en-US" sz="1150" dirty="0">
                <a:solidFill>
                  <a:schemeClr val="tx1"/>
                </a:solidFill>
              </a:rPr>
              <a:t>Draft a client invoice for review</a:t>
            </a:r>
            <a:endParaRPr lang="en-US" sz="1150" dirty="0"/>
          </a:p>
        </p:txBody>
      </p:sp>
      <p:sp>
        <p:nvSpPr>
          <p:cNvPr id="53" name="task 10"/>
          <p:cNvSpPr/>
          <p:nvPr/>
        </p:nvSpPr>
        <p:spPr>
          <a:xfrm>
            <a:off x="8861908" y="5367528"/>
            <a:ext cx="2424532" cy="603504"/>
          </a:xfrm>
          <a:prstGeom prst="roundRect">
            <a:avLst>
              <a:gd name="adj" fmla="val 12121"/>
            </a:avLst>
          </a:prstGeom>
          <a:solidFill>
            <a:schemeClr val="bg1"/>
          </a:solidFill>
          <a:ln w="12700">
            <a:solidFill>
              <a:schemeClr val="accent5"/>
            </a:solidFill>
            <a:prstDash val="solid"/>
          </a:ln>
        </p:spPr>
      </p:sp>
      <p:sp>
        <p:nvSpPr>
          <p:cNvPr id="54" name="Text 52"/>
          <p:cNvSpPr txBox="1"/>
          <p:nvPr/>
        </p:nvSpPr>
        <p:spPr>
          <a:xfrm>
            <a:off x="8971636" y="5367528"/>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10</a:t>
            </a:r>
            <a:endParaRPr lang="en-US" sz="1400" dirty="0"/>
          </a:p>
        </p:txBody>
      </p:sp>
      <p:sp>
        <p:nvSpPr>
          <p:cNvPr id="55" name="Text 53"/>
          <p:cNvSpPr txBox="1"/>
          <p:nvPr/>
        </p:nvSpPr>
        <p:spPr>
          <a:xfrm>
            <a:off x="9319108" y="5367528"/>
            <a:ext cx="1875892" cy="603504"/>
          </a:xfrm>
          <a:prstGeom prst="rect">
            <a:avLst/>
          </a:prstGeom>
          <a:noFill/>
          <a:ln/>
        </p:spPr>
        <p:txBody>
          <a:bodyPr wrap="square" lIns="0" tIns="0" rIns="0" bIns="0" rtlCol="0" anchor="ctr"/>
          <a:lstStyle/>
          <a:p>
            <a:pPr indent="0" marL="0">
              <a:buNone/>
            </a:pPr>
            <a:r>
              <a:rPr lang="en-US" sz="1150" dirty="0">
                <a:solidFill>
                  <a:schemeClr val="tx1"/>
                </a:solidFill>
              </a:rPr>
              <a:t>List recurring tasks to turn into SOPs</a:t>
            </a:r>
            <a:endParaRPr lang="en-US" sz="11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STARTER PACK  ·  3 OF 4</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Your First Month</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What to expect, how to read your daily report, and how to give feedback.</a:t>
            </a:r>
            <a:endParaRPr lang="en-US" sz="1300" dirty="0"/>
          </a:p>
        </p:txBody>
      </p:sp>
      <p:sp>
        <p:nvSpPr>
          <p:cNvPr id="5" name="Text 3"/>
          <p:cNvSpPr txBox="1"/>
          <p:nvPr/>
        </p:nvSpPr>
        <p:spPr>
          <a:xfrm>
            <a:off x="630936" y="1828800"/>
            <a:ext cx="54864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THE HONEST FIRST MONTH</a:t>
            </a:r>
            <a:endParaRPr lang="en-US" sz="1050" dirty="0"/>
          </a:p>
        </p:txBody>
      </p:sp>
      <p:sp>
        <p:nvSpPr>
          <p:cNvPr id="6" name="card"/>
          <p:cNvSpPr/>
          <p:nvPr/>
        </p:nvSpPr>
        <p:spPr>
          <a:xfrm>
            <a:off x="630936" y="2148840"/>
            <a:ext cx="3521354" cy="1417320"/>
          </a:xfrm>
          <a:prstGeom prst="roundRect">
            <a:avLst>
              <a:gd name="adj" fmla="val 5161"/>
            </a:avLst>
          </a:prstGeom>
          <a:solidFill>
            <a:schemeClr val="bg1"/>
          </a:solidFill>
          <a:ln w="12700">
            <a:solidFill>
              <a:schemeClr val="accent5"/>
            </a:solidFill>
            <a:prstDash val="solid"/>
          </a:ln>
        </p:spPr>
      </p:sp>
      <p:sp>
        <p:nvSpPr>
          <p:cNvPr id="7" name="Text 5"/>
          <p:cNvSpPr txBox="1"/>
          <p:nvPr/>
        </p:nvSpPr>
        <p:spPr>
          <a:xfrm>
            <a:off x="905256" y="228600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WEEK 1</a:t>
            </a:r>
            <a:endParaRPr lang="en-US" sz="1050" dirty="0"/>
          </a:p>
        </p:txBody>
      </p:sp>
      <p:sp>
        <p:nvSpPr>
          <p:cNvPr id="8" name="Text 6"/>
          <p:cNvSpPr txBox="1"/>
          <p:nvPr/>
        </p:nvSpPr>
        <p:spPr>
          <a:xfrm>
            <a:off x="905256" y="2560320"/>
            <a:ext cx="2972714" cy="365760"/>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Exciting</a:t>
            </a:r>
            <a:endParaRPr lang="en-US" sz="1500" dirty="0"/>
          </a:p>
        </p:txBody>
      </p:sp>
      <p:sp>
        <p:nvSpPr>
          <p:cNvPr id="9" name="Text 7"/>
          <p:cNvSpPr txBox="1"/>
          <p:nvPr/>
        </p:nvSpPr>
        <p:spPr>
          <a:xfrm>
            <a:off x="905256" y="2953512"/>
            <a:ext cx="2972714" cy="548640"/>
          </a:xfrm>
          <a:prstGeom prst="rect">
            <a:avLst/>
          </a:prstGeom>
          <a:noFill/>
          <a:ln/>
        </p:spPr>
        <p:txBody>
          <a:bodyPr wrap="square" lIns="0" tIns="0" rIns="0" bIns="0" rtlCol="0" anchor="t"/>
          <a:lstStyle/>
          <a:p>
            <a:pPr indent="0" marL="0">
              <a:buNone/>
            </a:pPr>
            <a:r>
              <a:rPr lang="en-US" sz="1150" dirty="0">
                <a:solidFill>
                  <a:schemeClr val="accent3"/>
                </a:solidFill>
              </a:rPr>
              <a:t>New energy, lots of setup and learning your style.</a:t>
            </a:r>
            <a:endParaRPr lang="en-US" sz="1150" dirty="0"/>
          </a:p>
        </p:txBody>
      </p:sp>
      <p:sp>
        <p:nvSpPr>
          <p:cNvPr id="10" name="card"/>
          <p:cNvSpPr/>
          <p:nvPr/>
        </p:nvSpPr>
        <p:spPr>
          <a:xfrm>
            <a:off x="4335170" y="2423160"/>
            <a:ext cx="3521354" cy="1417320"/>
          </a:xfrm>
          <a:prstGeom prst="roundRect">
            <a:avLst>
              <a:gd name="adj" fmla="val 5161"/>
            </a:avLst>
          </a:prstGeom>
          <a:solidFill>
            <a:schemeClr val="bg2"/>
          </a:solidFill>
          <a:ln/>
        </p:spPr>
      </p:sp>
      <p:sp>
        <p:nvSpPr>
          <p:cNvPr id="11" name="Text 9"/>
          <p:cNvSpPr txBox="1"/>
          <p:nvPr/>
        </p:nvSpPr>
        <p:spPr>
          <a:xfrm>
            <a:off x="4609490" y="2560320"/>
            <a:ext cx="2972714" cy="256032"/>
          </a:xfrm>
          <a:prstGeom prst="rect">
            <a:avLst/>
          </a:prstGeom>
          <a:noFill/>
          <a:ln/>
        </p:spPr>
        <p:txBody>
          <a:bodyPr wrap="square" lIns="0" tIns="0" rIns="0" bIns="0" rtlCol="0" anchor="ctr"/>
          <a:lstStyle/>
          <a:p>
            <a:pPr indent="0" marL="0">
              <a:buNone/>
            </a:pPr>
            <a:r>
              <a:rPr lang="en-US" sz="1050" b="1" spc="200" kern="0" dirty="0">
                <a:solidFill>
                  <a:srgbClr val="A86A12"/>
                </a:solidFill>
              </a:rPr>
              <a:t>WEEKS 2–3</a:t>
            </a:r>
            <a:endParaRPr lang="en-US" sz="1050" dirty="0"/>
          </a:p>
        </p:txBody>
      </p:sp>
      <p:sp>
        <p:nvSpPr>
          <p:cNvPr id="12" name="Text 10"/>
          <p:cNvSpPr txBox="1"/>
          <p:nvPr/>
        </p:nvSpPr>
        <p:spPr>
          <a:xfrm>
            <a:off x="4609490" y="2834640"/>
            <a:ext cx="2972714" cy="365760"/>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Feels slower. That’s normal!</a:t>
            </a:r>
            <a:endParaRPr lang="en-US" sz="1500" dirty="0"/>
          </a:p>
        </p:txBody>
      </p:sp>
      <p:sp>
        <p:nvSpPr>
          <p:cNvPr id="13" name="Text 11"/>
          <p:cNvSpPr txBox="1"/>
          <p:nvPr/>
        </p:nvSpPr>
        <p:spPr>
          <a:xfrm>
            <a:off x="4609490" y="3227832"/>
            <a:ext cx="2972714" cy="548640"/>
          </a:xfrm>
          <a:prstGeom prst="rect">
            <a:avLst/>
          </a:prstGeom>
          <a:noFill/>
          <a:ln/>
        </p:spPr>
        <p:txBody>
          <a:bodyPr wrap="square" lIns="0" tIns="0" rIns="0" bIns="0" rtlCol="0" anchor="t"/>
          <a:lstStyle/>
          <a:p>
            <a:pPr indent="0" marL="0">
              <a:buNone/>
            </a:pPr>
            <a:r>
              <a:rPr lang="en-US" sz="1150" dirty="0">
                <a:solidFill>
                  <a:schemeClr val="accent3"/>
                </a:solidFill>
              </a:rPr>
              <a:t>Briefing takes time and it can feel quicker to do it yourself. Stick with it.</a:t>
            </a:r>
            <a:endParaRPr lang="en-US" sz="1150" dirty="0"/>
          </a:p>
        </p:txBody>
      </p:sp>
      <p:sp>
        <p:nvSpPr>
          <p:cNvPr id="14" name="card"/>
          <p:cNvSpPr/>
          <p:nvPr/>
        </p:nvSpPr>
        <p:spPr>
          <a:xfrm>
            <a:off x="8039405" y="2148840"/>
            <a:ext cx="3521354" cy="1417320"/>
          </a:xfrm>
          <a:prstGeom prst="roundRect">
            <a:avLst>
              <a:gd name="adj" fmla="val 5161"/>
            </a:avLst>
          </a:prstGeom>
          <a:solidFill>
            <a:schemeClr val="accent4"/>
          </a:solidFill>
          <a:ln/>
        </p:spPr>
      </p:sp>
      <p:sp>
        <p:nvSpPr>
          <p:cNvPr id="15" name="Text 13"/>
          <p:cNvSpPr txBox="1"/>
          <p:nvPr/>
        </p:nvSpPr>
        <p:spPr>
          <a:xfrm>
            <a:off x="8313725" y="228600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WEEK 4+</a:t>
            </a:r>
            <a:endParaRPr lang="en-US" sz="1050" dirty="0"/>
          </a:p>
        </p:txBody>
      </p:sp>
      <p:sp>
        <p:nvSpPr>
          <p:cNvPr id="16" name="Text 14"/>
          <p:cNvSpPr txBox="1"/>
          <p:nvPr/>
        </p:nvSpPr>
        <p:spPr>
          <a:xfrm>
            <a:off x="8313725" y="2560320"/>
            <a:ext cx="2972714" cy="365760"/>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It starts to click</a:t>
            </a:r>
            <a:endParaRPr lang="en-US" sz="1500" dirty="0"/>
          </a:p>
        </p:txBody>
      </p:sp>
      <p:sp>
        <p:nvSpPr>
          <p:cNvPr id="17" name="Text 15"/>
          <p:cNvSpPr txBox="1"/>
          <p:nvPr/>
        </p:nvSpPr>
        <p:spPr>
          <a:xfrm>
            <a:off x="8313725" y="2953512"/>
            <a:ext cx="2972714" cy="548640"/>
          </a:xfrm>
          <a:prstGeom prst="rect">
            <a:avLst/>
          </a:prstGeom>
          <a:noFill/>
          <a:ln/>
        </p:spPr>
        <p:txBody>
          <a:bodyPr wrap="square" lIns="0" tIns="0" rIns="0" bIns="0" rtlCol="0" anchor="t"/>
          <a:lstStyle/>
          <a:p>
            <a:pPr indent="0" marL="0">
              <a:buNone/>
            </a:pPr>
            <a:r>
              <a:rPr lang="en-US" sz="1150" dirty="0">
                <a:solidFill>
                  <a:schemeClr val="accent3"/>
                </a:solidFill>
              </a:rPr>
              <a:t>Routines form, briefs get shorter, and time starts coming back.</a:t>
            </a:r>
            <a:endParaRPr lang="en-US" sz="1150" dirty="0"/>
          </a:p>
        </p:txBody>
      </p:sp>
      <p:sp>
        <p:nvSpPr>
          <p:cNvPr id="18" name="card"/>
          <p:cNvSpPr/>
          <p:nvPr/>
        </p:nvSpPr>
        <p:spPr>
          <a:xfrm>
            <a:off x="630936" y="4069080"/>
            <a:ext cx="5373472" cy="2103120"/>
          </a:xfrm>
          <a:prstGeom prst="roundRect">
            <a:avLst>
              <a:gd name="adj" fmla="val 3478"/>
            </a:avLst>
          </a:prstGeom>
          <a:solidFill>
            <a:schemeClr val="bg1"/>
          </a:solidFill>
          <a:ln w="12700">
            <a:solidFill>
              <a:schemeClr val="accent5"/>
            </a:solidFill>
            <a:prstDash val="solid"/>
          </a:ln>
        </p:spPr>
      </p:sp>
      <p:sp>
        <p:nvSpPr>
          <p:cNvPr id="19" name="Text 17"/>
          <p:cNvSpPr txBox="1"/>
          <p:nvPr/>
        </p:nvSpPr>
        <p:spPr>
          <a:xfrm>
            <a:off x="905256" y="4206240"/>
            <a:ext cx="482483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READING YOUR DAILY EOD REPORT</a:t>
            </a:r>
            <a:endParaRPr lang="en-US" sz="1050" dirty="0"/>
          </a:p>
        </p:txBody>
      </p:sp>
      <p:sp>
        <p:nvSpPr>
          <p:cNvPr id="20" name="Text 18"/>
          <p:cNvSpPr txBox="1"/>
          <p:nvPr/>
        </p:nvSpPr>
        <p:spPr>
          <a:xfrm>
            <a:off x="905256" y="4498848"/>
            <a:ext cx="4824832" cy="274320"/>
          </a:xfrm>
          <a:prstGeom prst="rect">
            <a:avLst/>
          </a:prstGeom>
          <a:noFill/>
          <a:ln/>
        </p:spPr>
        <p:txBody>
          <a:bodyPr wrap="square" lIns="0" tIns="0" rIns="0" bIns="0" rtlCol="0" anchor="ctr"/>
          <a:lstStyle/>
          <a:p>
            <a:pPr indent="0" marL="0">
              <a:buNone/>
            </a:pPr>
            <a:r>
              <a:rPr lang="en-US" sz="1200" dirty="0">
                <a:solidFill>
                  <a:schemeClr val="accent3"/>
                </a:solidFill>
              </a:rPr>
              <a:t>Your Coordinator sends one every working day:</a:t>
            </a:r>
            <a:endParaRPr lang="en-US" sz="1200" dirty="0"/>
          </a:p>
        </p:txBody>
      </p:sp>
      <p:sp>
        <p:nvSpPr>
          <p:cNvPr id="21" name="Text 19"/>
          <p:cNvSpPr txBox="1"/>
          <p:nvPr/>
        </p:nvSpPr>
        <p:spPr>
          <a:xfrm>
            <a:off x="905256" y="4846320"/>
            <a:ext cx="2320976" cy="502920"/>
          </a:xfrm>
          <a:prstGeom prst="rect">
            <a:avLst/>
          </a:prstGeom>
          <a:noFill/>
          <a:ln/>
        </p:spPr>
        <p:txBody>
          <a:bodyPr wrap="square" lIns="0" tIns="0" rIns="0" bIns="0" rtlCol="0" anchor="t"/>
          <a:lstStyle/>
          <a:p>
            <a:pPr indent="0" marL="0">
              <a:buNone/>
            </a:pPr>
            <a:r>
              <a:rPr lang="en-US" sz="1150" b="1" dirty="0">
                <a:solidFill>
                  <a:schemeClr val="accent1"/>
                </a:solidFill>
              </a:rPr>
              <a:t>Done today</a:t>
            </a:r>
            <a:endParaRPr lang="en-US" sz="1150" dirty="0"/>
          </a:p>
          <a:p>
            <a:pPr indent="0" marL="0">
              <a:buNone/>
            </a:pPr>
            <a:r>
              <a:rPr lang="en-US" sz="1150" dirty="0">
                <a:solidFill>
                  <a:schemeClr val="accent3"/>
                </a:solidFill>
              </a:rPr>
              <a:t>check it matches priorities</a:t>
            </a:r>
            <a:endParaRPr lang="en-US" sz="1150" dirty="0"/>
          </a:p>
        </p:txBody>
      </p:sp>
      <p:sp>
        <p:nvSpPr>
          <p:cNvPr id="22" name="Text 20"/>
          <p:cNvSpPr txBox="1"/>
          <p:nvPr/>
        </p:nvSpPr>
        <p:spPr>
          <a:xfrm>
            <a:off x="3317672" y="4846320"/>
            <a:ext cx="2320976" cy="502920"/>
          </a:xfrm>
          <a:prstGeom prst="rect">
            <a:avLst/>
          </a:prstGeom>
          <a:noFill/>
          <a:ln/>
        </p:spPr>
        <p:txBody>
          <a:bodyPr wrap="square" lIns="0" tIns="0" rIns="0" bIns="0" rtlCol="0" anchor="t"/>
          <a:lstStyle/>
          <a:p>
            <a:pPr indent="0" marL="0">
              <a:buNone/>
            </a:pPr>
            <a:r>
              <a:rPr lang="en-US" sz="1150" b="1" dirty="0">
                <a:solidFill>
                  <a:schemeClr val="accent1"/>
                </a:solidFill>
              </a:rPr>
              <a:t>In progress</a:t>
            </a:r>
            <a:endParaRPr lang="en-US" sz="1150" dirty="0"/>
          </a:p>
          <a:p>
            <a:pPr indent="0" marL="0">
              <a:buNone/>
            </a:pPr>
            <a:r>
              <a:rPr lang="en-US" sz="1150" dirty="0">
                <a:solidFill>
                  <a:schemeClr val="accent3"/>
                </a:solidFill>
              </a:rPr>
              <a:t>spot anything stuck</a:t>
            </a:r>
            <a:endParaRPr lang="en-US" sz="1150" dirty="0"/>
          </a:p>
        </p:txBody>
      </p:sp>
      <p:sp>
        <p:nvSpPr>
          <p:cNvPr id="23" name="Text 21"/>
          <p:cNvSpPr txBox="1"/>
          <p:nvPr/>
        </p:nvSpPr>
        <p:spPr>
          <a:xfrm>
            <a:off x="905256" y="5394960"/>
            <a:ext cx="2320976" cy="502920"/>
          </a:xfrm>
          <a:prstGeom prst="rect">
            <a:avLst/>
          </a:prstGeom>
          <a:noFill/>
          <a:ln/>
        </p:spPr>
        <p:txBody>
          <a:bodyPr wrap="square" lIns="0" tIns="0" rIns="0" bIns="0" rtlCol="0" anchor="t"/>
          <a:lstStyle/>
          <a:p>
            <a:pPr indent="0" marL="0">
              <a:buNone/>
            </a:pPr>
            <a:r>
              <a:rPr lang="en-US" sz="1150" b="1" dirty="0">
                <a:solidFill>
                  <a:schemeClr val="accent1"/>
                </a:solidFill>
              </a:rPr>
              <a:t>Questions</a:t>
            </a:r>
            <a:endParaRPr lang="en-US" sz="1150" dirty="0"/>
          </a:p>
          <a:p>
            <a:pPr indent="0" marL="0">
              <a:buNone/>
            </a:pPr>
            <a:r>
              <a:rPr lang="en-US" sz="1150" dirty="0">
                <a:solidFill>
                  <a:schemeClr val="accent3"/>
                </a:solidFill>
              </a:rPr>
              <a:t>reply within 24 hours</a:t>
            </a:r>
            <a:endParaRPr lang="en-US" sz="1150" dirty="0"/>
          </a:p>
        </p:txBody>
      </p:sp>
      <p:sp>
        <p:nvSpPr>
          <p:cNvPr id="24" name="Text 22"/>
          <p:cNvSpPr txBox="1"/>
          <p:nvPr/>
        </p:nvSpPr>
        <p:spPr>
          <a:xfrm>
            <a:off x="3317672" y="5394960"/>
            <a:ext cx="2320976" cy="502920"/>
          </a:xfrm>
          <a:prstGeom prst="rect">
            <a:avLst/>
          </a:prstGeom>
          <a:noFill/>
          <a:ln/>
        </p:spPr>
        <p:txBody>
          <a:bodyPr wrap="square" lIns="0" tIns="0" rIns="0" bIns="0" rtlCol="0" anchor="t"/>
          <a:lstStyle/>
          <a:p>
            <a:pPr indent="0" marL="0">
              <a:buNone/>
            </a:pPr>
            <a:r>
              <a:rPr lang="en-US" sz="1150" b="1" dirty="0">
                <a:solidFill>
                  <a:schemeClr val="accent1"/>
                </a:solidFill>
              </a:rPr>
              <a:t>Tomorrow</a:t>
            </a:r>
            <a:endParaRPr lang="en-US" sz="1150" dirty="0"/>
          </a:p>
          <a:p>
            <a:pPr indent="0" marL="0">
              <a:buNone/>
            </a:pPr>
            <a:r>
              <a:rPr lang="en-US" sz="1150" dirty="0">
                <a:solidFill>
                  <a:schemeClr val="accent3"/>
                </a:solidFill>
              </a:rPr>
              <a:t>adjust if priorities changed</a:t>
            </a:r>
            <a:endParaRPr lang="en-US" sz="1150" dirty="0"/>
          </a:p>
        </p:txBody>
      </p:sp>
      <p:sp>
        <p:nvSpPr>
          <p:cNvPr id="25" name="card"/>
          <p:cNvSpPr/>
          <p:nvPr/>
        </p:nvSpPr>
        <p:spPr>
          <a:xfrm>
            <a:off x="6187288" y="4069080"/>
            <a:ext cx="5373472" cy="2103120"/>
          </a:xfrm>
          <a:prstGeom prst="roundRect">
            <a:avLst>
              <a:gd name="adj" fmla="val 3478"/>
            </a:avLst>
          </a:prstGeom>
          <a:solidFill>
            <a:schemeClr val="accent4"/>
          </a:solidFill>
          <a:ln/>
        </p:spPr>
      </p:sp>
      <p:sp>
        <p:nvSpPr>
          <p:cNvPr id="26" name="Text 24"/>
          <p:cNvSpPr txBox="1"/>
          <p:nvPr/>
        </p:nvSpPr>
        <p:spPr>
          <a:xfrm>
            <a:off x="6461608" y="4206240"/>
            <a:ext cx="482483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GIVING FEEDBACK: 3 STEPS</a:t>
            </a:r>
            <a:endParaRPr lang="en-US" sz="1050" dirty="0"/>
          </a:p>
        </p:txBody>
      </p:sp>
      <p:sp>
        <p:nvSpPr>
          <p:cNvPr id="27" name="number 1"/>
          <p:cNvSpPr/>
          <p:nvPr/>
        </p:nvSpPr>
        <p:spPr>
          <a:xfrm>
            <a:off x="6461608" y="4572000"/>
            <a:ext cx="329184" cy="329184"/>
          </a:xfrm>
          <a:prstGeom prst="ellipse">
            <a:avLst/>
          </a:prstGeom>
          <a:solidFill>
            <a:schemeClr val="accent1"/>
          </a:solidFill>
          <a:ln/>
        </p:spPr>
      </p:sp>
      <p:sp>
        <p:nvSpPr>
          <p:cNvPr id="28" name="Text 26"/>
          <p:cNvSpPr txBox="1"/>
          <p:nvPr/>
        </p:nvSpPr>
        <p:spPr>
          <a:xfrm>
            <a:off x="6461608" y="457200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9" name="Text 27"/>
          <p:cNvSpPr txBox="1"/>
          <p:nvPr/>
        </p:nvSpPr>
        <p:spPr>
          <a:xfrm>
            <a:off x="6918808" y="4572000"/>
            <a:ext cx="4367632" cy="329184"/>
          </a:xfrm>
          <a:prstGeom prst="rect">
            <a:avLst/>
          </a:prstGeom>
          <a:noFill/>
          <a:ln/>
        </p:spPr>
        <p:txBody>
          <a:bodyPr wrap="square" lIns="0" tIns="0" rIns="0" bIns="0" rtlCol="0" anchor="ctr"/>
          <a:lstStyle/>
          <a:p>
            <a:pPr indent="0" marL="0">
              <a:buNone/>
            </a:pPr>
            <a:r>
              <a:rPr lang="en-US" sz="1300" b="1" dirty="0">
                <a:solidFill>
                  <a:schemeClr val="tx1"/>
                </a:solidFill>
              </a:rPr>
              <a:t>Say what worked</a:t>
            </a:r>
            <a:endParaRPr lang="en-US" sz="1300" dirty="0"/>
          </a:p>
        </p:txBody>
      </p:sp>
      <p:sp>
        <p:nvSpPr>
          <p:cNvPr id="30" name="number 2"/>
          <p:cNvSpPr/>
          <p:nvPr/>
        </p:nvSpPr>
        <p:spPr>
          <a:xfrm>
            <a:off x="6461608" y="5001768"/>
            <a:ext cx="329184" cy="329184"/>
          </a:xfrm>
          <a:prstGeom prst="ellipse">
            <a:avLst/>
          </a:prstGeom>
          <a:solidFill>
            <a:schemeClr val="accent1"/>
          </a:solidFill>
          <a:ln/>
        </p:spPr>
      </p:sp>
      <p:sp>
        <p:nvSpPr>
          <p:cNvPr id="31" name="Text 29"/>
          <p:cNvSpPr txBox="1"/>
          <p:nvPr/>
        </p:nvSpPr>
        <p:spPr>
          <a:xfrm>
            <a:off x="6461608" y="500176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32" name="Text 30"/>
          <p:cNvSpPr txBox="1"/>
          <p:nvPr/>
        </p:nvSpPr>
        <p:spPr>
          <a:xfrm>
            <a:off x="6918808" y="5001768"/>
            <a:ext cx="4367632" cy="329184"/>
          </a:xfrm>
          <a:prstGeom prst="rect">
            <a:avLst/>
          </a:prstGeom>
          <a:noFill/>
          <a:ln/>
        </p:spPr>
        <p:txBody>
          <a:bodyPr wrap="square" lIns="0" tIns="0" rIns="0" bIns="0" rtlCol="0" anchor="ctr"/>
          <a:lstStyle/>
          <a:p>
            <a:pPr indent="0" marL="0">
              <a:buNone/>
            </a:pPr>
            <a:r>
              <a:rPr lang="en-US" sz="1300" b="1" dirty="0">
                <a:solidFill>
                  <a:schemeClr val="tx1"/>
                </a:solidFill>
              </a:rPr>
              <a:t>Say what to change</a:t>
            </a:r>
            <a:endParaRPr lang="en-US" sz="1300" dirty="0"/>
          </a:p>
        </p:txBody>
      </p:sp>
      <p:sp>
        <p:nvSpPr>
          <p:cNvPr id="33" name="number 3"/>
          <p:cNvSpPr/>
          <p:nvPr/>
        </p:nvSpPr>
        <p:spPr>
          <a:xfrm>
            <a:off x="6461608" y="5431536"/>
            <a:ext cx="329184" cy="329184"/>
          </a:xfrm>
          <a:prstGeom prst="ellipse">
            <a:avLst/>
          </a:prstGeom>
          <a:solidFill>
            <a:schemeClr val="accent1"/>
          </a:solidFill>
          <a:ln/>
        </p:spPr>
      </p:sp>
      <p:sp>
        <p:nvSpPr>
          <p:cNvPr id="34" name="Text 32"/>
          <p:cNvSpPr txBox="1"/>
          <p:nvPr/>
        </p:nvSpPr>
        <p:spPr>
          <a:xfrm>
            <a:off x="6461608" y="5431536"/>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35" name="Text 33"/>
          <p:cNvSpPr txBox="1"/>
          <p:nvPr/>
        </p:nvSpPr>
        <p:spPr>
          <a:xfrm>
            <a:off x="6918808" y="5431536"/>
            <a:ext cx="4367632" cy="329184"/>
          </a:xfrm>
          <a:prstGeom prst="rect">
            <a:avLst/>
          </a:prstGeom>
          <a:noFill/>
          <a:ln/>
        </p:spPr>
        <p:txBody>
          <a:bodyPr wrap="square" lIns="0" tIns="0" rIns="0" bIns="0" rtlCol="0" anchor="ctr"/>
          <a:lstStyle/>
          <a:p>
            <a:pPr indent="0" marL="0">
              <a:buNone/>
            </a:pPr>
            <a:r>
              <a:rPr lang="en-US" sz="1300" b="1" dirty="0">
                <a:solidFill>
                  <a:schemeClr val="tx1"/>
                </a:solidFill>
              </a:rPr>
              <a:t>Agree the next step</a:t>
            </a:r>
            <a:endParaRPr lang="en-US" sz="1300" dirty="0"/>
          </a:p>
        </p:txBody>
      </p:sp>
      <p:sp>
        <p:nvSpPr>
          <p:cNvPr id="36" name="Text 34"/>
          <p:cNvSpPr txBox="1"/>
          <p:nvPr/>
        </p:nvSpPr>
        <p:spPr>
          <a:xfrm>
            <a:off x="6461608" y="5833872"/>
            <a:ext cx="4824832" cy="274320"/>
          </a:xfrm>
          <a:prstGeom prst="rect">
            <a:avLst/>
          </a:prstGeom>
          <a:noFill/>
          <a:ln/>
        </p:spPr>
        <p:txBody>
          <a:bodyPr wrap="square" lIns="0" tIns="0" rIns="0" bIns="0" rtlCol="0" anchor="ctr"/>
          <a:lstStyle/>
          <a:p>
            <a:pPr indent="0" marL="0">
              <a:buNone/>
            </a:pPr>
            <a:r>
              <a:rPr lang="en-US" sz="1150" b="1" dirty="0">
                <a:solidFill>
                  <a:schemeClr val="accent1"/>
                </a:solidFill>
              </a:rPr>
              <a:t>Give feedback early and often. Stuck? Talk to your project manager.</a:t>
            </a:r>
            <a:endParaRPr lang="en-US" sz="11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STARTER PACK  ·  4 OF 4</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Working Well Together</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Small habits that build a great long-term relationship, plus quick answers for the moments that worry first-time clients.</a:t>
            </a:r>
            <a:endParaRPr lang="en-US" sz="1300" dirty="0"/>
          </a:p>
        </p:txBody>
      </p:sp>
      <p:sp>
        <p:nvSpPr>
          <p:cNvPr id="5" name="card"/>
          <p:cNvSpPr/>
          <p:nvPr/>
        </p:nvSpPr>
        <p:spPr>
          <a:xfrm>
            <a:off x="630936" y="1965960"/>
            <a:ext cx="3521354" cy="4206240"/>
          </a:xfrm>
          <a:prstGeom prst="roundRect">
            <a:avLst>
              <a:gd name="adj" fmla="val 2077"/>
            </a:avLst>
          </a:prstGeom>
          <a:solidFill>
            <a:schemeClr val="accent4"/>
          </a:solidFill>
          <a:ln/>
        </p:spPr>
      </p:sp>
      <p:sp>
        <p:nvSpPr>
          <p:cNvPr id="6" name="Text 4"/>
          <p:cNvSpPr txBox="1"/>
          <p:nvPr/>
        </p:nvSpPr>
        <p:spPr>
          <a:xfrm>
            <a:off x="905256" y="214884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WORKING WELL WITH YOUR ANGEL</a:t>
            </a:r>
            <a:endParaRPr lang="en-US" sz="1050" dirty="0"/>
          </a:p>
        </p:txBody>
      </p:sp>
      <p:sp>
        <p:nvSpPr>
          <p:cNvPr id="7" name="Text 5"/>
          <p:cNvSpPr txBox="1"/>
          <p:nvPr/>
        </p:nvSpPr>
        <p:spPr>
          <a:xfrm>
            <a:off x="905256" y="2560320"/>
            <a:ext cx="2972714" cy="777240"/>
          </a:xfrm>
          <a:prstGeom prst="rect">
            <a:avLst/>
          </a:prstGeom>
          <a:noFill/>
          <a:ln/>
        </p:spPr>
        <p:txBody>
          <a:bodyPr wrap="square" lIns="0" tIns="0" rIns="0" bIns="0" rtlCol="0" anchor="t"/>
          <a:lstStyle/>
          <a:p>
            <a:pPr indent="0" marL="0">
              <a:buNone/>
            </a:pPr>
            <a:r>
              <a:rPr lang="en-US" sz="1250" b="1" dirty="0">
                <a:solidFill>
                  <a:schemeClr val="tx1"/>
                </a:solidFill>
              </a:rPr>
              <a:t>Invite questions. </a:t>
            </a:r>
            <a:pPr indent="0" marL="0">
              <a:buNone/>
            </a:pPr>
            <a:r>
              <a:rPr lang="en-US" sz="1250" dirty="0">
                <a:solidFill>
                  <a:schemeClr val="accent3"/>
                </a:solidFill>
              </a:rPr>
              <a:t>Many Angels won’t say “I don’t understand” unless asked.</a:t>
            </a:r>
            <a:endParaRPr lang="en-US" sz="1250" dirty="0"/>
          </a:p>
        </p:txBody>
      </p:sp>
      <p:sp>
        <p:nvSpPr>
          <p:cNvPr id="8" name="Text 6"/>
          <p:cNvSpPr txBox="1"/>
          <p:nvPr/>
        </p:nvSpPr>
        <p:spPr>
          <a:xfrm>
            <a:off x="905256" y="3429000"/>
            <a:ext cx="2972714" cy="777240"/>
          </a:xfrm>
          <a:prstGeom prst="rect">
            <a:avLst/>
          </a:prstGeom>
          <a:noFill/>
          <a:ln/>
        </p:spPr>
        <p:txBody>
          <a:bodyPr wrap="square" lIns="0" tIns="0" rIns="0" bIns="0" rtlCol="0" anchor="t"/>
          <a:lstStyle/>
          <a:p>
            <a:pPr indent="0" marL="0">
              <a:buNone/>
            </a:pPr>
            <a:r>
              <a:rPr lang="en-US" sz="1250" b="1" dirty="0">
                <a:solidFill>
                  <a:schemeClr val="tx1"/>
                </a:solidFill>
              </a:rPr>
              <a:t>Ask open questions. </a:t>
            </a:r>
            <a:pPr indent="0" marL="0">
              <a:buNone/>
            </a:pPr>
            <a:r>
              <a:rPr lang="en-US" sz="1250" dirty="0">
                <a:solidFill>
                  <a:schemeClr val="accent3"/>
                </a:solidFill>
              </a:rPr>
              <a:t>“How would you approach this?” beats “Is that okay?”</a:t>
            </a:r>
            <a:endParaRPr lang="en-US" sz="1250" dirty="0"/>
          </a:p>
        </p:txBody>
      </p:sp>
      <p:sp>
        <p:nvSpPr>
          <p:cNvPr id="9" name="Text 7"/>
          <p:cNvSpPr txBox="1"/>
          <p:nvPr/>
        </p:nvSpPr>
        <p:spPr>
          <a:xfrm>
            <a:off x="905256" y="4297680"/>
            <a:ext cx="2972714" cy="777240"/>
          </a:xfrm>
          <a:prstGeom prst="rect">
            <a:avLst/>
          </a:prstGeom>
          <a:noFill/>
          <a:ln/>
        </p:spPr>
        <p:txBody>
          <a:bodyPr wrap="square" lIns="0" tIns="0" rIns="0" bIns="0" rtlCol="0" anchor="t"/>
          <a:lstStyle/>
          <a:p>
            <a:pPr indent="0" marL="0">
              <a:buNone/>
            </a:pPr>
            <a:r>
              <a:rPr lang="en-US" sz="1250" b="1" dirty="0">
                <a:solidFill>
                  <a:schemeClr val="tx1"/>
                </a:solidFill>
              </a:rPr>
              <a:t>Recognise good work, </a:t>
            </a:r>
            <a:pPr indent="0" marL="0">
              <a:buNone/>
            </a:pPr>
            <a:r>
              <a:rPr lang="en-US" sz="1250" dirty="0">
                <a:solidFill>
                  <a:schemeClr val="accent3"/>
                </a:solidFill>
              </a:rPr>
              <a:t>out loud and often.</a:t>
            </a:r>
            <a:endParaRPr lang="en-US" sz="1250" dirty="0"/>
          </a:p>
        </p:txBody>
      </p:sp>
      <p:sp>
        <p:nvSpPr>
          <p:cNvPr id="10" name="Text 8"/>
          <p:cNvSpPr txBox="1"/>
          <p:nvPr/>
        </p:nvSpPr>
        <p:spPr>
          <a:xfrm>
            <a:off x="905256" y="5166360"/>
            <a:ext cx="2972714" cy="777240"/>
          </a:xfrm>
          <a:prstGeom prst="rect">
            <a:avLst/>
          </a:prstGeom>
          <a:noFill/>
          <a:ln/>
        </p:spPr>
        <p:txBody>
          <a:bodyPr wrap="square" lIns="0" tIns="0" rIns="0" bIns="0" rtlCol="0" anchor="t"/>
          <a:lstStyle/>
          <a:p>
            <a:pPr indent="0" marL="0">
              <a:buNone/>
            </a:pPr>
            <a:r>
              <a:rPr lang="en-US" sz="1250" b="1" dirty="0">
                <a:solidFill>
                  <a:schemeClr val="tx1"/>
                </a:solidFill>
              </a:rPr>
              <a:t>Get to know them: </a:t>
            </a:r>
            <a:pPr indent="0" marL="0">
              <a:buNone/>
            </a:pPr>
            <a:r>
              <a:rPr lang="en-US" sz="1250" dirty="0">
                <a:solidFill>
                  <a:schemeClr val="accent3"/>
                </a:solidFill>
              </a:rPr>
              <a:t>their holidays, family and goals.</a:t>
            </a:r>
            <a:endParaRPr lang="en-US" sz="1250" dirty="0"/>
          </a:p>
        </p:txBody>
      </p:sp>
      <p:sp>
        <p:nvSpPr>
          <p:cNvPr id="11" name="card"/>
          <p:cNvSpPr/>
          <p:nvPr/>
        </p:nvSpPr>
        <p:spPr>
          <a:xfrm>
            <a:off x="4335170" y="1965960"/>
            <a:ext cx="3521354" cy="4206240"/>
          </a:xfrm>
          <a:prstGeom prst="roundRect">
            <a:avLst>
              <a:gd name="adj" fmla="val 2077"/>
            </a:avLst>
          </a:prstGeom>
          <a:solidFill>
            <a:schemeClr val="bg1"/>
          </a:solidFill>
          <a:ln w="12700">
            <a:solidFill>
              <a:schemeClr val="accent5"/>
            </a:solidFill>
            <a:prstDash val="solid"/>
          </a:ln>
        </p:spPr>
      </p:sp>
      <p:sp>
        <p:nvSpPr>
          <p:cNvPr id="12" name="Text 10"/>
          <p:cNvSpPr txBox="1"/>
          <p:nvPr/>
        </p:nvSpPr>
        <p:spPr>
          <a:xfrm>
            <a:off x="4609490" y="214884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WHAT IF…?</a:t>
            </a:r>
            <a:endParaRPr lang="en-US" sz="1050" dirty="0"/>
          </a:p>
        </p:txBody>
      </p:sp>
      <p:sp>
        <p:nvSpPr>
          <p:cNvPr id="13" name="Text 11"/>
          <p:cNvSpPr txBox="1"/>
          <p:nvPr/>
        </p:nvSpPr>
        <p:spPr>
          <a:xfrm>
            <a:off x="4609490" y="2514600"/>
            <a:ext cx="2972714" cy="685800"/>
          </a:xfrm>
          <a:prstGeom prst="rect">
            <a:avLst/>
          </a:prstGeom>
          <a:noFill/>
          <a:ln/>
        </p:spPr>
        <p:txBody>
          <a:bodyPr wrap="square" lIns="0" tIns="0" rIns="0" bIns="0" rtlCol="0" anchor="t"/>
          <a:lstStyle/>
          <a:p>
            <a:pPr indent="0" marL="0">
              <a:buNone/>
            </a:pPr>
            <a:r>
              <a:rPr lang="en-US" sz="1150" b="1" dirty="0">
                <a:solidFill>
                  <a:schemeClr val="tx1"/>
                </a:solidFill>
              </a:rPr>
              <a:t>My Angel is sick or offline?</a:t>
            </a:r>
            <a:endParaRPr lang="en-US" sz="1150" dirty="0"/>
          </a:p>
          <a:p>
            <a:pPr indent="0" marL="0">
              <a:buNone/>
            </a:pPr>
            <a:r>
              <a:rPr lang="en-US" sz="1150" dirty="0">
                <a:solidFill>
                  <a:schemeClr val="accent3"/>
                </a:solidFill>
              </a:rPr>
              <a:t>They’ll tell you as early as possible, and the team chat keeps everyone in the loop.</a:t>
            </a:r>
            <a:endParaRPr lang="en-US" sz="1150" dirty="0"/>
          </a:p>
        </p:txBody>
      </p:sp>
      <p:sp>
        <p:nvSpPr>
          <p:cNvPr id="14" name="Text 12"/>
          <p:cNvSpPr txBox="1"/>
          <p:nvPr/>
        </p:nvSpPr>
        <p:spPr>
          <a:xfrm>
            <a:off x="4609490" y="3227832"/>
            <a:ext cx="2972714" cy="685800"/>
          </a:xfrm>
          <a:prstGeom prst="rect">
            <a:avLst/>
          </a:prstGeom>
          <a:noFill/>
          <a:ln/>
        </p:spPr>
        <p:txBody>
          <a:bodyPr wrap="square" lIns="0" tIns="0" rIns="0" bIns="0" rtlCol="0" anchor="t"/>
          <a:lstStyle/>
          <a:p>
            <a:pPr indent="0" marL="0">
              <a:buNone/>
            </a:pPr>
            <a:r>
              <a:rPr lang="en-US" sz="1150" b="1" dirty="0">
                <a:solidFill>
                  <a:schemeClr val="tx1"/>
                </a:solidFill>
              </a:rPr>
              <a:t>I’m not happy?</a:t>
            </a:r>
            <a:endParaRPr lang="en-US" sz="1150" dirty="0"/>
          </a:p>
          <a:p>
            <a:pPr indent="0" marL="0">
              <a:buNone/>
            </a:pPr>
            <a:r>
              <a:rPr lang="en-US" sz="1150" dirty="0">
                <a:solidFill>
                  <a:schemeClr val="accent3"/>
                </a:solidFill>
              </a:rPr>
              <a:t>Tell your project manager. Free replacement within the first 30 days.</a:t>
            </a:r>
            <a:endParaRPr lang="en-US" sz="1150" dirty="0"/>
          </a:p>
        </p:txBody>
      </p:sp>
      <p:sp>
        <p:nvSpPr>
          <p:cNvPr id="15" name="Text 13"/>
          <p:cNvSpPr txBox="1"/>
          <p:nvPr/>
        </p:nvSpPr>
        <p:spPr>
          <a:xfrm>
            <a:off x="4609490" y="3941064"/>
            <a:ext cx="2972714" cy="685800"/>
          </a:xfrm>
          <a:prstGeom prst="rect">
            <a:avLst/>
          </a:prstGeom>
          <a:noFill/>
          <a:ln/>
        </p:spPr>
        <p:txBody>
          <a:bodyPr wrap="square" lIns="0" tIns="0" rIns="0" bIns="0" rtlCol="0" anchor="t"/>
          <a:lstStyle/>
          <a:p>
            <a:pPr indent="0" marL="0">
              <a:buNone/>
            </a:pPr>
            <a:r>
              <a:rPr lang="en-US" sz="1150" b="1" dirty="0">
                <a:solidFill>
                  <a:schemeClr val="tx1"/>
                </a:solidFill>
              </a:rPr>
              <a:t>I need more hours?</a:t>
            </a:r>
            <a:endParaRPr lang="en-US" sz="1150" dirty="0"/>
          </a:p>
          <a:p>
            <a:pPr indent="0" marL="0">
              <a:buNone/>
            </a:pPr>
            <a:r>
              <a:rPr lang="en-US" sz="1150" dirty="0">
                <a:solidFill>
                  <a:schemeClr val="accent3"/>
                </a:solidFill>
              </a:rPr>
              <a:t>Ask your project manager. Hours can flex up.</a:t>
            </a:r>
            <a:endParaRPr lang="en-US" sz="1150" dirty="0"/>
          </a:p>
        </p:txBody>
      </p:sp>
      <p:sp>
        <p:nvSpPr>
          <p:cNvPr id="16" name="Text 14"/>
          <p:cNvSpPr txBox="1"/>
          <p:nvPr/>
        </p:nvSpPr>
        <p:spPr>
          <a:xfrm>
            <a:off x="4609490" y="4654296"/>
            <a:ext cx="2972714" cy="685800"/>
          </a:xfrm>
          <a:prstGeom prst="rect">
            <a:avLst/>
          </a:prstGeom>
          <a:noFill/>
          <a:ln/>
        </p:spPr>
        <p:txBody>
          <a:bodyPr wrap="square" lIns="0" tIns="0" rIns="0" bIns="0" rtlCol="0" anchor="t"/>
          <a:lstStyle/>
          <a:p>
            <a:pPr indent="0" marL="0">
              <a:buNone/>
            </a:pPr>
            <a:r>
              <a:rPr lang="en-US" sz="1150" b="1" dirty="0">
                <a:solidFill>
                  <a:schemeClr val="tx1"/>
                </a:solidFill>
              </a:rPr>
              <a:t>I’m on holiday?</a:t>
            </a:r>
            <a:endParaRPr lang="en-US" sz="1150" dirty="0"/>
          </a:p>
          <a:p>
            <a:pPr indent="0" marL="0">
              <a:buNone/>
            </a:pPr>
            <a:r>
              <a:rPr lang="en-US" sz="1150" dirty="0">
                <a:solidFill>
                  <a:schemeClr val="accent3"/>
                </a:solidFill>
              </a:rPr>
              <a:t>Leave a priority list. Your Angel keeps things moving.</a:t>
            </a:r>
            <a:endParaRPr lang="en-US" sz="1150" dirty="0"/>
          </a:p>
        </p:txBody>
      </p:sp>
      <p:sp>
        <p:nvSpPr>
          <p:cNvPr id="17" name="Text 15"/>
          <p:cNvSpPr txBox="1"/>
          <p:nvPr/>
        </p:nvSpPr>
        <p:spPr>
          <a:xfrm>
            <a:off x="4609490" y="5367528"/>
            <a:ext cx="2972714" cy="685800"/>
          </a:xfrm>
          <a:prstGeom prst="rect">
            <a:avLst/>
          </a:prstGeom>
          <a:noFill/>
          <a:ln/>
        </p:spPr>
        <p:txBody>
          <a:bodyPr wrap="square" lIns="0" tIns="0" rIns="0" bIns="0" rtlCol="0" anchor="t"/>
          <a:lstStyle/>
          <a:p>
            <a:pPr indent="0" marL="0">
              <a:buNone/>
            </a:pPr>
            <a:r>
              <a:rPr lang="en-US" sz="1150" b="1" dirty="0">
                <a:solidFill>
                  <a:schemeClr val="tx1"/>
                </a:solidFill>
              </a:rPr>
              <a:t>I have billing questions?</a:t>
            </a:r>
            <a:endParaRPr lang="en-US" sz="1150" dirty="0"/>
          </a:p>
          <a:p>
            <a:pPr indent="0" marL="0">
              <a:buNone/>
            </a:pPr>
            <a:r>
              <a:rPr lang="en-US" sz="1150" dirty="0">
                <a:solidFill>
                  <a:schemeClr val="accent3"/>
                </a:solidFill>
              </a:rPr>
              <a:t>Your project manager walks you through it.</a:t>
            </a:r>
            <a:endParaRPr lang="en-US" sz="1150" dirty="0"/>
          </a:p>
        </p:txBody>
      </p:sp>
      <p:sp>
        <p:nvSpPr>
          <p:cNvPr id="18" name="card"/>
          <p:cNvSpPr/>
          <p:nvPr/>
        </p:nvSpPr>
        <p:spPr>
          <a:xfrm>
            <a:off x="8039405" y="1965960"/>
            <a:ext cx="3521354" cy="4206240"/>
          </a:xfrm>
          <a:prstGeom prst="roundRect">
            <a:avLst>
              <a:gd name="adj" fmla="val 2077"/>
            </a:avLst>
          </a:prstGeom>
          <a:solidFill>
            <a:schemeClr val="bg2"/>
          </a:solidFill>
          <a:ln/>
        </p:spPr>
      </p:sp>
      <p:sp>
        <p:nvSpPr>
          <p:cNvPr id="19" name="Text 17"/>
          <p:cNvSpPr txBox="1"/>
          <p:nvPr/>
        </p:nvSpPr>
        <p:spPr>
          <a:xfrm>
            <a:off x="8313725" y="2148840"/>
            <a:ext cx="2972714" cy="256032"/>
          </a:xfrm>
          <a:prstGeom prst="rect">
            <a:avLst/>
          </a:prstGeom>
          <a:noFill/>
          <a:ln/>
        </p:spPr>
        <p:txBody>
          <a:bodyPr wrap="square" lIns="0" tIns="0" rIns="0" bIns="0" rtlCol="0" anchor="ctr"/>
          <a:lstStyle/>
          <a:p>
            <a:pPr indent="0" marL="0">
              <a:buNone/>
            </a:pPr>
            <a:r>
              <a:rPr lang="en-US" sz="1050" b="1" spc="200" kern="0" dirty="0">
                <a:solidFill>
                  <a:srgbClr val="A86A12"/>
                </a:solidFill>
              </a:rPr>
              <a:t>FIRST-TIME MISTAKES TO AVOID</a:t>
            </a:r>
            <a:endParaRPr lang="en-US" sz="1050" dirty="0"/>
          </a:p>
        </p:txBody>
      </p:sp>
      <p:sp>
        <p:nvSpPr>
          <p:cNvPr id="20" name="mistake 1"/>
          <p:cNvSpPr/>
          <p:nvPr/>
        </p:nvSpPr>
        <p:spPr>
          <a:xfrm>
            <a:off x="8313725" y="2606040"/>
            <a:ext cx="329184" cy="329184"/>
          </a:xfrm>
          <a:prstGeom prst="ellipse">
            <a:avLst/>
          </a:prstGeom>
          <a:solidFill>
            <a:schemeClr val="bg1"/>
          </a:solidFill>
          <a:ln w="19050">
            <a:solidFill>
              <a:schemeClr val="accent6"/>
            </a:solidFill>
            <a:prstDash val="solid"/>
          </a:ln>
        </p:spPr>
      </p:sp>
      <p:sp>
        <p:nvSpPr>
          <p:cNvPr id="21" name="Text 19"/>
          <p:cNvSpPr txBox="1"/>
          <p:nvPr/>
        </p:nvSpPr>
        <p:spPr>
          <a:xfrm>
            <a:off x="8313725" y="2606040"/>
            <a:ext cx="329184" cy="329184"/>
          </a:xfrm>
          <a:prstGeom prst="rect">
            <a:avLst/>
          </a:prstGeom>
          <a:noFill/>
          <a:ln/>
        </p:spPr>
        <p:txBody>
          <a:bodyPr wrap="square" lIns="0" tIns="0" rIns="0" bIns="0" rtlCol="0" anchor="ctr"/>
          <a:lstStyle/>
          <a:p>
            <a:pPr algn="ctr" indent="0" marL="0">
              <a:buNone/>
            </a:pPr>
            <a:r>
              <a:rPr lang="en-US" sz="1100" b="1" dirty="0">
                <a:solidFill>
                  <a:srgbClr val="A86A12"/>
                </a:solidFill>
              </a:rPr>
              <a:t>✕</a:t>
            </a:r>
            <a:endParaRPr lang="en-US" sz="1100" dirty="0"/>
          </a:p>
        </p:txBody>
      </p:sp>
      <p:sp>
        <p:nvSpPr>
          <p:cNvPr id="22" name="Text 20"/>
          <p:cNvSpPr txBox="1"/>
          <p:nvPr/>
        </p:nvSpPr>
        <p:spPr>
          <a:xfrm>
            <a:off x="8770925" y="2560320"/>
            <a:ext cx="2515514" cy="457200"/>
          </a:xfrm>
          <a:prstGeom prst="rect">
            <a:avLst/>
          </a:prstGeom>
          <a:noFill/>
          <a:ln/>
        </p:spPr>
        <p:txBody>
          <a:bodyPr wrap="square" lIns="0" tIns="0" rIns="0" bIns="0" rtlCol="0" anchor="ctr"/>
          <a:lstStyle/>
          <a:p>
            <a:pPr indent="0" marL="0">
              <a:buNone/>
            </a:pPr>
            <a:r>
              <a:rPr lang="en-US" sz="1250" b="1" dirty="0">
                <a:solidFill>
                  <a:schemeClr val="tx1"/>
                </a:solidFill>
              </a:rPr>
              <a:t>Vague instructions</a:t>
            </a:r>
            <a:endParaRPr lang="en-US" sz="1250" dirty="0"/>
          </a:p>
        </p:txBody>
      </p:sp>
      <p:sp>
        <p:nvSpPr>
          <p:cNvPr id="23" name="mistake 2"/>
          <p:cNvSpPr/>
          <p:nvPr/>
        </p:nvSpPr>
        <p:spPr>
          <a:xfrm>
            <a:off x="8313725" y="3291840"/>
            <a:ext cx="329184" cy="329184"/>
          </a:xfrm>
          <a:prstGeom prst="ellipse">
            <a:avLst/>
          </a:prstGeom>
          <a:solidFill>
            <a:schemeClr val="bg1"/>
          </a:solidFill>
          <a:ln w="19050">
            <a:solidFill>
              <a:schemeClr val="accent6"/>
            </a:solidFill>
            <a:prstDash val="solid"/>
          </a:ln>
        </p:spPr>
      </p:sp>
      <p:sp>
        <p:nvSpPr>
          <p:cNvPr id="24" name="Text 22"/>
          <p:cNvSpPr txBox="1"/>
          <p:nvPr/>
        </p:nvSpPr>
        <p:spPr>
          <a:xfrm>
            <a:off x="8313725" y="3291840"/>
            <a:ext cx="329184" cy="329184"/>
          </a:xfrm>
          <a:prstGeom prst="rect">
            <a:avLst/>
          </a:prstGeom>
          <a:noFill/>
          <a:ln/>
        </p:spPr>
        <p:txBody>
          <a:bodyPr wrap="square" lIns="0" tIns="0" rIns="0" bIns="0" rtlCol="0" anchor="ctr"/>
          <a:lstStyle/>
          <a:p>
            <a:pPr algn="ctr" indent="0" marL="0">
              <a:buNone/>
            </a:pPr>
            <a:r>
              <a:rPr lang="en-US" sz="1100" b="1" dirty="0">
                <a:solidFill>
                  <a:srgbClr val="A86A12"/>
                </a:solidFill>
              </a:rPr>
              <a:t>✕</a:t>
            </a:r>
            <a:endParaRPr lang="en-US" sz="1100" dirty="0"/>
          </a:p>
        </p:txBody>
      </p:sp>
      <p:sp>
        <p:nvSpPr>
          <p:cNvPr id="25" name="Text 23"/>
          <p:cNvSpPr txBox="1"/>
          <p:nvPr/>
        </p:nvSpPr>
        <p:spPr>
          <a:xfrm>
            <a:off x="8770925" y="3246120"/>
            <a:ext cx="2515514" cy="457200"/>
          </a:xfrm>
          <a:prstGeom prst="rect">
            <a:avLst/>
          </a:prstGeom>
          <a:noFill/>
          <a:ln/>
        </p:spPr>
        <p:txBody>
          <a:bodyPr wrap="square" lIns="0" tIns="0" rIns="0" bIns="0" rtlCol="0" anchor="ctr"/>
          <a:lstStyle/>
          <a:p>
            <a:pPr indent="0" marL="0">
              <a:buNone/>
            </a:pPr>
            <a:r>
              <a:rPr lang="en-US" sz="1250" b="1" dirty="0">
                <a:solidFill>
                  <a:schemeClr val="tx1"/>
                </a:solidFill>
              </a:rPr>
              <a:t>No access on Day 1</a:t>
            </a:r>
            <a:endParaRPr lang="en-US" sz="1250" dirty="0"/>
          </a:p>
        </p:txBody>
      </p:sp>
      <p:sp>
        <p:nvSpPr>
          <p:cNvPr id="26" name="mistake 3"/>
          <p:cNvSpPr/>
          <p:nvPr/>
        </p:nvSpPr>
        <p:spPr>
          <a:xfrm>
            <a:off x="8313725" y="3977640"/>
            <a:ext cx="329184" cy="329184"/>
          </a:xfrm>
          <a:prstGeom prst="ellipse">
            <a:avLst/>
          </a:prstGeom>
          <a:solidFill>
            <a:schemeClr val="bg1"/>
          </a:solidFill>
          <a:ln w="19050">
            <a:solidFill>
              <a:schemeClr val="accent6"/>
            </a:solidFill>
            <a:prstDash val="solid"/>
          </a:ln>
        </p:spPr>
      </p:sp>
      <p:sp>
        <p:nvSpPr>
          <p:cNvPr id="27" name="Text 25"/>
          <p:cNvSpPr txBox="1"/>
          <p:nvPr/>
        </p:nvSpPr>
        <p:spPr>
          <a:xfrm>
            <a:off x="8313725" y="3977640"/>
            <a:ext cx="329184" cy="329184"/>
          </a:xfrm>
          <a:prstGeom prst="rect">
            <a:avLst/>
          </a:prstGeom>
          <a:noFill/>
          <a:ln/>
        </p:spPr>
        <p:txBody>
          <a:bodyPr wrap="square" lIns="0" tIns="0" rIns="0" bIns="0" rtlCol="0" anchor="ctr"/>
          <a:lstStyle/>
          <a:p>
            <a:pPr algn="ctr" indent="0" marL="0">
              <a:buNone/>
            </a:pPr>
            <a:r>
              <a:rPr lang="en-US" sz="1100" b="1" dirty="0">
                <a:solidFill>
                  <a:srgbClr val="A86A12"/>
                </a:solidFill>
              </a:rPr>
              <a:t>✕</a:t>
            </a:r>
            <a:endParaRPr lang="en-US" sz="1100" dirty="0"/>
          </a:p>
        </p:txBody>
      </p:sp>
      <p:sp>
        <p:nvSpPr>
          <p:cNvPr id="28" name="Text 26"/>
          <p:cNvSpPr txBox="1"/>
          <p:nvPr/>
        </p:nvSpPr>
        <p:spPr>
          <a:xfrm>
            <a:off x="8770925" y="3931920"/>
            <a:ext cx="2515514" cy="457200"/>
          </a:xfrm>
          <a:prstGeom prst="rect">
            <a:avLst/>
          </a:prstGeom>
          <a:noFill/>
          <a:ln/>
        </p:spPr>
        <p:txBody>
          <a:bodyPr wrap="square" lIns="0" tIns="0" rIns="0" bIns="0" rtlCol="0" anchor="ctr"/>
          <a:lstStyle/>
          <a:p>
            <a:pPr indent="0" marL="0">
              <a:buNone/>
            </a:pPr>
            <a:r>
              <a:rPr lang="en-US" sz="1250" b="1" dirty="0">
                <a:solidFill>
                  <a:schemeClr val="tx1"/>
                </a:solidFill>
              </a:rPr>
              <a:t>Doing it yourself “because it’s faster”</a:t>
            </a:r>
            <a:endParaRPr lang="en-US" sz="1250" dirty="0"/>
          </a:p>
        </p:txBody>
      </p:sp>
      <p:sp>
        <p:nvSpPr>
          <p:cNvPr id="29" name="mistake 4"/>
          <p:cNvSpPr/>
          <p:nvPr/>
        </p:nvSpPr>
        <p:spPr>
          <a:xfrm>
            <a:off x="8313725" y="4663440"/>
            <a:ext cx="329184" cy="329184"/>
          </a:xfrm>
          <a:prstGeom prst="ellipse">
            <a:avLst/>
          </a:prstGeom>
          <a:solidFill>
            <a:schemeClr val="bg1"/>
          </a:solidFill>
          <a:ln w="19050">
            <a:solidFill>
              <a:schemeClr val="accent6"/>
            </a:solidFill>
            <a:prstDash val="solid"/>
          </a:ln>
        </p:spPr>
      </p:sp>
      <p:sp>
        <p:nvSpPr>
          <p:cNvPr id="30" name="Text 28"/>
          <p:cNvSpPr txBox="1"/>
          <p:nvPr/>
        </p:nvSpPr>
        <p:spPr>
          <a:xfrm>
            <a:off x="8313725" y="4663440"/>
            <a:ext cx="329184" cy="329184"/>
          </a:xfrm>
          <a:prstGeom prst="rect">
            <a:avLst/>
          </a:prstGeom>
          <a:noFill/>
          <a:ln/>
        </p:spPr>
        <p:txBody>
          <a:bodyPr wrap="square" lIns="0" tIns="0" rIns="0" bIns="0" rtlCol="0" anchor="ctr"/>
          <a:lstStyle/>
          <a:p>
            <a:pPr algn="ctr" indent="0" marL="0">
              <a:buNone/>
            </a:pPr>
            <a:r>
              <a:rPr lang="en-US" sz="1100" b="1" dirty="0">
                <a:solidFill>
                  <a:srgbClr val="A86A12"/>
                </a:solidFill>
              </a:rPr>
              <a:t>✕</a:t>
            </a:r>
            <a:endParaRPr lang="en-US" sz="1100" dirty="0"/>
          </a:p>
        </p:txBody>
      </p:sp>
      <p:sp>
        <p:nvSpPr>
          <p:cNvPr id="31" name="Text 29"/>
          <p:cNvSpPr txBox="1"/>
          <p:nvPr/>
        </p:nvSpPr>
        <p:spPr>
          <a:xfrm>
            <a:off x="8770925" y="4617720"/>
            <a:ext cx="2515514" cy="457200"/>
          </a:xfrm>
          <a:prstGeom prst="rect">
            <a:avLst/>
          </a:prstGeom>
          <a:noFill/>
          <a:ln/>
        </p:spPr>
        <p:txBody>
          <a:bodyPr wrap="square" lIns="0" tIns="0" rIns="0" bIns="0" rtlCol="0" anchor="ctr"/>
          <a:lstStyle/>
          <a:p>
            <a:pPr indent="0" marL="0">
              <a:buNone/>
            </a:pPr>
            <a:r>
              <a:rPr lang="en-US" sz="1250" b="1" dirty="0">
                <a:solidFill>
                  <a:schemeClr val="tx1"/>
                </a:solidFill>
              </a:rPr>
              <a:t>Not reading the EOD reports</a:t>
            </a:r>
            <a:endParaRPr lang="en-US" sz="1250" dirty="0"/>
          </a:p>
        </p:txBody>
      </p:sp>
      <p:sp>
        <p:nvSpPr>
          <p:cNvPr id="32" name="mistake 5"/>
          <p:cNvSpPr/>
          <p:nvPr/>
        </p:nvSpPr>
        <p:spPr>
          <a:xfrm>
            <a:off x="8313725" y="5349240"/>
            <a:ext cx="329184" cy="329184"/>
          </a:xfrm>
          <a:prstGeom prst="ellipse">
            <a:avLst/>
          </a:prstGeom>
          <a:solidFill>
            <a:schemeClr val="bg1"/>
          </a:solidFill>
          <a:ln w="19050">
            <a:solidFill>
              <a:schemeClr val="accent6"/>
            </a:solidFill>
            <a:prstDash val="solid"/>
          </a:ln>
        </p:spPr>
      </p:sp>
      <p:sp>
        <p:nvSpPr>
          <p:cNvPr id="33" name="Text 31"/>
          <p:cNvSpPr txBox="1"/>
          <p:nvPr/>
        </p:nvSpPr>
        <p:spPr>
          <a:xfrm>
            <a:off x="8313725" y="5349240"/>
            <a:ext cx="329184" cy="329184"/>
          </a:xfrm>
          <a:prstGeom prst="rect">
            <a:avLst/>
          </a:prstGeom>
          <a:noFill/>
          <a:ln/>
        </p:spPr>
        <p:txBody>
          <a:bodyPr wrap="square" lIns="0" tIns="0" rIns="0" bIns="0" rtlCol="0" anchor="ctr"/>
          <a:lstStyle/>
          <a:p>
            <a:pPr algn="ctr" indent="0" marL="0">
              <a:buNone/>
            </a:pPr>
            <a:r>
              <a:rPr lang="en-US" sz="1100" b="1" dirty="0">
                <a:solidFill>
                  <a:srgbClr val="A86A12"/>
                </a:solidFill>
              </a:rPr>
              <a:t>✕</a:t>
            </a:r>
            <a:endParaRPr lang="en-US" sz="1100" dirty="0"/>
          </a:p>
        </p:txBody>
      </p:sp>
      <p:sp>
        <p:nvSpPr>
          <p:cNvPr id="34" name="Text 32"/>
          <p:cNvSpPr txBox="1"/>
          <p:nvPr/>
        </p:nvSpPr>
        <p:spPr>
          <a:xfrm>
            <a:off x="8770925" y="5303520"/>
            <a:ext cx="2515514" cy="457200"/>
          </a:xfrm>
          <a:prstGeom prst="rect">
            <a:avLst/>
          </a:prstGeom>
          <a:noFill/>
          <a:ln/>
        </p:spPr>
        <p:txBody>
          <a:bodyPr wrap="square" lIns="0" tIns="0" rIns="0" bIns="0" rtlCol="0" anchor="ctr"/>
          <a:lstStyle/>
          <a:p>
            <a:pPr indent="0" marL="0">
              <a:buNone/>
            </a:pPr>
            <a:r>
              <a:rPr lang="en-US" sz="1250" b="1" dirty="0">
                <a:solidFill>
                  <a:schemeClr val="tx1"/>
                </a:solidFill>
              </a:rPr>
              <a:t>Saving feedback until you’re frustrated</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01</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Your 12-Month Journey</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Four milestone reviews. At each one we update your Freedom Scorecard, KPIs and “Next to delegate” list.</a:t>
            </a:r>
            <a:endParaRPr lang="en-US" sz="1300" dirty="0"/>
          </a:p>
        </p:txBody>
      </p:sp>
      <p:sp>
        <p:nvSpPr>
          <p:cNvPr id="5" name="journey line"/>
          <p:cNvSpPr/>
          <p:nvPr/>
        </p:nvSpPr>
        <p:spPr>
          <a:xfrm>
            <a:off x="905256" y="2423160"/>
            <a:ext cx="10381183" cy="0"/>
          </a:xfrm>
          <a:prstGeom prst="line">
            <a:avLst/>
          </a:prstGeom>
          <a:noFill/>
          <a:ln w="38100">
            <a:solidFill>
              <a:schemeClr val="accent2"/>
            </a:solidFill>
            <a:prstDash val="solid"/>
          </a:ln>
        </p:spPr>
      </p:sp>
      <p:sp>
        <p:nvSpPr>
          <p:cNvPr id="6" name="milestone 1"/>
          <p:cNvSpPr/>
          <p:nvPr/>
        </p:nvSpPr>
        <p:spPr>
          <a:xfrm>
            <a:off x="722376" y="2221992"/>
            <a:ext cx="402336" cy="402336"/>
          </a:xfrm>
          <a:prstGeom prst="ellipse">
            <a:avLst/>
          </a:prstGeom>
          <a:solidFill>
            <a:schemeClr val="bg1"/>
          </a:solidFill>
          <a:ln w="38100">
            <a:solidFill>
              <a:schemeClr val="accent1"/>
            </a:solidFill>
            <a:prstDash val="solid"/>
          </a:ln>
        </p:spPr>
      </p:sp>
      <p:sp>
        <p:nvSpPr>
          <p:cNvPr id="7" name="card"/>
          <p:cNvSpPr/>
          <p:nvPr/>
        </p:nvSpPr>
        <p:spPr>
          <a:xfrm>
            <a:off x="630936" y="2834640"/>
            <a:ext cx="2595296" cy="2377440"/>
          </a:xfrm>
          <a:prstGeom prst="roundRect">
            <a:avLst>
              <a:gd name="adj" fmla="val 3077"/>
            </a:avLst>
          </a:prstGeom>
          <a:solidFill>
            <a:schemeClr val="bg1"/>
          </a:solidFill>
          <a:ln w="12700">
            <a:solidFill>
              <a:schemeClr val="accent5"/>
            </a:solidFill>
            <a:prstDash val="solid"/>
          </a:ln>
        </p:spPr>
      </p:sp>
      <p:sp>
        <p:nvSpPr>
          <p:cNvPr id="8" name="Text 6"/>
          <p:cNvSpPr txBox="1"/>
          <p:nvPr/>
        </p:nvSpPr>
        <p:spPr>
          <a:xfrm>
            <a:off x="859536" y="3017520"/>
            <a:ext cx="2138096"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DAY 30</a:t>
            </a:r>
            <a:endParaRPr lang="en-US" sz="1050" dirty="0"/>
          </a:p>
        </p:txBody>
      </p:sp>
      <p:sp>
        <p:nvSpPr>
          <p:cNvPr id="9" name="Text 7"/>
          <p:cNvSpPr txBox="1"/>
          <p:nvPr/>
        </p:nvSpPr>
        <p:spPr>
          <a:xfrm>
            <a:off x="859536" y="3291840"/>
            <a:ext cx="2138096" cy="41148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First check-in</a:t>
            </a:r>
            <a:endParaRPr lang="en-US" sz="1600" dirty="0"/>
          </a:p>
        </p:txBody>
      </p:sp>
      <p:sp>
        <p:nvSpPr>
          <p:cNvPr id="10" name="Text 8"/>
          <p:cNvSpPr txBox="1"/>
          <p:nvPr/>
        </p:nvSpPr>
        <p:spPr>
          <a:xfrm>
            <a:off x="859536" y="3749040"/>
            <a:ext cx="2138096" cy="1280160"/>
          </a:xfrm>
          <a:prstGeom prst="rect">
            <a:avLst/>
          </a:prstGeom>
          <a:noFill/>
          <a:ln/>
        </p:spPr>
        <p:txBody>
          <a:bodyPr wrap="square" lIns="0" tIns="0" rIns="0" bIns="0" rtlCol="0" anchor="t"/>
          <a:lstStyle/>
          <a:p>
            <a:pPr indent="0" marL="0">
              <a:buNone/>
            </a:pPr>
            <a:r>
              <a:rPr lang="en-US" sz="1200" dirty="0">
                <a:solidFill>
                  <a:schemeClr val="accent3"/>
                </a:solidFill>
              </a:rPr>
              <a:t>Inquiry replies and Pipedrive set-up running with review. First skills and KPI check-in.</a:t>
            </a:r>
            <a:endParaRPr lang="en-US" sz="1200" dirty="0"/>
          </a:p>
        </p:txBody>
      </p:sp>
      <p:sp>
        <p:nvSpPr>
          <p:cNvPr id="11" name="milestone 2"/>
          <p:cNvSpPr/>
          <p:nvPr/>
        </p:nvSpPr>
        <p:spPr>
          <a:xfrm>
            <a:off x="3500552" y="2221992"/>
            <a:ext cx="402336" cy="402336"/>
          </a:xfrm>
          <a:prstGeom prst="ellipse">
            <a:avLst/>
          </a:prstGeom>
          <a:solidFill>
            <a:schemeClr val="bg1"/>
          </a:solidFill>
          <a:ln w="38100">
            <a:solidFill>
              <a:schemeClr val="accent1"/>
            </a:solidFill>
            <a:prstDash val="solid"/>
          </a:ln>
        </p:spPr>
      </p:sp>
      <p:sp>
        <p:nvSpPr>
          <p:cNvPr id="12" name="card"/>
          <p:cNvSpPr/>
          <p:nvPr/>
        </p:nvSpPr>
        <p:spPr>
          <a:xfrm>
            <a:off x="3409112" y="2834640"/>
            <a:ext cx="2595296" cy="2377440"/>
          </a:xfrm>
          <a:prstGeom prst="roundRect">
            <a:avLst>
              <a:gd name="adj" fmla="val 3077"/>
            </a:avLst>
          </a:prstGeom>
          <a:solidFill>
            <a:schemeClr val="bg1"/>
          </a:solidFill>
          <a:ln w="12700">
            <a:solidFill>
              <a:schemeClr val="accent5"/>
            </a:solidFill>
            <a:prstDash val="solid"/>
          </a:ln>
        </p:spPr>
      </p:sp>
      <p:sp>
        <p:nvSpPr>
          <p:cNvPr id="13" name="Text 11"/>
          <p:cNvSpPr txBox="1"/>
          <p:nvPr/>
        </p:nvSpPr>
        <p:spPr>
          <a:xfrm>
            <a:off x="3637712" y="3017520"/>
            <a:ext cx="2138096"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DAY 90</a:t>
            </a:r>
            <a:endParaRPr lang="en-US" sz="1050" dirty="0"/>
          </a:p>
        </p:txBody>
      </p:sp>
      <p:sp>
        <p:nvSpPr>
          <p:cNvPr id="14" name="Text 12"/>
          <p:cNvSpPr txBox="1"/>
          <p:nvPr/>
        </p:nvSpPr>
        <p:spPr>
          <a:xfrm>
            <a:off x="3637712" y="3291840"/>
            <a:ext cx="2138096" cy="41148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Onboarding review</a:t>
            </a:r>
            <a:endParaRPr lang="en-US" sz="1600" dirty="0"/>
          </a:p>
        </p:txBody>
      </p:sp>
      <p:sp>
        <p:nvSpPr>
          <p:cNvPr id="15" name="Text 13"/>
          <p:cNvSpPr txBox="1"/>
          <p:nvPr/>
        </p:nvSpPr>
        <p:spPr>
          <a:xfrm>
            <a:off x="3637712" y="3749040"/>
            <a:ext cx="2138096" cy="1280160"/>
          </a:xfrm>
          <a:prstGeom prst="rect">
            <a:avLst/>
          </a:prstGeom>
          <a:noFill/>
          <a:ln/>
        </p:spPr>
        <p:txBody>
          <a:bodyPr wrap="square" lIns="0" tIns="0" rIns="0" bIns="0" rtlCol="0" anchor="t"/>
          <a:lstStyle/>
          <a:p>
            <a:pPr indent="0" marL="0">
              <a:buNone/>
            </a:pPr>
            <a:r>
              <a:rPr lang="en-US" sz="1200" dirty="0">
                <a:solidFill>
                  <a:schemeClr val="accent3"/>
                </a:solidFill>
              </a:rPr>
              <a:t>Running the inquiry-to-invoice workflow with light oversight. Target: Stage 3, Outcome Owner.</a:t>
            </a:r>
            <a:endParaRPr lang="en-US" sz="1200" dirty="0"/>
          </a:p>
        </p:txBody>
      </p:sp>
      <p:sp>
        <p:nvSpPr>
          <p:cNvPr id="16" name="milestone 3"/>
          <p:cNvSpPr/>
          <p:nvPr/>
        </p:nvSpPr>
        <p:spPr>
          <a:xfrm>
            <a:off x="6278728" y="2221992"/>
            <a:ext cx="402336" cy="402336"/>
          </a:xfrm>
          <a:prstGeom prst="ellipse">
            <a:avLst/>
          </a:prstGeom>
          <a:solidFill>
            <a:schemeClr val="bg1"/>
          </a:solidFill>
          <a:ln w="38100">
            <a:solidFill>
              <a:schemeClr val="accent1"/>
            </a:solidFill>
            <a:prstDash val="solid"/>
          </a:ln>
        </p:spPr>
      </p:sp>
      <p:sp>
        <p:nvSpPr>
          <p:cNvPr id="17" name="card"/>
          <p:cNvSpPr/>
          <p:nvPr/>
        </p:nvSpPr>
        <p:spPr>
          <a:xfrm>
            <a:off x="6187288" y="2834640"/>
            <a:ext cx="2595296" cy="2377440"/>
          </a:xfrm>
          <a:prstGeom prst="roundRect">
            <a:avLst>
              <a:gd name="adj" fmla="val 3077"/>
            </a:avLst>
          </a:prstGeom>
          <a:solidFill>
            <a:schemeClr val="bg1"/>
          </a:solidFill>
          <a:ln w="12700">
            <a:solidFill>
              <a:schemeClr val="accent5"/>
            </a:solidFill>
            <a:prstDash val="solid"/>
          </a:ln>
        </p:spPr>
      </p:sp>
      <p:sp>
        <p:nvSpPr>
          <p:cNvPr id="18" name="Text 16"/>
          <p:cNvSpPr txBox="1"/>
          <p:nvPr/>
        </p:nvSpPr>
        <p:spPr>
          <a:xfrm>
            <a:off x="6415888" y="3017520"/>
            <a:ext cx="2138096"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MONTH 6</a:t>
            </a:r>
            <a:endParaRPr lang="en-US" sz="1050" dirty="0"/>
          </a:p>
        </p:txBody>
      </p:sp>
      <p:sp>
        <p:nvSpPr>
          <p:cNvPr id="19" name="Text 17"/>
          <p:cNvSpPr txBox="1"/>
          <p:nvPr/>
        </p:nvSpPr>
        <p:spPr>
          <a:xfrm>
            <a:off x="6415888" y="3291840"/>
            <a:ext cx="2138096" cy="41148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Freedom Review</a:t>
            </a:r>
            <a:endParaRPr lang="en-US" sz="1600" dirty="0"/>
          </a:p>
        </p:txBody>
      </p:sp>
      <p:sp>
        <p:nvSpPr>
          <p:cNvPr id="20" name="Text 18"/>
          <p:cNvSpPr txBox="1"/>
          <p:nvPr/>
        </p:nvSpPr>
        <p:spPr>
          <a:xfrm>
            <a:off x="6415888" y="3749040"/>
            <a:ext cx="2138096" cy="1280160"/>
          </a:xfrm>
          <a:prstGeom prst="rect">
            <a:avLst/>
          </a:prstGeom>
          <a:noFill/>
          <a:ln/>
        </p:spPr>
        <p:txBody>
          <a:bodyPr wrap="square" lIns="0" tIns="0" rIns="0" bIns="0" rtlCol="0" anchor="t"/>
          <a:lstStyle/>
          <a:p>
            <a:pPr indent="0" marL="0">
              <a:buNone/>
            </a:pPr>
            <a:r>
              <a:rPr lang="en-US" sz="1200" dirty="0">
                <a:solidFill>
                  <a:schemeClr val="accent3"/>
                </a:solidFill>
              </a:rPr>
              <a:t>Inquiries, bookings and invoicing run without the creative team. Target: Stage 5, Freedom.</a:t>
            </a:r>
            <a:endParaRPr lang="en-US" sz="1200" dirty="0"/>
          </a:p>
        </p:txBody>
      </p:sp>
      <p:sp>
        <p:nvSpPr>
          <p:cNvPr id="21" name="milestone 4"/>
          <p:cNvSpPr/>
          <p:nvPr/>
        </p:nvSpPr>
        <p:spPr>
          <a:xfrm>
            <a:off x="9056903" y="2221992"/>
            <a:ext cx="402336" cy="402336"/>
          </a:xfrm>
          <a:prstGeom prst="ellipse">
            <a:avLst/>
          </a:prstGeom>
          <a:solidFill>
            <a:schemeClr val="accent1"/>
          </a:solidFill>
          <a:ln w="38100">
            <a:solidFill>
              <a:schemeClr val="accent1"/>
            </a:solidFill>
            <a:prstDash val="solid"/>
          </a:ln>
        </p:spPr>
      </p:sp>
      <p:sp>
        <p:nvSpPr>
          <p:cNvPr id="22" name="card"/>
          <p:cNvSpPr/>
          <p:nvPr/>
        </p:nvSpPr>
        <p:spPr>
          <a:xfrm>
            <a:off x="8965463" y="2834640"/>
            <a:ext cx="2595296" cy="2377440"/>
          </a:xfrm>
          <a:prstGeom prst="roundRect">
            <a:avLst>
              <a:gd name="adj" fmla="val 3077"/>
            </a:avLst>
          </a:prstGeom>
          <a:solidFill>
            <a:schemeClr val="accent4"/>
          </a:solidFill>
          <a:ln/>
        </p:spPr>
      </p:sp>
      <p:sp>
        <p:nvSpPr>
          <p:cNvPr id="23" name="Text 21"/>
          <p:cNvSpPr txBox="1"/>
          <p:nvPr/>
        </p:nvSpPr>
        <p:spPr>
          <a:xfrm>
            <a:off x="9194063" y="3017520"/>
            <a:ext cx="2138096"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MONTH 12</a:t>
            </a:r>
            <a:endParaRPr lang="en-US" sz="1050" dirty="0"/>
          </a:p>
        </p:txBody>
      </p:sp>
      <p:sp>
        <p:nvSpPr>
          <p:cNvPr id="24" name="Text 22"/>
          <p:cNvSpPr txBox="1"/>
          <p:nvPr/>
        </p:nvSpPr>
        <p:spPr>
          <a:xfrm>
            <a:off x="9194063" y="3291840"/>
            <a:ext cx="2138096" cy="41148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Anniversary review</a:t>
            </a:r>
            <a:endParaRPr lang="en-US" sz="1600" dirty="0"/>
          </a:p>
        </p:txBody>
      </p:sp>
      <p:sp>
        <p:nvSpPr>
          <p:cNvPr id="25" name="Text 23"/>
          <p:cNvSpPr txBox="1"/>
          <p:nvPr/>
        </p:nvSpPr>
        <p:spPr>
          <a:xfrm>
            <a:off x="9194063" y="3749040"/>
            <a:ext cx="2138096" cy="1280160"/>
          </a:xfrm>
          <a:prstGeom prst="rect">
            <a:avLst/>
          </a:prstGeom>
          <a:noFill/>
          <a:ln/>
        </p:spPr>
        <p:txBody>
          <a:bodyPr wrap="square" lIns="0" tIns="0" rIns="0" bIns="0" rtlCol="0" anchor="t"/>
          <a:lstStyle/>
          <a:p>
            <a:pPr indent="0" marL="0">
              <a:buNone/>
            </a:pPr>
            <a:r>
              <a:rPr lang="en-US" sz="1200" dirty="0">
                <a:solidFill>
                  <a:schemeClr val="accent3"/>
                </a:solidFill>
              </a:rPr>
              <a:t>Celebrate the year, measure hours back, and plan the next stage of growth together.</a:t>
            </a:r>
            <a:endParaRPr lang="en-US" sz="1200" dirty="0"/>
          </a:p>
        </p:txBody>
      </p:sp>
      <p:sp>
        <p:nvSpPr>
          <p:cNvPr id="26" name="Text 24"/>
          <p:cNvSpPr txBox="1"/>
          <p:nvPr/>
        </p:nvSpPr>
        <p:spPr>
          <a:xfrm>
            <a:off x="630936" y="5806440"/>
            <a:ext cx="10929823" cy="365760"/>
          </a:xfrm>
          <a:prstGeom prst="rect">
            <a:avLst/>
          </a:prstGeom>
          <a:noFill/>
          <a:ln/>
        </p:spPr>
        <p:txBody>
          <a:bodyPr wrap="square" lIns="0" tIns="0" rIns="0" bIns="0" rtlCol="0" anchor="ctr"/>
          <a:lstStyle/>
          <a:p>
            <a:pPr indent="0" marL="0">
              <a:buNone/>
            </a:pPr>
            <a:r>
              <a:rPr lang="en-US" sz="1200" b="1" dirty="0">
                <a:solidFill>
                  <a:schemeClr val="accent1"/>
                </a:solidFill>
              </a:rPr>
              <a:t>Every week: </a:t>
            </a:r>
            <a:pPr indent="0" marL="0">
              <a:buNone/>
            </a:pPr>
            <a:r>
              <a:rPr lang="en-US" sz="1200" dirty="0">
                <a:solidFill>
                  <a:schemeClr val="accent3"/>
                </a:solidFill>
              </a:rPr>
              <a:t>quick check-in with your Coordinator.   </a:t>
            </a:r>
            <a:pPr indent="0" marL="0">
              <a:buNone/>
            </a:pPr>
            <a:r>
              <a:rPr lang="en-US" sz="1200" b="1" dirty="0">
                <a:solidFill>
                  <a:schemeClr val="accent1"/>
                </a:solidFill>
              </a:rPr>
              <a:t>Every month: </a:t>
            </a:r>
            <a:pPr indent="0" marL="0">
              <a:buNone/>
            </a:pPr>
            <a:r>
              <a:rPr lang="en-US" sz="1200" dirty="0">
                <a:solidFill>
                  <a:schemeClr val="accent3"/>
                </a:solidFill>
              </a:rPr>
              <a:t>KPI check-in.   </a:t>
            </a:r>
            <a:pPr indent="0" marL="0">
              <a:buNone/>
            </a:pPr>
            <a:r>
              <a:rPr lang="en-US" sz="1200" b="1" dirty="0">
                <a:solidFill>
                  <a:schemeClr val="accent1"/>
                </a:solidFill>
              </a:rPr>
              <a:t>Any time: </a:t>
            </a:r>
            <a:pPr indent="0" marL="0">
              <a:buNone/>
            </a:pPr>
            <a:r>
              <a:rPr lang="en-US" sz="1200" dirty="0">
                <a:solidFill>
                  <a:schemeClr val="accent3"/>
                </a:solidFill>
              </a:rPr>
              <a:t>raise anything with your project manager.</a:t>
            </a:r>
            <a:endParaRPr lang="en-US" sz="120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02</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First 90 Days</a:t>
            </a:r>
            <a:endParaRPr lang="en-US" sz="3000" dirty="0"/>
          </a:p>
        </p:txBody>
      </p:sp>
      <p:sp>
        <p:nvSpPr>
          <p:cNvPr id="4" name="card"/>
          <p:cNvSpPr/>
          <p:nvPr/>
        </p:nvSpPr>
        <p:spPr>
          <a:xfrm>
            <a:off x="630936" y="1463040"/>
            <a:ext cx="10929823" cy="1463040"/>
          </a:xfrm>
          <a:prstGeom prst="roundRect">
            <a:avLst>
              <a:gd name="adj" fmla="val 5000"/>
            </a:avLst>
          </a:prstGeom>
          <a:solidFill>
            <a:schemeClr val="bg1"/>
          </a:solidFill>
          <a:ln w="12700">
            <a:solidFill>
              <a:schemeClr val="accent5"/>
            </a:solidFill>
            <a:prstDash val="solid"/>
          </a:ln>
        </p:spPr>
      </p:sp>
      <p:sp>
        <p:nvSpPr>
          <p:cNvPr id="5" name="Text 3"/>
          <p:cNvSpPr txBox="1"/>
          <p:nvPr/>
        </p:nvSpPr>
        <p:spPr>
          <a:xfrm>
            <a:off x="905256" y="1645920"/>
            <a:ext cx="27432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DAYS 1–30</a:t>
            </a:r>
            <a:endParaRPr lang="en-US" sz="1050" dirty="0"/>
          </a:p>
        </p:txBody>
      </p:sp>
      <p:sp>
        <p:nvSpPr>
          <p:cNvPr id="6" name="Text 4"/>
          <p:cNvSpPr txBox="1"/>
          <p:nvPr/>
        </p:nvSpPr>
        <p:spPr>
          <a:xfrm>
            <a:off x="905256" y="1920240"/>
            <a:ext cx="10381183" cy="457200"/>
          </a:xfrm>
          <a:prstGeom prst="rect">
            <a:avLst/>
          </a:prstGeom>
          <a:noFill/>
          <a:ln/>
        </p:spPr>
        <p:txBody>
          <a:bodyPr wrap="square" lIns="0" tIns="0" rIns="0" bIns="0" rtlCol="0" anchor="t"/>
          <a:lstStyle/>
          <a:p>
            <a:pPr indent="0" marL="0">
              <a:buNone/>
            </a:pPr>
            <a:r>
              <a:rPr lang="en-US" sz="1200" dirty="0">
                <a:solidFill>
                  <a:schemeClr val="accent3"/>
                </a:solidFill>
              </a:rPr>
              <a:t>Learn the company workbook, Pipedrive and the email templates. Reply to new inquiries and set up deals, with Krystie reviewing each one in the first weeks.</a:t>
            </a:r>
            <a:endParaRPr lang="en-US" sz="1200" dirty="0"/>
          </a:p>
        </p:txBody>
      </p:sp>
      <p:sp>
        <p:nvSpPr>
          <p:cNvPr id="7" name="card"/>
          <p:cNvSpPr/>
          <p:nvPr/>
        </p:nvSpPr>
        <p:spPr>
          <a:xfrm>
            <a:off x="905256" y="2423160"/>
            <a:ext cx="10381183" cy="365760"/>
          </a:xfrm>
          <a:prstGeom prst="roundRect">
            <a:avLst>
              <a:gd name="adj" fmla="val 20000"/>
            </a:avLst>
          </a:prstGeom>
          <a:solidFill>
            <a:schemeClr val="accent4"/>
          </a:solidFill>
          <a:ln/>
        </p:spPr>
      </p:sp>
      <p:sp>
        <p:nvSpPr>
          <p:cNvPr id="8" name="Text 6"/>
          <p:cNvSpPr txBox="1"/>
          <p:nvPr/>
        </p:nvSpPr>
        <p:spPr>
          <a:xfrm>
            <a:off x="1088136" y="2423160"/>
            <a:ext cx="10015423" cy="365760"/>
          </a:xfrm>
          <a:prstGeom prst="rect">
            <a:avLst/>
          </a:prstGeom>
          <a:noFill/>
          <a:ln/>
        </p:spPr>
        <p:txBody>
          <a:bodyPr wrap="square" lIns="0" tIns="0" rIns="0" bIns="0" rtlCol="0" anchor="ctr"/>
          <a:lstStyle/>
          <a:p>
            <a:pPr indent="0" marL="0">
              <a:buNone/>
            </a:pPr>
            <a:r>
              <a:rPr lang="en-US" sz="1150" b="1" dirty="0">
                <a:solidFill>
                  <a:schemeClr val="accent1"/>
                </a:solidFill>
              </a:rPr>
              <a:t>Goal: Every new inquiry answered the same day, with all details captured.</a:t>
            </a:r>
            <a:endParaRPr lang="en-US" sz="1150" dirty="0"/>
          </a:p>
        </p:txBody>
      </p:sp>
      <p:sp>
        <p:nvSpPr>
          <p:cNvPr id="9" name="card"/>
          <p:cNvSpPr/>
          <p:nvPr/>
        </p:nvSpPr>
        <p:spPr>
          <a:xfrm>
            <a:off x="630936" y="3063240"/>
            <a:ext cx="10929823" cy="1463040"/>
          </a:xfrm>
          <a:prstGeom prst="roundRect">
            <a:avLst>
              <a:gd name="adj" fmla="val 5000"/>
            </a:avLst>
          </a:prstGeom>
          <a:solidFill>
            <a:schemeClr val="bg1"/>
          </a:solidFill>
          <a:ln w="12700">
            <a:solidFill>
              <a:schemeClr val="accent5"/>
            </a:solidFill>
            <a:prstDash val="solid"/>
          </a:ln>
        </p:spPr>
      </p:sp>
      <p:sp>
        <p:nvSpPr>
          <p:cNvPr id="10" name="Text 8"/>
          <p:cNvSpPr txBox="1"/>
          <p:nvPr/>
        </p:nvSpPr>
        <p:spPr>
          <a:xfrm>
            <a:off x="905256" y="3246120"/>
            <a:ext cx="27432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DAYS 31–60</a:t>
            </a:r>
            <a:endParaRPr lang="en-US" sz="1050" dirty="0"/>
          </a:p>
        </p:txBody>
      </p:sp>
      <p:sp>
        <p:nvSpPr>
          <p:cNvPr id="11" name="Text 9"/>
          <p:cNvSpPr txBox="1"/>
          <p:nvPr/>
        </p:nvSpPr>
        <p:spPr>
          <a:xfrm>
            <a:off x="905256" y="3520440"/>
            <a:ext cx="10381183" cy="457200"/>
          </a:xfrm>
          <a:prstGeom prst="rect">
            <a:avLst/>
          </a:prstGeom>
          <a:noFill/>
          <a:ln/>
        </p:spPr>
        <p:txBody>
          <a:bodyPr wrap="square" lIns="0" tIns="0" rIns="0" bIns="0" rtlCol="0" anchor="t"/>
          <a:lstStyle/>
          <a:p>
            <a:pPr indent="0" marL="0">
              <a:buNone/>
            </a:pPr>
            <a:r>
              <a:rPr lang="en-US" sz="1200" dirty="0">
                <a:solidFill>
                  <a:schemeClr val="accent3"/>
                </a:solidFill>
              </a:rPr>
              <a:t>Own inquiry replies, screening, Pipedrive set-up and assignment, plus the 3-day follow-ups. Start supplier calendar invites and client invoicing.</a:t>
            </a:r>
            <a:endParaRPr lang="en-US" sz="1200" dirty="0"/>
          </a:p>
        </p:txBody>
      </p:sp>
      <p:sp>
        <p:nvSpPr>
          <p:cNvPr id="12" name="card"/>
          <p:cNvSpPr/>
          <p:nvPr/>
        </p:nvSpPr>
        <p:spPr>
          <a:xfrm>
            <a:off x="905256" y="4023360"/>
            <a:ext cx="10381183" cy="365760"/>
          </a:xfrm>
          <a:prstGeom prst="roundRect">
            <a:avLst>
              <a:gd name="adj" fmla="val 20000"/>
            </a:avLst>
          </a:prstGeom>
          <a:solidFill>
            <a:schemeClr val="accent4"/>
          </a:solidFill>
          <a:ln/>
        </p:spPr>
      </p:sp>
      <p:sp>
        <p:nvSpPr>
          <p:cNvPr id="13" name="Text 11"/>
          <p:cNvSpPr txBox="1"/>
          <p:nvPr/>
        </p:nvSpPr>
        <p:spPr>
          <a:xfrm>
            <a:off x="1088136" y="4023360"/>
            <a:ext cx="10015423" cy="365760"/>
          </a:xfrm>
          <a:prstGeom prst="rect">
            <a:avLst/>
          </a:prstGeom>
          <a:noFill/>
          <a:ln/>
        </p:spPr>
        <p:txBody>
          <a:bodyPr wrap="square" lIns="0" tIns="0" rIns="0" bIns="0" rtlCol="0" anchor="ctr"/>
          <a:lstStyle/>
          <a:p>
            <a:pPr indent="0" marL="0">
              <a:buNone/>
            </a:pPr>
            <a:r>
              <a:rPr lang="en-US" sz="1150" b="1" dirty="0">
                <a:solidFill>
                  <a:schemeClr val="accent1"/>
                </a:solidFill>
              </a:rPr>
              <a:t>Goal: The team receives complete, assigned deals without chasing.</a:t>
            </a:r>
            <a:endParaRPr lang="en-US" sz="1150" dirty="0"/>
          </a:p>
        </p:txBody>
      </p:sp>
      <p:sp>
        <p:nvSpPr>
          <p:cNvPr id="14" name="card"/>
          <p:cNvSpPr/>
          <p:nvPr/>
        </p:nvSpPr>
        <p:spPr>
          <a:xfrm>
            <a:off x="630936" y="4663440"/>
            <a:ext cx="10929823" cy="1463040"/>
          </a:xfrm>
          <a:prstGeom prst="roundRect">
            <a:avLst>
              <a:gd name="adj" fmla="val 5000"/>
            </a:avLst>
          </a:prstGeom>
          <a:solidFill>
            <a:schemeClr val="bg1"/>
          </a:solidFill>
          <a:ln w="12700">
            <a:solidFill>
              <a:schemeClr val="accent5"/>
            </a:solidFill>
            <a:prstDash val="solid"/>
          </a:ln>
        </p:spPr>
      </p:sp>
      <p:sp>
        <p:nvSpPr>
          <p:cNvPr id="15" name="Text 13"/>
          <p:cNvSpPr txBox="1"/>
          <p:nvPr/>
        </p:nvSpPr>
        <p:spPr>
          <a:xfrm>
            <a:off x="905256" y="4846320"/>
            <a:ext cx="27432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DAYS 61–90</a:t>
            </a:r>
            <a:endParaRPr lang="en-US" sz="1050" dirty="0"/>
          </a:p>
        </p:txBody>
      </p:sp>
      <p:sp>
        <p:nvSpPr>
          <p:cNvPr id="16" name="Text 14"/>
          <p:cNvSpPr txBox="1"/>
          <p:nvPr/>
        </p:nvSpPr>
        <p:spPr>
          <a:xfrm>
            <a:off x="905256" y="5120640"/>
            <a:ext cx="10381183" cy="457200"/>
          </a:xfrm>
          <a:prstGeom prst="rect">
            <a:avLst/>
          </a:prstGeom>
          <a:noFill/>
          <a:ln/>
        </p:spPr>
        <p:txBody>
          <a:bodyPr wrap="square" lIns="0" tIns="0" rIns="0" bIns="0" rtlCol="0" anchor="t"/>
          <a:lstStyle/>
          <a:p>
            <a:pPr indent="0" marL="0">
              <a:buNone/>
            </a:pPr>
            <a:r>
              <a:rPr lang="en-US" sz="1200" dirty="0">
                <a:solidFill>
                  <a:schemeClr val="accent3"/>
                </a:solidFill>
              </a:rPr>
              <a:t>Run the full inquiry-to-invoice workflow: replies within the hour, bookings, invoices and payment follow-ups, and propose a first improvement.</a:t>
            </a:r>
            <a:endParaRPr lang="en-US" sz="1200" dirty="0"/>
          </a:p>
        </p:txBody>
      </p:sp>
      <p:sp>
        <p:nvSpPr>
          <p:cNvPr id="17" name="card"/>
          <p:cNvSpPr/>
          <p:nvPr/>
        </p:nvSpPr>
        <p:spPr>
          <a:xfrm>
            <a:off x="905256" y="5623560"/>
            <a:ext cx="10381183" cy="365760"/>
          </a:xfrm>
          <a:prstGeom prst="roundRect">
            <a:avLst>
              <a:gd name="adj" fmla="val 20000"/>
            </a:avLst>
          </a:prstGeom>
          <a:solidFill>
            <a:schemeClr val="accent4"/>
          </a:solidFill>
          <a:ln/>
        </p:spPr>
      </p:sp>
      <p:sp>
        <p:nvSpPr>
          <p:cNvPr id="18" name="Text 16"/>
          <p:cNvSpPr txBox="1"/>
          <p:nvPr/>
        </p:nvSpPr>
        <p:spPr>
          <a:xfrm>
            <a:off x="1088136" y="5623560"/>
            <a:ext cx="10015423" cy="365760"/>
          </a:xfrm>
          <a:prstGeom prst="rect">
            <a:avLst/>
          </a:prstGeom>
          <a:noFill/>
          <a:ln/>
        </p:spPr>
        <p:txBody>
          <a:bodyPr wrap="square" lIns="0" tIns="0" rIns="0" bIns="0" rtlCol="0" anchor="ctr"/>
          <a:lstStyle/>
          <a:p>
            <a:pPr indent="0" marL="0">
              <a:buNone/>
            </a:pPr>
            <a:r>
              <a:rPr lang="en-US" sz="1150" b="1" dirty="0">
                <a:solidFill>
                  <a:schemeClr val="accent1"/>
                </a:solidFill>
              </a:rPr>
              <a:t>Goal: Belinda, Chantel and Krystie feel the admin lifted off their shoulders.</a:t>
            </a:r>
            <a:endParaRPr lang="en-US" sz="11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03</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Hours, Timezone &amp; Training</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Part-time from Day 1: Mon–Fri, 9am–1pm Sydney time. Krystie trains with the company workbook; the skills are already there.</a:t>
            </a:r>
            <a:endParaRPr lang="en-US" sz="1300" dirty="0"/>
          </a:p>
        </p:txBody>
      </p:sp>
      <p:sp>
        <p:nvSpPr>
          <p:cNvPr id="5" name="card"/>
          <p:cNvSpPr/>
          <p:nvPr/>
        </p:nvSpPr>
        <p:spPr>
          <a:xfrm>
            <a:off x="630936" y="2103120"/>
            <a:ext cx="2595296" cy="3017520"/>
          </a:xfrm>
          <a:prstGeom prst="roundRect">
            <a:avLst>
              <a:gd name="adj" fmla="val 2819"/>
            </a:avLst>
          </a:prstGeom>
          <a:solidFill>
            <a:schemeClr val="bg2"/>
          </a:solidFill>
          <a:ln/>
        </p:spPr>
      </p:sp>
      <p:sp>
        <p:nvSpPr>
          <p:cNvPr id="6" name="Text 4"/>
          <p:cNvSpPr txBox="1"/>
          <p:nvPr/>
        </p:nvSpPr>
        <p:spPr>
          <a:xfrm>
            <a:off x="859536" y="2286000"/>
            <a:ext cx="2138096"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WEEK 1</a:t>
            </a:r>
            <a:endParaRPr lang="en-US" sz="1050" dirty="0"/>
          </a:p>
        </p:txBody>
      </p:sp>
      <p:sp>
        <p:nvSpPr>
          <p:cNvPr id="7" name="Text 5"/>
          <p:cNvSpPr txBox="1"/>
          <p:nvPr/>
        </p:nvSpPr>
        <p:spPr>
          <a:xfrm>
            <a:off x="859536" y="2606040"/>
            <a:ext cx="2138096" cy="73152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Workbook &amp; Pipedrive</a:t>
            </a:r>
            <a:endParaRPr lang="en-US" sz="1500" dirty="0"/>
          </a:p>
        </p:txBody>
      </p:sp>
      <p:sp>
        <p:nvSpPr>
          <p:cNvPr id="8" name="Text 6"/>
          <p:cNvSpPr txBox="1"/>
          <p:nvPr/>
        </p:nvSpPr>
        <p:spPr>
          <a:xfrm>
            <a:off x="859536" y="3383280"/>
            <a:ext cx="2138096" cy="1554480"/>
          </a:xfrm>
          <a:prstGeom prst="rect">
            <a:avLst/>
          </a:prstGeom>
          <a:noFill/>
          <a:ln/>
        </p:spPr>
        <p:txBody>
          <a:bodyPr wrap="square" lIns="0" tIns="0" rIns="0" bIns="0" rtlCol="0" anchor="t"/>
          <a:lstStyle/>
          <a:p>
            <a:pPr indent="0" marL="0">
              <a:buNone/>
            </a:pPr>
            <a:r>
              <a:rPr lang="en-US" sz="1200" dirty="0">
                <a:solidFill>
                  <a:schemeClr val="accent3"/>
                </a:solidFill>
              </a:rPr>
              <a:t>Learn the company, the workbook, Pipedrive and the templates.</a:t>
            </a:r>
            <a:endParaRPr lang="en-US" sz="1200" dirty="0"/>
          </a:p>
        </p:txBody>
      </p:sp>
      <p:sp>
        <p:nvSpPr>
          <p:cNvPr id="9" name="card"/>
          <p:cNvSpPr/>
          <p:nvPr/>
        </p:nvSpPr>
        <p:spPr>
          <a:xfrm>
            <a:off x="3409112" y="2103120"/>
            <a:ext cx="2595296" cy="3017520"/>
          </a:xfrm>
          <a:prstGeom prst="roundRect">
            <a:avLst>
              <a:gd name="adj" fmla="val 2819"/>
            </a:avLst>
          </a:prstGeom>
          <a:solidFill>
            <a:schemeClr val="bg2"/>
          </a:solidFill>
          <a:ln/>
        </p:spPr>
      </p:sp>
      <p:sp>
        <p:nvSpPr>
          <p:cNvPr id="10" name="Text 8"/>
          <p:cNvSpPr txBox="1"/>
          <p:nvPr/>
        </p:nvSpPr>
        <p:spPr>
          <a:xfrm>
            <a:off x="3637712" y="2286000"/>
            <a:ext cx="2138096"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WEEK 2</a:t>
            </a:r>
            <a:endParaRPr lang="en-US" sz="1050" dirty="0"/>
          </a:p>
        </p:txBody>
      </p:sp>
      <p:sp>
        <p:nvSpPr>
          <p:cNvPr id="11" name="Text 9"/>
          <p:cNvSpPr txBox="1"/>
          <p:nvPr/>
        </p:nvSpPr>
        <p:spPr>
          <a:xfrm>
            <a:off x="3637712" y="2606040"/>
            <a:ext cx="2138096" cy="73152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Inquiry Replies</a:t>
            </a:r>
            <a:endParaRPr lang="en-US" sz="1500" dirty="0"/>
          </a:p>
        </p:txBody>
      </p:sp>
      <p:sp>
        <p:nvSpPr>
          <p:cNvPr id="12" name="Text 10"/>
          <p:cNvSpPr txBox="1"/>
          <p:nvPr/>
        </p:nvSpPr>
        <p:spPr>
          <a:xfrm>
            <a:off x="3637712" y="3383280"/>
            <a:ext cx="2138096" cy="1554480"/>
          </a:xfrm>
          <a:prstGeom prst="rect">
            <a:avLst/>
          </a:prstGeom>
          <a:noFill/>
          <a:ln/>
        </p:spPr>
        <p:txBody>
          <a:bodyPr wrap="square" lIns="0" tIns="0" rIns="0" bIns="0" rtlCol="0" anchor="t"/>
          <a:lstStyle/>
          <a:p>
            <a:pPr indent="0" marL="0">
              <a:buNone/>
            </a:pPr>
            <a:r>
              <a:rPr lang="en-US" sz="1200" dirty="0">
                <a:solidFill>
                  <a:schemeClr val="accent3"/>
                </a:solidFill>
              </a:rPr>
              <a:t>Reply to inquiries and screen details, each reviewed first.</a:t>
            </a:r>
            <a:endParaRPr lang="en-US" sz="1200" dirty="0"/>
          </a:p>
        </p:txBody>
      </p:sp>
      <p:sp>
        <p:nvSpPr>
          <p:cNvPr id="13" name="card"/>
          <p:cNvSpPr/>
          <p:nvPr/>
        </p:nvSpPr>
        <p:spPr>
          <a:xfrm>
            <a:off x="6187288" y="2103120"/>
            <a:ext cx="2595296" cy="3017520"/>
          </a:xfrm>
          <a:prstGeom prst="roundRect">
            <a:avLst>
              <a:gd name="adj" fmla="val 2819"/>
            </a:avLst>
          </a:prstGeom>
          <a:solidFill>
            <a:schemeClr val="bg2"/>
          </a:solidFill>
          <a:ln/>
        </p:spPr>
      </p:sp>
      <p:sp>
        <p:nvSpPr>
          <p:cNvPr id="14" name="Text 12"/>
          <p:cNvSpPr txBox="1"/>
          <p:nvPr/>
        </p:nvSpPr>
        <p:spPr>
          <a:xfrm>
            <a:off x="6415888" y="2286000"/>
            <a:ext cx="2138096"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WEEK 3</a:t>
            </a:r>
            <a:endParaRPr lang="en-US" sz="1050" dirty="0"/>
          </a:p>
        </p:txBody>
      </p:sp>
      <p:sp>
        <p:nvSpPr>
          <p:cNvPr id="15" name="Text 13"/>
          <p:cNvSpPr txBox="1"/>
          <p:nvPr/>
        </p:nvSpPr>
        <p:spPr>
          <a:xfrm>
            <a:off x="6415888" y="2606040"/>
            <a:ext cx="2138096" cy="73152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Deals &amp; Assignment</a:t>
            </a:r>
            <a:endParaRPr lang="en-US" sz="1500" dirty="0"/>
          </a:p>
        </p:txBody>
      </p:sp>
      <p:sp>
        <p:nvSpPr>
          <p:cNvPr id="16" name="Text 14"/>
          <p:cNvSpPr txBox="1"/>
          <p:nvPr/>
        </p:nvSpPr>
        <p:spPr>
          <a:xfrm>
            <a:off x="6415888" y="3383280"/>
            <a:ext cx="2138096" cy="1554480"/>
          </a:xfrm>
          <a:prstGeom prst="rect">
            <a:avLst/>
          </a:prstGeom>
          <a:noFill/>
          <a:ln/>
        </p:spPr>
        <p:txBody>
          <a:bodyPr wrap="square" lIns="0" tIns="0" rIns="0" bIns="0" rtlCol="0" anchor="t"/>
          <a:lstStyle/>
          <a:p>
            <a:pPr indent="0" marL="0">
              <a:buNone/>
            </a:pPr>
            <a:r>
              <a:rPr lang="en-US" sz="1200" dirty="0">
                <a:solidFill>
                  <a:schemeClr val="accent3"/>
                </a:solidFill>
              </a:rPr>
              <a:t>Set up deals and assign them to Belinda or Chantel.</a:t>
            </a:r>
            <a:endParaRPr lang="en-US" sz="1200" dirty="0"/>
          </a:p>
        </p:txBody>
      </p:sp>
      <p:sp>
        <p:nvSpPr>
          <p:cNvPr id="17" name="card"/>
          <p:cNvSpPr/>
          <p:nvPr/>
        </p:nvSpPr>
        <p:spPr>
          <a:xfrm>
            <a:off x="8965463" y="2103120"/>
            <a:ext cx="2595296" cy="3017520"/>
          </a:xfrm>
          <a:prstGeom prst="roundRect">
            <a:avLst>
              <a:gd name="adj" fmla="val 2819"/>
            </a:avLst>
          </a:prstGeom>
          <a:solidFill>
            <a:schemeClr val="bg2"/>
          </a:solidFill>
          <a:ln/>
        </p:spPr>
      </p:sp>
      <p:sp>
        <p:nvSpPr>
          <p:cNvPr id="18" name="Text 16"/>
          <p:cNvSpPr txBox="1"/>
          <p:nvPr/>
        </p:nvSpPr>
        <p:spPr>
          <a:xfrm>
            <a:off x="9194063" y="2286000"/>
            <a:ext cx="2138096"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WEEK 4</a:t>
            </a:r>
            <a:endParaRPr lang="en-US" sz="1050" dirty="0"/>
          </a:p>
        </p:txBody>
      </p:sp>
      <p:sp>
        <p:nvSpPr>
          <p:cNvPr id="19" name="Text 17"/>
          <p:cNvSpPr txBox="1"/>
          <p:nvPr/>
        </p:nvSpPr>
        <p:spPr>
          <a:xfrm>
            <a:off x="9194063" y="2606040"/>
            <a:ext cx="2138096" cy="73152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Bookings &amp; Invoices</a:t>
            </a:r>
            <a:endParaRPr lang="en-US" sz="1500" dirty="0"/>
          </a:p>
        </p:txBody>
      </p:sp>
      <p:sp>
        <p:nvSpPr>
          <p:cNvPr id="20" name="Text 18"/>
          <p:cNvSpPr txBox="1"/>
          <p:nvPr/>
        </p:nvSpPr>
        <p:spPr>
          <a:xfrm>
            <a:off x="9194063" y="3383280"/>
            <a:ext cx="2138096" cy="1554480"/>
          </a:xfrm>
          <a:prstGeom prst="rect">
            <a:avLst/>
          </a:prstGeom>
          <a:noFill/>
          <a:ln/>
        </p:spPr>
        <p:txBody>
          <a:bodyPr wrap="square" lIns="0" tIns="0" rIns="0" bIns="0" rtlCol="0" anchor="t"/>
          <a:lstStyle/>
          <a:p>
            <a:pPr indent="0" marL="0">
              <a:buNone/>
            </a:pPr>
            <a:r>
              <a:rPr lang="en-US" sz="1200" dirty="0">
                <a:solidFill>
                  <a:schemeClr val="accent3"/>
                </a:solidFill>
              </a:rPr>
              <a:t>Start calendar invites, invoices and payment follow-ups.</a:t>
            </a:r>
            <a:endParaRPr lang="en-US" sz="1200" dirty="0"/>
          </a:p>
        </p:txBody>
      </p:sp>
      <p:sp>
        <p:nvSpPr>
          <p:cNvPr id="21" name="callout"/>
          <p:cNvSpPr/>
          <p:nvPr/>
        </p:nvSpPr>
        <p:spPr>
          <a:xfrm>
            <a:off x="630936" y="5349240"/>
            <a:ext cx="10929823" cy="548640"/>
          </a:xfrm>
          <a:prstGeom prst="roundRect">
            <a:avLst>
              <a:gd name="adj" fmla="val 13333"/>
            </a:avLst>
          </a:prstGeom>
          <a:solidFill>
            <a:schemeClr val="accent4"/>
          </a:solidFill>
          <a:ln/>
        </p:spPr>
      </p:sp>
      <p:sp>
        <p:nvSpPr>
          <p:cNvPr id="22" name="Text 20"/>
          <p:cNvSpPr txBox="1"/>
          <p:nvPr/>
        </p:nvSpPr>
        <p:spPr>
          <a:xfrm>
            <a:off x="859536" y="5349240"/>
            <a:ext cx="10472623" cy="548640"/>
          </a:xfrm>
          <a:prstGeom prst="rect">
            <a:avLst/>
          </a:prstGeom>
          <a:noFill/>
          <a:ln/>
        </p:spPr>
        <p:txBody>
          <a:bodyPr wrap="square" lIns="0" tIns="0" rIns="0" bIns="0" rtlCol="0" anchor="ctr"/>
          <a:lstStyle/>
          <a:p>
            <a:pPr indent="0" marL="0">
              <a:buNone/>
            </a:pPr>
            <a:r>
              <a:rPr lang="en-US" sz="1250" b="1" dirty="0">
                <a:solidFill>
                  <a:schemeClr val="accent1"/>
                </a:solidFill>
              </a:rPr>
              <a:t>September to December is peak season. PA tasks and more hours can be added in the quieter January to July months.</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04</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Working with Krystie</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Written together by Krystie and her Coordinator in Week 1, and updated as they learn each other’s style.</a:t>
            </a:r>
            <a:endParaRPr lang="en-US" sz="1300" dirty="0"/>
          </a:p>
        </p:txBody>
      </p:sp>
      <p:sp>
        <p:nvSpPr>
          <p:cNvPr id="6" name="card"/>
          <p:cNvSpPr/>
          <p:nvPr/>
        </p:nvSpPr>
        <p:spPr>
          <a:xfrm>
            <a:off x="630936" y="1965960"/>
            <a:ext cx="5486400" cy="1143000"/>
          </a:xfrm>
          <a:prstGeom prst="roundRect">
            <a:avLst>
              <a:gd name="adj" fmla="val 6400"/>
            </a:avLst>
          </a:prstGeom>
          <a:solidFill>
            <a:schemeClr val="bg2"/>
          </a:solidFill>
          <a:ln/>
        </p:spPr>
      </p:sp>
      <p:sp>
        <p:nvSpPr>
          <p:cNvPr id="7" name="Text 4"/>
          <p:cNvSpPr txBox="1"/>
          <p:nvPr/>
        </p:nvSpPr>
        <p:spPr>
          <a:xfrm>
            <a:off x="905256" y="2103120"/>
            <a:ext cx="493776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HOW KRYSTIE WORKS</a:t>
            </a:r>
            <a:endParaRPr lang="en-US" sz="1050" dirty="0"/>
          </a:p>
        </p:txBody>
      </p:sp>
      <p:sp>
        <p:nvSpPr>
          <p:cNvPr id="8" name="Text 5"/>
          <p:cNvSpPr txBox="1"/>
          <p:nvPr/>
        </p:nvSpPr>
        <p:spPr>
          <a:xfrm>
            <a:off x="905256" y="2377440"/>
            <a:ext cx="4937760" cy="685800"/>
          </a:xfrm>
          <a:prstGeom prst="rect">
            <a:avLst/>
          </a:prstGeom>
          <a:noFill/>
          <a:ln/>
        </p:spPr>
        <p:txBody>
          <a:bodyPr wrap="square" lIns="0" tIns="0" rIns="0" bIns="0" rtlCol="0" anchor="t"/>
          <a:lstStyle/>
          <a:p>
            <a:pPr indent="0" marL="0">
              <a:buNone/>
            </a:pPr>
            <a:r>
              <a:rPr lang="en-US" sz="1200" dirty="0">
                <a:solidFill>
                  <a:schemeClr val="accent3"/>
                </a:solidFill>
              </a:rPr>
              <a:t>Krystie built the systems and trains with the company workbook. Quick questions go in the team chat, where everyone responds fast.</a:t>
            </a:r>
            <a:endParaRPr lang="en-US" sz="1200" dirty="0"/>
          </a:p>
        </p:txBody>
      </p:sp>
      <p:sp>
        <p:nvSpPr>
          <p:cNvPr id="9" name="card"/>
          <p:cNvSpPr/>
          <p:nvPr/>
        </p:nvSpPr>
        <p:spPr>
          <a:xfrm>
            <a:off x="630936" y="3246120"/>
            <a:ext cx="5486400" cy="1143000"/>
          </a:xfrm>
          <a:prstGeom prst="roundRect">
            <a:avLst>
              <a:gd name="adj" fmla="val 6400"/>
            </a:avLst>
          </a:prstGeom>
          <a:solidFill>
            <a:schemeClr val="bg2"/>
          </a:solidFill>
          <a:ln/>
        </p:spPr>
      </p:sp>
      <p:sp>
        <p:nvSpPr>
          <p:cNvPr id="10" name="Text 7"/>
          <p:cNvSpPr txBox="1"/>
          <p:nvPr/>
        </p:nvSpPr>
        <p:spPr>
          <a:xfrm>
            <a:off x="905256" y="3383280"/>
            <a:ext cx="493776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WHAT MATTERS MOST</a:t>
            </a:r>
            <a:endParaRPr lang="en-US" sz="1050" dirty="0"/>
          </a:p>
        </p:txBody>
      </p:sp>
      <p:sp>
        <p:nvSpPr>
          <p:cNvPr id="11" name="Text 8"/>
          <p:cNvSpPr txBox="1"/>
          <p:nvPr/>
        </p:nvSpPr>
        <p:spPr>
          <a:xfrm>
            <a:off x="905256" y="3657600"/>
            <a:ext cx="4937760" cy="685800"/>
          </a:xfrm>
          <a:prstGeom prst="rect">
            <a:avLst/>
          </a:prstGeom>
          <a:noFill/>
          <a:ln/>
        </p:spPr>
        <p:txBody>
          <a:bodyPr wrap="square" lIns="0" tIns="0" rIns="0" bIns="0" rtlCol="0" anchor="t"/>
          <a:lstStyle/>
          <a:p>
            <a:pPr indent="0" marL="0">
              <a:buNone/>
            </a:pPr>
            <a:r>
              <a:rPr lang="en-US" sz="1200" dirty="0">
                <a:solidFill>
                  <a:schemeClr val="accent3"/>
                </a:solidFill>
              </a:rPr>
              <a:t>Fast, friendly replies and complete details on every deal. Warm, fun and personal (“Hi lovely”), never stiff or corporate.</a:t>
            </a:r>
            <a:endParaRPr lang="en-US" sz="1200" dirty="0"/>
          </a:p>
        </p:txBody>
      </p:sp>
      <p:sp>
        <p:nvSpPr>
          <p:cNvPr id="12" name="card"/>
          <p:cNvSpPr/>
          <p:nvPr/>
        </p:nvSpPr>
        <p:spPr>
          <a:xfrm>
            <a:off x="630936" y="4526280"/>
            <a:ext cx="5486400" cy="1143000"/>
          </a:xfrm>
          <a:prstGeom prst="roundRect">
            <a:avLst>
              <a:gd name="adj" fmla="val 6400"/>
            </a:avLst>
          </a:prstGeom>
          <a:solidFill>
            <a:schemeClr val="bg2"/>
          </a:solidFill>
          <a:ln/>
        </p:spPr>
      </p:sp>
      <p:sp>
        <p:nvSpPr>
          <p:cNvPr id="13" name="Text 10"/>
          <p:cNvSpPr txBox="1"/>
          <p:nvPr/>
        </p:nvSpPr>
        <p:spPr>
          <a:xfrm>
            <a:off x="905256" y="4663440"/>
            <a:ext cx="493776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WHO GETS WHAT</a:t>
            </a:r>
            <a:endParaRPr lang="en-US" sz="1050" dirty="0"/>
          </a:p>
        </p:txBody>
      </p:sp>
      <p:sp>
        <p:nvSpPr>
          <p:cNvPr id="14" name="Text 11"/>
          <p:cNvSpPr txBox="1"/>
          <p:nvPr/>
        </p:nvSpPr>
        <p:spPr>
          <a:xfrm>
            <a:off x="905256" y="4937760"/>
            <a:ext cx="4937760" cy="685800"/>
          </a:xfrm>
          <a:prstGeom prst="rect">
            <a:avLst/>
          </a:prstGeom>
          <a:noFill/>
          <a:ln/>
        </p:spPr>
        <p:txBody>
          <a:bodyPr wrap="square" lIns="0" tIns="0" rIns="0" bIns="0" rtlCol="0" anchor="t"/>
          <a:lstStyle/>
          <a:p>
            <a:pPr indent="0" marL="0">
              <a:buNone/>
            </a:pPr>
            <a:r>
              <a:rPr lang="en-US" sz="1200" dirty="0">
                <a:solidFill>
                  <a:schemeClr val="accent3"/>
                </a:solidFill>
              </a:rPr>
              <a:t>Styling inquiries go to Belinda, entertainment to Chantel. Krystie takes high-level inquiries, or overflow when the team is at capacity.</a:t>
            </a:r>
            <a:endParaRPr lang="en-US" sz="1200" dirty="0"/>
          </a:p>
        </p:txBody>
      </p:sp>
      <p:sp>
        <p:nvSpPr>
          <p:cNvPr id="15" name="card"/>
          <p:cNvSpPr/>
          <p:nvPr/>
        </p:nvSpPr>
        <p:spPr>
          <a:xfrm>
            <a:off x="6345936" y="1965960"/>
            <a:ext cx="5214823" cy="3703320"/>
          </a:xfrm>
          <a:prstGeom prst="roundRect">
            <a:avLst>
              <a:gd name="adj" fmla="val 1975"/>
            </a:avLst>
          </a:prstGeom>
          <a:solidFill>
            <a:schemeClr val="bg1"/>
          </a:solidFill>
          <a:ln w="12700">
            <a:solidFill>
              <a:schemeClr val="accent5"/>
            </a:solidFill>
            <a:prstDash val="solid"/>
          </a:ln>
        </p:spPr>
      </p:sp>
      <p:sp>
        <p:nvSpPr>
          <p:cNvPr id="16" name="Text 13"/>
          <p:cNvSpPr txBox="1"/>
          <p:nvPr/>
        </p:nvSpPr>
        <p:spPr>
          <a:xfrm>
            <a:off x="6620256" y="2103120"/>
            <a:ext cx="4666183"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COMPLETE TOGETHER IN WEEK 1</a:t>
            </a:r>
            <a:endParaRPr lang="en-US" sz="1050" dirty="0"/>
          </a:p>
        </p:txBody>
      </p:sp>
      <p:sp>
        <p:nvSpPr>
          <p:cNvPr id="17" name="Text 14"/>
          <p:cNvSpPr txBox="1"/>
          <p:nvPr/>
        </p:nvSpPr>
        <p:spPr>
          <a:xfrm>
            <a:off x="6620256" y="2468880"/>
            <a:ext cx="4666183" cy="256032"/>
          </a:xfrm>
          <a:prstGeom prst="rect">
            <a:avLst/>
          </a:prstGeom>
          <a:noFill/>
          <a:ln/>
        </p:spPr>
        <p:txBody>
          <a:bodyPr wrap="square" lIns="0" tIns="0" rIns="0" bIns="0" rtlCol="0" anchor="ctr"/>
          <a:lstStyle/>
          <a:p>
            <a:pPr indent="0" marL="0">
              <a:buNone/>
            </a:pPr>
            <a:r>
              <a:rPr lang="en-US" sz="1150" b="1" dirty="0">
                <a:solidFill>
                  <a:schemeClr val="tx1"/>
                </a:solidFill>
              </a:rPr>
              <a:t>Preferred update format and time of day:</a:t>
            </a:r>
            <a:endParaRPr lang="en-US" sz="1150" dirty="0"/>
          </a:p>
        </p:txBody>
      </p:sp>
      <p:sp>
        <p:nvSpPr>
          <p:cNvPr id="18" name="write line 1"/>
          <p:cNvSpPr/>
          <p:nvPr/>
        </p:nvSpPr>
        <p:spPr>
          <a:xfrm>
            <a:off x="6620256" y="2898648"/>
            <a:ext cx="4666183" cy="0"/>
          </a:xfrm>
          <a:prstGeom prst="line">
            <a:avLst/>
          </a:prstGeom>
          <a:noFill/>
          <a:ln w="12700">
            <a:solidFill>
              <a:schemeClr val="accent5"/>
            </a:solidFill>
            <a:prstDash val="solid"/>
          </a:ln>
        </p:spPr>
      </p:sp>
      <p:sp>
        <p:nvSpPr>
          <p:cNvPr id="19" name="Text 16"/>
          <p:cNvSpPr txBox="1"/>
          <p:nvPr/>
        </p:nvSpPr>
        <p:spPr>
          <a:xfrm>
            <a:off x="6620256" y="2990088"/>
            <a:ext cx="4666183" cy="256032"/>
          </a:xfrm>
          <a:prstGeom prst="rect">
            <a:avLst/>
          </a:prstGeom>
          <a:noFill/>
          <a:ln/>
        </p:spPr>
        <p:txBody>
          <a:bodyPr wrap="square" lIns="0" tIns="0" rIns="0" bIns="0" rtlCol="0" anchor="ctr"/>
          <a:lstStyle/>
          <a:p>
            <a:pPr indent="0" marL="0">
              <a:buNone/>
            </a:pPr>
            <a:r>
              <a:rPr lang="en-US" sz="1150" b="1" dirty="0">
                <a:solidFill>
                  <a:schemeClr val="tx1"/>
                </a:solidFill>
              </a:rPr>
              <a:t>When to interrupt, and when to wait:</a:t>
            </a:r>
            <a:endParaRPr lang="en-US" sz="1150" dirty="0"/>
          </a:p>
        </p:txBody>
      </p:sp>
      <p:sp>
        <p:nvSpPr>
          <p:cNvPr id="20" name="write line 2"/>
          <p:cNvSpPr/>
          <p:nvPr/>
        </p:nvSpPr>
        <p:spPr>
          <a:xfrm>
            <a:off x="6620256" y="3419856"/>
            <a:ext cx="4666183" cy="0"/>
          </a:xfrm>
          <a:prstGeom prst="line">
            <a:avLst/>
          </a:prstGeom>
          <a:noFill/>
          <a:ln w="12700">
            <a:solidFill>
              <a:schemeClr val="accent5"/>
            </a:solidFill>
            <a:prstDash val="solid"/>
          </a:ln>
        </p:spPr>
      </p:sp>
      <p:sp>
        <p:nvSpPr>
          <p:cNvPr id="21" name="Text 18"/>
          <p:cNvSpPr txBox="1"/>
          <p:nvPr/>
        </p:nvSpPr>
        <p:spPr>
          <a:xfrm>
            <a:off x="6620256" y="3511296"/>
            <a:ext cx="4666183" cy="256032"/>
          </a:xfrm>
          <a:prstGeom prst="rect">
            <a:avLst/>
          </a:prstGeom>
          <a:noFill/>
          <a:ln/>
        </p:spPr>
        <p:txBody>
          <a:bodyPr wrap="square" lIns="0" tIns="0" rIns="0" bIns="0" rtlCol="0" anchor="ctr"/>
          <a:lstStyle/>
          <a:p>
            <a:pPr indent="0" marL="0">
              <a:buNone/>
            </a:pPr>
            <a:r>
              <a:rPr lang="en-US" sz="1150" b="1" dirty="0">
                <a:solidFill>
                  <a:schemeClr val="tx1"/>
                </a:solidFill>
              </a:rPr>
              <a:t>Tone and sign-off for client emails:</a:t>
            </a:r>
            <a:endParaRPr lang="en-US" sz="1150" dirty="0"/>
          </a:p>
        </p:txBody>
      </p:sp>
      <p:sp>
        <p:nvSpPr>
          <p:cNvPr id="22" name="write line 3"/>
          <p:cNvSpPr/>
          <p:nvPr/>
        </p:nvSpPr>
        <p:spPr>
          <a:xfrm>
            <a:off x="6620256" y="3941064"/>
            <a:ext cx="4666183" cy="0"/>
          </a:xfrm>
          <a:prstGeom prst="line">
            <a:avLst/>
          </a:prstGeom>
          <a:noFill/>
          <a:ln w="12700">
            <a:solidFill>
              <a:schemeClr val="accent5"/>
            </a:solidFill>
            <a:prstDash val="solid"/>
          </a:ln>
        </p:spPr>
      </p:sp>
      <p:sp>
        <p:nvSpPr>
          <p:cNvPr id="23" name="Text 20"/>
          <p:cNvSpPr txBox="1"/>
          <p:nvPr/>
        </p:nvSpPr>
        <p:spPr>
          <a:xfrm>
            <a:off x="6620256" y="4032504"/>
            <a:ext cx="4666183" cy="256032"/>
          </a:xfrm>
          <a:prstGeom prst="rect">
            <a:avLst/>
          </a:prstGeom>
          <a:noFill/>
          <a:ln/>
        </p:spPr>
        <p:txBody>
          <a:bodyPr wrap="square" lIns="0" tIns="0" rIns="0" bIns="0" rtlCol="0" anchor="ctr"/>
          <a:lstStyle/>
          <a:p>
            <a:pPr indent="0" marL="0">
              <a:buNone/>
            </a:pPr>
            <a:r>
              <a:rPr lang="en-US" sz="1150" b="1" dirty="0">
                <a:solidFill>
                  <a:schemeClr val="tx1"/>
                </a:solidFill>
              </a:rPr>
              <a:t>Decisions the Coordinator can make alone:</a:t>
            </a:r>
            <a:endParaRPr lang="en-US" sz="1150" dirty="0"/>
          </a:p>
        </p:txBody>
      </p:sp>
      <p:sp>
        <p:nvSpPr>
          <p:cNvPr id="24" name="write line 4"/>
          <p:cNvSpPr/>
          <p:nvPr/>
        </p:nvSpPr>
        <p:spPr>
          <a:xfrm>
            <a:off x="6620256" y="4462272"/>
            <a:ext cx="4666183" cy="0"/>
          </a:xfrm>
          <a:prstGeom prst="line">
            <a:avLst/>
          </a:prstGeom>
          <a:noFill/>
          <a:ln w="12700">
            <a:solidFill>
              <a:schemeClr val="accent5"/>
            </a:solidFill>
            <a:prstDash val="solid"/>
          </a:ln>
        </p:spPr>
      </p:sp>
      <p:sp>
        <p:nvSpPr>
          <p:cNvPr id="25" name="Text 22"/>
          <p:cNvSpPr txBox="1"/>
          <p:nvPr/>
        </p:nvSpPr>
        <p:spPr>
          <a:xfrm>
            <a:off x="6620256" y="4553712"/>
            <a:ext cx="4666183" cy="256032"/>
          </a:xfrm>
          <a:prstGeom prst="rect">
            <a:avLst/>
          </a:prstGeom>
          <a:noFill/>
          <a:ln/>
        </p:spPr>
        <p:txBody>
          <a:bodyPr wrap="square" lIns="0" tIns="0" rIns="0" bIns="0" rtlCol="0" anchor="ctr"/>
          <a:lstStyle/>
          <a:p>
            <a:pPr indent="0" marL="0">
              <a:buNone/>
            </a:pPr>
            <a:r>
              <a:rPr lang="en-US" sz="1150" b="1" dirty="0">
                <a:solidFill>
                  <a:schemeClr val="tx1"/>
                </a:solidFill>
              </a:rPr>
              <a:t>Pet peeves and must-nots:</a:t>
            </a:r>
            <a:endParaRPr lang="en-US" sz="1150" dirty="0"/>
          </a:p>
        </p:txBody>
      </p:sp>
      <p:sp>
        <p:nvSpPr>
          <p:cNvPr id="26" name="write line 5"/>
          <p:cNvSpPr/>
          <p:nvPr/>
        </p:nvSpPr>
        <p:spPr>
          <a:xfrm>
            <a:off x="6620256" y="4983480"/>
            <a:ext cx="4666183" cy="0"/>
          </a:xfrm>
          <a:prstGeom prst="line">
            <a:avLst/>
          </a:prstGeom>
          <a:noFill/>
          <a:ln w="12700">
            <a:solidFill>
              <a:schemeClr val="accent5"/>
            </a:solidFill>
            <a:prstDash val="solid"/>
          </a:ln>
        </p:spPr>
      </p:sp>
      <p:sp>
        <p:nvSpPr>
          <p:cNvPr id="27" name="Text 24"/>
          <p:cNvSpPr txBox="1"/>
          <p:nvPr/>
        </p:nvSpPr>
        <p:spPr>
          <a:xfrm>
            <a:off x="6620256" y="5074920"/>
            <a:ext cx="4666183" cy="256032"/>
          </a:xfrm>
          <a:prstGeom prst="rect">
            <a:avLst/>
          </a:prstGeom>
          <a:noFill/>
          <a:ln/>
        </p:spPr>
        <p:txBody>
          <a:bodyPr wrap="square" lIns="0" tIns="0" rIns="0" bIns="0" rtlCol="0" anchor="ctr"/>
          <a:lstStyle/>
          <a:p>
            <a:pPr indent="0" marL="0">
              <a:buNone/>
            </a:pPr>
            <a:r>
              <a:rPr lang="en-US" sz="1150" b="1" dirty="0">
                <a:solidFill>
                  <a:schemeClr val="tx1"/>
                </a:solidFill>
              </a:rPr>
              <a:t>Coordinator’s own goals for the first 6 months:</a:t>
            </a:r>
            <a:endParaRPr lang="en-US" sz="1150" dirty="0"/>
          </a:p>
        </p:txBody>
      </p:sp>
      <p:sp>
        <p:nvSpPr>
          <p:cNvPr id="28" name="write line 6"/>
          <p:cNvSpPr/>
          <p:nvPr/>
        </p:nvSpPr>
        <p:spPr>
          <a:xfrm>
            <a:off x="6620256" y="5504688"/>
            <a:ext cx="4666183" cy="0"/>
          </a:xfrm>
          <a:prstGeom prst="line">
            <a:avLst/>
          </a:prstGeom>
          <a:noFill/>
          <a:ln w="12700">
            <a:solidFill>
              <a:schemeClr val="accent5"/>
            </a:solidFill>
            <a:prstDash val="solid"/>
          </a:ln>
        </p:spPr>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05</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Freedom Scorecard</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Are we delivering what we promised? Fill this in at every milestone review.</a:t>
            </a:r>
            <a:endParaRPr lang="en-US" sz="13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30936" y="1965960"/>
          <a:ext cx="10929823" cy="914400"/>
        </p:xfrm>
        <a:graphic>
          <a:graphicData uri="http://schemas.openxmlformats.org/drawingml/2006/table">
            <a:tbl>
              <a:tblPr/>
              <a:tblGrid>
                <a:gridCol w="3474720"/>
                <a:gridCol w="1600200"/>
                <a:gridCol w="1234440"/>
                <a:gridCol w="1234440"/>
                <a:gridCol w="1234440"/>
                <a:gridCol w="2148840"/>
              </a:tblGrid>
              <a:tr h="50292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MEASURE</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START</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DAY 30</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DAY 90</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MONTH 6</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MONTH 12</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r>
              <a:tr h="50292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New inquiries answered within the hour (%)</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To confirm</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Inquiry admin the creative team still does</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All</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50292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Deals missing details at handover</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To confirm</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Freedom Stage (1–5)</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1 · Task Delegator</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Target: 3</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Target: 5</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50292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Coordinator self-rating (1–5)</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n/a</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Krystie’s satisfaction (1–5)</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n/a</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bl>
          </a:graphicData>
        </a:graphic>
      </p:graphicFrame>
      <p:sp>
        <p:nvSpPr>
          <p:cNvPr id="6" name="callout"/>
          <p:cNvSpPr/>
          <p:nvPr/>
        </p:nvSpPr>
        <p:spPr>
          <a:xfrm>
            <a:off x="630936" y="5486400"/>
            <a:ext cx="10929823" cy="594360"/>
          </a:xfrm>
          <a:prstGeom prst="roundRect">
            <a:avLst>
              <a:gd name="adj" fmla="val 12308"/>
            </a:avLst>
          </a:prstGeom>
          <a:solidFill>
            <a:schemeClr val="accent4"/>
          </a:solidFill>
          <a:ln/>
        </p:spPr>
      </p:sp>
      <p:sp>
        <p:nvSpPr>
          <p:cNvPr id="7" name="Text 4"/>
          <p:cNvSpPr txBox="1"/>
          <p:nvPr/>
        </p:nvSpPr>
        <p:spPr>
          <a:xfrm>
            <a:off x="859536" y="5486400"/>
            <a:ext cx="10472623" cy="594360"/>
          </a:xfrm>
          <a:prstGeom prst="rect">
            <a:avLst/>
          </a:prstGeom>
          <a:noFill/>
          <a:ln/>
        </p:spPr>
        <p:txBody>
          <a:bodyPr wrap="square" lIns="0" tIns="0" rIns="0" bIns="0" rtlCol="0" anchor="ctr"/>
          <a:lstStyle/>
          <a:p>
            <a:pPr indent="0" marL="0">
              <a:buNone/>
            </a:pPr>
            <a:r>
              <a:rPr lang="en-US" sz="1250" b="1" dirty="0">
                <a:solidFill>
                  <a:schemeClr val="accent1"/>
                </a:solidFill>
              </a:rPr>
              <a:t>The goal isn’t just a busy Coordinator. It’s Belinda, Chantel and Krystie free to create, with every inquiry, booking and invoice handled.</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06</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Skills &amp; Readiness Checklist</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Rate each skill at every milestone: NT = Needs Training · D = Developing · C = Confident.</a:t>
            </a:r>
            <a:endParaRPr lang="en-US" sz="13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30936" y="1920240"/>
          <a:ext cx="10929823" cy="914400"/>
        </p:xfrm>
        <a:graphic>
          <a:graphicData uri="http://schemas.openxmlformats.org/drawingml/2006/table">
            <a:tbl>
              <a:tblPr/>
              <a:tblGrid>
                <a:gridCol w="5120640"/>
                <a:gridCol w="1234440"/>
                <a:gridCol w="1143000"/>
                <a:gridCol w="1143000"/>
                <a:gridCol w="1143000"/>
                <a:gridCol w="1143000"/>
              </a:tblGrid>
              <a:tr h="41148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SKILL</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AREA</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DAY 30</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DAY 90</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MONTH 6</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MONTH 12</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r>
              <a:tr h="41148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Replying to inquiries warmly using the templates</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100" dirty="0">
                          <a:solidFill>
                            <a:srgbClr val="6B7684"/>
                          </a:solidFill>
                          <a:latin typeface="Calibri" pitchFamily="34" charset="0"/>
                          <a:ea typeface="Calibri" pitchFamily="34" charset="-122"/>
                          <a:cs typeface="Calibri" pitchFamily="34" charset="-120"/>
                        </a:rPr>
                        <a:t>Inquiries</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1148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Screening for date, time, venue, service and guests</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100" dirty="0">
                          <a:solidFill>
                            <a:srgbClr val="6B7684"/>
                          </a:solidFill>
                          <a:latin typeface="Calibri" pitchFamily="34" charset="0"/>
                          <a:ea typeface="Calibri" pitchFamily="34" charset="-122"/>
                          <a:cs typeface="Calibri" pitchFamily="34" charset="-120"/>
                        </a:rPr>
                        <a:t>Inquiries</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41148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Creating and updating deals in Pipedrive</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100" dirty="0">
                          <a:solidFill>
                            <a:srgbClr val="6B7684"/>
                          </a:solidFill>
                          <a:latin typeface="Calibri" pitchFamily="34" charset="0"/>
                          <a:ea typeface="Calibri" pitchFamily="34" charset="-122"/>
                          <a:cs typeface="Calibri" pitchFamily="34" charset="-120"/>
                        </a:rPr>
                        <a:t>Pipedrive</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1148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Assigning deals by service and team capacity</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100" dirty="0">
                          <a:solidFill>
                            <a:srgbClr val="6B7684"/>
                          </a:solidFill>
                          <a:latin typeface="Calibri" pitchFamily="34" charset="0"/>
                          <a:ea typeface="Calibri" pitchFamily="34" charset="-122"/>
                          <a:cs typeface="Calibri" pitchFamily="34" charset="-120"/>
                        </a:rPr>
                        <a:t>Pipedrive</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41148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Running the 3-day follow-up rule</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100" dirty="0">
                          <a:solidFill>
                            <a:srgbClr val="6B7684"/>
                          </a:solidFill>
                          <a:latin typeface="Calibri" pitchFamily="34" charset="0"/>
                          <a:ea typeface="Calibri" pitchFamily="34" charset="-122"/>
                          <a:cs typeface="Calibri" pitchFamily="34" charset="-120"/>
                        </a:rPr>
                        <a:t>Follow-up</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1148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Sending supplier and artist calendar invites</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100" dirty="0">
                          <a:solidFill>
                            <a:srgbClr val="6B7684"/>
                          </a:solidFill>
                          <a:latin typeface="Calibri" pitchFamily="34" charset="0"/>
                          <a:ea typeface="Calibri" pitchFamily="34" charset="-122"/>
                          <a:cs typeface="Calibri" pitchFamily="34" charset="-120"/>
                        </a:rPr>
                        <a:t>Bookings</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41148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Generating and sending client invoices</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100" dirty="0">
                          <a:solidFill>
                            <a:srgbClr val="6B7684"/>
                          </a:solidFill>
                          <a:latin typeface="Calibri" pitchFamily="34" charset="0"/>
                          <a:ea typeface="Calibri" pitchFamily="34" charset="-122"/>
                          <a:cs typeface="Calibri" pitchFamily="34" charset="-120"/>
                        </a:rPr>
                        <a:t>Invoicing</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1148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Following up unpaid invoices before events</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100" dirty="0">
                          <a:solidFill>
                            <a:srgbClr val="6B7684"/>
                          </a:solidFill>
                          <a:latin typeface="Calibri" pitchFamily="34" charset="0"/>
                          <a:ea typeface="Calibri" pitchFamily="34" charset="-122"/>
                          <a:cs typeface="Calibri" pitchFamily="34" charset="-120"/>
                        </a:rPr>
                        <a:t>Invoicing</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41148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Sending pricing brochures for set packages</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100" dirty="0">
                          <a:solidFill>
                            <a:srgbClr val="6B7684"/>
                          </a:solidFill>
                          <a:latin typeface="Calibri" pitchFamily="34" charset="0"/>
                          <a:ea typeface="Calibri" pitchFamily="34" charset="-122"/>
                          <a:cs typeface="Calibri" pitchFamily="34" charset="-120"/>
                        </a:rPr>
                        <a:t>Quotes</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07  ·  DEFINE</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Success Metrics (KPIs)</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What “good” looks like for this role, and exactly how to check it.</a:t>
            </a:r>
            <a:endParaRPr lang="en-US" sz="1300" dirty="0"/>
          </a:p>
        </p:txBody>
      </p:sp>
      <p:sp>
        <p:nvSpPr>
          <p:cNvPr id="5" name="card"/>
          <p:cNvSpPr/>
          <p:nvPr/>
        </p:nvSpPr>
        <p:spPr>
          <a:xfrm>
            <a:off x="630936" y="1920240"/>
            <a:ext cx="5373472" cy="1965960"/>
          </a:xfrm>
          <a:prstGeom prst="roundRect">
            <a:avLst>
              <a:gd name="adj" fmla="val 3721"/>
            </a:avLst>
          </a:prstGeom>
          <a:solidFill>
            <a:schemeClr val="bg1"/>
          </a:solidFill>
          <a:ln w="12700">
            <a:solidFill>
              <a:schemeClr val="accent5"/>
            </a:solidFill>
            <a:prstDash val="solid"/>
          </a:ln>
        </p:spPr>
      </p:sp>
      <p:sp>
        <p:nvSpPr>
          <p:cNvPr id="6" name="number 1"/>
          <p:cNvSpPr/>
          <p:nvPr/>
        </p:nvSpPr>
        <p:spPr>
          <a:xfrm>
            <a:off x="905256" y="2148840"/>
            <a:ext cx="384048" cy="384048"/>
          </a:xfrm>
          <a:prstGeom prst="ellipse">
            <a:avLst/>
          </a:prstGeom>
          <a:solidFill>
            <a:schemeClr val="accent1"/>
          </a:solidFill>
          <a:ln/>
        </p:spPr>
      </p:sp>
      <p:sp>
        <p:nvSpPr>
          <p:cNvPr id="7" name="Text 5"/>
          <p:cNvSpPr txBox="1"/>
          <p:nvPr/>
        </p:nvSpPr>
        <p:spPr>
          <a:xfrm>
            <a:off x="905256" y="214884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8" name="Text 6"/>
          <p:cNvSpPr txBox="1"/>
          <p:nvPr/>
        </p:nvSpPr>
        <p:spPr>
          <a:xfrm>
            <a:off x="1453896" y="2148840"/>
            <a:ext cx="4276192" cy="384048"/>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Speed to Inquiry</a:t>
            </a:r>
            <a:endParaRPr lang="en-US" sz="1500" dirty="0"/>
          </a:p>
        </p:txBody>
      </p:sp>
      <p:sp>
        <p:nvSpPr>
          <p:cNvPr id="9" name="Text 7"/>
          <p:cNvSpPr txBox="1"/>
          <p:nvPr/>
        </p:nvSpPr>
        <p:spPr>
          <a:xfrm>
            <a:off x="905256" y="2651760"/>
            <a:ext cx="4824832" cy="594360"/>
          </a:xfrm>
          <a:prstGeom prst="rect">
            <a:avLst/>
          </a:prstGeom>
          <a:noFill/>
          <a:ln/>
        </p:spPr>
        <p:txBody>
          <a:bodyPr wrap="square" lIns="0" tIns="0" rIns="0" bIns="0" rtlCol="0" anchor="t"/>
          <a:lstStyle/>
          <a:p>
            <a:pPr indent="0" marL="0">
              <a:buNone/>
            </a:pPr>
            <a:r>
              <a:rPr lang="en-US" sz="1200" dirty="0">
                <a:solidFill>
                  <a:schemeClr val="accent3"/>
                </a:solidFill>
              </a:rPr>
              <a:t>Every new inquiry answered within the hour, and always the same day.</a:t>
            </a:r>
            <a:endParaRPr lang="en-US" sz="1200" dirty="0"/>
          </a:p>
        </p:txBody>
      </p:sp>
      <p:sp>
        <p:nvSpPr>
          <p:cNvPr id="10" name="card"/>
          <p:cNvSpPr/>
          <p:nvPr/>
        </p:nvSpPr>
        <p:spPr>
          <a:xfrm>
            <a:off x="905256" y="3291840"/>
            <a:ext cx="4824832" cy="411480"/>
          </a:xfrm>
          <a:prstGeom prst="roundRect">
            <a:avLst>
              <a:gd name="adj" fmla="val 17778"/>
            </a:avLst>
          </a:prstGeom>
          <a:solidFill>
            <a:schemeClr val="accent4"/>
          </a:solidFill>
          <a:ln/>
        </p:spPr>
      </p:sp>
      <p:sp>
        <p:nvSpPr>
          <p:cNvPr id="11" name="Text 9"/>
          <p:cNvSpPr txBox="1"/>
          <p:nvPr/>
        </p:nvSpPr>
        <p:spPr>
          <a:xfrm>
            <a:off x="1042416" y="3291840"/>
            <a:ext cx="4550512" cy="411480"/>
          </a:xfrm>
          <a:prstGeom prst="rect">
            <a:avLst/>
          </a:prstGeom>
          <a:noFill/>
          <a:ln/>
        </p:spPr>
        <p:txBody>
          <a:bodyPr wrap="square" lIns="0" tIns="0" rIns="0" bIns="0" rtlCol="0" anchor="ctr"/>
          <a:lstStyle/>
          <a:p>
            <a:pPr indent="0" marL="0">
              <a:buNone/>
            </a:pPr>
            <a:r>
              <a:rPr lang="en-US" sz="1150" b="1" dirty="0">
                <a:solidFill>
                  <a:schemeClr val="accent1"/>
                </a:solidFill>
              </a:rPr>
              <a:t>Ask: “Which inquiries are still waiting?”</a:t>
            </a:r>
            <a:endParaRPr lang="en-US" sz="1150" dirty="0"/>
          </a:p>
        </p:txBody>
      </p:sp>
      <p:sp>
        <p:nvSpPr>
          <p:cNvPr id="12" name="card"/>
          <p:cNvSpPr/>
          <p:nvPr/>
        </p:nvSpPr>
        <p:spPr>
          <a:xfrm>
            <a:off x="6187288" y="1920240"/>
            <a:ext cx="5373472" cy="1965960"/>
          </a:xfrm>
          <a:prstGeom prst="roundRect">
            <a:avLst>
              <a:gd name="adj" fmla="val 3721"/>
            </a:avLst>
          </a:prstGeom>
          <a:solidFill>
            <a:schemeClr val="bg1"/>
          </a:solidFill>
          <a:ln w="12700">
            <a:solidFill>
              <a:schemeClr val="accent5"/>
            </a:solidFill>
            <a:prstDash val="solid"/>
          </a:ln>
        </p:spPr>
      </p:sp>
      <p:sp>
        <p:nvSpPr>
          <p:cNvPr id="13" name="number 2"/>
          <p:cNvSpPr/>
          <p:nvPr/>
        </p:nvSpPr>
        <p:spPr>
          <a:xfrm>
            <a:off x="6461608" y="2148840"/>
            <a:ext cx="384048" cy="384048"/>
          </a:xfrm>
          <a:prstGeom prst="ellipse">
            <a:avLst/>
          </a:prstGeom>
          <a:solidFill>
            <a:schemeClr val="accent1"/>
          </a:solidFill>
          <a:ln/>
        </p:spPr>
      </p:sp>
      <p:sp>
        <p:nvSpPr>
          <p:cNvPr id="14" name="Text 12"/>
          <p:cNvSpPr txBox="1"/>
          <p:nvPr/>
        </p:nvSpPr>
        <p:spPr>
          <a:xfrm>
            <a:off x="6461608" y="214884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5" name="Text 13"/>
          <p:cNvSpPr txBox="1"/>
          <p:nvPr/>
        </p:nvSpPr>
        <p:spPr>
          <a:xfrm>
            <a:off x="7010248" y="2148840"/>
            <a:ext cx="4276192" cy="384048"/>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Complete Deal Details</a:t>
            </a:r>
            <a:endParaRPr lang="en-US" sz="1500" dirty="0"/>
          </a:p>
        </p:txBody>
      </p:sp>
      <p:sp>
        <p:nvSpPr>
          <p:cNvPr id="16" name="Text 14"/>
          <p:cNvSpPr txBox="1"/>
          <p:nvPr/>
        </p:nvSpPr>
        <p:spPr>
          <a:xfrm>
            <a:off x="6461608" y="2651760"/>
            <a:ext cx="4824832" cy="594360"/>
          </a:xfrm>
          <a:prstGeom prst="rect">
            <a:avLst/>
          </a:prstGeom>
          <a:noFill/>
          <a:ln/>
        </p:spPr>
        <p:txBody>
          <a:bodyPr wrap="square" lIns="0" tIns="0" rIns="0" bIns="0" rtlCol="0" anchor="t"/>
          <a:lstStyle/>
          <a:p>
            <a:pPr indent="0" marL="0">
              <a:buNone/>
            </a:pPr>
            <a:r>
              <a:rPr lang="en-US" sz="1200" dirty="0">
                <a:solidFill>
                  <a:schemeClr val="accent3"/>
                </a:solidFill>
              </a:rPr>
              <a:t>Date, time, location, service, guests and event type on every deal.</a:t>
            </a:r>
            <a:endParaRPr lang="en-US" sz="1200" dirty="0"/>
          </a:p>
        </p:txBody>
      </p:sp>
      <p:sp>
        <p:nvSpPr>
          <p:cNvPr id="17" name="card"/>
          <p:cNvSpPr/>
          <p:nvPr/>
        </p:nvSpPr>
        <p:spPr>
          <a:xfrm>
            <a:off x="6461608" y="3291840"/>
            <a:ext cx="4824832" cy="411480"/>
          </a:xfrm>
          <a:prstGeom prst="roundRect">
            <a:avLst>
              <a:gd name="adj" fmla="val 17778"/>
            </a:avLst>
          </a:prstGeom>
          <a:solidFill>
            <a:schemeClr val="accent4"/>
          </a:solidFill>
          <a:ln/>
        </p:spPr>
      </p:sp>
      <p:sp>
        <p:nvSpPr>
          <p:cNvPr id="18" name="Text 16"/>
          <p:cNvSpPr txBox="1"/>
          <p:nvPr/>
        </p:nvSpPr>
        <p:spPr>
          <a:xfrm>
            <a:off x="6598768" y="3291840"/>
            <a:ext cx="4550512" cy="411480"/>
          </a:xfrm>
          <a:prstGeom prst="rect">
            <a:avLst/>
          </a:prstGeom>
          <a:noFill/>
          <a:ln/>
        </p:spPr>
        <p:txBody>
          <a:bodyPr wrap="square" lIns="0" tIns="0" rIns="0" bIns="0" rtlCol="0" anchor="ctr"/>
          <a:lstStyle/>
          <a:p>
            <a:pPr indent="0" marL="0">
              <a:buNone/>
            </a:pPr>
            <a:r>
              <a:rPr lang="en-US" sz="1150" b="1" dirty="0">
                <a:solidFill>
                  <a:schemeClr val="accent1"/>
                </a:solidFill>
              </a:rPr>
              <a:t>Ask: “Which deals are missing details?”</a:t>
            </a:r>
            <a:endParaRPr lang="en-US" sz="1150" dirty="0"/>
          </a:p>
        </p:txBody>
      </p:sp>
      <p:sp>
        <p:nvSpPr>
          <p:cNvPr id="19" name="card"/>
          <p:cNvSpPr/>
          <p:nvPr/>
        </p:nvSpPr>
        <p:spPr>
          <a:xfrm>
            <a:off x="630936" y="4069080"/>
            <a:ext cx="5373472" cy="1965960"/>
          </a:xfrm>
          <a:prstGeom prst="roundRect">
            <a:avLst>
              <a:gd name="adj" fmla="val 3721"/>
            </a:avLst>
          </a:prstGeom>
          <a:solidFill>
            <a:schemeClr val="bg1"/>
          </a:solidFill>
          <a:ln w="12700">
            <a:solidFill>
              <a:schemeClr val="accent5"/>
            </a:solidFill>
            <a:prstDash val="solid"/>
          </a:ln>
        </p:spPr>
      </p:sp>
      <p:sp>
        <p:nvSpPr>
          <p:cNvPr id="20" name="number 3"/>
          <p:cNvSpPr/>
          <p:nvPr/>
        </p:nvSpPr>
        <p:spPr>
          <a:xfrm>
            <a:off x="905256" y="4297680"/>
            <a:ext cx="384048" cy="384048"/>
          </a:xfrm>
          <a:prstGeom prst="ellipse">
            <a:avLst/>
          </a:prstGeom>
          <a:solidFill>
            <a:schemeClr val="accent1"/>
          </a:solidFill>
          <a:ln/>
        </p:spPr>
      </p:sp>
      <p:sp>
        <p:nvSpPr>
          <p:cNvPr id="21" name="Text 19"/>
          <p:cNvSpPr txBox="1"/>
          <p:nvPr/>
        </p:nvSpPr>
        <p:spPr>
          <a:xfrm>
            <a:off x="905256" y="429768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2" name="Text 20"/>
          <p:cNvSpPr txBox="1"/>
          <p:nvPr/>
        </p:nvSpPr>
        <p:spPr>
          <a:xfrm>
            <a:off x="1453896" y="4297680"/>
            <a:ext cx="4276192" cy="384048"/>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Follow-Up Discipline</a:t>
            </a:r>
            <a:endParaRPr lang="en-US" sz="1500" dirty="0"/>
          </a:p>
        </p:txBody>
      </p:sp>
      <p:sp>
        <p:nvSpPr>
          <p:cNvPr id="23" name="Text 21"/>
          <p:cNvSpPr txBox="1"/>
          <p:nvPr/>
        </p:nvSpPr>
        <p:spPr>
          <a:xfrm>
            <a:off x="905256" y="4800600"/>
            <a:ext cx="4824832" cy="594360"/>
          </a:xfrm>
          <a:prstGeom prst="rect">
            <a:avLst/>
          </a:prstGeom>
          <a:noFill/>
          <a:ln/>
        </p:spPr>
        <p:txBody>
          <a:bodyPr wrap="square" lIns="0" tIns="0" rIns="0" bIns="0" rtlCol="0" anchor="t"/>
          <a:lstStyle/>
          <a:p>
            <a:pPr indent="0" marL="0">
              <a:buNone/>
            </a:pPr>
            <a:r>
              <a:rPr lang="en-US" sz="1200" dirty="0">
                <a:solidFill>
                  <a:schemeClr val="accent3"/>
                </a:solidFill>
              </a:rPr>
              <a:t>Unresponsive leads followed up on day 3 and day 6, then closed.</a:t>
            </a:r>
            <a:endParaRPr lang="en-US" sz="1200" dirty="0"/>
          </a:p>
        </p:txBody>
      </p:sp>
      <p:sp>
        <p:nvSpPr>
          <p:cNvPr id="24" name="card"/>
          <p:cNvSpPr/>
          <p:nvPr/>
        </p:nvSpPr>
        <p:spPr>
          <a:xfrm>
            <a:off x="905256" y="5440680"/>
            <a:ext cx="4824832" cy="411480"/>
          </a:xfrm>
          <a:prstGeom prst="roundRect">
            <a:avLst>
              <a:gd name="adj" fmla="val 17778"/>
            </a:avLst>
          </a:prstGeom>
          <a:solidFill>
            <a:schemeClr val="accent4"/>
          </a:solidFill>
          <a:ln/>
        </p:spPr>
      </p:sp>
      <p:sp>
        <p:nvSpPr>
          <p:cNvPr id="25" name="Text 23"/>
          <p:cNvSpPr txBox="1"/>
          <p:nvPr/>
        </p:nvSpPr>
        <p:spPr>
          <a:xfrm>
            <a:off x="1042416" y="5440680"/>
            <a:ext cx="4550512" cy="411480"/>
          </a:xfrm>
          <a:prstGeom prst="rect">
            <a:avLst/>
          </a:prstGeom>
          <a:noFill/>
          <a:ln/>
        </p:spPr>
        <p:txBody>
          <a:bodyPr wrap="square" lIns="0" tIns="0" rIns="0" bIns="0" rtlCol="0" anchor="ctr"/>
          <a:lstStyle/>
          <a:p>
            <a:pPr indent="0" marL="0">
              <a:buNone/>
            </a:pPr>
            <a:r>
              <a:rPr lang="en-US" sz="1150" b="1" dirty="0">
                <a:solidFill>
                  <a:schemeClr val="accent1"/>
                </a:solidFill>
              </a:rPr>
              <a:t>Ask: “Which leads are due a follow-up?”</a:t>
            </a:r>
            <a:endParaRPr lang="en-US" sz="1150" dirty="0"/>
          </a:p>
        </p:txBody>
      </p:sp>
      <p:sp>
        <p:nvSpPr>
          <p:cNvPr id="26" name="card"/>
          <p:cNvSpPr/>
          <p:nvPr/>
        </p:nvSpPr>
        <p:spPr>
          <a:xfrm>
            <a:off x="6187288" y="4069080"/>
            <a:ext cx="5373472" cy="1965960"/>
          </a:xfrm>
          <a:prstGeom prst="roundRect">
            <a:avLst>
              <a:gd name="adj" fmla="val 3721"/>
            </a:avLst>
          </a:prstGeom>
          <a:solidFill>
            <a:schemeClr val="bg1"/>
          </a:solidFill>
          <a:ln w="12700">
            <a:solidFill>
              <a:schemeClr val="accent5"/>
            </a:solidFill>
            <a:prstDash val="solid"/>
          </a:ln>
        </p:spPr>
      </p:sp>
      <p:sp>
        <p:nvSpPr>
          <p:cNvPr id="27" name="number 4"/>
          <p:cNvSpPr/>
          <p:nvPr/>
        </p:nvSpPr>
        <p:spPr>
          <a:xfrm>
            <a:off x="6461608" y="4297680"/>
            <a:ext cx="384048" cy="384048"/>
          </a:xfrm>
          <a:prstGeom prst="ellipse">
            <a:avLst/>
          </a:prstGeom>
          <a:solidFill>
            <a:schemeClr val="accent1"/>
          </a:solidFill>
          <a:ln/>
        </p:spPr>
      </p:sp>
      <p:sp>
        <p:nvSpPr>
          <p:cNvPr id="28" name="Text 26"/>
          <p:cNvSpPr txBox="1"/>
          <p:nvPr/>
        </p:nvSpPr>
        <p:spPr>
          <a:xfrm>
            <a:off x="6461608" y="429768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9" name="Text 27"/>
          <p:cNvSpPr txBox="1"/>
          <p:nvPr/>
        </p:nvSpPr>
        <p:spPr>
          <a:xfrm>
            <a:off x="7010248" y="4297680"/>
            <a:ext cx="4276192" cy="384048"/>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Bookings &amp; Payments</a:t>
            </a:r>
            <a:endParaRPr lang="en-US" sz="1500" dirty="0"/>
          </a:p>
        </p:txBody>
      </p:sp>
      <p:sp>
        <p:nvSpPr>
          <p:cNvPr id="30" name="Text 28"/>
          <p:cNvSpPr txBox="1"/>
          <p:nvPr/>
        </p:nvSpPr>
        <p:spPr>
          <a:xfrm>
            <a:off x="6461608" y="4800600"/>
            <a:ext cx="4824832" cy="594360"/>
          </a:xfrm>
          <a:prstGeom prst="rect">
            <a:avLst/>
          </a:prstGeom>
          <a:noFill/>
          <a:ln/>
        </p:spPr>
        <p:txBody>
          <a:bodyPr wrap="square" lIns="0" tIns="0" rIns="0" bIns="0" rtlCol="0" anchor="t"/>
          <a:lstStyle/>
          <a:p>
            <a:pPr indent="0" marL="0">
              <a:buNone/>
            </a:pPr>
            <a:r>
              <a:rPr lang="en-US" sz="1200" dirty="0">
                <a:solidFill>
                  <a:schemeClr val="accent3"/>
                </a:solidFill>
              </a:rPr>
              <a:t>Invites sent once suppliers confirm; unpaid invoices chased before events.</a:t>
            </a:r>
            <a:endParaRPr lang="en-US" sz="1200" dirty="0"/>
          </a:p>
        </p:txBody>
      </p:sp>
      <p:sp>
        <p:nvSpPr>
          <p:cNvPr id="31" name="card"/>
          <p:cNvSpPr/>
          <p:nvPr/>
        </p:nvSpPr>
        <p:spPr>
          <a:xfrm>
            <a:off x="6461608" y="5440680"/>
            <a:ext cx="4824832" cy="411480"/>
          </a:xfrm>
          <a:prstGeom prst="roundRect">
            <a:avLst>
              <a:gd name="adj" fmla="val 17778"/>
            </a:avLst>
          </a:prstGeom>
          <a:solidFill>
            <a:schemeClr val="accent4"/>
          </a:solidFill>
          <a:ln/>
        </p:spPr>
      </p:sp>
      <p:sp>
        <p:nvSpPr>
          <p:cNvPr id="32" name="Text 30"/>
          <p:cNvSpPr txBox="1"/>
          <p:nvPr/>
        </p:nvSpPr>
        <p:spPr>
          <a:xfrm>
            <a:off x="6598768" y="5440680"/>
            <a:ext cx="4550512" cy="411480"/>
          </a:xfrm>
          <a:prstGeom prst="rect">
            <a:avLst/>
          </a:prstGeom>
          <a:noFill/>
          <a:ln/>
        </p:spPr>
        <p:txBody>
          <a:bodyPr wrap="square" lIns="0" tIns="0" rIns="0" bIns="0" rtlCol="0" anchor="ctr"/>
          <a:lstStyle/>
          <a:p>
            <a:pPr indent="0" marL="0">
              <a:buNone/>
            </a:pPr>
            <a:r>
              <a:rPr lang="en-US" sz="1150" b="1" dirty="0">
                <a:solidFill>
                  <a:schemeClr val="accent1"/>
                </a:solidFill>
              </a:rPr>
              <a:t>Ask: “Which events next week aren’t paid?”</a:t>
            </a:r>
            <a:endParaRPr lang="en-US" sz="11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08</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Monthly KPI Check-In</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Go through this with your Coordinator once a month. Mark each KPI ✓ Met or ✗ Not yet.</a:t>
            </a:r>
            <a:endParaRPr lang="en-US" sz="13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30936" y="1965960"/>
          <a:ext cx="10929823" cy="914400"/>
        </p:xfrm>
        <a:graphic>
          <a:graphicData uri="http://schemas.openxmlformats.org/drawingml/2006/table">
            <a:tbl>
              <a:tblPr/>
              <a:tblGrid>
                <a:gridCol w="3246120"/>
                <a:gridCol w="621792"/>
                <a:gridCol w="621792"/>
                <a:gridCol w="621792"/>
                <a:gridCol w="621792"/>
                <a:gridCol w="621792"/>
                <a:gridCol w="621792"/>
                <a:gridCol w="621792"/>
                <a:gridCol w="621792"/>
                <a:gridCol w="621792"/>
                <a:gridCol w="621792"/>
                <a:gridCol w="621792"/>
                <a:gridCol w="621792"/>
              </a:tblGrid>
              <a:tr h="56692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KPI</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M1</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M2</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M3</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M4</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M5</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M6</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M7</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M8</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M9</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M10</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M11</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M12</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r>
              <a:tr h="566928">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Speed to Inquiry</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Complete Deal Details</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566928">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Follow-Up Discipline</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Bookings &amp; Payments</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bl>
          </a:graphicData>
        </a:graphic>
      </p:graphicFrame>
      <p:sp>
        <p:nvSpPr>
          <p:cNvPr id="6" name="callout"/>
          <p:cNvSpPr/>
          <p:nvPr/>
        </p:nvSpPr>
        <p:spPr>
          <a:xfrm>
            <a:off x="630936" y="5120640"/>
            <a:ext cx="10929823" cy="548640"/>
          </a:xfrm>
          <a:prstGeom prst="roundRect">
            <a:avLst>
              <a:gd name="adj" fmla="val 13333"/>
            </a:avLst>
          </a:prstGeom>
          <a:solidFill>
            <a:schemeClr val="accent4"/>
          </a:solidFill>
          <a:ln/>
        </p:spPr>
      </p:sp>
      <p:sp>
        <p:nvSpPr>
          <p:cNvPr id="7" name="Text 4"/>
          <p:cNvSpPr txBox="1"/>
          <p:nvPr/>
        </p:nvSpPr>
        <p:spPr>
          <a:xfrm>
            <a:off x="859536" y="5120640"/>
            <a:ext cx="10472623" cy="548640"/>
          </a:xfrm>
          <a:prstGeom prst="rect">
            <a:avLst/>
          </a:prstGeom>
          <a:noFill/>
          <a:ln/>
        </p:spPr>
        <p:txBody>
          <a:bodyPr wrap="square" lIns="0" tIns="0" rIns="0" bIns="0" rtlCol="0" anchor="ctr"/>
          <a:lstStyle/>
          <a:p>
            <a:pPr indent="0" marL="0">
              <a:buNone/>
            </a:pPr>
            <a:r>
              <a:rPr lang="en-US" sz="1250" b="1" dirty="0">
                <a:solidFill>
                  <a:schemeClr val="accent1"/>
                </a:solidFill>
              </a:rPr>
              <a:t>Two “Not yet” months in a row? Raise it with your project manager, and we’ll help you adjust the plan.</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09</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Delegation List: Now and Next</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A running list of what comes off the team’s plate. Move items across at each review, and add new ones any time.</a:t>
            </a:r>
            <a:endParaRPr lang="en-US" sz="1300" dirty="0"/>
          </a:p>
        </p:txBody>
      </p:sp>
      <p:sp>
        <p:nvSpPr>
          <p:cNvPr id="5" name="card"/>
          <p:cNvSpPr/>
          <p:nvPr/>
        </p:nvSpPr>
        <p:spPr>
          <a:xfrm>
            <a:off x="630936" y="1920240"/>
            <a:ext cx="3521354" cy="3246120"/>
          </a:xfrm>
          <a:prstGeom prst="roundRect">
            <a:avLst>
              <a:gd name="adj" fmla="val 2254"/>
            </a:avLst>
          </a:prstGeom>
          <a:solidFill>
            <a:schemeClr val="accent4"/>
          </a:solidFill>
          <a:ln/>
        </p:spPr>
      </p:sp>
      <p:sp>
        <p:nvSpPr>
          <p:cNvPr id="6" name="Text 4"/>
          <p:cNvSpPr txBox="1"/>
          <p:nvPr/>
        </p:nvSpPr>
        <p:spPr>
          <a:xfrm>
            <a:off x="905256" y="210312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DELEGATED</a:t>
            </a:r>
            <a:endParaRPr lang="en-US" sz="1050" dirty="0"/>
          </a:p>
        </p:txBody>
      </p:sp>
      <p:sp>
        <p:nvSpPr>
          <p:cNvPr id="7" name="card"/>
          <p:cNvSpPr/>
          <p:nvPr/>
        </p:nvSpPr>
        <p:spPr>
          <a:xfrm>
            <a:off x="859536" y="2468880"/>
            <a:ext cx="3064154" cy="512064"/>
          </a:xfrm>
          <a:prstGeom prst="roundRect">
            <a:avLst>
              <a:gd name="adj" fmla="val 14286"/>
            </a:avLst>
          </a:prstGeom>
          <a:solidFill>
            <a:schemeClr val="bg1"/>
          </a:solidFill>
          <a:ln w="12700">
            <a:solidFill>
              <a:schemeClr val="accent5"/>
            </a:solidFill>
            <a:prstDash val="solid"/>
          </a:ln>
        </p:spPr>
      </p:sp>
      <p:sp>
        <p:nvSpPr>
          <p:cNvPr id="8" name="Text 6"/>
          <p:cNvSpPr txBox="1"/>
          <p:nvPr/>
        </p:nvSpPr>
        <p:spPr>
          <a:xfrm>
            <a:off x="1042416" y="2468880"/>
            <a:ext cx="2698394" cy="512064"/>
          </a:xfrm>
          <a:prstGeom prst="rect">
            <a:avLst/>
          </a:prstGeom>
          <a:noFill/>
          <a:ln/>
        </p:spPr>
        <p:txBody>
          <a:bodyPr wrap="square" lIns="0" tIns="0" rIns="0" bIns="0" rtlCol="0" anchor="ctr"/>
          <a:lstStyle/>
          <a:p>
            <a:pPr indent="0" marL="0">
              <a:buNone/>
            </a:pPr>
            <a:r>
              <a:rPr lang="en-US" sz="1200" dirty="0">
                <a:solidFill>
                  <a:schemeClr val="tx1"/>
                </a:solidFill>
              </a:rPr>
              <a:t>Inquiry replies &amp; screening</a:t>
            </a:r>
            <a:endParaRPr lang="en-US" sz="1200" dirty="0"/>
          </a:p>
        </p:txBody>
      </p:sp>
      <p:sp>
        <p:nvSpPr>
          <p:cNvPr id="9" name="card"/>
          <p:cNvSpPr/>
          <p:nvPr/>
        </p:nvSpPr>
        <p:spPr>
          <a:xfrm>
            <a:off x="859536" y="3090672"/>
            <a:ext cx="3064154" cy="512064"/>
          </a:xfrm>
          <a:prstGeom prst="roundRect">
            <a:avLst>
              <a:gd name="adj" fmla="val 14286"/>
            </a:avLst>
          </a:prstGeom>
          <a:solidFill>
            <a:schemeClr val="bg1"/>
          </a:solidFill>
          <a:ln w="12700">
            <a:solidFill>
              <a:schemeClr val="accent5"/>
            </a:solidFill>
            <a:prstDash val="solid"/>
          </a:ln>
        </p:spPr>
      </p:sp>
      <p:sp>
        <p:nvSpPr>
          <p:cNvPr id="10" name="Text 8"/>
          <p:cNvSpPr txBox="1"/>
          <p:nvPr/>
        </p:nvSpPr>
        <p:spPr>
          <a:xfrm>
            <a:off x="1042416" y="3090672"/>
            <a:ext cx="2698394" cy="512064"/>
          </a:xfrm>
          <a:prstGeom prst="rect">
            <a:avLst/>
          </a:prstGeom>
          <a:noFill/>
          <a:ln/>
        </p:spPr>
        <p:txBody>
          <a:bodyPr wrap="square" lIns="0" tIns="0" rIns="0" bIns="0" rtlCol="0" anchor="ctr"/>
          <a:lstStyle/>
          <a:p>
            <a:pPr indent="0" marL="0">
              <a:buNone/>
            </a:pPr>
            <a:r>
              <a:rPr lang="en-US" sz="1200" dirty="0">
                <a:solidFill>
                  <a:schemeClr val="tx1"/>
                </a:solidFill>
              </a:rPr>
              <a:t>Pipedrive deal set-up</a:t>
            </a:r>
            <a:endParaRPr lang="en-US" sz="1200" dirty="0"/>
          </a:p>
        </p:txBody>
      </p:sp>
      <p:sp>
        <p:nvSpPr>
          <p:cNvPr id="11" name="card"/>
          <p:cNvSpPr/>
          <p:nvPr/>
        </p:nvSpPr>
        <p:spPr>
          <a:xfrm>
            <a:off x="859536" y="3712464"/>
            <a:ext cx="3064154" cy="512064"/>
          </a:xfrm>
          <a:prstGeom prst="roundRect">
            <a:avLst>
              <a:gd name="adj" fmla="val 14286"/>
            </a:avLst>
          </a:prstGeom>
          <a:solidFill>
            <a:schemeClr val="bg1"/>
          </a:solidFill>
          <a:ln w="12700">
            <a:solidFill>
              <a:schemeClr val="accent5"/>
            </a:solidFill>
            <a:prstDash val="solid"/>
          </a:ln>
        </p:spPr>
      </p:sp>
      <p:sp>
        <p:nvSpPr>
          <p:cNvPr id="12" name="Text 10"/>
          <p:cNvSpPr txBox="1"/>
          <p:nvPr/>
        </p:nvSpPr>
        <p:spPr>
          <a:xfrm>
            <a:off x="1042416" y="3712464"/>
            <a:ext cx="2698394" cy="512064"/>
          </a:xfrm>
          <a:prstGeom prst="rect">
            <a:avLst/>
          </a:prstGeom>
          <a:noFill/>
          <a:ln/>
        </p:spPr>
        <p:txBody>
          <a:bodyPr wrap="square" lIns="0" tIns="0" rIns="0" bIns="0" rtlCol="0" anchor="ctr"/>
          <a:lstStyle/>
          <a:p>
            <a:pPr indent="0" marL="0">
              <a:buNone/>
            </a:pPr>
            <a:r>
              <a:rPr lang="en-US" sz="1200" dirty="0">
                <a:solidFill>
                  <a:schemeClr val="tx1"/>
                </a:solidFill>
              </a:rPr>
              <a:t>Deal assignment</a:t>
            </a:r>
            <a:endParaRPr lang="en-US" sz="1200" dirty="0"/>
          </a:p>
        </p:txBody>
      </p:sp>
      <p:sp>
        <p:nvSpPr>
          <p:cNvPr id="13" name="card"/>
          <p:cNvSpPr/>
          <p:nvPr/>
        </p:nvSpPr>
        <p:spPr>
          <a:xfrm>
            <a:off x="4335170" y="1920240"/>
            <a:ext cx="3521354" cy="3246120"/>
          </a:xfrm>
          <a:prstGeom prst="roundRect">
            <a:avLst>
              <a:gd name="adj" fmla="val 2254"/>
            </a:avLst>
          </a:prstGeom>
          <a:solidFill>
            <a:schemeClr val="bg2"/>
          </a:solidFill>
          <a:ln/>
        </p:spPr>
      </p:sp>
      <p:sp>
        <p:nvSpPr>
          <p:cNvPr id="14" name="Text 12"/>
          <p:cNvSpPr txBox="1"/>
          <p:nvPr/>
        </p:nvSpPr>
        <p:spPr>
          <a:xfrm>
            <a:off x="4609490" y="210312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IN PROGRESS</a:t>
            </a:r>
            <a:endParaRPr lang="en-US" sz="1050" dirty="0"/>
          </a:p>
        </p:txBody>
      </p:sp>
      <p:sp>
        <p:nvSpPr>
          <p:cNvPr id="15" name="card"/>
          <p:cNvSpPr/>
          <p:nvPr/>
        </p:nvSpPr>
        <p:spPr>
          <a:xfrm>
            <a:off x="4563770" y="2468880"/>
            <a:ext cx="3064154" cy="512064"/>
          </a:xfrm>
          <a:prstGeom prst="roundRect">
            <a:avLst>
              <a:gd name="adj" fmla="val 14286"/>
            </a:avLst>
          </a:prstGeom>
          <a:solidFill>
            <a:schemeClr val="bg1"/>
          </a:solidFill>
          <a:ln w="12700">
            <a:solidFill>
              <a:schemeClr val="accent5"/>
            </a:solidFill>
            <a:prstDash val="solid"/>
          </a:ln>
        </p:spPr>
      </p:sp>
      <p:sp>
        <p:nvSpPr>
          <p:cNvPr id="16" name="Text 14"/>
          <p:cNvSpPr txBox="1"/>
          <p:nvPr/>
        </p:nvSpPr>
        <p:spPr>
          <a:xfrm>
            <a:off x="4746650" y="2468880"/>
            <a:ext cx="2698394" cy="512064"/>
          </a:xfrm>
          <a:prstGeom prst="rect">
            <a:avLst/>
          </a:prstGeom>
          <a:noFill/>
          <a:ln/>
        </p:spPr>
        <p:txBody>
          <a:bodyPr wrap="square" lIns="0" tIns="0" rIns="0" bIns="0" rtlCol="0" anchor="ctr"/>
          <a:lstStyle/>
          <a:p>
            <a:pPr indent="0" marL="0">
              <a:buNone/>
            </a:pPr>
            <a:r>
              <a:rPr lang="en-US" sz="1200" dirty="0">
                <a:solidFill>
                  <a:schemeClr val="tx1"/>
                </a:solidFill>
              </a:rPr>
              <a:t>Day 3 &amp; day 6 follow-ups</a:t>
            </a:r>
            <a:endParaRPr lang="en-US" sz="1200" dirty="0"/>
          </a:p>
        </p:txBody>
      </p:sp>
      <p:sp>
        <p:nvSpPr>
          <p:cNvPr id="17" name="card"/>
          <p:cNvSpPr/>
          <p:nvPr/>
        </p:nvSpPr>
        <p:spPr>
          <a:xfrm>
            <a:off x="4563770" y="3090672"/>
            <a:ext cx="3064154" cy="512064"/>
          </a:xfrm>
          <a:prstGeom prst="roundRect">
            <a:avLst>
              <a:gd name="adj" fmla="val 14286"/>
            </a:avLst>
          </a:prstGeom>
          <a:solidFill>
            <a:schemeClr val="bg1"/>
          </a:solidFill>
          <a:ln w="12700">
            <a:solidFill>
              <a:schemeClr val="accent5"/>
            </a:solidFill>
            <a:prstDash val="solid"/>
          </a:ln>
        </p:spPr>
      </p:sp>
      <p:sp>
        <p:nvSpPr>
          <p:cNvPr id="18" name="Text 16"/>
          <p:cNvSpPr txBox="1"/>
          <p:nvPr/>
        </p:nvSpPr>
        <p:spPr>
          <a:xfrm>
            <a:off x="4746650" y="3090672"/>
            <a:ext cx="2698394" cy="512064"/>
          </a:xfrm>
          <a:prstGeom prst="rect">
            <a:avLst/>
          </a:prstGeom>
          <a:noFill/>
          <a:ln/>
        </p:spPr>
        <p:txBody>
          <a:bodyPr wrap="square" lIns="0" tIns="0" rIns="0" bIns="0" rtlCol="0" anchor="ctr"/>
          <a:lstStyle/>
          <a:p>
            <a:pPr indent="0" marL="0">
              <a:buNone/>
            </a:pPr>
            <a:r>
              <a:rPr lang="en-US" sz="1200" dirty="0">
                <a:solidFill>
                  <a:schemeClr val="tx1"/>
                </a:solidFill>
              </a:rPr>
              <a:t>Supplier calendar invites</a:t>
            </a:r>
            <a:endParaRPr lang="en-US" sz="1200" dirty="0"/>
          </a:p>
        </p:txBody>
      </p:sp>
      <p:sp>
        <p:nvSpPr>
          <p:cNvPr id="19" name="card"/>
          <p:cNvSpPr/>
          <p:nvPr/>
        </p:nvSpPr>
        <p:spPr>
          <a:xfrm>
            <a:off x="4563770" y="3712464"/>
            <a:ext cx="3064154" cy="512064"/>
          </a:xfrm>
          <a:prstGeom prst="roundRect">
            <a:avLst>
              <a:gd name="adj" fmla="val 14286"/>
            </a:avLst>
          </a:prstGeom>
          <a:solidFill>
            <a:schemeClr val="bg1"/>
          </a:solidFill>
          <a:ln w="12700">
            <a:solidFill>
              <a:schemeClr val="accent5"/>
            </a:solidFill>
            <a:prstDash val="solid"/>
          </a:ln>
        </p:spPr>
      </p:sp>
      <p:sp>
        <p:nvSpPr>
          <p:cNvPr id="20" name="Text 18"/>
          <p:cNvSpPr txBox="1"/>
          <p:nvPr/>
        </p:nvSpPr>
        <p:spPr>
          <a:xfrm>
            <a:off x="4746650" y="3712464"/>
            <a:ext cx="2698394" cy="512064"/>
          </a:xfrm>
          <a:prstGeom prst="rect">
            <a:avLst/>
          </a:prstGeom>
          <a:noFill/>
          <a:ln/>
        </p:spPr>
        <p:txBody>
          <a:bodyPr wrap="square" lIns="0" tIns="0" rIns="0" bIns="0" rtlCol="0" anchor="ctr"/>
          <a:lstStyle/>
          <a:p>
            <a:pPr indent="0" marL="0">
              <a:buNone/>
            </a:pPr>
            <a:r>
              <a:rPr lang="en-US" sz="1200" dirty="0">
                <a:solidFill>
                  <a:schemeClr val="tx1"/>
                </a:solidFill>
              </a:rPr>
              <a:t>Client invoicing</a:t>
            </a:r>
            <a:endParaRPr lang="en-US" sz="1200" dirty="0"/>
          </a:p>
        </p:txBody>
      </p:sp>
      <p:sp>
        <p:nvSpPr>
          <p:cNvPr id="21" name="card"/>
          <p:cNvSpPr/>
          <p:nvPr/>
        </p:nvSpPr>
        <p:spPr>
          <a:xfrm>
            <a:off x="8039405" y="1920240"/>
            <a:ext cx="3521354" cy="3246120"/>
          </a:xfrm>
          <a:prstGeom prst="roundRect">
            <a:avLst>
              <a:gd name="adj" fmla="val 2254"/>
            </a:avLst>
          </a:prstGeom>
          <a:solidFill>
            <a:schemeClr val="bg1"/>
          </a:solidFill>
          <a:ln w="12700">
            <a:solidFill>
              <a:schemeClr val="accent5"/>
            </a:solidFill>
            <a:prstDash val="solid"/>
          </a:ln>
        </p:spPr>
      </p:sp>
      <p:sp>
        <p:nvSpPr>
          <p:cNvPr id="22" name="Text 20"/>
          <p:cNvSpPr txBox="1"/>
          <p:nvPr/>
        </p:nvSpPr>
        <p:spPr>
          <a:xfrm>
            <a:off x="8313725" y="210312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NEXT TO DELEGATE</a:t>
            </a:r>
            <a:endParaRPr lang="en-US" sz="1050" dirty="0"/>
          </a:p>
        </p:txBody>
      </p:sp>
      <p:sp>
        <p:nvSpPr>
          <p:cNvPr id="23" name="card"/>
          <p:cNvSpPr/>
          <p:nvPr/>
        </p:nvSpPr>
        <p:spPr>
          <a:xfrm>
            <a:off x="8268005" y="2468880"/>
            <a:ext cx="3064154" cy="512064"/>
          </a:xfrm>
          <a:prstGeom prst="roundRect">
            <a:avLst>
              <a:gd name="adj" fmla="val 14286"/>
            </a:avLst>
          </a:prstGeom>
          <a:solidFill>
            <a:schemeClr val="bg1"/>
          </a:solidFill>
          <a:ln w="12700">
            <a:solidFill>
              <a:schemeClr val="accent5"/>
            </a:solidFill>
            <a:prstDash val="solid"/>
          </a:ln>
        </p:spPr>
      </p:sp>
      <p:sp>
        <p:nvSpPr>
          <p:cNvPr id="24" name="Text 22"/>
          <p:cNvSpPr txBox="1"/>
          <p:nvPr/>
        </p:nvSpPr>
        <p:spPr>
          <a:xfrm>
            <a:off x="8450885" y="2468880"/>
            <a:ext cx="2698394" cy="512064"/>
          </a:xfrm>
          <a:prstGeom prst="rect">
            <a:avLst/>
          </a:prstGeom>
          <a:noFill/>
          <a:ln/>
        </p:spPr>
        <p:txBody>
          <a:bodyPr wrap="square" lIns="0" tIns="0" rIns="0" bIns="0" rtlCol="0" anchor="ctr"/>
          <a:lstStyle/>
          <a:p>
            <a:pPr indent="0" marL="0">
              <a:buNone/>
            </a:pPr>
            <a:r>
              <a:rPr lang="en-US" sz="1200" dirty="0">
                <a:solidFill>
                  <a:schemeClr val="tx1"/>
                </a:solidFill>
              </a:rPr>
              <a:t>Payment follow-ups</a:t>
            </a:r>
            <a:endParaRPr lang="en-US" sz="1200" dirty="0"/>
          </a:p>
        </p:txBody>
      </p:sp>
      <p:sp>
        <p:nvSpPr>
          <p:cNvPr id="25" name="card"/>
          <p:cNvSpPr/>
          <p:nvPr/>
        </p:nvSpPr>
        <p:spPr>
          <a:xfrm>
            <a:off x="8268005" y="3090672"/>
            <a:ext cx="3064154" cy="512064"/>
          </a:xfrm>
          <a:prstGeom prst="roundRect">
            <a:avLst>
              <a:gd name="adj" fmla="val 14286"/>
            </a:avLst>
          </a:prstGeom>
          <a:solidFill>
            <a:schemeClr val="bg1"/>
          </a:solidFill>
          <a:ln w="12700">
            <a:solidFill>
              <a:schemeClr val="accent5"/>
            </a:solidFill>
            <a:prstDash val="solid"/>
          </a:ln>
        </p:spPr>
      </p:sp>
      <p:sp>
        <p:nvSpPr>
          <p:cNvPr id="26" name="Text 24"/>
          <p:cNvSpPr txBox="1"/>
          <p:nvPr/>
        </p:nvSpPr>
        <p:spPr>
          <a:xfrm>
            <a:off x="8450885" y="3090672"/>
            <a:ext cx="2698394" cy="512064"/>
          </a:xfrm>
          <a:prstGeom prst="rect">
            <a:avLst/>
          </a:prstGeom>
          <a:noFill/>
          <a:ln/>
        </p:spPr>
        <p:txBody>
          <a:bodyPr wrap="square" lIns="0" tIns="0" rIns="0" bIns="0" rtlCol="0" anchor="ctr"/>
          <a:lstStyle/>
          <a:p>
            <a:pPr indent="0" marL="0">
              <a:buNone/>
            </a:pPr>
            <a:r>
              <a:rPr lang="en-US" sz="1200" dirty="0">
                <a:solidFill>
                  <a:schemeClr val="tx1"/>
                </a:solidFill>
              </a:rPr>
              <a:t>Pricing brochure replies</a:t>
            </a:r>
            <a:endParaRPr lang="en-US" sz="1200" dirty="0"/>
          </a:p>
        </p:txBody>
      </p:sp>
      <p:sp>
        <p:nvSpPr>
          <p:cNvPr id="27" name="card"/>
          <p:cNvSpPr/>
          <p:nvPr/>
        </p:nvSpPr>
        <p:spPr>
          <a:xfrm>
            <a:off x="8268005" y="3712464"/>
            <a:ext cx="3064154" cy="512064"/>
          </a:xfrm>
          <a:prstGeom prst="roundRect">
            <a:avLst>
              <a:gd name="adj" fmla="val 14286"/>
            </a:avLst>
          </a:prstGeom>
          <a:solidFill>
            <a:schemeClr val="bg1"/>
          </a:solidFill>
          <a:ln w="12700">
            <a:solidFill>
              <a:schemeClr val="accent5"/>
            </a:solidFill>
            <a:prstDash val="solid"/>
          </a:ln>
        </p:spPr>
      </p:sp>
      <p:sp>
        <p:nvSpPr>
          <p:cNvPr id="28" name="Text 26"/>
          <p:cNvSpPr txBox="1"/>
          <p:nvPr/>
        </p:nvSpPr>
        <p:spPr>
          <a:xfrm>
            <a:off x="8450885" y="3712464"/>
            <a:ext cx="2698394" cy="512064"/>
          </a:xfrm>
          <a:prstGeom prst="rect">
            <a:avLst/>
          </a:prstGeom>
          <a:noFill/>
          <a:ln/>
        </p:spPr>
        <p:txBody>
          <a:bodyPr wrap="square" lIns="0" tIns="0" rIns="0" bIns="0" rtlCol="0" anchor="ctr"/>
          <a:lstStyle/>
          <a:p>
            <a:pPr indent="0" marL="0">
              <a:buNone/>
            </a:pPr>
            <a:r>
              <a:rPr lang="en-US" sz="1200" dirty="0">
                <a:solidFill>
                  <a:schemeClr val="tx1"/>
                </a:solidFill>
              </a:rPr>
              <a:t>PA support for Krystie</a:t>
            </a:r>
            <a:endParaRPr lang="en-US" sz="1200" dirty="0"/>
          </a:p>
        </p:txBody>
      </p:sp>
      <p:sp>
        <p:nvSpPr>
          <p:cNvPr id="29" name="card"/>
          <p:cNvSpPr/>
          <p:nvPr/>
        </p:nvSpPr>
        <p:spPr>
          <a:xfrm>
            <a:off x="8268005" y="4334256"/>
            <a:ext cx="3064154" cy="512064"/>
          </a:xfrm>
          <a:prstGeom prst="roundRect">
            <a:avLst>
              <a:gd name="adj" fmla="val 14286"/>
            </a:avLst>
          </a:prstGeom>
          <a:solidFill>
            <a:schemeClr val="bg1"/>
          </a:solidFill>
          <a:ln w="12700">
            <a:solidFill>
              <a:schemeClr val="accent5"/>
            </a:solidFill>
            <a:prstDash val="solid"/>
          </a:ln>
        </p:spPr>
      </p:sp>
      <p:sp>
        <p:nvSpPr>
          <p:cNvPr id="30" name="Text 28"/>
          <p:cNvSpPr txBox="1"/>
          <p:nvPr/>
        </p:nvSpPr>
        <p:spPr>
          <a:xfrm>
            <a:off x="8450885" y="4334256"/>
            <a:ext cx="2698394" cy="512064"/>
          </a:xfrm>
          <a:prstGeom prst="rect">
            <a:avLst/>
          </a:prstGeom>
          <a:noFill/>
          <a:ln/>
        </p:spPr>
        <p:txBody>
          <a:bodyPr wrap="square" lIns="0" tIns="0" rIns="0" bIns="0" rtlCol="0" anchor="ctr"/>
          <a:lstStyle/>
          <a:p>
            <a:pPr indent="0" marL="0">
              <a:buNone/>
            </a:pPr>
            <a:r>
              <a:rPr lang="en-US" sz="1200" i="1" dirty="0">
                <a:solidFill>
                  <a:schemeClr val="accent3"/>
                </a:solidFill>
              </a:rPr>
              <a:t>Add new items here at each review</a:t>
            </a:r>
            <a:endParaRPr lang="en-US" sz="1200" dirty="0"/>
          </a:p>
        </p:txBody>
      </p:sp>
      <p:sp>
        <p:nvSpPr>
          <p:cNvPr id="31" name="callout"/>
          <p:cNvSpPr/>
          <p:nvPr/>
        </p:nvSpPr>
        <p:spPr>
          <a:xfrm>
            <a:off x="630936" y="5394960"/>
            <a:ext cx="10929823" cy="548640"/>
          </a:xfrm>
          <a:prstGeom prst="roundRect">
            <a:avLst>
              <a:gd name="adj" fmla="val 13333"/>
            </a:avLst>
          </a:prstGeom>
          <a:solidFill>
            <a:schemeClr val="accent4"/>
          </a:solidFill>
          <a:ln/>
        </p:spPr>
      </p:sp>
      <p:sp>
        <p:nvSpPr>
          <p:cNvPr id="32" name="Text 30"/>
          <p:cNvSpPr txBox="1"/>
          <p:nvPr/>
        </p:nvSpPr>
        <p:spPr>
          <a:xfrm>
            <a:off x="859536" y="5394960"/>
            <a:ext cx="10472623" cy="548640"/>
          </a:xfrm>
          <a:prstGeom prst="rect">
            <a:avLst/>
          </a:prstGeom>
          <a:noFill/>
          <a:ln/>
        </p:spPr>
        <p:txBody>
          <a:bodyPr wrap="square" lIns="0" tIns="0" rIns="0" bIns="0" rtlCol="0" anchor="ctr"/>
          <a:lstStyle/>
          <a:p>
            <a:pPr indent="0" marL="0">
              <a:buNone/>
            </a:pPr>
            <a:r>
              <a:rPr lang="en-US" sz="1250" b="1" dirty="0">
                <a:solidFill>
                  <a:schemeClr val="accent1"/>
                </a:solidFill>
              </a:rPr>
              <a:t>When “Next to delegate” outgrows 20 hours a week, it’s time to talk about more hours. We’ll plan it with you.</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10</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SOP &amp; Knowledge Library</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Every process your Coordinator documents is linked here. Over time it adds to The Play Agency’s workbook, and protects you if anything ever changes.</a:t>
            </a:r>
            <a:endParaRPr lang="en-US" sz="13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30936" y="2057400"/>
          <a:ext cx="10929823" cy="914400"/>
        </p:xfrm>
        <a:graphic>
          <a:graphicData uri="http://schemas.openxmlformats.org/drawingml/2006/table">
            <a:tbl>
              <a:tblPr/>
              <a:tblGrid>
                <a:gridCol w="4206240"/>
                <a:gridCol w="2194560"/>
                <a:gridCol w="2926080"/>
                <a:gridCol w="1600200"/>
              </a:tblGrid>
              <a:tr h="45720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PROCESS</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OWNER</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LINK TO SOP</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LAST UPDATED</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r>
              <a:tr h="45720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Inquiry reply templates</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Coordinator</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Mandatory inquiry details checklist</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Coordinator</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45720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Pipedrive deal set-up</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Coordinator</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Assignment rules (styling, entertainment)</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Coordinator + Krystie</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45720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3-day follow-up rule</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Coordinator + Krystie</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Supplier calendar invites</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Coordinator</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45720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Invoicing &amp; payment follow-up</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Coordinator</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11</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Wins Log &amp; Review Notes</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Capture the moments that show the plan is working, and what we agreed at each review.</a:t>
            </a:r>
            <a:endParaRPr lang="en-US" sz="1300" dirty="0"/>
          </a:p>
        </p:txBody>
      </p:sp>
      <p:sp>
        <p:nvSpPr>
          <p:cNvPr id="5" name="Text 3"/>
          <p:cNvSpPr txBox="1"/>
          <p:nvPr/>
        </p:nvSpPr>
        <p:spPr>
          <a:xfrm>
            <a:off x="630936" y="1874520"/>
            <a:ext cx="36576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WINS LOG</a:t>
            </a:r>
            <a:endParaRPr lang="en-US" sz="105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30936" y="2194560"/>
          <a:ext cx="5577840" cy="914400"/>
        </p:xfrm>
        <a:graphic>
          <a:graphicData uri="http://schemas.openxmlformats.org/drawingml/2006/table">
            <a:tbl>
              <a:tblPr/>
              <a:tblGrid>
                <a:gridCol w="1005840"/>
                <a:gridCol w="3291840"/>
                <a:gridCol w="1280160"/>
              </a:tblGrid>
              <a:tr h="45720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DATE</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WIN</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ADDED BY</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r>
              <a:tr h="457200">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150" dirty="0">
                          <a:solidFill>
                            <a:srgbClr val="6B7684"/>
                          </a:solidFill>
                          <a:latin typeface="Calibri" pitchFamily="34" charset="0"/>
                          <a:ea typeface="Calibri" pitchFamily="34" charset="-122"/>
                          <a:cs typeface="Calibri" pitchFamily="34" charset="-120"/>
                        </a:rPr>
                        <a:t>e.g. First week with every inquiry answered within the hour</a:t>
                      </a: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57200">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150" dirty="0">
                          <a:solidFill>
                            <a:srgbClr val="6B7684"/>
                          </a:solidFill>
                          <a:latin typeface="Calibri" pitchFamily="34" charset="0"/>
                          <a:ea typeface="Calibri" pitchFamily="34" charset="-122"/>
                          <a:cs typeface="Calibri" pitchFamily="34" charset="-120"/>
                        </a:rPr>
                        <a:t>e.g. First event booked and invoiced without the designers</a:t>
                      </a: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457200">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57200">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bl>
          </a:graphicData>
        </a:graphic>
      </p:graphicFrame>
      <p:sp>
        <p:nvSpPr>
          <p:cNvPr id="7" name="Text 4"/>
          <p:cNvSpPr txBox="1"/>
          <p:nvPr/>
        </p:nvSpPr>
        <p:spPr>
          <a:xfrm>
            <a:off x="6437376" y="1874520"/>
            <a:ext cx="36576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REVIEW NOTES</a:t>
            </a:r>
            <a:endParaRPr lang="en-US" sz="1050" dirty="0"/>
          </a:p>
        </p:txBody>
      </p:sp>
      <p:graphicFrame>
        <p:nvGraphicFramePr>
          <p:cNvPr id="55" name="Table 1"/>
          <p:cNvGraphicFramePr>
            <a:graphicFrameLocks noGrp="1"/>
          </p:cNvGraphicFramePr>
          <p:nvPr>
            <p:extLst>
              <p:ext uri="{D42A27DB-BD31-4B8C-83A1-F6EECF244321}">
                <p14:modId xmlns:p14="http://schemas.microsoft.com/office/powerpoint/2010/main" val="1579011935"/>
              </p:ext>
            </p:extLst>
          </p:nvPr>
        </p:nvGraphicFramePr>
        <p:xfrm>
          <a:off x="6437376" y="2194560"/>
          <a:ext cx="5123383" cy="914400"/>
        </p:xfrm>
        <a:graphic>
          <a:graphicData uri="http://schemas.openxmlformats.org/drawingml/2006/table">
            <a:tbl>
              <a:tblPr/>
              <a:tblGrid>
                <a:gridCol w="1280160"/>
                <a:gridCol w="3843223"/>
              </a:tblGrid>
              <a:tr h="45720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REVIEW</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WE AGREED</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r>
              <a:tr h="45720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Day 30</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Day 90</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45720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Month 6</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Month 12</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bl>
          </a:graphicData>
        </a:graphic>
      </p:graphicFrame>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12  ·  ONGOING COLLABORATION</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The CAX Framework</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“This is where we support you and your Angel.” Not a transaction: the start of a long-term partnership.</a:t>
            </a:r>
            <a:endParaRPr lang="en-US" sz="1300" dirty="0"/>
          </a:p>
        </p:txBody>
      </p:sp>
      <p:sp>
        <p:nvSpPr>
          <p:cNvPr id="5" name="card"/>
          <p:cNvSpPr/>
          <p:nvPr/>
        </p:nvSpPr>
        <p:spPr>
          <a:xfrm>
            <a:off x="630936" y="1965960"/>
            <a:ext cx="5373472" cy="1691640"/>
          </a:xfrm>
          <a:prstGeom prst="roundRect">
            <a:avLst>
              <a:gd name="adj" fmla="val 4324"/>
            </a:avLst>
          </a:prstGeom>
          <a:solidFill>
            <a:schemeClr val="bg1"/>
          </a:solidFill>
          <a:ln w="12700">
            <a:solidFill>
              <a:schemeClr val="accent5"/>
            </a:solidFill>
            <a:prstDash val="solid"/>
          </a:ln>
        </p:spPr>
      </p:sp>
      <p:sp>
        <p:nvSpPr>
          <p:cNvPr id="6" name="cax C"/>
          <p:cNvSpPr/>
          <p:nvPr/>
        </p:nvSpPr>
        <p:spPr>
          <a:xfrm>
            <a:off x="905256" y="2240280"/>
            <a:ext cx="685800" cy="685800"/>
          </a:xfrm>
          <a:prstGeom prst="roundRect">
            <a:avLst>
              <a:gd name="adj" fmla="val 13333"/>
            </a:avLst>
          </a:prstGeom>
          <a:solidFill>
            <a:schemeClr val="accent1"/>
          </a:solidFill>
          <a:ln/>
        </p:spPr>
      </p:sp>
      <p:sp>
        <p:nvSpPr>
          <p:cNvPr id="7" name="Text 5"/>
          <p:cNvSpPr txBox="1"/>
          <p:nvPr/>
        </p:nvSpPr>
        <p:spPr>
          <a:xfrm>
            <a:off x="905256" y="224028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latin typeface="Cambria" pitchFamily="34" charset="0"/>
                <a:ea typeface="Cambria" pitchFamily="34" charset="-122"/>
                <a:cs typeface="Cambria" pitchFamily="34" charset="-120"/>
              </a:rPr>
              <a:t>C</a:t>
            </a:r>
            <a:endParaRPr lang="en-US" sz="2600" dirty="0"/>
          </a:p>
        </p:txBody>
      </p:sp>
      <p:sp>
        <p:nvSpPr>
          <p:cNvPr id="8" name="Text 6"/>
          <p:cNvSpPr txBox="1"/>
          <p:nvPr/>
        </p:nvSpPr>
        <p:spPr>
          <a:xfrm>
            <a:off x="1819656" y="2240280"/>
            <a:ext cx="3910432" cy="36576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Clarity</a:t>
            </a:r>
            <a:endParaRPr lang="en-US" sz="1600" dirty="0"/>
          </a:p>
        </p:txBody>
      </p:sp>
      <p:sp>
        <p:nvSpPr>
          <p:cNvPr id="9" name="Text 7"/>
          <p:cNvSpPr txBox="1"/>
          <p:nvPr/>
        </p:nvSpPr>
        <p:spPr>
          <a:xfrm>
            <a:off x="1819656" y="2651760"/>
            <a:ext cx="3910432" cy="868680"/>
          </a:xfrm>
          <a:prstGeom prst="rect">
            <a:avLst/>
          </a:prstGeom>
          <a:noFill/>
          <a:ln/>
        </p:spPr>
        <p:txBody>
          <a:bodyPr wrap="square" lIns="0" tIns="0" rIns="0" bIns="0" rtlCol="0" anchor="t"/>
          <a:lstStyle/>
          <a:p>
            <a:pPr indent="0" marL="0">
              <a:buNone/>
            </a:pPr>
            <a:r>
              <a:rPr lang="en-US" sz="1200" dirty="0">
                <a:solidFill>
                  <a:schemeClr val="accent3"/>
                </a:solidFill>
              </a:rPr>
              <a:t>Clear priorities across inquiries, Pipedrive, bookings and invoicing, with expectations kept aligned as trust builds.</a:t>
            </a:r>
            <a:endParaRPr lang="en-US" sz="1200" dirty="0"/>
          </a:p>
        </p:txBody>
      </p:sp>
      <p:sp>
        <p:nvSpPr>
          <p:cNvPr id="10" name="card"/>
          <p:cNvSpPr/>
          <p:nvPr/>
        </p:nvSpPr>
        <p:spPr>
          <a:xfrm>
            <a:off x="6187288" y="1965960"/>
            <a:ext cx="5373472" cy="1691640"/>
          </a:xfrm>
          <a:prstGeom prst="roundRect">
            <a:avLst>
              <a:gd name="adj" fmla="val 4324"/>
            </a:avLst>
          </a:prstGeom>
          <a:solidFill>
            <a:schemeClr val="bg1"/>
          </a:solidFill>
          <a:ln w="12700">
            <a:solidFill>
              <a:schemeClr val="accent5"/>
            </a:solidFill>
            <a:prstDash val="solid"/>
          </a:ln>
        </p:spPr>
      </p:sp>
      <p:sp>
        <p:nvSpPr>
          <p:cNvPr id="11" name="cax A"/>
          <p:cNvSpPr/>
          <p:nvPr/>
        </p:nvSpPr>
        <p:spPr>
          <a:xfrm>
            <a:off x="6461608" y="2240280"/>
            <a:ext cx="685800" cy="685800"/>
          </a:xfrm>
          <a:prstGeom prst="roundRect">
            <a:avLst>
              <a:gd name="adj" fmla="val 13333"/>
            </a:avLst>
          </a:prstGeom>
          <a:solidFill>
            <a:schemeClr val="accent1"/>
          </a:solidFill>
          <a:ln/>
        </p:spPr>
      </p:sp>
      <p:sp>
        <p:nvSpPr>
          <p:cNvPr id="12" name="Text 10"/>
          <p:cNvSpPr txBox="1"/>
          <p:nvPr/>
        </p:nvSpPr>
        <p:spPr>
          <a:xfrm>
            <a:off x="6461608" y="224028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latin typeface="Cambria" pitchFamily="34" charset="0"/>
                <a:ea typeface="Cambria" pitchFamily="34" charset="-122"/>
                <a:cs typeface="Cambria" pitchFamily="34" charset="-120"/>
              </a:rPr>
              <a:t>A</a:t>
            </a:r>
            <a:endParaRPr lang="en-US" sz="2600" dirty="0"/>
          </a:p>
        </p:txBody>
      </p:sp>
      <p:sp>
        <p:nvSpPr>
          <p:cNvPr id="13" name="Text 11"/>
          <p:cNvSpPr txBox="1"/>
          <p:nvPr/>
        </p:nvSpPr>
        <p:spPr>
          <a:xfrm>
            <a:off x="7376008" y="2240280"/>
            <a:ext cx="3910432" cy="36576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Accountability</a:t>
            </a:r>
            <a:endParaRPr lang="en-US" sz="1600" dirty="0"/>
          </a:p>
        </p:txBody>
      </p:sp>
      <p:sp>
        <p:nvSpPr>
          <p:cNvPr id="14" name="Text 12"/>
          <p:cNvSpPr txBox="1"/>
          <p:nvPr/>
        </p:nvSpPr>
        <p:spPr>
          <a:xfrm>
            <a:off x="7376008" y="2651760"/>
            <a:ext cx="3910432" cy="868680"/>
          </a:xfrm>
          <a:prstGeom prst="rect">
            <a:avLst/>
          </a:prstGeom>
          <a:noFill/>
          <a:ln/>
        </p:spPr>
        <p:txBody>
          <a:bodyPr wrap="square" lIns="0" tIns="0" rIns="0" bIns="0" rtlCol="0" anchor="t"/>
          <a:lstStyle/>
          <a:p>
            <a:pPr indent="0" marL="0">
              <a:buNone/>
            </a:pPr>
            <a:r>
              <a:rPr lang="en-US" sz="1200" dirty="0">
                <a:solidFill>
                  <a:schemeClr val="accent3"/>
                </a:solidFill>
              </a:rPr>
              <a:t>Krystie checks in using the scorecard and KPIs, and your Outsourcing Angel project manager is there when you need help.</a:t>
            </a:r>
            <a:endParaRPr lang="en-US" sz="1200" dirty="0"/>
          </a:p>
        </p:txBody>
      </p:sp>
      <p:sp>
        <p:nvSpPr>
          <p:cNvPr id="15" name="card"/>
          <p:cNvSpPr/>
          <p:nvPr/>
        </p:nvSpPr>
        <p:spPr>
          <a:xfrm>
            <a:off x="630936" y="3840480"/>
            <a:ext cx="5373472" cy="1691640"/>
          </a:xfrm>
          <a:prstGeom prst="roundRect">
            <a:avLst>
              <a:gd name="adj" fmla="val 4324"/>
            </a:avLst>
          </a:prstGeom>
          <a:solidFill>
            <a:schemeClr val="bg1"/>
          </a:solidFill>
          <a:ln w="12700">
            <a:solidFill>
              <a:schemeClr val="accent5"/>
            </a:solidFill>
            <a:prstDash val="solid"/>
          </a:ln>
        </p:spPr>
      </p:sp>
      <p:sp>
        <p:nvSpPr>
          <p:cNvPr id="16" name="cax E"/>
          <p:cNvSpPr/>
          <p:nvPr/>
        </p:nvSpPr>
        <p:spPr>
          <a:xfrm>
            <a:off x="905256" y="4114800"/>
            <a:ext cx="685800" cy="685800"/>
          </a:xfrm>
          <a:prstGeom prst="roundRect">
            <a:avLst>
              <a:gd name="adj" fmla="val 13333"/>
            </a:avLst>
          </a:prstGeom>
          <a:solidFill>
            <a:schemeClr val="accent1"/>
          </a:solidFill>
          <a:ln/>
        </p:spPr>
      </p:sp>
      <p:sp>
        <p:nvSpPr>
          <p:cNvPr id="17" name="Text 15"/>
          <p:cNvSpPr txBox="1"/>
          <p:nvPr/>
        </p:nvSpPr>
        <p:spPr>
          <a:xfrm>
            <a:off x="905256" y="411480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latin typeface="Cambria" pitchFamily="34" charset="0"/>
                <a:ea typeface="Cambria" pitchFamily="34" charset="-122"/>
                <a:cs typeface="Cambria" pitchFamily="34" charset="-120"/>
              </a:rPr>
              <a:t>E</a:t>
            </a:r>
            <a:endParaRPr lang="en-US" sz="2600" dirty="0"/>
          </a:p>
        </p:txBody>
      </p:sp>
      <p:sp>
        <p:nvSpPr>
          <p:cNvPr id="18" name="Text 16"/>
          <p:cNvSpPr txBox="1"/>
          <p:nvPr/>
        </p:nvSpPr>
        <p:spPr>
          <a:xfrm>
            <a:off x="1819656" y="4114800"/>
            <a:ext cx="3910432" cy="36576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Execution</a:t>
            </a:r>
            <a:endParaRPr lang="en-US" sz="1600" dirty="0"/>
          </a:p>
        </p:txBody>
      </p:sp>
      <p:sp>
        <p:nvSpPr>
          <p:cNvPr id="19" name="Text 17"/>
          <p:cNvSpPr txBox="1"/>
          <p:nvPr/>
        </p:nvSpPr>
        <p:spPr>
          <a:xfrm>
            <a:off x="1819656" y="4526280"/>
            <a:ext cx="3910432" cy="868680"/>
          </a:xfrm>
          <a:prstGeom prst="rect">
            <a:avLst/>
          </a:prstGeom>
          <a:noFill/>
          <a:ln/>
        </p:spPr>
        <p:txBody>
          <a:bodyPr wrap="square" lIns="0" tIns="0" rIns="0" bIns="0" rtlCol="0" anchor="t"/>
          <a:lstStyle/>
          <a:p>
            <a:pPr indent="0" marL="0">
              <a:buNone/>
            </a:pPr>
            <a:r>
              <a:rPr lang="en-US" sz="1200" dirty="0">
                <a:solidFill>
                  <a:schemeClr val="accent3"/>
                </a:solidFill>
              </a:rPr>
              <a:t>Structured workflows built on The Play Agency’s workbook and templates, so delivery stays consistent as scope expands.</a:t>
            </a:r>
            <a:endParaRPr lang="en-US" sz="1200" dirty="0"/>
          </a:p>
        </p:txBody>
      </p:sp>
      <p:sp>
        <p:nvSpPr>
          <p:cNvPr id="20" name="card"/>
          <p:cNvSpPr/>
          <p:nvPr/>
        </p:nvSpPr>
        <p:spPr>
          <a:xfrm>
            <a:off x="6187288" y="3840480"/>
            <a:ext cx="5373472" cy="1691640"/>
          </a:xfrm>
          <a:prstGeom prst="roundRect">
            <a:avLst>
              <a:gd name="adj" fmla="val 4324"/>
            </a:avLst>
          </a:prstGeom>
          <a:solidFill>
            <a:schemeClr val="bg1"/>
          </a:solidFill>
          <a:ln w="12700">
            <a:solidFill>
              <a:schemeClr val="accent5"/>
            </a:solidFill>
            <a:prstDash val="solid"/>
          </a:ln>
        </p:spPr>
      </p:sp>
      <p:sp>
        <p:nvSpPr>
          <p:cNvPr id="21" name="cax X"/>
          <p:cNvSpPr/>
          <p:nvPr/>
        </p:nvSpPr>
        <p:spPr>
          <a:xfrm>
            <a:off x="6461608" y="4114800"/>
            <a:ext cx="685800" cy="685800"/>
          </a:xfrm>
          <a:prstGeom prst="roundRect">
            <a:avLst>
              <a:gd name="adj" fmla="val 13333"/>
            </a:avLst>
          </a:prstGeom>
          <a:solidFill>
            <a:schemeClr val="accent1"/>
          </a:solidFill>
          <a:ln/>
        </p:spPr>
      </p:sp>
      <p:sp>
        <p:nvSpPr>
          <p:cNvPr id="22" name="Text 20"/>
          <p:cNvSpPr txBox="1"/>
          <p:nvPr/>
        </p:nvSpPr>
        <p:spPr>
          <a:xfrm>
            <a:off x="6461608" y="411480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latin typeface="Cambria" pitchFamily="34" charset="0"/>
                <a:ea typeface="Cambria" pitchFamily="34" charset="-122"/>
                <a:cs typeface="Cambria" pitchFamily="34" charset="-120"/>
              </a:rPr>
              <a:t>X</a:t>
            </a:r>
            <a:endParaRPr lang="en-US" sz="2600" dirty="0"/>
          </a:p>
        </p:txBody>
      </p:sp>
      <p:sp>
        <p:nvSpPr>
          <p:cNvPr id="23" name="Text 21"/>
          <p:cNvSpPr txBox="1"/>
          <p:nvPr/>
        </p:nvSpPr>
        <p:spPr>
          <a:xfrm>
            <a:off x="7376008" y="4114800"/>
            <a:ext cx="3910432" cy="36576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Performance Support</a:t>
            </a:r>
            <a:endParaRPr lang="en-US" sz="1600" dirty="0"/>
          </a:p>
        </p:txBody>
      </p:sp>
      <p:sp>
        <p:nvSpPr>
          <p:cNvPr id="24" name="Text 22"/>
          <p:cNvSpPr txBox="1"/>
          <p:nvPr/>
        </p:nvSpPr>
        <p:spPr>
          <a:xfrm>
            <a:off x="7376008" y="4526280"/>
            <a:ext cx="3910432" cy="868680"/>
          </a:xfrm>
          <a:prstGeom prst="rect">
            <a:avLst/>
          </a:prstGeom>
          <a:noFill/>
          <a:ln/>
        </p:spPr>
        <p:txBody>
          <a:bodyPr wrap="square" lIns="0" tIns="0" rIns="0" bIns="0" rtlCol="0" anchor="t"/>
          <a:lstStyle/>
          <a:p>
            <a:pPr indent="0" marL="0">
              <a:buNone/>
            </a:pPr>
            <a:r>
              <a:rPr lang="en-US" sz="1200" dirty="0">
                <a:solidFill>
                  <a:schemeClr val="accent3"/>
                </a:solidFill>
              </a:rPr>
              <a:t>Want hands-on coaching and a team leader? Upgrade to Angel Managed any time.</a:t>
            </a:r>
            <a:endParaRPr lang="en-US" sz="120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13  ·  YOUR TEAM</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How Outsourcing Angel Supports You</a:t>
            </a:r>
            <a:endParaRPr lang="en-US" sz="3000" dirty="0"/>
          </a:p>
        </p:txBody>
      </p:sp>
      <p:sp>
        <p:nvSpPr>
          <p:cNvPr id="4" name="card"/>
          <p:cNvSpPr/>
          <p:nvPr/>
        </p:nvSpPr>
        <p:spPr>
          <a:xfrm>
            <a:off x="630936" y="1508760"/>
            <a:ext cx="3521354" cy="3657600"/>
          </a:xfrm>
          <a:prstGeom prst="roundRect">
            <a:avLst>
              <a:gd name="adj" fmla="val 2077"/>
            </a:avLst>
          </a:prstGeom>
          <a:solidFill>
            <a:schemeClr val="bg1"/>
          </a:solidFill>
          <a:ln w="12700">
            <a:solidFill>
              <a:schemeClr val="accent5"/>
            </a:solidFill>
            <a:prstDash val="solid"/>
          </a:ln>
        </p:spPr>
      </p:sp>
      <p:sp>
        <p:nvSpPr>
          <p:cNvPr id="5" name="Text 3"/>
          <p:cNvSpPr txBox="1"/>
          <p:nvPr/>
        </p:nvSpPr>
        <p:spPr>
          <a:xfrm>
            <a:off x="905256" y="173736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YOUR SUPPORT TEAM</a:t>
            </a:r>
            <a:endParaRPr lang="en-US" sz="1050" dirty="0"/>
          </a:p>
        </p:txBody>
      </p:sp>
      <p:sp>
        <p:nvSpPr>
          <p:cNvPr id="6" name="Text 4"/>
          <p:cNvSpPr txBox="1"/>
          <p:nvPr/>
        </p:nvSpPr>
        <p:spPr>
          <a:xfrm>
            <a:off x="905256" y="2148840"/>
            <a:ext cx="2972714" cy="822960"/>
          </a:xfrm>
          <a:prstGeom prst="rect">
            <a:avLst/>
          </a:prstGeom>
          <a:noFill/>
          <a:ln/>
        </p:spPr>
        <p:txBody>
          <a:bodyPr wrap="square" lIns="0" tIns="0" rIns="0" bIns="0" rtlCol="0" anchor="t"/>
          <a:lstStyle/>
          <a:p>
            <a:pPr indent="0" marL="0">
              <a:buNone/>
            </a:pPr>
            <a:r>
              <a:rPr lang="en-US" sz="1250" b="1" dirty="0">
                <a:solidFill>
                  <a:schemeClr val="tx1"/>
                </a:solidFill>
              </a:rPr>
              <a:t>Project Manager</a:t>
            </a:r>
            <a:endParaRPr lang="en-US" sz="1250" dirty="0"/>
          </a:p>
          <a:p>
            <a:pPr indent="0" marL="0">
              <a:buNone/>
            </a:pPr>
            <a:r>
              <a:rPr lang="en-US" sz="1250" dirty="0">
                <a:solidFill>
                  <a:schemeClr val="accent3"/>
                </a:solidFill>
              </a:rPr>
              <a:t>your Outsourcing Angel contact for questions and billing</a:t>
            </a:r>
            <a:endParaRPr lang="en-US" sz="1250" dirty="0"/>
          </a:p>
        </p:txBody>
      </p:sp>
      <p:sp>
        <p:nvSpPr>
          <p:cNvPr id="7" name="Text 5"/>
          <p:cNvSpPr txBox="1"/>
          <p:nvPr/>
        </p:nvSpPr>
        <p:spPr>
          <a:xfrm>
            <a:off x="905256" y="3108960"/>
            <a:ext cx="2972714" cy="822960"/>
          </a:xfrm>
          <a:prstGeom prst="rect">
            <a:avLst/>
          </a:prstGeom>
          <a:noFill/>
          <a:ln/>
        </p:spPr>
        <p:txBody>
          <a:bodyPr wrap="square" lIns="0" tIns="0" rIns="0" bIns="0" rtlCol="0" anchor="t"/>
          <a:lstStyle/>
          <a:p>
            <a:pPr indent="0" marL="0">
              <a:buNone/>
            </a:pPr>
            <a:r>
              <a:rPr lang="en-US" sz="1250" b="1" dirty="0">
                <a:solidFill>
                  <a:schemeClr val="tx1"/>
                </a:solidFill>
              </a:rPr>
              <a:t>Payroll &amp; HR</a:t>
            </a:r>
            <a:endParaRPr lang="en-US" sz="1250" dirty="0"/>
          </a:p>
          <a:p>
            <a:pPr indent="0" marL="0">
              <a:buNone/>
            </a:pPr>
            <a:r>
              <a:rPr lang="en-US" sz="1250" dirty="0">
                <a:solidFill>
                  <a:schemeClr val="accent3"/>
                </a:solidFill>
              </a:rPr>
              <a:t>we pay your Coordinator and handle HR</a:t>
            </a:r>
            <a:endParaRPr lang="en-US" sz="1250" dirty="0"/>
          </a:p>
        </p:txBody>
      </p:sp>
      <p:sp>
        <p:nvSpPr>
          <p:cNvPr id="8" name="Text 6"/>
          <p:cNvSpPr txBox="1"/>
          <p:nvPr/>
        </p:nvSpPr>
        <p:spPr>
          <a:xfrm>
            <a:off x="905256" y="4069080"/>
            <a:ext cx="2972714" cy="822960"/>
          </a:xfrm>
          <a:prstGeom prst="rect">
            <a:avLst/>
          </a:prstGeom>
          <a:noFill/>
          <a:ln/>
        </p:spPr>
        <p:txBody>
          <a:bodyPr wrap="square" lIns="0" tIns="0" rIns="0" bIns="0" rtlCol="0" anchor="t"/>
          <a:lstStyle/>
          <a:p>
            <a:pPr indent="0" marL="0">
              <a:buNone/>
            </a:pPr>
            <a:r>
              <a:rPr lang="en-US" sz="1250" b="1" dirty="0">
                <a:solidFill>
                  <a:schemeClr val="tx1"/>
                </a:solidFill>
              </a:rPr>
              <a:t>Incentives</a:t>
            </a:r>
            <a:endParaRPr lang="en-US" sz="1250" dirty="0"/>
          </a:p>
          <a:p>
            <a:pPr indent="0" marL="0">
              <a:buNone/>
            </a:pPr>
            <a:r>
              <a:rPr lang="en-US" sz="1250" dirty="0">
                <a:solidFill>
                  <a:schemeClr val="accent3"/>
                </a:solidFill>
              </a:rPr>
              <a:t>health vouchers and annual rewards for staying</a:t>
            </a:r>
            <a:endParaRPr lang="en-US" sz="1250" dirty="0"/>
          </a:p>
        </p:txBody>
      </p:sp>
      <p:sp>
        <p:nvSpPr>
          <p:cNvPr id="9" name="card"/>
          <p:cNvSpPr/>
          <p:nvPr/>
        </p:nvSpPr>
        <p:spPr>
          <a:xfrm>
            <a:off x="4335170" y="1508760"/>
            <a:ext cx="3521354" cy="3657600"/>
          </a:xfrm>
          <a:prstGeom prst="roundRect">
            <a:avLst>
              <a:gd name="adj" fmla="val 2077"/>
            </a:avLst>
          </a:prstGeom>
          <a:solidFill>
            <a:schemeClr val="bg1"/>
          </a:solidFill>
          <a:ln w="12700">
            <a:solidFill>
              <a:schemeClr val="accent5"/>
            </a:solidFill>
            <a:prstDash val="solid"/>
          </a:ln>
        </p:spPr>
      </p:sp>
      <p:sp>
        <p:nvSpPr>
          <p:cNvPr id="10" name="Text 8"/>
          <p:cNvSpPr txBox="1"/>
          <p:nvPr/>
        </p:nvSpPr>
        <p:spPr>
          <a:xfrm>
            <a:off x="4609490" y="173736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IF SOMETHING ISN’T WORKING</a:t>
            </a:r>
            <a:endParaRPr lang="en-US" sz="1050" dirty="0"/>
          </a:p>
        </p:txBody>
      </p:sp>
      <p:sp>
        <p:nvSpPr>
          <p:cNvPr id="11" name="Text 9"/>
          <p:cNvSpPr txBox="1"/>
          <p:nvPr/>
        </p:nvSpPr>
        <p:spPr>
          <a:xfrm>
            <a:off x="4609490" y="2148840"/>
            <a:ext cx="2972714" cy="822960"/>
          </a:xfrm>
          <a:prstGeom prst="rect">
            <a:avLst/>
          </a:prstGeom>
          <a:noFill/>
          <a:ln/>
        </p:spPr>
        <p:txBody>
          <a:bodyPr wrap="square" lIns="0" tIns="0" rIns="0" bIns="0" rtlCol="0" anchor="t"/>
          <a:lstStyle/>
          <a:p>
            <a:pPr indent="0" marL="0">
              <a:buNone/>
            </a:pPr>
            <a:r>
              <a:rPr lang="en-US" sz="1250" b="1" dirty="0">
                <a:solidFill>
                  <a:schemeClr val="tx1"/>
                </a:solidFill>
              </a:rPr>
              <a:t>Raise it any time</a:t>
            </a:r>
            <a:endParaRPr lang="en-US" sz="1250" dirty="0"/>
          </a:p>
          <a:p>
            <a:pPr indent="0" marL="0">
              <a:buNone/>
            </a:pPr>
            <a:r>
              <a:rPr lang="en-US" sz="1250" dirty="0">
                <a:solidFill>
                  <a:schemeClr val="accent3"/>
                </a:solidFill>
              </a:rPr>
              <a:t>no need to wait for a check-in</a:t>
            </a:r>
            <a:endParaRPr lang="en-US" sz="1250" dirty="0"/>
          </a:p>
        </p:txBody>
      </p:sp>
      <p:sp>
        <p:nvSpPr>
          <p:cNvPr id="12" name="Text 10"/>
          <p:cNvSpPr txBox="1"/>
          <p:nvPr/>
        </p:nvSpPr>
        <p:spPr>
          <a:xfrm>
            <a:off x="4609490" y="3108960"/>
            <a:ext cx="2972714" cy="822960"/>
          </a:xfrm>
          <a:prstGeom prst="rect">
            <a:avLst/>
          </a:prstGeom>
          <a:noFill/>
          <a:ln/>
        </p:spPr>
        <p:txBody>
          <a:bodyPr wrap="square" lIns="0" tIns="0" rIns="0" bIns="0" rtlCol="0" anchor="t"/>
          <a:lstStyle/>
          <a:p>
            <a:pPr indent="0" marL="0">
              <a:buNone/>
            </a:pPr>
            <a:r>
              <a:rPr lang="en-US" sz="1250" b="1" dirty="0">
                <a:solidFill>
                  <a:schemeClr val="tx1"/>
                </a:solidFill>
              </a:rPr>
              <a:t>We fix it together</a:t>
            </a:r>
            <a:endParaRPr lang="en-US" sz="1250" dirty="0"/>
          </a:p>
          <a:p>
            <a:pPr indent="0" marL="0">
              <a:buNone/>
            </a:pPr>
            <a:r>
              <a:rPr lang="en-US" sz="1250" dirty="0">
                <a:solidFill>
                  <a:schemeClr val="accent3"/>
                </a:solidFill>
              </a:rPr>
              <a:t>your project manager helps adjust this plan</a:t>
            </a:r>
            <a:endParaRPr lang="en-US" sz="1250" dirty="0"/>
          </a:p>
        </p:txBody>
      </p:sp>
      <p:sp>
        <p:nvSpPr>
          <p:cNvPr id="13" name="Text 11"/>
          <p:cNvSpPr txBox="1"/>
          <p:nvPr/>
        </p:nvSpPr>
        <p:spPr>
          <a:xfrm>
            <a:off x="4609490" y="4069080"/>
            <a:ext cx="2972714" cy="822960"/>
          </a:xfrm>
          <a:prstGeom prst="rect">
            <a:avLst/>
          </a:prstGeom>
          <a:noFill/>
          <a:ln/>
        </p:spPr>
        <p:txBody>
          <a:bodyPr wrap="square" lIns="0" tIns="0" rIns="0" bIns="0" rtlCol="0" anchor="t"/>
          <a:lstStyle/>
          <a:p>
            <a:pPr indent="0" marL="0">
              <a:buNone/>
            </a:pPr>
            <a:r>
              <a:rPr lang="en-US" sz="1250" b="1" dirty="0">
                <a:solidFill>
                  <a:schemeClr val="tx1"/>
                </a:solidFill>
              </a:rPr>
              <a:t>Not the right fit?</a:t>
            </a:r>
            <a:endParaRPr lang="en-US" sz="1250" dirty="0"/>
          </a:p>
          <a:p>
            <a:pPr indent="0" marL="0">
              <a:buNone/>
            </a:pPr>
            <a:r>
              <a:rPr lang="en-US" sz="1250" dirty="0">
                <a:solidFill>
                  <a:schemeClr val="accent3"/>
                </a:solidFill>
              </a:rPr>
              <a:t>free replacement within 30 days, then a fair fee</a:t>
            </a:r>
            <a:endParaRPr lang="en-US" sz="1250" dirty="0"/>
          </a:p>
        </p:txBody>
      </p:sp>
      <p:sp>
        <p:nvSpPr>
          <p:cNvPr id="14" name="card"/>
          <p:cNvSpPr/>
          <p:nvPr/>
        </p:nvSpPr>
        <p:spPr>
          <a:xfrm>
            <a:off x="8039405" y="1508760"/>
            <a:ext cx="3521354" cy="3657600"/>
          </a:xfrm>
          <a:prstGeom prst="roundRect">
            <a:avLst>
              <a:gd name="adj" fmla="val 2077"/>
            </a:avLst>
          </a:prstGeom>
          <a:solidFill>
            <a:schemeClr val="accent4"/>
          </a:solidFill>
          <a:ln/>
        </p:spPr>
      </p:sp>
      <p:sp>
        <p:nvSpPr>
          <p:cNvPr id="15" name="Text 13"/>
          <p:cNvSpPr txBox="1"/>
          <p:nvPr/>
        </p:nvSpPr>
        <p:spPr>
          <a:xfrm>
            <a:off x="8313725" y="173736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IF SOMETHING IS WORKING</a:t>
            </a:r>
            <a:endParaRPr lang="en-US" sz="1050" dirty="0"/>
          </a:p>
        </p:txBody>
      </p:sp>
      <p:sp>
        <p:nvSpPr>
          <p:cNvPr id="16" name="Text 14"/>
          <p:cNvSpPr txBox="1"/>
          <p:nvPr/>
        </p:nvSpPr>
        <p:spPr>
          <a:xfrm>
            <a:off x="8313725" y="2148840"/>
            <a:ext cx="2972714" cy="822960"/>
          </a:xfrm>
          <a:prstGeom prst="rect">
            <a:avLst/>
          </a:prstGeom>
          <a:noFill/>
          <a:ln/>
        </p:spPr>
        <p:txBody>
          <a:bodyPr wrap="square" lIns="0" tIns="0" rIns="0" bIns="0" rtlCol="0" anchor="t"/>
          <a:lstStyle/>
          <a:p>
            <a:pPr indent="0" marL="0">
              <a:buNone/>
            </a:pPr>
            <a:r>
              <a:rPr lang="en-US" sz="1250" b="1" dirty="0">
                <a:solidFill>
                  <a:schemeClr val="tx1"/>
                </a:solidFill>
              </a:rPr>
              <a:t>We build on it</a:t>
            </a:r>
            <a:endParaRPr lang="en-US" sz="1250" dirty="0"/>
          </a:p>
          <a:p>
            <a:pPr indent="0" marL="0">
              <a:buNone/>
            </a:pPr>
            <a:r>
              <a:rPr lang="en-US" sz="1250" dirty="0">
                <a:solidFill>
                  <a:schemeClr val="accent3"/>
                </a:solidFill>
              </a:rPr>
              <a:t>PA tasks and more hours in the quieter months</a:t>
            </a:r>
            <a:endParaRPr lang="en-US" sz="1250" dirty="0"/>
          </a:p>
        </p:txBody>
      </p:sp>
      <p:sp>
        <p:nvSpPr>
          <p:cNvPr id="17" name="Text 15"/>
          <p:cNvSpPr txBox="1"/>
          <p:nvPr/>
        </p:nvSpPr>
        <p:spPr>
          <a:xfrm>
            <a:off x="8313725" y="3108960"/>
            <a:ext cx="2972714" cy="822960"/>
          </a:xfrm>
          <a:prstGeom prst="rect">
            <a:avLst/>
          </a:prstGeom>
          <a:noFill/>
          <a:ln/>
        </p:spPr>
        <p:txBody>
          <a:bodyPr wrap="square" lIns="0" tIns="0" rIns="0" bIns="0" rtlCol="0" anchor="t"/>
          <a:lstStyle/>
          <a:p>
            <a:pPr indent="0" marL="0">
              <a:buNone/>
            </a:pPr>
            <a:r>
              <a:rPr lang="en-US" sz="1250" b="1" dirty="0">
                <a:solidFill>
                  <a:schemeClr val="tx1"/>
                </a:solidFill>
              </a:rPr>
              <a:t>We plan growth</a:t>
            </a:r>
            <a:endParaRPr lang="en-US" sz="1250" dirty="0"/>
          </a:p>
          <a:p>
            <a:pPr indent="0" marL="0">
              <a:buNone/>
            </a:pPr>
            <a:r>
              <a:rPr lang="en-US" sz="1250" dirty="0">
                <a:solidFill>
                  <a:schemeClr val="accent3"/>
                </a:solidFill>
              </a:rPr>
              <a:t>more hours as The Play Agency grows</a:t>
            </a:r>
            <a:endParaRPr lang="en-US" sz="1250" dirty="0"/>
          </a:p>
        </p:txBody>
      </p:sp>
      <p:sp>
        <p:nvSpPr>
          <p:cNvPr id="18" name="Text 16"/>
          <p:cNvSpPr txBox="1"/>
          <p:nvPr/>
        </p:nvSpPr>
        <p:spPr>
          <a:xfrm>
            <a:off x="8313725" y="4069080"/>
            <a:ext cx="2972714" cy="822960"/>
          </a:xfrm>
          <a:prstGeom prst="rect">
            <a:avLst/>
          </a:prstGeom>
          <a:noFill/>
          <a:ln/>
        </p:spPr>
        <p:txBody>
          <a:bodyPr wrap="square" lIns="0" tIns="0" rIns="0" bIns="0" rtlCol="0" anchor="t"/>
          <a:lstStyle/>
          <a:p>
            <a:pPr indent="0" marL="0">
              <a:buNone/>
            </a:pPr>
            <a:r>
              <a:rPr lang="en-US" sz="1250" b="1" dirty="0">
                <a:solidFill>
                  <a:schemeClr val="tx1"/>
                </a:solidFill>
              </a:rPr>
              <a:t>We celebrate it</a:t>
            </a:r>
            <a:endParaRPr lang="en-US" sz="1250" dirty="0"/>
          </a:p>
          <a:p>
            <a:pPr indent="0" marL="0">
              <a:buNone/>
            </a:pPr>
            <a:r>
              <a:rPr lang="en-US" sz="1250" dirty="0">
                <a:solidFill>
                  <a:schemeClr val="accent3"/>
                </a:solidFill>
              </a:rPr>
              <a:t>add it to your Wins Log</a:t>
            </a:r>
            <a:endParaRPr lang="en-US" sz="1250" dirty="0"/>
          </a:p>
        </p:txBody>
      </p:sp>
      <p:sp>
        <p:nvSpPr>
          <p:cNvPr id="19" name="callout"/>
          <p:cNvSpPr/>
          <p:nvPr/>
        </p:nvSpPr>
        <p:spPr>
          <a:xfrm>
            <a:off x="630936" y="5394960"/>
            <a:ext cx="10929823" cy="548640"/>
          </a:xfrm>
          <a:prstGeom prst="roundRect">
            <a:avLst>
              <a:gd name="adj" fmla="val 13333"/>
            </a:avLst>
          </a:prstGeom>
          <a:solidFill>
            <a:schemeClr val="accent4"/>
          </a:solidFill>
          <a:ln/>
        </p:spPr>
      </p:sp>
      <p:sp>
        <p:nvSpPr>
          <p:cNvPr id="20" name="Text 18"/>
          <p:cNvSpPr txBox="1"/>
          <p:nvPr/>
        </p:nvSpPr>
        <p:spPr>
          <a:xfrm>
            <a:off x="859536" y="5394960"/>
            <a:ext cx="10472623" cy="548640"/>
          </a:xfrm>
          <a:prstGeom prst="rect">
            <a:avLst/>
          </a:prstGeom>
          <a:noFill/>
          <a:ln/>
        </p:spPr>
        <p:txBody>
          <a:bodyPr wrap="square" lIns="0" tIns="0" rIns="0" bIns="0" rtlCol="0" anchor="ctr"/>
          <a:lstStyle/>
          <a:p>
            <a:pPr indent="0" marL="0">
              <a:buNone/>
            </a:pPr>
            <a:r>
              <a:rPr lang="en-US" sz="1250" b="1" dirty="0">
                <a:solidFill>
                  <a:schemeClr val="accent1"/>
                </a:solidFill>
              </a:rPr>
              <a:t>Included with Angel Essential: your Freedom Plan, payroll, health vouchers and annual incentives. Upgrade to Angel Managed any time.</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body" hasCustomPrompt="1"/>
          </p:nvPr>
        </p:nvSpPr>
        <p:spPr>
          <a:xfrm>
            <a:off x="630936" y="2148840"/>
            <a:ext cx="8229600" cy="320040"/>
          </a:xfrm>
          <a:prstGeom prst="rect">
            <a:avLst/>
          </a:prstGeom>
          <a:noFill/>
          <a:ln/>
        </p:spPr>
        <p:txBody>
          <a:bodyPr wrap="square" lIns="0" tIns="0" rIns="0" bIns="0" rtlCol="0"/>
          <a:lstStyle/>
          <a:p>
            <a:pPr indent="0" marL="0">
              <a:buNone/>
            </a:pPr>
            <a:r>
              <a:rPr lang="en-US" sz="1200" b="1" spc="300" kern="0" dirty="0">
                <a:solidFill>
                  <a:srgbClr val="7FE0C2"/>
                </a:solidFill>
              </a:rPr>
              <a:t>THE GOAL</a:t>
            </a:r>
            <a:endParaRPr lang="en-US" sz="1200" dirty="0"/>
          </a:p>
        </p:txBody>
      </p:sp>
      <p:sp>
        <p:nvSpPr>
          <p:cNvPr id="3" name="Text 1"/>
          <p:cNvSpPr/>
          <p:nvPr>
            <p:ph idx="102" type="title" hasCustomPrompt="1"/>
          </p:nvPr>
        </p:nvSpPr>
        <p:spPr>
          <a:xfrm>
            <a:off x="630936" y="2560320"/>
            <a:ext cx="9144000" cy="914400"/>
          </a:xfrm>
          <a:prstGeom prst="rect">
            <a:avLst/>
          </a:prstGeom>
          <a:noFill/>
          <a:ln/>
        </p:spPr>
        <p:txBody>
          <a:bodyPr wrap="square" lIns="0" tIns="0" rIns="0" bIns="0" rtlCol="0" anchor="ctr"/>
          <a:lstStyle/>
          <a:p>
            <a:pPr algn="l" indent="0" marL="0">
              <a:buNone/>
            </a:pPr>
            <a:r>
              <a:rPr lang="en-US" sz="4000" b="1" dirty="0">
                <a:solidFill>
                  <a:schemeClr val="bg1"/>
                </a:solidFill>
                <a:latin typeface="Cambria" pitchFamily="34" charset="0"/>
                <a:ea typeface="Cambria" pitchFamily="34" charset="-122"/>
                <a:cs typeface="Cambria" pitchFamily="34" charset="-120"/>
              </a:rPr>
              <a:t>More time to create iconic events</a:t>
            </a:r>
            <a:endParaRPr lang="en-US" sz="4000" dirty="0"/>
          </a:p>
        </p:txBody>
      </p:sp>
      <p:sp>
        <p:nvSpPr>
          <p:cNvPr id="4" name="Text 1"/>
          <p:cNvSpPr/>
          <p:nvPr>
            <p:ph idx="103" type="body" hasCustomPrompt="1"/>
          </p:nvPr>
        </p:nvSpPr>
        <p:spPr>
          <a:xfrm>
            <a:off x="630936" y="3611880"/>
            <a:ext cx="7863840" cy="1005840"/>
          </a:xfrm>
          <a:prstGeom prst="rect">
            <a:avLst/>
          </a:prstGeom>
          <a:noFill/>
          <a:ln/>
        </p:spPr>
        <p:txBody>
          <a:bodyPr wrap="square" lIns="0" tIns="0" rIns="0" bIns="0" rtlCol="0" anchor="t"/>
          <a:lstStyle/>
          <a:p>
            <a:pPr indent="0" marL="0">
              <a:buNone/>
            </a:pPr>
            <a:r>
              <a:rPr lang="en-US" sz="1500" dirty="0">
                <a:solidFill>
                  <a:srgbClr val="DBE3E6"/>
                </a:solidFill>
              </a:rPr>
              <a:t>Not someone to just do data entry, but the person who looks after every inquiry. Belinda, Chantel and Krystie design and deliver events, while their Coordinator keeps every deal, booking and invoice moving.</a:t>
            </a:r>
            <a:endParaRPr lang="en-US" sz="1500" dirty="0"/>
          </a:p>
          <a:p>
            <a:pPr indent="0" marL="0">
              <a:buNone/>
            </a:pPr>
            <a:endParaRPr lang="en-US" sz="1500" dirty="0"/>
          </a:p>
          <a:p>
            <a:pPr indent="0" marL="0">
              <a:buNone/>
            </a:pPr>
            <a:r>
              <a:rPr lang="en-US" sz="1500" dirty="0">
                <a:solidFill>
                  <a:srgbClr val="DBE3E6"/>
                </a:solidFill>
              </a:rPr>
              <a:t>This plan grows with you. See you at Day 30.</a:t>
            </a:r>
            <a:endParaRPr lang="en-US" sz="150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AEB9BD"/>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A  ·  06  ·  WORKFLOW</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The Inquiry-to-Invoice Workflow</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Your Coordinator’s full 360: first reply, handover to a designer, then back in to book, invoice and follow up.</a:t>
            </a:r>
            <a:endParaRPr lang="en-US" sz="1300" dirty="0"/>
          </a:p>
        </p:txBody>
      </p:sp>
      <p:sp>
        <p:nvSpPr>
          <p:cNvPr id="5" name="card"/>
          <p:cNvSpPr/>
          <p:nvPr/>
        </p:nvSpPr>
        <p:spPr>
          <a:xfrm>
            <a:off x="630936" y="1965960"/>
            <a:ext cx="5373472" cy="1691640"/>
          </a:xfrm>
          <a:prstGeom prst="roundRect">
            <a:avLst>
              <a:gd name="adj" fmla="val 4324"/>
            </a:avLst>
          </a:prstGeom>
          <a:solidFill>
            <a:schemeClr val="bg1"/>
          </a:solidFill>
          <a:ln w="12700">
            <a:solidFill>
              <a:schemeClr val="accent5"/>
            </a:solidFill>
            <a:prstDash val="solid"/>
          </a:ln>
        </p:spPr>
      </p:sp>
      <p:sp>
        <p:nvSpPr>
          <p:cNvPr id="6" name="Text 4"/>
          <p:cNvSpPr txBox="1"/>
          <p:nvPr/>
        </p:nvSpPr>
        <p:spPr>
          <a:xfrm>
            <a:off x="905256" y="2194560"/>
            <a:ext cx="482483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1  ·  RESPOND &amp; CAPTURE</a:t>
            </a:r>
            <a:endParaRPr lang="en-US" sz="1050" dirty="0"/>
          </a:p>
        </p:txBody>
      </p:sp>
      <p:sp>
        <p:nvSpPr>
          <p:cNvPr id="7" name="Text 5"/>
          <p:cNvSpPr txBox="1"/>
          <p:nvPr/>
        </p:nvSpPr>
        <p:spPr>
          <a:xfrm>
            <a:off x="905256" y="2514600"/>
            <a:ext cx="4824832" cy="1051560"/>
          </a:xfrm>
          <a:prstGeom prst="rect">
            <a:avLst/>
          </a:prstGeom>
          <a:noFill/>
          <a:ln/>
        </p:spPr>
        <p:txBody>
          <a:bodyPr wrap="square" lIns="0" tIns="0" rIns="0" bIns="0" rtlCol="0" anchor="t"/>
          <a:lstStyle/>
          <a:p>
            <a:pPr indent="0" marL="0">
              <a:buNone/>
            </a:pPr>
            <a:r>
              <a:rPr lang="en-US" sz="1250" dirty="0">
                <a:solidFill>
                  <a:schemeClr val="accent3"/>
                </a:solidFill>
              </a:rPr>
              <a:t>Reply within the hour using the templates. Capture date, time, location, service, guest count, event type and budget, if they’ll share it.</a:t>
            </a:r>
            <a:endParaRPr lang="en-US" sz="1250" dirty="0"/>
          </a:p>
        </p:txBody>
      </p:sp>
      <p:sp>
        <p:nvSpPr>
          <p:cNvPr id="8" name="card"/>
          <p:cNvSpPr/>
          <p:nvPr/>
        </p:nvSpPr>
        <p:spPr>
          <a:xfrm>
            <a:off x="6187288" y="1965960"/>
            <a:ext cx="5373472" cy="1691640"/>
          </a:xfrm>
          <a:prstGeom prst="roundRect">
            <a:avLst>
              <a:gd name="adj" fmla="val 4324"/>
            </a:avLst>
          </a:prstGeom>
          <a:solidFill>
            <a:schemeClr val="bg1"/>
          </a:solidFill>
          <a:ln w="12700">
            <a:solidFill>
              <a:schemeClr val="accent5"/>
            </a:solidFill>
            <a:prstDash val="solid"/>
          </a:ln>
        </p:spPr>
      </p:sp>
      <p:sp>
        <p:nvSpPr>
          <p:cNvPr id="9" name="Text 7"/>
          <p:cNvSpPr txBox="1"/>
          <p:nvPr/>
        </p:nvSpPr>
        <p:spPr>
          <a:xfrm>
            <a:off x="6461608" y="2194560"/>
            <a:ext cx="482483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2  ·  SET UP &amp; ASSIGN</a:t>
            </a:r>
            <a:endParaRPr lang="en-US" sz="1050" dirty="0"/>
          </a:p>
        </p:txBody>
      </p:sp>
      <p:sp>
        <p:nvSpPr>
          <p:cNvPr id="10" name="Text 8"/>
          <p:cNvSpPr txBox="1"/>
          <p:nvPr/>
        </p:nvSpPr>
        <p:spPr>
          <a:xfrm>
            <a:off x="6461608" y="2514600"/>
            <a:ext cx="4824832" cy="1051560"/>
          </a:xfrm>
          <a:prstGeom prst="rect">
            <a:avLst/>
          </a:prstGeom>
          <a:noFill/>
          <a:ln/>
        </p:spPr>
        <p:txBody>
          <a:bodyPr wrap="square" lIns="0" tIns="0" rIns="0" bIns="0" rtlCol="0" anchor="t"/>
          <a:lstStyle/>
          <a:p>
            <a:pPr indent="0" marL="0">
              <a:buNone/>
            </a:pPr>
            <a:r>
              <a:rPr lang="en-US" sz="1250" dirty="0">
                <a:solidFill>
                  <a:schemeClr val="accent3"/>
                </a:solidFill>
              </a:rPr>
              <a:t>Create the deal in Pipedrive. Styling goes to Belinda, entertainment to Chantel, and high-level or overflow inquiries to Krystie.</a:t>
            </a:r>
            <a:endParaRPr lang="en-US" sz="1250" dirty="0"/>
          </a:p>
        </p:txBody>
      </p:sp>
      <p:sp>
        <p:nvSpPr>
          <p:cNvPr id="11" name="card"/>
          <p:cNvSpPr/>
          <p:nvPr/>
        </p:nvSpPr>
        <p:spPr>
          <a:xfrm>
            <a:off x="630936" y="3840480"/>
            <a:ext cx="5373472" cy="1691640"/>
          </a:xfrm>
          <a:prstGeom prst="roundRect">
            <a:avLst>
              <a:gd name="adj" fmla="val 4324"/>
            </a:avLst>
          </a:prstGeom>
          <a:solidFill>
            <a:schemeClr val="bg1"/>
          </a:solidFill>
          <a:ln w="12700">
            <a:solidFill>
              <a:schemeClr val="accent5"/>
            </a:solidFill>
            <a:prstDash val="solid"/>
          </a:ln>
        </p:spPr>
      </p:sp>
      <p:sp>
        <p:nvSpPr>
          <p:cNvPr id="12" name="Text 10"/>
          <p:cNvSpPr txBox="1"/>
          <p:nvPr/>
        </p:nvSpPr>
        <p:spPr>
          <a:xfrm>
            <a:off x="905256" y="4069080"/>
            <a:ext cx="482483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3  ·  FOLLOW UP</a:t>
            </a:r>
            <a:endParaRPr lang="en-US" sz="1050" dirty="0"/>
          </a:p>
        </p:txBody>
      </p:sp>
      <p:sp>
        <p:nvSpPr>
          <p:cNvPr id="13" name="Text 11"/>
          <p:cNvSpPr txBox="1"/>
          <p:nvPr/>
        </p:nvSpPr>
        <p:spPr>
          <a:xfrm>
            <a:off x="905256" y="4389120"/>
            <a:ext cx="4824832" cy="1051560"/>
          </a:xfrm>
          <a:prstGeom prst="rect">
            <a:avLst/>
          </a:prstGeom>
          <a:noFill/>
          <a:ln/>
        </p:spPr>
        <p:txBody>
          <a:bodyPr wrap="square" lIns="0" tIns="0" rIns="0" bIns="0" rtlCol="0" anchor="t"/>
          <a:lstStyle/>
          <a:p>
            <a:pPr indent="0" marL="0">
              <a:buNone/>
            </a:pPr>
            <a:r>
              <a:rPr lang="en-US" sz="1250" dirty="0">
                <a:solidFill>
                  <a:schemeClr val="accent3"/>
                </a:solidFill>
              </a:rPr>
              <a:t>No reply? Follow up on day 3, send a final email on day 6, then close. Set packages get their pricing brochure straight away.</a:t>
            </a:r>
            <a:endParaRPr lang="en-US" sz="1250" dirty="0"/>
          </a:p>
        </p:txBody>
      </p:sp>
      <p:sp>
        <p:nvSpPr>
          <p:cNvPr id="14" name="card"/>
          <p:cNvSpPr/>
          <p:nvPr/>
        </p:nvSpPr>
        <p:spPr>
          <a:xfrm>
            <a:off x="6187288" y="3840480"/>
            <a:ext cx="5373472" cy="1691640"/>
          </a:xfrm>
          <a:prstGeom prst="roundRect">
            <a:avLst>
              <a:gd name="adj" fmla="val 4324"/>
            </a:avLst>
          </a:prstGeom>
          <a:solidFill>
            <a:schemeClr val="bg1"/>
          </a:solidFill>
          <a:ln w="12700">
            <a:solidFill>
              <a:schemeClr val="accent5"/>
            </a:solidFill>
            <a:prstDash val="solid"/>
          </a:ln>
        </p:spPr>
      </p:sp>
      <p:sp>
        <p:nvSpPr>
          <p:cNvPr id="15" name="Text 13"/>
          <p:cNvSpPr txBox="1"/>
          <p:nvPr/>
        </p:nvSpPr>
        <p:spPr>
          <a:xfrm>
            <a:off x="6461608" y="4069080"/>
            <a:ext cx="482483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4  ·  BOOK &amp; INVOICE</a:t>
            </a:r>
            <a:endParaRPr lang="en-US" sz="1050" dirty="0"/>
          </a:p>
        </p:txBody>
      </p:sp>
      <p:sp>
        <p:nvSpPr>
          <p:cNvPr id="16" name="Text 14"/>
          <p:cNvSpPr txBox="1"/>
          <p:nvPr/>
        </p:nvSpPr>
        <p:spPr>
          <a:xfrm>
            <a:off x="6461608" y="4389120"/>
            <a:ext cx="4824832" cy="1051560"/>
          </a:xfrm>
          <a:prstGeom prst="rect">
            <a:avLst/>
          </a:prstGeom>
          <a:noFill/>
          <a:ln/>
        </p:spPr>
        <p:txBody>
          <a:bodyPr wrap="square" lIns="0" tIns="0" rIns="0" bIns="0" rtlCol="0" anchor="t"/>
          <a:lstStyle/>
          <a:p>
            <a:pPr indent="0" marL="0">
              <a:buNone/>
            </a:pPr>
            <a:r>
              <a:rPr lang="en-US" sz="1250" dirty="0">
                <a:solidFill>
                  <a:schemeClr val="accent3"/>
                </a:solidFill>
              </a:rPr>
              <a:t>Once a sale closes: calendar invites to suppliers, the client invoice from Pipedrive, and a payment follow-up within a week of the event.</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OA Freedom Plan">
  <a:themeElements>
    <a:clrScheme name="OA Freedom Plan">
      <a:dk1>
        <a:srgbClr val="212B35"/>
      </a:dk1>
      <a:lt1>
        <a:srgbClr val="FFFFFF"/>
      </a:lt1>
      <a:dk2>
        <a:srgbClr val="1B2530"/>
      </a:dk2>
      <a:lt2>
        <a:srgbClr val="F4F6F6"/>
      </a:lt2>
      <a:accent1>
        <a:srgbClr val="1F8A6D"/>
      </a:accent1>
      <a:accent2>
        <a:srgbClr val="2FAE8B"/>
      </a:accent2>
      <a:accent3>
        <a:srgbClr val="6B7684"/>
      </a:accent3>
      <a:accent4>
        <a:srgbClr val="E1F3EC"/>
      </a:accent4>
      <a:accent5>
        <a:srgbClr val="E6E9EA"/>
      </a:accent5>
      <a:accent6>
        <a:srgbClr val="E2A53D"/>
      </a:accent6>
      <a:hlink>
        <a:srgbClr val="1F8A6D"/>
      </a:hlink>
      <a:folHlink>
        <a:srgbClr val="6B7684"/>
      </a:folHlink>
    </a:clrScheme>
    <a:fontScheme name="OA Freedom Pla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Outsourcing Angel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Freedom Plan: Krystie Cekic, The Play Agency</dc:title>
  <dc:subject>PptxGenJS Presentation</dc:subject>
  <dc:creator>Gail Galima-Mendoza</dc:creator>
  <cp:lastModifiedBy>Gail Galima-Mendoza</cp:lastModifiedBy>
  <cp:revision>1</cp:revision>
  <dcterms:created xsi:type="dcterms:W3CDTF">2026-10-13T04:45:00Z</dcterms:created>
  <dcterms:modified xsi:type="dcterms:W3CDTF">2026-10-13T04:45:00Z</dcterms:modified>
</cp:coreProperties>
</file>