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be72d57f-cf1b-c0ae-963d-482252847e55}">
          <p14:sldIdLst>
            <p14:sldId id="256"/>
            <p14:sldId id="257"/>
          </p14:sldIdLst>
        </p14:section>
        <p14:section name="Rocks" id="{2aa97b4f-a32f-261d-174d-26858c2d00d3}">
          <p14:sldIdLst>
            <p14:sldId id="258"/>
            <p14:sldId id="259"/>
            <p14:sldId id="260"/>
            <p14:sldId id="261"/>
          </p14:sldIdLst>
        </p14:section>
        <p14:section name="Next quarter" id="{bec216a2-1347-ba69-0aee-830be3f18f94}">
          <p14:sldIdLst>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theme was Back to Basics: get more out of the leads, products and feedback we already had. All three Rocks were delivered.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numbers tell the story. 12 sales in September from the new flexible products. One previously lost client won back through reactivation. We now have 10 ways to buy, up from one core VA offer: the 8-step 2027 product ladder plus OAX100 and the Fractional Partners. And we now know the three reasons leads say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line per Rock: the goal we set at the start of the quarter, the result, and the status. Details on the next three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Reactivation and BDM outreach went from ad-hoc to a daily habit. Past and lost leads now get tailored follow-up, with nurture for anyone not ready yet. Proof it works: Andrew Owen, a previously lost lead, converted, and several warm leads have re-engaged and are in the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Ms Linh set the product vision: the 2027 product ladder of 8 products from Plan to Scale, plus OAX100 (upcoming) and the Fractional Partners for Marketing and AI. That is 10 ways to buy, up from one core VA offer. Every client starts with the $500 Freedom Plan, which is credited in full toward whichever product they choose next. Sales built the pitch and led calls with flexible options instead of one fixed package. Prospects who used to walk away because one package did not fit now find one that does, which gives us new entry points and upgrade paths.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captured why lost leads did not go ahead, from post-call notes and reactivation replies, and grouped the feedback into themes. Three reasons stand out. Most lost deals are about timing and clients shopping and comparing, not OA's quality. Each reason now has an answer we are building into offers and nurture.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reactivating the CRM and leading with flexible options both clearly worked. Change: open with the Freedom Plan as a low-commitment first step, lead with outcomes and value, and nurture leads who are not ready instead of letting them go cold.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numbers we will report on next quarter, with Q2 as the starting point. Suggest agreeing a Q3 target for each in this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A Title">
    <p:bg>
      <p:bgPr>
        <a:solidFill>
          <a:schemeClr val="bg1"/>
        </a:solidFill>
      </p:bgPr>
    </p:bg>
    <p:spTree>
      <p:nvGrpSpPr>
        <p:cNvPr id="1" name=""/>
        <p:cNvGrpSpPr/>
        <p:nvPr/>
      </p:nvGrpSpPr>
      <p:grpSpPr>
        <a:xfrm>
          <a:off x="0" y="0"/>
          <a:ext cx="0" cy="0"/>
          <a:chOff x="0" y="0"/>
          <a:chExt cx="0" cy="0"/>
        </a:xfrm>
      </p:grpSpPr>
      <p:pic>
        <p:nvPicPr>
          <p:cNvPr id="2" name="Image 0" descr="/tmp/claude-0/-home-user-OA/bcd1efb0-4fbd-5266-b5d0-314fe4bbda66/scratchpad/build/logo.png">    </p:cNvPr>
          <p:cNvPicPr>
            <a:picLocks noChangeAspect="1"/>
          </p:cNvPicPr>
          <p:nvPr/>
        </p:nvPicPr>
        <p:blipFill>
          <a:blip r:embed="rId1"/>
          <a:stretch>
            <a:fillRect/>
          </a:stretch>
        </p:blipFill>
        <p:spPr>
          <a:xfrm>
            <a:off x="457200" y="411480"/>
            <a:ext cx="2377440" cy="288036"/>
          </a:xfrm>
          <a:prstGeom prst="rect">
            <a:avLst/>
          </a:prstGeom>
        </p:spPr>
      </p:pic>
      <p:sp>
        <p:nvSpPr>
          <p:cNvPr id="3" name="Text 0"/>
          <p:cNvSpPr/>
          <p:nvPr>
            <p:ph idx="101" type="body" hasCustomPrompt="1"/>
          </p:nvPr>
        </p:nvSpPr>
        <p:spPr>
          <a:xfrm>
            <a:off x="457200" y="1325880"/>
            <a:ext cx="5120640" cy="320040"/>
          </a:xfrm>
          <a:prstGeom prst="rect">
            <a:avLst/>
          </a:prstGeom>
          <a:noFill/>
          <a:ln/>
        </p:spPr>
        <p:txBody>
          <a:bodyPr wrap="square" rtlCol="0"/>
          <a:lstStyle>
            <a:lvl1pPr indent="0" marL="0">
              <a:buNone/>
              <a:defRPr lang="en-US" sz="1200" b="1" spc="200" kern="0" dirty="0">
                <a:solidFill>
                  <a:schemeClr val="accent5"/>
                </a:solidFill>
              </a:defRPr>
            </a:lvl1pPr>
          </a:lstStyle>
          <a:p>
            <a:pPr indent="0" marL="0">
              <a:buNone/>
            </a:pPr>
            <a:endParaRPr lang="en-US" sz="1200" dirty="0"/>
          </a:p>
        </p:txBody>
      </p:sp>
      <p:sp>
        <p:nvSpPr>
          <p:cNvPr id="4" name="Text 0"/>
          <p:cNvSpPr/>
          <p:nvPr>
            <p:ph idx="102" type="title" hasCustomPrompt="1"/>
          </p:nvPr>
        </p:nvSpPr>
        <p:spPr>
          <a:xfrm>
            <a:off x="457200" y="1691640"/>
            <a:ext cx="5120640" cy="914400"/>
          </a:xfrm>
          <a:prstGeom prst="rect">
            <a:avLst/>
          </a:prstGeom>
          <a:noFill/>
          <a:ln/>
        </p:spPr>
        <p:txBody>
          <a:bodyPr wrap="square" rtlCol="0"/>
          <a:lstStyle>
            <a:lvl1pPr algn="l" indent="0" marL="0">
              <a:buNone/>
              <a:defRPr lang="en-US" sz="4400" b="1" dirty="0">
                <a:solidFill>
                  <a:schemeClr val="tx1"/>
                </a:solidFill>
              </a:defRPr>
            </a:lvl1pPr>
          </a:lstStyle>
          <a:p>
            <a:pPr algn="l" indent="0" marL="0">
              <a:buNone/>
            </a:pPr>
            <a:endParaRPr lang="en-US" sz="4400" dirty="0"/>
          </a:p>
        </p:txBody>
      </p:sp>
      <p:sp>
        <p:nvSpPr>
          <p:cNvPr id="5" name="Text 0"/>
          <p:cNvSpPr/>
          <p:nvPr>
            <p:ph idx="103" type="body" hasCustomPrompt="1"/>
          </p:nvPr>
        </p:nvSpPr>
        <p:spPr>
          <a:xfrm>
            <a:off x="457200" y="2651760"/>
            <a:ext cx="4937760" cy="822960"/>
          </a:xfrm>
          <a:prstGeom prst="rect">
            <a:avLst/>
          </a:prstGeom>
          <a:noFill/>
          <a:ln/>
        </p:spPr>
        <p:txBody>
          <a:bodyPr wrap="square" rtlCol="0"/>
          <a:lstStyle>
            <a:lvl1pPr indent="0" marL="0">
              <a:buNone/>
              <a:defRPr lang="en-US" sz="1500" dirty="0">
                <a:solidFill>
                  <a:schemeClr val="accent3"/>
                </a:solidFill>
              </a:defRPr>
            </a:lvl1pPr>
          </a:lstStyle>
          <a:p>
            <a:pPr indent="0" marL="0">
              <a:buNone/>
            </a:pPr>
            <a:endParaRPr lang="en-US" sz="15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A 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chemeClr val="accent3"/>
                </a:solidFill>
              </a:rPr>
              <a:t>Outsourcing Angel  ·  Sales  ·  Q2 2026 Rock Recap</a:t>
            </a:r>
            <a:endParaRPr lang="en-US" sz="900" dirty="0"/>
          </a:p>
        </p:txBody>
      </p:sp>
      <p:sp>
        <p:nvSpPr>
          <p:cNvPr id="3" name="Text 1"/>
          <p:cNvSpPr/>
          <p:nvPr>
            <p:ph idx="101" type="body" hasCustomPrompt="1"/>
          </p:nvPr>
        </p:nvSpPr>
        <p:spPr>
          <a:xfrm>
            <a:off x="457200" y="320040"/>
            <a:ext cx="8229600" cy="274320"/>
          </a:xfrm>
          <a:prstGeom prst="rect">
            <a:avLst/>
          </a:prstGeom>
          <a:noFill/>
          <a:ln/>
        </p:spPr>
        <p:txBody>
          <a:bodyPr wrap="square" rtlCol="0"/>
          <a:lstStyle>
            <a:lvl1pPr indent="0" marL="0">
              <a:buNone/>
              <a:defRPr lang="en-US" sz="1100" b="1" spc="200" kern="0" dirty="0">
                <a:solidFill>
                  <a:schemeClr val="accent5"/>
                </a:solidFill>
              </a:defRPr>
            </a:lvl1pPr>
          </a:lstStyle>
          <a:p>
            <a:pPr indent="0" marL="0">
              <a:buNone/>
            </a:pPr>
            <a:endParaRPr lang="en-US" sz="1100" dirty="0"/>
          </a:p>
        </p:txBody>
      </p:sp>
      <p:sp>
        <p:nvSpPr>
          <p:cNvPr id="4" name="Text 1"/>
          <p:cNvSpPr/>
          <p:nvPr>
            <p:ph idx="102" type="title" hasCustomPrompt="1"/>
          </p:nvPr>
        </p:nvSpPr>
        <p:spPr>
          <a:xfrm>
            <a:off x="457200" y="594360"/>
            <a:ext cx="8229600" cy="548640"/>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body" hasCustomPrompt="1"/>
          </p:nvPr>
        </p:nvSpPr>
        <p:spPr>
          <a:xfrm>
            <a:off x="457200" y="1325880"/>
            <a:ext cx="5120640" cy="320040"/>
          </a:xfrm>
          <a:prstGeom prst="rect">
            <a:avLst/>
          </a:prstGeom>
          <a:noFill/>
          <a:ln/>
        </p:spPr>
        <p:txBody>
          <a:bodyPr wrap="square" lIns="0" tIns="0" rIns="0" bIns="0" rtlCol="0" anchor="ctr"/>
          <a:lstStyle/>
          <a:p>
            <a:pPr indent="0" marL="0">
              <a:buNone/>
            </a:pPr>
            <a:r>
              <a:rPr lang="en-US" sz="1200" b="1" spc="200" kern="0" dirty="0">
                <a:solidFill>
                  <a:schemeClr val="accent5"/>
                </a:solidFill>
              </a:rPr>
              <a:t>Q2 2026  ·  SALES ROCK RECAP</a:t>
            </a:r>
            <a:endParaRPr lang="en-US" sz="1200" dirty="0"/>
          </a:p>
        </p:txBody>
      </p:sp>
      <p:sp>
        <p:nvSpPr>
          <p:cNvPr id="3" name="Text 0"/>
          <p:cNvSpPr/>
          <p:nvPr>
            <p:ph idx="102" type="title" hasCustomPrompt="1"/>
          </p:nvPr>
        </p:nvSpPr>
        <p:spPr>
          <a:xfrm>
            <a:off x="457200" y="1691640"/>
            <a:ext cx="5120640" cy="914400"/>
          </a:xfrm>
          <a:prstGeom prst="rect">
            <a:avLst/>
          </a:prstGeom>
          <a:noFill/>
          <a:ln/>
        </p:spPr>
        <p:txBody>
          <a:bodyPr wrap="square" lIns="0" tIns="0" rIns="0" bIns="0" rtlCol="0" anchor="ctr"/>
          <a:lstStyle/>
          <a:p>
            <a:pPr algn="l" indent="0" marL="0">
              <a:buNone/>
            </a:pPr>
            <a:r>
              <a:rPr lang="en-US" sz="4400" b="1" dirty="0">
                <a:solidFill>
                  <a:schemeClr val="tx1"/>
                </a:solidFill>
              </a:rPr>
              <a:t>Back to Basics</a:t>
            </a:r>
            <a:endParaRPr lang="en-US" sz="4400" dirty="0"/>
          </a:p>
        </p:txBody>
      </p:sp>
      <p:sp>
        <p:nvSpPr>
          <p:cNvPr id="4" name="Text 0"/>
          <p:cNvSpPr/>
          <p:nvPr>
            <p:ph idx="103" type="body" hasCustomPrompt="1"/>
          </p:nvPr>
        </p:nvSpPr>
        <p:spPr>
          <a:xfrm>
            <a:off x="457200" y="2651760"/>
            <a:ext cx="4937760" cy="822960"/>
          </a:xfrm>
          <a:prstGeom prst="rect">
            <a:avLst/>
          </a:prstGeom>
          <a:noFill/>
          <a:ln/>
        </p:spPr>
        <p:txBody>
          <a:bodyPr wrap="square" lIns="0" tIns="0" rIns="0" bIns="0" rtlCol="0" anchor="t"/>
          <a:lstStyle/>
          <a:p>
            <a:pPr indent="0" marL="0">
              <a:buNone/>
            </a:pPr>
            <a:r>
              <a:rPr lang="en-US" sz="1500" dirty="0">
                <a:solidFill>
                  <a:schemeClr val="accent3"/>
                </a:solidFill>
              </a:rPr>
              <a:t>How our existing leads, new products and real buyer feedback turned into new revenue.</a:t>
            </a:r>
            <a:endParaRPr lang="en-US" sz="1500" dirty="0"/>
          </a:p>
        </p:txBody>
      </p:sp>
      <p:sp>
        <p:nvSpPr>
          <p:cNvPr id="5" name="Text 3"/>
          <p:cNvSpPr txBox="1"/>
          <p:nvPr/>
        </p:nvSpPr>
        <p:spPr>
          <a:xfrm>
            <a:off x="457200" y="3931920"/>
            <a:ext cx="5120640" cy="548640"/>
          </a:xfrm>
          <a:prstGeom prst="rect">
            <a:avLst/>
          </a:prstGeom>
          <a:noFill/>
          <a:ln/>
        </p:spPr>
        <p:txBody>
          <a:bodyPr wrap="square" lIns="0" tIns="0" rIns="0" bIns="0" rtlCol="0" anchor="ctr"/>
          <a:lstStyle/>
          <a:p>
            <a:pPr indent="0" marL="0">
              <a:buNone/>
            </a:pPr>
            <a:r>
              <a:rPr lang="en-US" sz="1300" b="1" dirty="0">
                <a:solidFill>
                  <a:schemeClr val="tx1"/>
                </a:solidFill>
              </a:rPr>
              <a:t>Gail Galima-Mendoza</a:t>
            </a:r>
            <a:endParaRPr lang="en-US" sz="1300" dirty="0"/>
          </a:p>
          <a:p>
            <a:pPr indent="0" marL="0">
              <a:buNone/>
            </a:pPr>
            <a:r>
              <a:rPr lang="en-US" sz="1100" dirty="0">
                <a:solidFill>
                  <a:schemeClr val="accent3"/>
                </a:solidFill>
              </a:rPr>
              <a:t>Department Lead  ·  Sales &amp; Business Development</a:t>
            </a:r>
            <a:endParaRPr lang="en-US" sz="1300" dirty="0"/>
          </a:p>
        </p:txBody>
      </p:sp>
      <p:sp>
        <p:nvSpPr>
          <p:cNvPr id="6" name="score disc outer"/>
          <p:cNvSpPr/>
          <p:nvPr/>
        </p:nvSpPr>
        <p:spPr>
          <a:xfrm>
            <a:off x="5989320" y="1234440"/>
            <a:ext cx="2651760" cy="2651760"/>
          </a:xfrm>
          <a:prstGeom prst="ellipse">
            <a:avLst/>
          </a:prstGeom>
          <a:solidFill>
            <a:schemeClr val="accent4"/>
          </a:solidFill>
          <a:ln/>
        </p:spPr>
      </p:sp>
      <p:sp>
        <p:nvSpPr>
          <p:cNvPr id="7" name="score disc"/>
          <p:cNvSpPr/>
          <p:nvPr/>
        </p:nvSpPr>
        <p:spPr>
          <a:xfrm>
            <a:off x="6263640" y="1508760"/>
            <a:ext cx="2103120" cy="2103120"/>
          </a:xfrm>
          <a:prstGeom prst="ellipse">
            <a:avLst/>
          </a:prstGeom>
          <a:solidFill>
            <a:schemeClr val="accent1"/>
          </a:solidFill>
          <a:ln/>
        </p:spPr>
      </p:sp>
      <p:sp>
        <p:nvSpPr>
          <p:cNvPr id="8" name="Text 6"/>
          <p:cNvSpPr txBox="1"/>
          <p:nvPr/>
        </p:nvSpPr>
        <p:spPr>
          <a:xfrm>
            <a:off x="6263640" y="1508760"/>
            <a:ext cx="2103120" cy="2103120"/>
          </a:xfrm>
          <a:prstGeom prst="rect">
            <a:avLst/>
          </a:prstGeom>
          <a:noFill/>
          <a:ln/>
        </p:spPr>
        <p:txBody>
          <a:bodyPr wrap="square" lIns="0" tIns="0" rIns="0" bIns="0" rtlCol="0" anchor="ctr"/>
          <a:lstStyle/>
          <a:p>
            <a:pPr algn="ctr" indent="0" marL="0">
              <a:buNone/>
            </a:pPr>
            <a:r>
              <a:rPr lang="en-US" sz="5000" b="1" dirty="0">
                <a:solidFill>
                  <a:schemeClr val="bg1"/>
                </a:solidFill>
              </a:rPr>
              <a:t>3/3</a:t>
            </a:r>
            <a:endParaRPr lang="en-US" sz="5000" dirty="0"/>
          </a:p>
          <a:p>
            <a:pPr algn="ctr" indent="0" marL="0">
              <a:buNone/>
            </a:pPr>
            <a:r>
              <a:rPr lang="en-US" sz="1400" b="1" dirty="0">
                <a:solidFill>
                  <a:schemeClr val="bg1"/>
                </a:solidFill>
              </a:rPr>
              <a:t>Rocks done</a:t>
            </a:r>
            <a:endParaRPr lang="en-US" sz="5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457200" y="320040"/>
            <a:ext cx="8229600" cy="274320"/>
          </a:xfrm>
          <a:prstGeom prst="rect">
            <a:avLst/>
          </a:prstGeom>
          <a:noFill/>
          <a:ln/>
        </p:spPr>
        <p:txBody>
          <a:bodyPr wrap="square" lIns="0" tIns="0" rIns="0" bIns="0" rtlCol="0" anchor="ctr"/>
          <a:lstStyle/>
          <a:p>
            <a:pPr indent="0" marL="0">
              <a:buNone/>
            </a:pPr>
            <a:r>
              <a:rPr lang="en-US" sz="1100" b="1" spc="200" kern="0" dirty="0">
                <a:solidFill>
                  <a:schemeClr val="accent5"/>
                </a:solidFill>
              </a:rPr>
              <a:t>Q2 AT A GLANCE</a:t>
            </a:r>
            <a:endParaRPr lang="en-US" sz="1100" dirty="0"/>
          </a:p>
        </p:txBody>
      </p:sp>
      <p:sp>
        <p:nvSpPr>
          <p:cNvPr id="3" name="Text 1"/>
          <p:cNvSpPr/>
          <p:nvPr>
            <p:ph idx="102" type="title" hasCustomPrompt="1"/>
          </p:nvPr>
        </p:nvSpPr>
        <p:spPr>
          <a:xfrm>
            <a:off x="457200" y="594360"/>
            <a:ext cx="8229600" cy="548640"/>
          </a:xfrm>
          <a:prstGeom prst="rect">
            <a:avLst/>
          </a:prstGeom>
          <a:noFill/>
          <a:ln/>
        </p:spPr>
        <p:txBody>
          <a:bodyPr wrap="square" lIns="0" tIns="0" rIns="0" bIns="0" rtlCol="0" anchor="ctr"/>
          <a:lstStyle/>
          <a:p>
            <a:pPr algn="l" indent="0" marL="0">
              <a:buNone/>
            </a:pPr>
            <a:r>
              <a:rPr lang="en-US" sz="2600" b="1" dirty="0">
                <a:solidFill>
                  <a:schemeClr val="tx1"/>
                </a:solidFill>
              </a:rPr>
              <a:t>All 3 Rocks done, and already selling</a:t>
            </a:r>
            <a:endParaRPr lang="en-US" sz="2600" dirty="0"/>
          </a:p>
        </p:txBody>
      </p:sp>
      <p:sp>
        <p:nvSpPr>
          <p:cNvPr id="5" name="stat tile 1"/>
          <p:cNvSpPr/>
          <p:nvPr/>
        </p:nvSpPr>
        <p:spPr>
          <a:xfrm>
            <a:off x="457200" y="1371600"/>
            <a:ext cx="1885950" cy="2286000"/>
          </a:xfrm>
          <a:prstGeom prst="roundRect">
            <a:avLst>
              <a:gd name="adj" fmla="val 3879"/>
            </a:avLst>
          </a:prstGeom>
          <a:solidFill>
            <a:schemeClr val="bg2"/>
          </a:solidFill>
          <a:ln/>
        </p:spPr>
      </p:sp>
      <p:sp>
        <p:nvSpPr>
          <p:cNvPr id="6" name="stat icon 1 circle"/>
          <p:cNvSpPr/>
          <p:nvPr/>
        </p:nvSpPr>
        <p:spPr>
          <a:xfrm>
            <a:off x="685800" y="1600200"/>
            <a:ext cx="457200" cy="457200"/>
          </a:xfrm>
          <a:prstGeom prst="ellipse">
            <a:avLst/>
          </a:prstGeom>
          <a:solidFill>
            <a:schemeClr val="accent1"/>
          </a:solidFill>
          <a:ln/>
        </p:spPr>
      </p:sp>
      <p:pic>
        <p:nvPicPr>
          <p:cNvPr id="7" name="stat icon 1" descr="stat icon 1">    </p:cNvPr>
          <p:cNvPicPr>
            <a:picLocks noChangeAspect="1"/>
          </p:cNvPicPr>
          <p:nvPr/>
        </p:nvPicPr>
        <p:blipFill>
          <a:blip r:embed="rId1"/>
          <a:stretch>
            <a:fillRect/>
          </a:stretch>
        </p:blipFill>
        <p:spPr>
          <a:xfrm>
            <a:off x="800100" y="1714500"/>
            <a:ext cx="228600" cy="228600"/>
          </a:xfrm>
          <a:prstGeom prst="rect">
            <a:avLst/>
          </a:prstGeom>
        </p:spPr>
      </p:pic>
      <p:sp>
        <p:nvSpPr>
          <p:cNvPr id="8" name="Text 4"/>
          <p:cNvSpPr txBox="1"/>
          <p:nvPr/>
        </p:nvSpPr>
        <p:spPr>
          <a:xfrm>
            <a:off x="685800" y="2103120"/>
            <a:ext cx="1428750" cy="685800"/>
          </a:xfrm>
          <a:prstGeom prst="rect">
            <a:avLst/>
          </a:prstGeom>
          <a:noFill/>
          <a:ln/>
        </p:spPr>
        <p:txBody>
          <a:bodyPr wrap="square" lIns="0" tIns="0" rIns="0" bIns="0" rtlCol="0" anchor="ctr"/>
          <a:lstStyle/>
          <a:p>
            <a:pPr indent="0" marL="0">
              <a:buNone/>
            </a:pPr>
            <a:r>
              <a:rPr lang="en-US" sz="4400" b="1" dirty="0">
                <a:solidFill>
                  <a:schemeClr val="accent1"/>
                </a:solidFill>
              </a:rPr>
              <a:t>12</a:t>
            </a:r>
            <a:endParaRPr lang="en-US" sz="4400" dirty="0"/>
          </a:p>
        </p:txBody>
      </p:sp>
      <p:sp>
        <p:nvSpPr>
          <p:cNvPr id="9" name="Text 5"/>
          <p:cNvSpPr txBox="1"/>
          <p:nvPr/>
        </p:nvSpPr>
        <p:spPr>
          <a:xfrm>
            <a:off x="685800" y="2788920"/>
            <a:ext cx="1520190" cy="411480"/>
          </a:xfrm>
          <a:prstGeom prst="rect">
            <a:avLst/>
          </a:prstGeom>
          <a:noFill/>
          <a:ln/>
        </p:spPr>
        <p:txBody>
          <a:bodyPr wrap="square" lIns="0" tIns="0" rIns="0" bIns="0" rtlCol="0" anchor="t"/>
          <a:lstStyle/>
          <a:p>
            <a:pPr indent="0" marL="0">
              <a:buNone/>
            </a:pPr>
            <a:r>
              <a:rPr lang="en-US" sz="1200" b="1" dirty="0">
                <a:solidFill>
                  <a:schemeClr val="tx1"/>
                </a:solidFill>
              </a:rPr>
              <a:t>New sales in September</a:t>
            </a:r>
            <a:endParaRPr lang="en-US" sz="1200" dirty="0"/>
          </a:p>
        </p:txBody>
      </p:sp>
      <p:sp>
        <p:nvSpPr>
          <p:cNvPr id="10" name="Text 6"/>
          <p:cNvSpPr txBox="1"/>
          <p:nvPr/>
        </p:nvSpPr>
        <p:spPr>
          <a:xfrm>
            <a:off x="685800" y="3200400"/>
            <a:ext cx="1520190" cy="365760"/>
          </a:xfrm>
          <a:prstGeom prst="rect">
            <a:avLst/>
          </a:prstGeom>
          <a:noFill/>
          <a:ln/>
        </p:spPr>
        <p:txBody>
          <a:bodyPr wrap="square" lIns="0" tIns="0" rIns="0" bIns="0" rtlCol="0" anchor="t"/>
          <a:lstStyle/>
          <a:p>
            <a:pPr indent="0" marL="0">
              <a:buNone/>
            </a:pPr>
            <a:r>
              <a:rPr lang="en-US" sz="1000" dirty="0">
                <a:solidFill>
                  <a:schemeClr val="accent3"/>
                </a:solidFill>
              </a:rPr>
              <a:t>From the new flexible products</a:t>
            </a:r>
            <a:endParaRPr lang="en-US" sz="1000" dirty="0"/>
          </a:p>
        </p:txBody>
      </p:sp>
      <p:sp>
        <p:nvSpPr>
          <p:cNvPr id="11" name="stat tile 2"/>
          <p:cNvSpPr/>
          <p:nvPr/>
        </p:nvSpPr>
        <p:spPr>
          <a:xfrm>
            <a:off x="2571750" y="1371600"/>
            <a:ext cx="1885950" cy="2286000"/>
          </a:xfrm>
          <a:prstGeom prst="roundRect">
            <a:avLst>
              <a:gd name="adj" fmla="val 3879"/>
            </a:avLst>
          </a:prstGeom>
          <a:solidFill>
            <a:schemeClr val="bg2"/>
          </a:solidFill>
          <a:ln/>
        </p:spPr>
      </p:sp>
      <p:sp>
        <p:nvSpPr>
          <p:cNvPr id="12" name="stat icon 2 circle"/>
          <p:cNvSpPr/>
          <p:nvPr/>
        </p:nvSpPr>
        <p:spPr>
          <a:xfrm>
            <a:off x="2800350" y="1600200"/>
            <a:ext cx="457200" cy="457200"/>
          </a:xfrm>
          <a:prstGeom prst="ellipse">
            <a:avLst/>
          </a:prstGeom>
          <a:solidFill>
            <a:schemeClr val="accent1"/>
          </a:solidFill>
          <a:ln/>
        </p:spPr>
      </p:sp>
      <p:pic>
        <p:nvPicPr>
          <p:cNvPr id="13" name="stat icon 2" descr="stat icon 2">    </p:cNvPr>
          <p:cNvPicPr>
            <a:picLocks noChangeAspect="1"/>
          </p:cNvPicPr>
          <p:nvPr/>
        </p:nvPicPr>
        <p:blipFill>
          <a:blip r:embed="rId2"/>
          <a:stretch>
            <a:fillRect/>
          </a:stretch>
        </p:blipFill>
        <p:spPr>
          <a:xfrm>
            <a:off x="2914650" y="1714500"/>
            <a:ext cx="228600" cy="228600"/>
          </a:xfrm>
          <a:prstGeom prst="rect">
            <a:avLst/>
          </a:prstGeom>
        </p:spPr>
      </p:pic>
      <p:sp>
        <p:nvSpPr>
          <p:cNvPr id="14" name="Text 9"/>
          <p:cNvSpPr txBox="1"/>
          <p:nvPr/>
        </p:nvSpPr>
        <p:spPr>
          <a:xfrm>
            <a:off x="2800350" y="2103120"/>
            <a:ext cx="1428750" cy="685800"/>
          </a:xfrm>
          <a:prstGeom prst="rect">
            <a:avLst/>
          </a:prstGeom>
          <a:noFill/>
          <a:ln/>
        </p:spPr>
        <p:txBody>
          <a:bodyPr wrap="square" lIns="0" tIns="0" rIns="0" bIns="0" rtlCol="0" anchor="ctr"/>
          <a:lstStyle/>
          <a:p>
            <a:pPr indent="0" marL="0">
              <a:buNone/>
            </a:pPr>
            <a:r>
              <a:rPr lang="en-US" sz="4400" b="1" dirty="0">
                <a:solidFill>
                  <a:schemeClr val="accent1"/>
                </a:solidFill>
              </a:rPr>
              <a:t>1</a:t>
            </a:r>
            <a:endParaRPr lang="en-US" sz="4400" dirty="0"/>
          </a:p>
        </p:txBody>
      </p:sp>
      <p:sp>
        <p:nvSpPr>
          <p:cNvPr id="15" name="Text 10"/>
          <p:cNvSpPr txBox="1"/>
          <p:nvPr/>
        </p:nvSpPr>
        <p:spPr>
          <a:xfrm>
            <a:off x="2800350" y="2788920"/>
            <a:ext cx="1520190" cy="411480"/>
          </a:xfrm>
          <a:prstGeom prst="rect">
            <a:avLst/>
          </a:prstGeom>
          <a:noFill/>
          <a:ln/>
        </p:spPr>
        <p:txBody>
          <a:bodyPr wrap="square" lIns="0" tIns="0" rIns="0" bIns="0" rtlCol="0" anchor="t"/>
          <a:lstStyle/>
          <a:p>
            <a:pPr indent="0" marL="0">
              <a:buNone/>
            </a:pPr>
            <a:r>
              <a:rPr lang="en-US" sz="1200" b="1" dirty="0">
                <a:solidFill>
                  <a:schemeClr val="tx1"/>
                </a:solidFill>
              </a:rPr>
              <a:t>Lost client won back</a:t>
            </a:r>
            <a:endParaRPr lang="en-US" sz="1200" dirty="0"/>
          </a:p>
        </p:txBody>
      </p:sp>
      <p:sp>
        <p:nvSpPr>
          <p:cNvPr id="16" name="Text 11"/>
          <p:cNvSpPr txBox="1"/>
          <p:nvPr/>
        </p:nvSpPr>
        <p:spPr>
          <a:xfrm>
            <a:off x="2800350" y="3200400"/>
            <a:ext cx="1520190" cy="365760"/>
          </a:xfrm>
          <a:prstGeom prst="rect">
            <a:avLst/>
          </a:prstGeom>
          <a:noFill/>
          <a:ln/>
        </p:spPr>
        <p:txBody>
          <a:bodyPr wrap="square" lIns="0" tIns="0" rIns="0" bIns="0" rtlCol="0" anchor="t"/>
          <a:lstStyle/>
          <a:p>
            <a:pPr indent="0" marL="0">
              <a:buNone/>
            </a:pPr>
            <a:r>
              <a:rPr lang="en-US" sz="1000" dirty="0">
                <a:solidFill>
                  <a:schemeClr val="accent3"/>
                </a:solidFill>
              </a:rPr>
              <a:t>Andrew Owen, via lead reactivation</a:t>
            </a:r>
            <a:endParaRPr lang="en-US" sz="1000" dirty="0"/>
          </a:p>
        </p:txBody>
      </p:sp>
      <p:sp>
        <p:nvSpPr>
          <p:cNvPr id="17" name="stat tile 3"/>
          <p:cNvSpPr/>
          <p:nvPr/>
        </p:nvSpPr>
        <p:spPr>
          <a:xfrm>
            <a:off x="4686300" y="1371600"/>
            <a:ext cx="1885950" cy="2286000"/>
          </a:xfrm>
          <a:prstGeom prst="roundRect">
            <a:avLst>
              <a:gd name="adj" fmla="val 3879"/>
            </a:avLst>
          </a:prstGeom>
          <a:solidFill>
            <a:schemeClr val="bg2"/>
          </a:solidFill>
          <a:ln/>
        </p:spPr>
      </p:sp>
      <p:sp>
        <p:nvSpPr>
          <p:cNvPr id="18" name="stat icon 3 circle"/>
          <p:cNvSpPr/>
          <p:nvPr/>
        </p:nvSpPr>
        <p:spPr>
          <a:xfrm>
            <a:off x="4914900" y="1600200"/>
            <a:ext cx="457200" cy="457200"/>
          </a:xfrm>
          <a:prstGeom prst="ellipse">
            <a:avLst/>
          </a:prstGeom>
          <a:solidFill>
            <a:schemeClr val="accent1"/>
          </a:solidFill>
          <a:ln/>
        </p:spPr>
      </p:sp>
      <p:pic>
        <p:nvPicPr>
          <p:cNvPr id="19" name="stat icon 3" descr="stat icon 3">    </p:cNvPr>
          <p:cNvPicPr>
            <a:picLocks noChangeAspect="1"/>
          </p:cNvPicPr>
          <p:nvPr/>
        </p:nvPicPr>
        <p:blipFill>
          <a:blip r:embed="rId3"/>
          <a:stretch>
            <a:fillRect/>
          </a:stretch>
        </p:blipFill>
        <p:spPr>
          <a:xfrm>
            <a:off x="5029200" y="1714500"/>
            <a:ext cx="228600" cy="228600"/>
          </a:xfrm>
          <a:prstGeom prst="rect">
            <a:avLst/>
          </a:prstGeom>
        </p:spPr>
      </p:pic>
      <p:sp>
        <p:nvSpPr>
          <p:cNvPr id="20" name="Text 14"/>
          <p:cNvSpPr txBox="1"/>
          <p:nvPr/>
        </p:nvSpPr>
        <p:spPr>
          <a:xfrm>
            <a:off x="4914900" y="2103120"/>
            <a:ext cx="1428750" cy="685800"/>
          </a:xfrm>
          <a:prstGeom prst="rect">
            <a:avLst/>
          </a:prstGeom>
          <a:noFill/>
          <a:ln/>
        </p:spPr>
        <p:txBody>
          <a:bodyPr wrap="square" lIns="0" tIns="0" rIns="0" bIns="0" rtlCol="0" anchor="ctr"/>
          <a:lstStyle/>
          <a:p>
            <a:pPr indent="0" marL="0">
              <a:buNone/>
            </a:pPr>
            <a:r>
              <a:rPr lang="en-US" sz="4400" b="1" dirty="0">
                <a:solidFill>
                  <a:schemeClr val="accent1"/>
                </a:solidFill>
              </a:rPr>
              <a:t>10</a:t>
            </a:r>
            <a:endParaRPr lang="en-US" sz="4400" dirty="0"/>
          </a:p>
        </p:txBody>
      </p:sp>
      <p:sp>
        <p:nvSpPr>
          <p:cNvPr id="21" name="Text 15"/>
          <p:cNvSpPr txBox="1"/>
          <p:nvPr/>
        </p:nvSpPr>
        <p:spPr>
          <a:xfrm>
            <a:off x="4914900" y="2788920"/>
            <a:ext cx="1520190" cy="411480"/>
          </a:xfrm>
          <a:prstGeom prst="rect">
            <a:avLst/>
          </a:prstGeom>
          <a:noFill/>
          <a:ln/>
        </p:spPr>
        <p:txBody>
          <a:bodyPr wrap="square" lIns="0" tIns="0" rIns="0" bIns="0" rtlCol="0" anchor="t"/>
          <a:lstStyle/>
          <a:p>
            <a:pPr indent="0" marL="0">
              <a:buNone/>
            </a:pPr>
            <a:r>
              <a:rPr lang="en-US" sz="1200" b="1" dirty="0">
                <a:solidFill>
                  <a:schemeClr val="tx1"/>
                </a:solidFill>
              </a:rPr>
              <a:t>Ways to buy</a:t>
            </a:r>
            <a:endParaRPr lang="en-US" sz="1200" dirty="0"/>
          </a:p>
        </p:txBody>
      </p:sp>
      <p:sp>
        <p:nvSpPr>
          <p:cNvPr id="22" name="Text 16"/>
          <p:cNvSpPr txBox="1"/>
          <p:nvPr/>
        </p:nvSpPr>
        <p:spPr>
          <a:xfrm>
            <a:off x="4914900" y="3200400"/>
            <a:ext cx="1520190" cy="365760"/>
          </a:xfrm>
          <a:prstGeom prst="rect">
            <a:avLst/>
          </a:prstGeom>
          <a:noFill/>
          <a:ln/>
        </p:spPr>
        <p:txBody>
          <a:bodyPr wrap="square" lIns="0" tIns="0" rIns="0" bIns="0" rtlCol="0" anchor="t"/>
          <a:lstStyle/>
          <a:p>
            <a:pPr indent="0" marL="0">
              <a:buNone/>
            </a:pPr>
            <a:r>
              <a:rPr lang="en-US" sz="1000" dirty="0">
                <a:solidFill>
                  <a:schemeClr val="accent3"/>
                </a:solidFill>
              </a:rPr>
              <a:t>Up from 1 core VA offer</a:t>
            </a:r>
            <a:endParaRPr lang="en-US" sz="1000" dirty="0"/>
          </a:p>
        </p:txBody>
      </p:sp>
      <p:sp>
        <p:nvSpPr>
          <p:cNvPr id="23" name="stat tile 4"/>
          <p:cNvSpPr/>
          <p:nvPr/>
        </p:nvSpPr>
        <p:spPr>
          <a:xfrm>
            <a:off x="6800850" y="1371600"/>
            <a:ext cx="1885950" cy="2286000"/>
          </a:xfrm>
          <a:prstGeom prst="roundRect">
            <a:avLst>
              <a:gd name="adj" fmla="val 3879"/>
            </a:avLst>
          </a:prstGeom>
          <a:solidFill>
            <a:schemeClr val="bg2"/>
          </a:solidFill>
          <a:ln/>
        </p:spPr>
      </p:sp>
      <p:sp>
        <p:nvSpPr>
          <p:cNvPr id="24" name="stat icon 4 circle"/>
          <p:cNvSpPr/>
          <p:nvPr/>
        </p:nvSpPr>
        <p:spPr>
          <a:xfrm>
            <a:off x="7029450" y="1600200"/>
            <a:ext cx="457200" cy="457200"/>
          </a:xfrm>
          <a:prstGeom prst="ellipse">
            <a:avLst/>
          </a:prstGeom>
          <a:solidFill>
            <a:schemeClr val="accent1"/>
          </a:solidFill>
          <a:ln/>
        </p:spPr>
      </p:sp>
      <p:pic>
        <p:nvPicPr>
          <p:cNvPr id="25" name="stat icon 4" descr="stat icon 4">    </p:cNvPr>
          <p:cNvPicPr>
            <a:picLocks noChangeAspect="1"/>
          </p:cNvPicPr>
          <p:nvPr/>
        </p:nvPicPr>
        <p:blipFill>
          <a:blip r:embed="rId4"/>
          <a:stretch>
            <a:fillRect/>
          </a:stretch>
        </p:blipFill>
        <p:spPr>
          <a:xfrm>
            <a:off x="7143750" y="1714500"/>
            <a:ext cx="228600" cy="228600"/>
          </a:xfrm>
          <a:prstGeom prst="rect">
            <a:avLst/>
          </a:prstGeom>
        </p:spPr>
      </p:pic>
      <p:sp>
        <p:nvSpPr>
          <p:cNvPr id="26" name="Text 19"/>
          <p:cNvSpPr txBox="1"/>
          <p:nvPr/>
        </p:nvSpPr>
        <p:spPr>
          <a:xfrm>
            <a:off x="7029450" y="2103120"/>
            <a:ext cx="1428750" cy="685800"/>
          </a:xfrm>
          <a:prstGeom prst="rect">
            <a:avLst/>
          </a:prstGeom>
          <a:noFill/>
          <a:ln/>
        </p:spPr>
        <p:txBody>
          <a:bodyPr wrap="square" lIns="0" tIns="0" rIns="0" bIns="0" rtlCol="0" anchor="ctr"/>
          <a:lstStyle/>
          <a:p>
            <a:pPr indent="0" marL="0">
              <a:buNone/>
            </a:pPr>
            <a:r>
              <a:rPr lang="en-US" sz="4400" b="1" dirty="0">
                <a:solidFill>
                  <a:schemeClr val="accent1"/>
                </a:solidFill>
              </a:rPr>
              <a:t>3</a:t>
            </a:r>
            <a:endParaRPr lang="en-US" sz="4400" dirty="0"/>
          </a:p>
        </p:txBody>
      </p:sp>
      <p:sp>
        <p:nvSpPr>
          <p:cNvPr id="27" name="Text 20"/>
          <p:cNvSpPr txBox="1"/>
          <p:nvPr/>
        </p:nvSpPr>
        <p:spPr>
          <a:xfrm>
            <a:off x="7029450" y="2788920"/>
            <a:ext cx="1520190" cy="411480"/>
          </a:xfrm>
          <a:prstGeom prst="rect">
            <a:avLst/>
          </a:prstGeom>
          <a:noFill/>
          <a:ln/>
        </p:spPr>
        <p:txBody>
          <a:bodyPr wrap="square" lIns="0" tIns="0" rIns="0" bIns="0" rtlCol="0" anchor="t"/>
          <a:lstStyle/>
          <a:p>
            <a:pPr indent="0" marL="0">
              <a:buNone/>
            </a:pPr>
            <a:r>
              <a:rPr lang="en-US" sz="1200" b="1" dirty="0">
                <a:solidFill>
                  <a:schemeClr val="tx1"/>
                </a:solidFill>
              </a:rPr>
              <a:t>Why leads say no</a:t>
            </a:r>
            <a:endParaRPr lang="en-US" sz="1200" dirty="0"/>
          </a:p>
        </p:txBody>
      </p:sp>
      <p:sp>
        <p:nvSpPr>
          <p:cNvPr id="28" name="Text 21"/>
          <p:cNvSpPr txBox="1"/>
          <p:nvPr/>
        </p:nvSpPr>
        <p:spPr>
          <a:xfrm>
            <a:off x="7029450" y="3200400"/>
            <a:ext cx="1520190" cy="365760"/>
          </a:xfrm>
          <a:prstGeom prst="rect">
            <a:avLst/>
          </a:prstGeom>
          <a:noFill/>
          <a:ln/>
        </p:spPr>
        <p:txBody>
          <a:bodyPr wrap="square" lIns="0" tIns="0" rIns="0" bIns="0" rtlCol="0" anchor="t"/>
          <a:lstStyle/>
          <a:p>
            <a:pPr indent="0" marL="0">
              <a:buNone/>
            </a:pPr>
            <a:r>
              <a:rPr lang="en-US" sz="1000" dirty="0">
                <a:solidFill>
                  <a:schemeClr val="accent3"/>
                </a:solidFill>
              </a:rPr>
              <a:t>Not ready, shopping, comparing</a:t>
            </a:r>
            <a:endParaRPr lang="en-US" sz="1000" dirty="0"/>
          </a:p>
        </p:txBody>
      </p:sp>
      <p:sp>
        <p:nvSpPr>
          <p:cNvPr id="29" name="takeaway"/>
          <p:cNvSpPr/>
          <p:nvPr/>
        </p:nvSpPr>
        <p:spPr>
          <a:xfrm>
            <a:off x="457200" y="3931920"/>
            <a:ext cx="8229600" cy="640080"/>
          </a:xfrm>
          <a:prstGeom prst="roundRect">
            <a:avLst>
              <a:gd name="adj" fmla="val 11429"/>
            </a:avLst>
          </a:prstGeom>
          <a:solidFill>
            <a:schemeClr val="accent5"/>
          </a:solidFill>
          <a:ln/>
        </p:spPr>
      </p:sp>
      <p:sp>
        <p:nvSpPr>
          <p:cNvPr id="30" name="Text 23"/>
          <p:cNvSpPr txBox="1"/>
          <p:nvPr/>
        </p:nvSpPr>
        <p:spPr>
          <a:xfrm>
            <a:off x="731520" y="3931920"/>
            <a:ext cx="7680960" cy="640080"/>
          </a:xfrm>
          <a:prstGeom prst="rect">
            <a:avLst/>
          </a:prstGeom>
          <a:noFill/>
          <a:ln/>
        </p:spPr>
        <p:txBody>
          <a:bodyPr wrap="square" lIns="0" tIns="0" rIns="0" bIns="0" rtlCol="0" anchor="ctr"/>
          <a:lstStyle/>
          <a:p>
            <a:pPr indent="0" marL="0">
              <a:buNone/>
            </a:pPr>
            <a:r>
              <a:rPr lang="en-US" sz="1100" b="1" spc="100" kern="0" dirty="0">
                <a:solidFill>
                  <a:schemeClr val="bg1"/>
                </a:solidFill>
              </a:rPr>
              <a:t>BOTTOM LINE   </a:t>
            </a:r>
            <a:pPr indent="0" marL="0">
              <a:buNone/>
            </a:pPr>
            <a:r>
              <a:rPr lang="en-US" sz="1400" b="1" dirty="0">
                <a:solidFill>
                  <a:schemeClr val="bg1"/>
                </a:solidFill>
              </a:rPr>
              <a:t>Give clients more ways to say yes, and more of them say yes.</a:t>
            </a:r>
            <a:endParaRPr lang="en-US" sz="11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457200" y="320040"/>
            <a:ext cx="8229600" cy="274320"/>
          </a:xfrm>
          <a:prstGeom prst="rect">
            <a:avLst/>
          </a:prstGeom>
          <a:noFill/>
          <a:ln/>
        </p:spPr>
        <p:txBody>
          <a:bodyPr wrap="square" lIns="0" tIns="0" rIns="0" bIns="0" rtlCol="0" anchor="ctr"/>
          <a:lstStyle/>
          <a:p>
            <a:pPr indent="0" marL="0">
              <a:buNone/>
            </a:pPr>
            <a:r>
              <a:rPr lang="en-US" sz="1100" b="1" spc="200" kern="0" dirty="0">
                <a:solidFill>
                  <a:schemeClr val="accent5"/>
                </a:solidFill>
              </a:rPr>
              <a:t>ROCK SCORECARD</a:t>
            </a:r>
            <a:endParaRPr lang="en-US" sz="1100" dirty="0"/>
          </a:p>
        </p:txBody>
      </p:sp>
      <p:sp>
        <p:nvSpPr>
          <p:cNvPr id="3" name="Text 1"/>
          <p:cNvSpPr/>
          <p:nvPr>
            <p:ph idx="102" type="title" hasCustomPrompt="1"/>
          </p:nvPr>
        </p:nvSpPr>
        <p:spPr>
          <a:xfrm>
            <a:off x="457200" y="594360"/>
            <a:ext cx="8229600" cy="548640"/>
          </a:xfrm>
          <a:prstGeom prst="rect">
            <a:avLst/>
          </a:prstGeom>
          <a:noFill/>
          <a:ln/>
        </p:spPr>
        <p:txBody>
          <a:bodyPr wrap="square" lIns="0" tIns="0" rIns="0" bIns="0" rtlCol="0" anchor="ctr"/>
          <a:lstStyle/>
          <a:p>
            <a:pPr algn="l" indent="0" marL="0">
              <a:buNone/>
            </a:pPr>
            <a:r>
              <a:rPr lang="en-US" sz="2600" b="1" dirty="0">
                <a:solidFill>
                  <a:schemeClr val="tx1"/>
                </a:solidFill>
              </a:rPr>
              <a:t>What we set out to do, and what happened</a:t>
            </a:r>
            <a:endParaRPr lang="en-US" sz="2600" dirty="0"/>
          </a:p>
        </p:txBody>
      </p:sp>
      <p:sp>
        <p:nvSpPr>
          <p:cNvPr id="5" name="Text 2"/>
          <p:cNvSpPr txBox="1"/>
          <p:nvPr/>
        </p:nvSpPr>
        <p:spPr>
          <a:xfrm>
            <a:off x="1097280" y="1325880"/>
            <a:ext cx="1828800" cy="228600"/>
          </a:xfrm>
          <a:prstGeom prst="rect">
            <a:avLst/>
          </a:prstGeom>
          <a:noFill/>
          <a:ln/>
        </p:spPr>
        <p:txBody>
          <a:bodyPr wrap="square" lIns="0" tIns="0" rIns="0" bIns="0" rtlCol="0" anchor="ctr"/>
          <a:lstStyle/>
          <a:p>
            <a:pPr indent="0" marL="0">
              <a:buNone/>
            </a:pPr>
            <a:r>
              <a:rPr lang="en-US" sz="1000" b="1" spc="100" kern="0" dirty="0">
                <a:solidFill>
                  <a:schemeClr val="accent3"/>
                </a:solidFill>
              </a:rPr>
              <a:t>ROCK</a:t>
            </a:r>
            <a:endParaRPr lang="en-US" sz="1000" dirty="0"/>
          </a:p>
        </p:txBody>
      </p:sp>
      <p:sp>
        <p:nvSpPr>
          <p:cNvPr id="6" name="Text 3"/>
          <p:cNvSpPr txBox="1"/>
          <p:nvPr/>
        </p:nvSpPr>
        <p:spPr>
          <a:xfrm>
            <a:off x="3291840" y="1325880"/>
            <a:ext cx="1828800" cy="228600"/>
          </a:xfrm>
          <a:prstGeom prst="rect">
            <a:avLst/>
          </a:prstGeom>
          <a:noFill/>
          <a:ln/>
        </p:spPr>
        <p:txBody>
          <a:bodyPr wrap="square" lIns="0" tIns="0" rIns="0" bIns="0" rtlCol="0" anchor="ctr"/>
          <a:lstStyle/>
          <a:p>
            <a:pPr indent="0" marL="0">
              <a:buNone/>
            </a:pPr>
            <a:r>
              <a:rPr lang="en-US" sz="1000" b="1" spc="100" kern="0" dirty="0">
                <a:solidFill>
                  <a:schemeClr val="accent3"/>
                </a:solidFill>
              </a:rPr>
              <a:t>GOAL</a:t>
            </a:r>
            <a:endParaRPr lang="en-US" sz="1000" dirty="0"/>
          </a:p>
        </p:txBody>
      </p:sp>
      <p:sp>
        <p:nvSpPr>
          <p:cNvPr id="7" name="Text 4"/>
          <p:cNvSpPr txBox="1"/>
          <p:nvPr/>
        </p:nvSpPr>
        <p:spPr>
          <a:xfrm>
            <a:off x="5760720" y="1325880"/>
            <a:ext cx="1828800" cy="228600"/>
          </a:xfrm>
          <a:prstGeom prst="rect">
            <a:avLst/>
          </a:prstGeom>
          <a:noFill/>
          <a:ln/>
        </p:spPr>
        <p:txBody>
          <a:bodyPr wrap="square" lIns="0" tIns="0" rIns="0" bIns="0" rtlCol="0" anchor="ctr"/>
          <a:lstStyle/>
          <a:p>
            <a:pPr indent="0" marL="0">
              <a:buNone/>
            </a:pPr>
            <a:r>
              <a:rPr lang="en-US" sz="1000" b="1" spc="100" kern="0" dirty="0">
                <a:solidFill>
                  <a:schemeClr val="accent3"/>
                </a:solidFill>
              </a:rPr>
              <a:t>RESULT</a:t>
            </a:r>
            <a:endParaRPr lang="en-US" sz="1000" dirty="0"/>
          </a:p>
        </p:txBody>
      </p:sp>
      <p:sp>
        <p:nvSpPr>
          <p:cNvPr id="8" name="Text 5"/>
          <p:cNvSpPr txBox="1"/>
          <p:nvPr/>
        </p:nvSpPr>
        <p:spPr>
          <a:xfrm>
            <a:off x="7635240" y="1325880"/>
            <a:ext cx="1828800" cy="228600"/>
          </a:xfrm>
          <a:prstGeom prst="rect">
            <a:avLst/>
          </a:prstGeom>
          <a:noFill/>
          <a:ln/>
        </p:spPr>
        <p:txBody>
          <a:bodyPr wrap="square" lIns="0" tIns="0" rIns="0" bIns="0" rtlCol="0" anchor="ctr"/>
          <a:lstStyle/>
          <a:p>
            <a:pPr indent="0" marL="0">
              <a:buNone/>
            </a:pPr>
            <a:r>
              <a:rPr lang="en-US" sz="1000" b="1" spc="100" kern="0" dirty="0">
                <a:solidFill>
                  <a:schemeClr val="accent3"/>
                </a:solidFill>
              </a:rPr>
              <a:t>STATUS</a:t>
            </a:r>
            <a:endParaRPr lang="en-US" sz="1000" dirty="0"/>
          </a:p>
        </p:txBody>
      </p:sp>
      <p:sp>
        <p:nvSpPr>
          <p:cNvPr id="9" name="row 1"/>
          <p:cNvSpPr/>
          <p:nvPr/>
        </p:nvSpPr>
        <p:spPr>
          <a:xfrm>
            <a:off x="457200" y="1645920"/>
            <a:ext cx="8229600" cy="731520"/>
          </a:xfrm>
          <a:prstGeom prst="roundRect">
            <a:avLst>
              <a:gd name="adj" fmla="val 10000"/>
            </a:avLst>
          </a:prstGeom>
          <a:solidFill>
            <a:schemeClr val="bg2"/>
          </a:solidFill>
          <a:ln/>
        </p:spPr>
      </p:sp>
      <p:sp>
        <p:nvSpPr>
          <p:cNvPr id="10" name="rock icon 1 circle"/>
          <p:cNvSpPr/>
          <p:nvPr/>
        </p:nvSpPr>
        <p:spPr>
          <a:xfrm>
            <a:off x="566928" y="1801368"/>
            <a:ext cx="420624" cy="420624"/>
          </a:xfrm>
          <a:prstGeom prst="ellipse">
            <a:avLst/>
          </a:prstGeom>
          <a:solidFill>
            <a:schemeClr val="accent1"/>
          </a:solidFill>
          <a:ln/>
        </p:spPr>
      </p:sp>
      <p:pic>
        <p:nvPicPr>
          <p:cNvPr id="11" name="rock icon 1" descr="rock icon 1">    </p:cNvPr>
          <p:cNvPicPr>
            <a:picLocks noChangeAspect="1"/>
          </p:cNvPicPr>
          <p:nvPr/>
        </p:nvPicPr>
        <p:blipFill>
          <a:blip r:embed="rId1"/>
          <a:stretch>
            <a:fillRect/>
          </a:stretch>
        </p:blipFill>
        <p:spPr>
          <a:xfrm>
            <a:off x="672084" y="1906524"/>
            <a:ext cx="210312" cy="210312"/>
          </a:xfrm>
          <a:prstGeom prst="rect">
            <a:avLst/>
          </a:prstGeom>
        </p:spPr>
      </p:pic>
      <p:sp>
        <p:nvSpPr>
          <p:cNvPr id="12" name="Text 8"/>
          <p:cNvSpPr txBox="1"/>
          <p:nvPr/>
        </p:nvSpPr>
        <p:spPr>
          <a:xfrm>
            <a:off x="1097280" y="1645920"/>
            <a:ext cx="2011680" cy="731520"/>
          </a:xfrm>
          <a:prstGeom prst="rect">
            <a:avLst/>
          </a:prstGeom>
          <a:noFill/>
          <a:ln/>
        </p:spPr>
        <p:txBody>
          <a:bodyPr wrap="square" lIns="0" tIns="0" rIns="0" bIns="0" rtlCol="0" anchor="ctr"/>
          <a:lstStyle/>
          <a:p>
            <a:pPr indent="0" marL="0">
              <a:buNone/>
            </a:pPr>
            <a:r>
              <a:rPr lang="en-US" sz="1200" b="1" dirty="0">
                <a:solidFill>
                  <a:schemeClr val="tx1"/>
                </a:solidFill>
              </a:rPr>
              <a:t>Lead Reactivation &amp; BDM</a:t>
            </a:r>
            <a:endParaRPr lang="en-US" sz="1200" dirty="0"/>
          </a:p>
        </p:txBody>
      </p:sp>
      <p:sp>
        <p:nvSpPr>
          <p:cNvPr id="13" name="Text 9"/>
          <p:cNvSpPr txBox="1"/>
          <p:nvPr/>
        </p:nvSpPr>
        <p:spPr>
          <a:xfrm>
            <a:off x="3291840" y="1645920"/>
            <a:ext cx="2286000" cy="731520"/>
          </a:xfrm>
          <a:prstGeom prst="rect">
            <a:avLst/>
          </a:prstGeom>
          <a:noFill/>
          <a:ln/>
        </p:spPr>
        <p:txBody>
          <a:bodyPr wrap="square" lIns="0" tIns="0" rIns="0" bIns="0" rtlCol="0" anchor="ctr"/>
          <a:lstStyle/>
          <a:p>
            <a:pPr indent="0" marL="0">
              <a:buNone/>
            </a:pPr>
            <a:r>
              <a:rPr lang="en-US" sz="1100" dirty="0">
                <a:solidFill>
                  <a:schemeClr val="accent3"/>
                </a:solidFill>
              </a:rPr>
              <a:t>Make our CRM a steady source of sales calls</a:t>
            </a:r>
            <a:endParaRPr lang="en-US" sz="1100" dirty="0"/>
          </a:p>
        </p:txBody>
      </p:sp>
      <p:sp>
        <p:nvSpPr>
          <p:cNvPr id="14" name="Text 10"/>
          <p:cNvSpPr txBox="1"/>
          <p:nvPr/>
        </p:nvSpPr>
        <p:spPr>
          <a:xfrm>
            <a:off x="5760720" y="1645920"/>
            <a:ext cx="1737360" cy="731520"/>
          </a:xfrm>
          <a:prstGeom prst="rect">
            <a:avLst/>
          </a:prstGeom>
          <a:noFill/>
          <a:ln/>
        </p:spPr>
        <p:txBody>
          <a:bodyPr wrap="square" lIns="0" tIns="0" rIns="0" bIns="0" rtlCol="0" anchor="ctr"/>
          <a:lstStyle/>
          <a:p>
            <a:pPr indent="0" marL="0">
              <a:buNone/>
            </a:pPr>
            <a:r>
              <a:rPr lang="en-US" sz="1100" dirty="0">
                <a:solidFill>
                  <a:schemeClr val="tx1"/>
                </a:solidFill>
              </a:rPr>
              <a:t>Daily habit now. 1 lost client won back, warm leads in pipeline</a:t>
            </a:r>
            <a:endParaRPr lang="en-US" sz="1100" dirty="0"/>
          </a:p>
        </p:txBody>
      </p:sp>
      <p:sp>
        <p:nvSpPr>
          <p:cNvPr id="15" name="done pill 1"/>
          <p:cNvSpPr/>
          <p:nvPr/>
        </p:nvSpPr>
        <p:spPr>
          <a:xfrm>
            <a:off x="7635240" y="1865376"/>
            <a:ext cx="868680" cy="292608"/>
          </a:xfrm>
          <a:prstGeom prst="roundRect">
            <a:avLst>
              <a:gd name="adj" fmla="val 50000"/>
            </a:avLst>
          </a:prstGeom>
          <a:solidFill>
            <a:schemeClr val="accent5"/>
          </a:solidFill>
          <a:ln/>
        </p:spPr>
      </p:sp>
      <p:sp>
        <p:nvSpPr>
          <p:cNvPr id="16" name="Text 12"/>
          <p:cNvSpPr txBox="1"/>
          <p:nvPr/>
        </p:nvSpPr>
        <p:spPr>
          <a:xfrm>
            <a:off x="7635240" y="1865376"/>
            <a:ext cx="868680" cy="292608"/>
          </a:xfrm>
          <a:prstGeom prst="rect">
            <a:avLst/>
          </a:prstGeom>
          <a:noFill/>
          <a:ln/>
        </p:spPr>
        <p:txBody>
          <a:bodyPr wrap="square" lIns="0" tIns="0" rIns="0" bIns="0" rtlCol="0" anchor="ctr"/>
          <a:lstStyle/>
          <a:p>
            <a:pPr algn="ctr" indent="0" marL="0">
              <a:buNone/>
            </a:pPr>
            <a:r>
              <a:rPr lang="en-US" sz="1100" b="1" dirty="0">
                <a:solidFill>
                  <a:schemeClr val="bg1"/>
                </a:solidFill>
              </a:rPr>
              <a:t>Done</a:t>
            </a:r>
            <a:endParaRPr lang="en-US" sz="1100" dirty="0"/>
          </a:p>
        </p:txBody>
      </p:sp>
      <p:sp>
        <p:nvSpPr>
          <p:cNvPr id="17" name="row 2"/>
          <p:cNvSpPr/>
          <p:nvPr/>
        </p:nvSpPr>
        <p:spPr>
          <a:xfrm>
            <a:off x="457200" y="2514600"/>
            <a:ext cx="8229600" cy="731520"/>
          </a:xfrm>
          <a:prstGeom prst="roundRect">
            <a:avLst>
              <a:gd name="adj" fmla="val 10000"/>
            </a:avLst>
          </a:prstGeom>
          <a:solidFill>
            <a:schemeClr val="bg1"/>
          </a:solidFill>
          <a:ln/>
        </p:spPr>
      </p:sp>
      <p:sp>
        <p:nvSpPr>
          <p:cNvPr id="18" name="rock icon 2 circle"/>
          <p:cNvSpPr/>
          <p:nvPr/>
        </p:nvSpPr>
        <p:spPr>
          <a:xfrm>
            <a:off x="566928" y="2670048"/>
            <a:ext cx="420624" cy="420624"/>
          </a:xfrm>
          <a:prstGeom prst="ellipse">
            <a:avLst/>
          </a:prstGeom>
          <a:solidFill>
            <a:schemeClr val="accent1"/>
          </a:solidFill>
          <a:ln/>
        </p:spPr>
      </p:sp>
      <p:pic>
        <p:nvPicPr>
          <p:cNvPr id="19" name="rock icon 2" descr="rock icon 2">    </p:cNvPr>
          <p:cNvPicPr>
            <a:picLocks noChangeAspect="1"/>
          </p:cNvPicPr>
          <p:nvPr/>
        </p:nvPicPr>
        <p:blipFill>
          <a:blip r:embed="rId2"/>
          <a:stretch>
            <a:fillRect/>
          </a:stretch>
        </p:blipFill>
        <p:spPr>
          <a:xfrm>
            <a:off x="672084" y="2775204"/>
            <a:ext cx="210312" cy="210312"/>
          </a:xfrm>
          <a:prstGeom prst="rect">
            <a:avLst/>
          </a:prstGeom>
        </p:spPr>
      </p:pic>
      <p:sp>
        <p:nvSpPr>
          <p:cNvPr id="20" name="Text 15"/>
          <p:cNvSpPr txBox="1"/>
          <p:nvPr/>
        </p:nvSpPr>
        <p:spPr>
          <a:xfrm>
            <a:off x="1097280" y="2514600"/>
            <a:ext cx="2011680" cy="731520"/>
          </a:xfrm>
          <a:prstGeom prst="rect">
            <a:avLst/>
          </a:prstGeom>
          <a:noFill/>
          <a:ln/>
        </p:spPr>
        <p:txBody>
          <a:bodyPr wrap="square" lIns="0" tIns="0" rIns="0" bIns="0" rtlCol="0" anchor="ctr"/>
          <a:lstStyle/>
          <a:p>
            <a:pPr indent="0" marL="0">
              <a:buNone/>
            </a:pPr>
            <a:r>
              <a:rPr lang="en-US" sz="1200" b="1" dirty="0">
                <a:solidFill>
                  <a:schemeClr val="tx1"/>
                </a:solidFill>
              </a:rPr>
              <a:t>OA Product Ecosystem</a:t>
            </a:r>
            <a:endParaRPr lang="en-US" sz="1200" dirty="0"/>
          </a:p>
        </p:txBody>
      </p:sp>
      <p:sp>
        <p:nvSpPr>
          <p:cNvPr id="21" name="Text 16"/>
          <p:cNvSpPr txBox="1"/>
          <p:nvPr/>
        </p:nvSpPr>
        <p:spPr>
          <a:xfrm>
            <a:off x="3291840" y="2514600"/>
            <a:ext cx="2286000" cy="731520"/>
          </a:xfrm>
          <a:prstGeom prst="rect">
            <a:avLst/>
          </a:prstGeom>
          <a:noFill/>
          <a:ln/>
        </p:spPr>
        <p:txBody>
          <a:bodyPr wrap="square" lIns="0" tIns="0" rIns="0" bIns="0" rtlCol="0" anchor="ctr"/>
          <a:lstStyle/>
          <a:p>
            <a:pPr indent="0" marL="0">
              <a:buNone/>
            </a:pPr>
            <a:r>
              <a:rPr lang="en-US" sz="1100" dirty="0">
                <a:solidFill>
                  <a:schemeClr val="accent3"/>
                </a:solidFill>
              </a:rPr>
              <a:t>Offer more ways to buy than a single VA</a:t>
            </a:r>
            <a:endParaRPr lang="en-US" sz="1100" dirty="0"/>
          </a:p>
        </p:txBody>
      </p:sp>
      <p:sp>
        <p:nvSpPr>
          <p:cNvPr id="22" name="Text 17"/>
          <p:cNvSpPr txBox="1"/>
          <p:nvPr/>
        </p:nvSpPr>
        <p:spPr>
          <a:xfrm>
            <a:off x="5760720" y="2514600"/>
            <a:ext cx="1737360" cy="731520"/>
          </a:xfrm>
          <a:prstGeom prst="rect">
            <a:avLst/>
          </a:prstGeom>
          <a:noFill/>
          <a:ln/>
        </p:spPr>
        <p:txBody>
          <a:bodyPr wrap="square" lIns="0" tIns="0" rIns="0" bIns="0" rtlCol="0" anchor="ctr"/>
          <a:lstStyle/>
          <a:p>
            <a:pPr indent="0" marL="0">
              <a:buNone/>
            </a:pPr>
            <a:r>
              <a:rPr lang="en-US" sz="1100" dirty="0">
                <a:solidFill>
                  <a:schemeClr val="tx1"/>
                </a:solidFill>
              </a:rPr>
              <a:t>10 ways to buy across the client journey. 12 sales in Sept</a:t>
            </a:r>
            <a:endParaRPr lang="en-US" sz="1100" dirty="0"/>
          </a:p>
        </p:txBody>
      </p:sp>
      <p:sp>
        <p:nvSpPr>
          <p:cNvPr id="23" name="done pill 2"/>
          <p:cNvSpPr/>
          <p:nvPr/>
        </p:nvSpPr>
        <p:spPr>
          <a:xfrm>
            <a:off x="7635240" y="2734056"/>
            <a:ext cx="868680" cy="292608"/>
          </a:xfrm>
          <a:prstGeom prst="roundRect">
            <a:avLst>
              <a:gd name="adj" fmla="val 50000"/>
            </a:avLst>
          </a:prstGeom>
          <a:solidFill>
            <a:schemeClr val="accent5"/>
          </a:solidFill>
          <a:ln/>
        </p:spPr>
      </p:sp>
      <p:sp>
        <p:nvSpPr>
          <p:cNvPr id="24" name="Text 19"/>
          <p:cNvSpPr txBox="1"/>
          <p:nvPr/>
        </p:nvSpPr>
        <p:spPr>
          <a:xfrm>
            <a:off x="7635240" y="2734056"/>
            <a:ext cx="868680" cy="292608"/>
          </a:xfrm>
          <a:prstGeom prst="rect">
            <a:avLst/>
          </a:prstGeom>
          <a:noFill/>
          <a:ln/>
        </p:spPr>
        <p:txBody>
          <a:bodyPr wrap="square" lIns="0" tIns="0" rIns="0" bIns="0" rtlCol="0" anchor="ctr"/>
          <a:lstStyle/>
          <a:p>
            <a:pPr algn="ctr" indent="0" marL="0">
              <a:buNone/>
            </a:pPr>
            <a:r>
              <a:rPr lang="en-US" sz="1100" b="1" dirty="0">
                <a:solidFill>
                  <a:schemeClr val="bg1"/>
                </a:solidFill>
              </a:rPr>
              <a:t>Done</a:t>
            </a:r>
            <a:endParaRPr lang="en-US" sz="1100" dirty="0"/>
          </a:p>
        </p:txBody>
      </p:sp>
      <p:sp>
        <p:nvSpPr>
          <p:cNvPr id="25" name="row 3"/>
          <p:cNvSpPr/>
          <p:nvPr/>
        </p:nvSpPr>
        <p:spPr>
          <a:xfrm>
            <a:off x="457200" y="3383280"/>
            <a:ext cx="8229600" cy="731520"/>
          </a:xfrm>
          <a:prstGeom prst="roundRect">
            <a:avLst>
              <a:gd name="adj" fmla="val 10000"/>
            </a:avLst>
          </a:prstGeom>
          <a:solidFill>
            <a:schemeClr val="bg2"/>
          </a:solidFill>
          <a:ln/>
        </p:spPr>
      </p:sp>
      <p:sp>
        <p:nvSpPr>
          <p:cNvPr id="26" name="rock icon 3 circle"/>
          <p:cNvSpPr/>
          <p:nvPr/>
        </p:nvSpPr>
        <p:spPr>
          <a:xfrm>
            <a:off x="566928" y="3538728"/>
            <a:ext cx="420624" cy="420624"/>
          </a:xfrm>
          <a:prstGeom prst="ellipse">
            <a:avLst/>
          </a:prstGeom>
          <a:solidFill>
            <a:schemeClr val="accent1"/>
          </a:solidFill>
          <a:ln/>
        </p:spPr>
      </p:sp>
      <p:pic>
        <p:nvPicPr>
          <p:cNvPr id="27" name="rock icon 3" descr="rock icon 3">    </p:cNvPr>
          <p:cNvPicPr>
            <a:picLocks noChangeAspect="1"/>
          </p:cNvPicPr>
          <p:nvPr/>
        </p:nvPicPr>
        <p:blipFill>
          <a:blip r:embed="rId3"/>
          <a:stretch>
            <a:fillRect/>
          </a:stretch>
        </p:blipFill>
        <p:spPr>
          <a:xfrm>
            <a:off x="672084" y="3643884"/>
            <a:ext cx="210312" cy="210312"/>
          </a:xfrm>
          <a:prstGeom prst="rect">
            <a:avLst/>
          </a:prstGeom>
        </p:spPr>
      </p:pic>
      <p:sp>
        <p:nvSpPr>
          <p:cNvPr id="28" name="Text 22"/>
          <p:cNvSpPr txBox="1"/>
          <p:nvPr/>
        </p:nvSpPr>
        <p:spPr>
          <a:xfrm>
            <a:off x="1097280" y="3383280"/>
            <a:ext cx="2011680" cy="731520"/>
          </a:xfrm>
          <a:prstGeom prst="rect">
            <a:avLst/>
          </a:prstGeom>
          <a:noFill/>
          <a:ln/>
        </p:spPr>
        <p:txBody>
          <a:bodyPr wrap="square" lIns="0" tIns="0" rIns="0" bIns="0" rtlCol="0" anchor="ctr"/>
          <a:lstStyle/>
          <a:p>
            <a:pPr indent="0" marL="0">
              <a:buNone/>
            </a:pPr>
            <a:r>
              <a:rPr lang="en-US" sz="1200" b="1" dirty="0">
                <a:solidFill>
                  <a:schemeClr val="tx1"/>
                </a:solidFill>
              </a:rPr>
              <a:t>Sales Intelligence Loop</a:t>
            </a:r>
            <a:endParaRPr lang="en-US" sz="1200" dirty="0"/>
          </a:p>
        </p:txBody>
      </p:sp>
      <p:sp>
        <p:nvSpPr>
          <p:cNvPr id="29" name="Text 23"/>
          <p:cNvSpPr txBox="1"/>
          <p:nvPr/>
        </p:nvSpPr>
        <p:spPr>
          <a:xfrm>
            <a:off x="3291840" y="3383280"/>
            <a:ext cx="2286000" cy="731520"/>
          </a:xfrm>
          <a:prstGeom prst="rect">
            <a:avLst/>
          </a:prstGeom>
          <a:noFill/>
          <a:ln/>
        </p:spPr>
        <p:txBody>
          <a:bodyPr wrap="square" lIns="0" tIns="0" rIns="0" bIns="0" rtlCol="0" anchor="ctr"/>
          <a:lstStyle/>
          <a:p>
            <a:pPr indent="0" marL="0">
              <a:buNone/>
            </a:pPr>
            <a:r>
              <a:rPr lang="en-US" sz="1100" dirty="0">
                <a:solidFill>
                  <a:schemeClr val="accent3"/>
                </a:solidFill>
              </a:rPr>
              <a:t>Turn lost leads into insight</a:t>
            </a:r>
            <a:endParaRPr lang="en-US" sz="1100" dirty="0"/>
          </a:p>
        </p:txBody>
      </p:sp>
      <p:sp>
        <p:nvSpPr>
          <p:cNvPr id="30" name="Text 24"/>
          <p:cNvSpPr txBox="1"/>
          <p:nvPr/>
        </p:nvSpPr>
        <p:spPr>
          <a:xfrm>
            <a:off x="5760720" y="3383280"/>
            <a:ext cx="1737360" cy="731520"/>
          </a:xfrm>
          <a:prstGeom prst="rect">
            <a:avLst/>
          </a:prstGeom>
          <a:noFill/>
          <a:ln/>
        </p:spPr>
        <p:txBody>
          <a:bodyPr wrap="square" lIns="0" tIns="0" rIns="0" bIns="0" rtlCol="0" anchor="ctr"/>
          <a:lstStyle/>
          <a:p>
            <a:pPr indent="0" marL="0">
              <a:buNone/>
            </a:pPr>
            <a:r>
              <a:rPr lang="en-US" sz="1100" dirty="0">
                <a:solidFill>
                  <a:schemeClr val="tx1"/>
                </a:solidFill>
              </a:rPr>
              <a:t>3 clear reasons leads say no, now shaping how we sell</a:t>
            </a:r>
            <a:endParaRPr lang="en-US" sz="1100" dirty="0"/>
          </a:p>
        </p:txBody>
      </p:sp>
      <p:sp>
        <p:nvSpPr>
          <p:cNvPr id="31" name="done pill 3"/>
          <p:cNvSpPr/>
          <p:nvPr/>
        </p:nvSpPr>
        <p:spPr>
          <a:xfrm>
            <a:off x="7635240" y="3602736"/>
            <a:ext cx="868680" cy="292608"/>
          </a:xfrm>
          <a:prstGeom prst="roundRect">
            <a:avLst>
              <a:gd name="adj" fmla="val 50000"/>
            </a:avLst>
          </a:prstGeom>
          <a:solidFill>
            <a:schemeClr val="accent5"/>
          </a:solidFill>
          <a:ln/>
        </p:spPr>
      </p:sp>
      <p:sp>
        <p:nvSpPr>
          <p:cNvPr id="32" name="Text 26"/>
          <p:cNvSpPr txBox="1"/>
          <p:nvPr/>
        </p:nvSpPr>
        <p:spPr>
          <a:xfrm>
            <a:off x="7635240" y="3602736"/>
            <a:ext cx="868680" cy="292608"/>
          </a:xfrm>
          <a:prstGeom prst="rect">
            <a:avLst/>
          </a:prstGeom>
          <a:noFill/>
          <a:ln/>
        </p:spPr>
        <p:txBody>
          <a:bodyPr wrap="square" lIns="0" tIns="0" rIns="0" bIns="0" rtlCol="0" anchor="ctr"/>
          <a:lstStyle/>
          <a:p>
            <a:pPr algn="ctr" indent="0" marL="0">
              <a:buNone/>
            </a:pPr>
            <a:r>
              <a:rPr lang="en-US" sz="1100" b="1" dirty="0">
                <a:solidFill>
                  <a:schemeClr val="bg1"/>
                </a:solidFill>
              </a:rPr>
              <a:t>Done</a:t>
            </a:r>
            <a:endParaRPr lang="en-US" sz="11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457200" y="320040"/>
            <a:ext cx="8229600" cy="274320"/>
          </a:xfrm>
          <a:prstGeom prst="rect">
            <a:avLst/>
          </a:prstGeom>
          <a:noFill/>
          <a:ln/>
        </p:spPr>
        <p:txBody>
          <a:bodyPr wrap="square" lIns="0" tIns="0" rIns="0" bIns="0" rtlCol="0" anchor="ctr"/>
          <a:lstStyle/>
          <a:p>
            <a:pPr indent="0" marL="0">
              <a:buNone/>
            </a:pPr>
            <a:r>
              <a:rPr lang="en-US" sz="1100" b="1" spc="200" kern="0" dirty="0">
                <a:solidFill>
                  <a:schemeClr val="accent5"/>
                </a:solidFill>
              </a:rPr>
              <a:t>ROCK 01  ·  LEAD REACTIVATION &amp; BDM</a:t>
            </a:r>
            <a:endParaRPr lang="en-US" sz="1100" dirty="0"/>
          </a:p>
        </p:txBody>
      </p:sp>
      <p:sp>
        <p:nvSpPr>
          <p:cNvPr id="3" name="Text 1"/>
          <p:cNvSpPr/>
          <p:nvPr>
            <p:ph idx="102" type="title" hasCustomPrompt="1"/>
          </p:nvPr>
        </p:nvSpPr>
        <p:spPr>
          <a:xfrm>
            <a:off x="457200" y="594360"/>
            <a:ext cx="8229600" cy="548640"/>
          </a:xfrm>
          <a:prstGeom prst="rect">
            <a:avLst/>
          </a:prstGeom>
          <a:noFill/>
          <a:ln/>
        </p:spPr>
        <p:txBody>
          <a:bodyPr wrap="square" lIns="0" tIns="0" rIns="0" bIns="0" rtlCol="0" anchor="ctr"/>
          <a:lstStyle/>
          <a:p>
            <a:pPr algn="l" indent="0" marL="0">
              <a:buNone/>
            </a:pPr>
            <a:r>
              <a:rPr lang="en-US" sz="2600" b="1" dirty="0">
                <a:solidFill>
                  <a:schemeClr val="tx1"/>
                </a:solidFill>
              </a:rPr>
              <a:t>Our old leads are buying again</a:t>
            </a:r>
            <a:endParaRPr lang="en-US" sz="2600" dirty="0"/>
          </a:p>
        </p:txBody>
      </p:sp>
      <p:sp>
        <p:nvSpPr>
          <p:cNvPr id="5" name="before card"/>
          <p:cNvSpPr/>
          <p:nvPr/>
        </p:nvSpPr>
        <p:spPr>
          <a:xfrm>
            <a:off x="457200" y="1371600"/>
            <a:ext cx="2286000" cy="2148840"/>
          </a:xfrm>
          <a:prstGeom prst="roundRect">
            <a:avLst>
              <a:gd name="adj" fmla="val 3404"/>
            </a:avLst>
          </a:prstGeom>
          <a:solidFill>
            <a:schemeClr val="bg2"/>
          </a:solidFill>
          <a:ln/>
        </p:spPr>
      </p:sp>
      <p:sp>
        <p:nvSpPr>
          <p:cNvPr id="6" name="Text 3"/>
          <p:cNvSpPr txBox="1"/>
          <p:nvPr/>
        </p:nvSpPr>
        <p:spPr>
          <a:xfrm>
            <a:off x="685800" y="1554480"/>
            <a:ext cx="1828800" cy="228600"/>
          </a:xfrm>
          <a:prstGeom prst="rect">
            <a:avLst/>
          </a:prstGeom>
          <a:noFill/>
          <a:ln/>
        </p:spPr>
        <p:txBody>
          <a:bodyPr wrap="square" lIns="0" tIns="0" rIns="0" bIns="0" rtlCol="0" anchor="ctr"/>
          <a:lstStyle/>
          <a:p>
            <a:pPr indent="0" marL="0">
              <a:buNone/>
            </a:pPr>
            <a:r>
              <a:rPr lang="en-US" sz="1000" b="1" spc="100" kern="0" dirty="0">
                <a:solidFill>
                  <a:schemeClr val="accent3"/>
                </a:solidFill>
              </a:rPr>
              <a:t>BEFORE</a:t>
            </a:r>
            <a:endParaRPr lang="en-US" sz="1000" dirty="0"/>
          </a:p>
        </p:txBody>
      </p:sp>
      <p:sp>
        <p:nvSpPr>
          <p:cNvPr id="7" name="Text 4"/>
          <p:cNvSpPr txBox="1"/>
          <p:nvPr/>
        </p:nvSpPr>
        <p:spPr>
          <a:xfrm>
            <a:off x="685800" y="1874520"/>
            <a:ext cx="1874520" cy="1371600"/>
          </a:xfrm>
          <a:prstGeom prst="rect">
            <a:avLst/>
          </a:prstGeom>
          <a:noFill/>
          <a:ln/>
        </p:spPr>
        <p:txBody>
          <a:bodyPr wrap="square" lIns="0" tIns="0" rIns="0" bIns="0" rtlCol="0" anchor="t"/>
          <a:lstStyle/>
          <a:p>
            <a:pPr indent="0" marL="0">
              <a:buNone/>
            </a:pPr>
            <a:r>
              <a:rPr lang="en-US" sz="1500" b="1" dirty="0">
                <a:solidFill>
                  <a:schemeClr val="accent3"/>
                </a:solidFill>
              </a:rPr>
              <a:t>Ad-hoc follow-up when we had time</a:t>
            </a:r>
            <a:endParaRPr lang="en-US" sz="1500" dirty="0"/>
          </a:p>
        </p:txBody>
      </p:sp>
      <p:pic>
        <p:nvPicPr>
          <p:cNvPr id="8" name="before-after arrow" descr="becomes">    </p:cNvPr>
          <p:cNvPicPr>
            <a:picLocks noChangeAspect="1"/>
          </p:cNvPicPr>
          <p:nvPr/>
        </p:nvPicPr>
        <p:blipFill>
          <a:blip r:embed="rId1"/>
          <a:stretch>
            <a:fillRect/>
          </a:stretch>
        </p:blipFill>
        <p:spPr>
          <a:xfrm>
            <a:off x="2834640" y="2286000"/>
            <a:ext cx="320040" cy="320040"/>
          </a:xfrm>
          <a:prstGeom prst="rect">
            <a:avLst/>
          </a:prstGeom>
        </p:spPr>
      </p:pic>
      <p:sp>
        <p:nvSpPr>
          <p:cNvPr id="9" name="after card"/>
          <p:cNvSpPr/>
          <p:nvPr/>
        </p:nvSpPr>
        <p:spPr>
          <a:xfrm>
            <a:off x="3246120" y="1371600"/>
            <a:ext cx="2286000" cy="2148840"/>
          </a:xfrm>
          <a:prstGeom prst="roundRect">
            <a:avLst>
              <a:gd name="adj" fmla="val 3404"/>
            </a:avLst>
          </a:prstGeom>
          <a:solidFill>
            <a:schemeClr val="accent4"/>
          </a:solidFill>
          <a:ln/>
        </p:spPr>
      </p:sp>
      <p:sp>
        <p:nvSpPr>
          <p:cNvPr id="10" name="Text 6"/>
          <p:cNvSpPr txBox="1"/>
          <p:nvPr/>
        </p:nvSpPr>
        <p:spPr>
          <a:xfrm>
            <a:off x="3474720" y="1554480"/>
            <a:ext cx="1828800" cy="228600"/>
          </a:xfrm>
          <a:prstGeom prst="rect">
            <a:avLst/>
          </a:prstGeom>
          <a:noFill/>
          <a:ln/>
        </p:spPr>
        <p:txBody>
          <a:bodyPr wrap="square" lIns="0" tIns="0" rIns="0" bIns="0" rtlCol="0" anchor="ctr"/>
          <a:lstStyle/>
          <a:p>
            <a:pPr indent="0" marL="0">
              <a:buNone/>
            </a:pPr>
            <a:r>
              <a:rPr lang="en-US" sz="1000" b="1" spc="100" kern="0" dirty="0">
                <a:solidFill>
                  <a:schemeClr val="accent5"/>
                </a:solidFill>
              </a:rPr>
              <a:t>NOW</a:t>
            </a:r>
            <a:endParaRPr lang="en-US" sz="1000" dirty="0"/>
          </a:p>
        </p:txBody>
      </p:sp>
      <p:sp>
        <p:nvSpPr>
          <p:cNvPr id="11" name="Text 7"/>
          <p:cNvSpPr txBox="1"/>
          <p:nvPr/>
        </p:nvSpPr>
        <p:spPr>
          <a:xfrm>
            <a:off x="3474720" y="1874520"/>
            <a:ext cx="1874520" cy="1097280"/>
          </a:xfrm>
          <a:prstGeom prst="rect">
            <a:avLst/>
          </a:prstGeom>
          <a:noFill/>
          <a:ln/>
        </p:spPr>
        <p:txBody>
          <a:bodyPr wrap="square" lIns="0" tIns="0" rIns="0" bIns="0" rtlCol="0" anchor="t"/>
          <a:lstStyle/>
          <a:p>
            <a:pPr indent="0" marL="0">
              <a:buNone/>
            </a:pPr>
            <a:r>
              <a:rPr lang="en-US" sz="1500" b="1" dirty="0">
                <a:solidFill>
                  <a:schemeClr val="tx1"/>
                </a:solidFill>
              </a:rPr>
              <a:t>A daily habit: tailored follow-up + nurture</a:t>
            </a:r>
            <a:endParaRPr lang="en-US" sz="1500" dirty="0"/>
          </a:p>
        </p:txBody>
      </p:sp>
      <p:sp>
        <p:nvSpPr>
          <p:cNvPr id="12" name="result card"/>
          <p:cNvSpPr/>
          <p:nvPr/>
        </p:nvSpPr>
        <p:spPr>
          <a:xfrm>
            <a:off x="5760720" y="1371600"/>
            <a:ext cx="2926080" cy="2148840"/>
          </a:xfrm>
          <a:prstGeom prst="roundRect">
            <a:avLst>
              <a:gd name="adj" fmla="val 3404"/>
            </a:avLst>
          </a:prstGeom>
          <a:solidFill>
            <a:schemeClr val="accent5"/>
          </a:solidFill>
          <a:ln/>
        </p:spPr>
      </p:sp>
      <p:sp>
        <p:nvSpPr>
          <p:cNvPr id="13" name="Text 9"/>
          <p:cNvSpPr txBox="1"/>
          <p:nvPr/>
        </p:nvSpPr>
        <p:spPr>
          <a:xfrm>
            <a:off x="5989320" y="1554480"/>
            <a:ext cx="2286000" cy="228600"/>
          </a:xfrm>
          <a:prstGeom prst="rect">
            <a:avLst/>
          </a:prstGeom>
          <a:noFill/>
          <a:ln/>
        </p:spPr>
        <p:txBody>
          <a:bodyPr wrap="square" lIns="0" tIns="0" rIns="0" bIns="0" rtlCol="0" anchor="ctr"/>
          <a:lstStyle/>
          <a:p>
            <a:pPr indent="0" marL="0">
              <a:buNone/>
            </a:pPr>
            <a:r>
              <a:rPr lang="en-US" sz="1000" b="1" spc="100" kern="0" dirty="0">
                <a:solidFill>
                  <a:schemeClr val="bg1"/>
                </a:solidFill>
              </a:rPr>
              <a:t>RESULT</a:t>
            </a:r>
            <a:endParaRPr lang="en-US" sz="1000" dirty="0"/>
          </a:p>
        </p:txBody>
      </p:sp>
      <p:sp>
        <p:nvSpPr>
          <p:cNvPr id="14" name="Text 10"/>
          <p:cNvSpPr txBox="1"/>
          <p:nvPr/>
        </p:nvSpPr>
        <p:spPr>
          <a:xfrm>
            <a:off x="5989320" y="1783080"/>
            <a:ext cx="731520" cy="822960"/>
          </a:xfrm>
          <a:prstGeom prst="rect">
            <a:avLst/>
          </a:prstGeom>
          <a:noFill/>
          <a:ln/>
        </p:spPr>
        <p:txBody>
          <a:bodyPr wrap="square" lIns="0" tIns="0" rIns="0" bIns="0" rtlCol="0" anchor="ctr"/>
          <a:lstStyle/>
          <a:p>
            <a:pPr indent="0" marL="0">
              <a:buNone/>
            </a:pPr>
            <a:r>
              <a:rPr lang="en-US" sz="5400" b="1" dirty="0">
                <a:solidFill>
                  <a:schemeClr val="bg1"/>
                </a:solidFill>
              </a:rPr>
              <a:t>1</a:t>
            </a:r>
            <a:endParaRPr lang="en-US" sz="5400" dirty="0"/>
          </a:p>
        </p:txBody>
      </p:sp>
      <p:sp>
        <p:nvSpPr>
          <p:cNvPr id="15" name="Text 11"/>
          <p:cNvSpPr txBox="1"/>
          <p:nvPr/>
        </p:nvSpPr>
        <p:spPr>
          <a:xfrm>
            <a:off x="6675120" y="1828800"/>
            <a:ext cx="1828800" cy="731520"/>
          </a:xfrm>
          <a:prstGeom prst="rect">
            <a:avLst/>
          </a:prstGeom>
          <a:noFill/>
          <a:ln/>
        </p:spPr>
        <p:txBody>
          <a:bodyPr wrap="square" lIns="0" tIns="0" rIns="0" bIns="0" rtlCol="0" anchor="ctr"/>
          <a:lstStyle/>
          <a:p>
            <a:pPr indent="0" marL="0">
              <a:buNone/>
            </a:pPr>
            <a:r>
              <a:rPr lang="en-US" sz="1200" b="1" dirty="0">
                <a:solidFill>
                  <a:schemeClr val="bg1"/>
                </a:solidFill>
              </a:rPr>
              <a:t>lost client won back (Andrew Owen)</a:t>
            </a:r>
            <a:endParaRPr lang="en-US" sz="1200" dirty="0"/>
          </a:p>
        </p:txBody>
      </p:sp>
      <p:sp>
        <p:nvSpPr>
          <p:cNvPr id="16" name="Text 12"/>
          <p:cNvSpPr txBox="1"/>
          <p:nvPr/>
        </p:nvSpPr>
        <p:spPr>
          <a:xfrm>
            <a:off x="5989320" y="2697480"/>
            <a:ext cx="2514600" cy="685800"/>
          </a:xfrm>
          <a:prstGeom prst="rect">
            <a:avLst/>
          </a:prstGeom>
          <a:noFill/>
          <a:ln/>
        </p:spPr>
        <p:txBody>
          <a:bodyPr wrap="square" lIns="0" tIns="0" rIns="0" bIns="0" rtlCol="0" anchor="t"/>
          <a:lstStyle/>
          <a:p>
            <a:pPr indent="0" marL="0">
              <a:buNone/>
            </a:pPr>
            <a:r>
              <a:rPr lang="en-US" sz="1200" dirty="0">
                <a:solidFill>
                  <a:schemeClr val="bg1"/>
                </a:solidFill>
              </a:rPr>
              <a:t>+ several warm leads re-engaged and now in the pipeline</a:t>
            </a:r>
            <a:endParaRPr lang="en-US" sz="1200" dirty="0"/>
          </a:p>
        </p:txBody>
      </p:sp>
      <p:sp>
        <p:nvSpPr>
          <p:cNvPr id="17" name="Text 13"/>
          <p:cNvSpPr txBox="1"/>
          <p:nvPr/>
        </p:nvSpPr>
        <p:spPr>
          <a:xfrm>
            <a:off x="457200" y="3794760"/>
            <a:ext cx="2743200" cy="228600"/>
          </a:xfrm>
          <a:prstGeom prst="rect">
            <a:avLst/>
          </a:prstGeom>
          <a:noFill/>
          <a:ln/>
        </p:spPr>
        <p:txBody>
          <a:bodyPr wrap="square" lIns="0" tIns="0" rIns="0" bIns="0" rtlCol="0" anchor="ctr"/>
          <a:lstStyle/>
          <a:p>
            <a:pPr indent="0" marL="0">
              <a:buNone/>
            </a:pPr>
            <a:r>
              <a:rPr lang="en-US" sz="1000" b="1" spc="100" kern="0" dirty="0">
                <a:solidFill>
                  <a:schemeClr val="accent5"/>
                </a:solidFill>
              </a:rPr>
              <a:t>NEXT QUARTER</a:t>
            </a:r>
            <a:endParaRPr lang="en-US" sz="1000" dirty="0"/>
          </a:p>
        </p:txBody>
      </p:sp>
      <p:sp>
        <p:nvSpPr>
          <p:cNvPr id="18" name="next step 1"/>
          <p:cNvSpPr/>
          <p:nvPr/>
        </p:nvSpPr>
        <p:spPr>
          <a:xfrm>
            <a:off x="457200" y="4069080"/>
            <a:ext cx="2590800" cy="548640"/>
          </a:xfrm>
          <a:prstGeom prst="roundRect">
            <a:avLst>
              <a:gd name="adj" fmla="val 13333"/>
            </a:avLst>
          </a:prstGeom>
          <a:solidFill>
            <a:schemeClr val="accent4"/>
          </a:solidFill>
          <a:ln/>
        </p:spPr>
      </p:sp>
      <p:pic>
        <p:nvPicPr>
          <p:cNvPr id="19" name="next arrow 1" descr="next">    </p:cNvPr>
          <p:cNvPicPr>
            <a:picLocks noChangeAspect="1"/>
          </p:cNvPicPr>
          <p:nvPr/>
        </p:nvPicPr>
        <p:blipFill>
          <a:blip r:embed="rId2"/>
          <a:stretch>
            <a:fillRect/>
          </a:stretch>
        </p:blipFill>
        <p:spPr>
          <a:xfrm>
            <a:off x="621792" y="4233672"/>
            <a:ext cx="219456" cy="219456"/>
          </a:xfrm>
          <a:prstGeom prst="rect">
            <a:avLst/>
          </a:prstGeom>
        </p:spPr>
      </p:pic>
      <p:sp>
        <p:nvSpPr>
          <p:cNvPr id="20" name="Text 15"/>
          <p:cNvSpPr txBox="1"/>
          <p:nvPr/>
        </p:nvSpPr>
        <p:spPr>
          <a:xfrm>
            <a:off x="960120" y="4069080"/>
            <a:ext cx="1950720" cy="548640"/>
          </a:xfrm>
          <a:prstGeom prst="rect">
            <a:avLst/>
          </a:prstGeom>
          <a:noFill/>
          <a:ln/>
        </p:spPr>
        <p:txBody>
          <a:bodyPr wrap="square" lIns="0" tIns="0" rIns="0" bIns="0" rtlCol="0" anchor="ctr"/>
          <a:lstStyle/>
          <a:p>
            <a:pPr indent="0" marL="0">
              <a:buNone/>
            </a:pPr>
            <a:r>
              <a:rPr lang="en-US" sz="1100" b="1" dirty="0">
                <a:solidFill>
                  <a:schemeClr val="tx1"/>
                </a:solidFill>
              </a:rPr>
              <a:t>Keep the daily rhythm</a:t>
            </a:r>
            <a:endParaRPr lang="en-US" sz="1100" dirty="0"/>
          </a:p>
        </p:txBody>
      </p:sp>
      <p:sp>
        <p:nvSpPr>
          <p:cNvPr id="21" name="next step 2"/>
          <p:cNvSpPr/>
          <p:nvPr/>
        </p:nvSpPr>
        <p:spPr>
          <a:xfrm>
            <a:off x="3276600" y="4069080"/>
            <a:ext cx="2590800" cy="548640"/>
          </a:xfrm>
          <a:prstGeom prst="roundRect">
            <a:avLst>
              <a:gd name="adj" fmla="val 13333"/>
            </a:avLst>
          </a:prstGeom>
          <a:solidFill>
            <a:schemeClr val="accent4"/>
          </a:solidFill>
          <a:ln/>
        </p:spPr>
      </p:sp>
      <p:pic>
        <p:nvPicPr>
          <p:cNvPr id="22" name="next arrow 2" descr="next">    </p:cNvPr>
          <p:cNvPicPr>
            <a:picLocks noChangeAspect="1"/>
          </p:cNvPicPr>
          <p:nvPr/>
        </p:nvPicPr>
        <p:blipFill>
          <a:blip r:embed="rId3"/>
          <a:stretch>
            <a:fillRect/>
          </a:stretch>
        </p:blipFill>
        <p:spPr>
          <a:xfrm>
            <a:off x="3441192" y="4233672"/>
            <a:ext cx="219456" cy="219456"/>
          </a:xfrm>
          <a:prstGeom prst="rect">
            <a:avLst/>
          </a:prstGeom>
        </p:spPr>
      </p:pic>
      <p:sp>
        <p:nvSpPr>
          <p:cNvPr id="23" name="Text 17"/>
          <p:cNvSpPr txBox="1"/>
          <p:nvPr/>
        </p:nvSpPr>
        <p:spPr>
          <a:xfrm>
            <a:off x="3779520" y="4069080"/>
            <a:ext cx="1950720" cy="548640"/>
          </a:xfrm>
          <a:prstGeom prst="rect">
            <a:avLst/>
          </a:prstGeom>
          <a:noFill/>
          <a:ln/>
        </p:spPr>
        <p:txBody>
          <a:bodyPr wrap="square" lIns="0" tIns="0" rIns="0" bIns="0" rtlCol="0" anchor="ctr"/>
          <a:lstStyle/>
          <a:p>
            <a:pPr indent="0" marL="0">
              <a:buNone/>
            </a:pPr>
            <a:r>
              <a:rPr lang="en-US" sz="1100" b="1" dirty="0">
                <a:solidFill>
                  <a:schemeClr val="tx1"/>
                </a:solidFill>
              </a:rPr>
              <a:t>Move warm leads to proposal</a:t>
            </a:r>
            <a:endParaRPr lang="en-US" sz="1100" dirty="0"/>
          </a:p>
        </p:txBody>
      </p:sp>
      <p:sp>
        <p:nvSpPr>
          <p:cNvPr id="24" name="next step 3"/>
          <p:cNvSpPr/>
          <p:nvPr/>
        </p:nvSpPr>
        <p:spPr>
          <a:xfrm>
            <a:off x="6096000" y="4069080"/>
            <a:ext cx="2590800" cy="548640"/>
          </a:xfrm>
          <a:prstGeom prst="roundRect">
            <a:avLst>
              <a:gd name="adj" fmla="val 13333"/>
            </a:avLst>
          </a:prstGeom>
          <a:solidFill>
            <a:schemeClr val="accent4"/>
          </a:solidFill>
          <a:ln/>
        </p:spPr>
      </p:sp>
      <p:pic>
        <p:nvPicPr>
          <p:cNvPr id="25" name="next arrow 3" descr="next">    </p:cNvPr>
          <p:cNvPicPr>
            <a:picLocks noChangeAspect="1"/>
          </p:cNvPicPr>
          <p:nvPr/>
        </p:nvPicPr>
        <p:blipFill>
          <a:blip r:embed="rId4"/>
          <a:stretch>
            <a:fillRect/>
          </a:stretch>
        </p:blipFill>
        <p:spPr>
          <a:xfrm>
            <a:off x="6260592" y="4233672"/>
            <a:ext cx="219456" cy="219456"/>
          </a:xfrm>
          <a:prstGeom prst="rect">
            <a:avLst/>
          </a:prstGeom>
        </p:spPr>
      </p:pic>
      <p:sp>
        <p:nvSpPr>
          <p:cNvPr id="26" name="Text 19"/>
          <p:cNvSpPr txBox="1"/>
          <p:nvPr/>
        </p:nvSpPr>
        <p:spPr>
          <a:xfrm>
            <a:off x="6598920" y="4069080"/>
            <a:ext cx="1950720" cy="548640"/>
          </a:xfrm>
          <a:prstGeom prst="rect">
            <a:avLst/>
          </a:prstGeom>
          <a:noFill/>
          <a:ln/>
        </p:spPr>
        <p:txBody>
          <a:bodyPr wrap="square" lIns="0" tIns="0" rIns="0" bIns="0" rtlCol="0" anchor="ctr"/>
          <a:lstStyle/>
          <a:p>
            <a:pPr indent="0" marL="0">
              <a:buNone/>
            </a:pPr>
            <a:r>
              <a:rPr lang="en-US" sz="1100" b="1" dirty="0">
                <a:solidFill>
                  <a:schemeClr val="tx1"/>
                </a:solidFill>
              </a:rPr>
              <a:t>Track meetings + wins</a:t>
            </a:r>
            <a:endParaRPr lang="en-US" sz="11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457200" y="320040"/>
            <a:ext cx="8229600" cy="274320"/>
          </a:xfrm>
          <a:prstGeom prst="rect">
            <a:avLst/>
          </a:prstGeom>
          <a:noFill/>
          <a:ln/>
        </p:spPr>
        <p:txBody>
          <a:bodyPr wrap="square" lIns="0" tIns="0" rIns="0" bIns="0" rtlCol="0" anchor="ctr"/>
          <a:lstStyle/>
          <a:p>
            <a:pPr indent="0" marL="0">
              <a:buNone/>
            </a:pPr>
            <a:r>
              <a:rPr lang="en-US" sz="1100" b="1" spc="200" kern="0" dirty="0">
                <a:solidFill>
                  <a:schemeClr val="accent5"/>
                </a:solidFill>
              </a:rPr>
              <a:t>ROCK 02  ·  OA PRODUCT ECOSYSTEM</a:t>
            </a:r>
            <a:endParaRPr lang="en-US" sz="1100" dirty="0"/>
          </a:p>
        </p:txBody>
      </p:sp>
      <p:sp>
        <p:nvSpPr>
          <p:cNvPr id="3" name="Text 1"/>
          <p:cNvSpPr/>
          <p:nvPr>
            <p:ph idx="102" type="title" hasCustomPrompt="1"/>
          </p:nvPr>
        </p:nvSpPr>
        <p:spPr>
          <a:xfrm>
            <a:off x="457200" y="594360"/>
            <a:ext cx="8229600" cy="548640"/>
          </a:xfrm>
          <a:prstGeom prst="rect">
            <a:avLst/>
          </a:prstGeom>
          <a:noFill/>
          <a:ln/>
        </p:spPr>
        <p:txBody>
          <a:bodyPr wrap="square" lIns="0" tIns="0" rIns="0" bIns="0" rtlCol="0" anchor="ctr"/>
          <a:lstStyle/>
          <a:p>
            <a:pPr algn="l" indent="0" marL="0">
              <a:buNone/>
            </a:pPr>
            <a:r>
              <a:rPr lang="en-US" sz="2600" b="1" dirty="0">
                <a:solidFill>
                  <a:schemeClr val="tx1"/>
                </a:solidFill>
              </a:rPr>
              <a:t>More ways to buy = 12 sales in a month</a:t>
            </a:r>
            <a:endParaRPr lang="en-US" sz="2600" dirty="0"/>
          </a:p>
        </p:txBody>
      </p:sp>
      <p:sp>
        <p:nvSpPr>
          <p:cNvPr id="5" name="big number card"/>
          <p:cNvSpPr/>
          <p:nvPr/>
        </p:nvSpPr>
        <p:spPr>
          <a:xfrm>
            <a:off x="457200" y="1371600"/>
            <a:ext cx="2103120" cy="2240280"/>
          </a:xfrm>
          <a:prstGeom prst="roundRect">
            <a:avLst>
              <a:gd name="adj" fmla="val 3478"/>
            </a:avLst>
          </a:prstGeom>
          <a:solidFill>
            <a:schemeClr val="accent5"/>
          </a:solidFill>
          <a:ln/>
        </p:spPr>
      </p:sp>
      <p:sp>
        <p:nvSpPr>
          <p:cNvPr id="6" name="Text 3"/>
          <p:cNvSpPr txBox="1"/>
          <p:nvPr/>
        </p:nvSpPr>
        <p:spPr>
          <a:xfrm>
            <a:off x="658368" y="1463040"/>
            <a:ext cx="1737360" cy="914400"/>
          </a:xfrm>
          <a:prstGeom prst="rect">
            <a:avLst/>
          </a:prstGeom>
          <a:noFill/>
          <a:ln/>
        </p:spPr>
        <p:txBody>
          <a:bodyPr wrap="square" lIns="0" tIns="0" rIns="0" bIns="0" rtlCol="0" anchor="ctr"/>
          <a:lstStyle/>
          <a:p>
            <a:pPr indent="0" marL="0">
              <a:buNone/>
            </a:pPr>
            <a:r>
              <a:rPr lang="en-US" sz="6000" b="1" dirty="0">
                <a:solidFill>
                  <a:schemeClr val="bg1"/>
                </a:solidFill>
              </a:rPr>
              <a:t>12</a:t>
            </a:r>
            <a:endParaRPr lang="en-US" sz="6000" dirty="0"/>
          </a:p>
        </p:txBody>
      </p:sp>
      <p:sp>
        <p:nvSpPr>
          <p:cNvPr id="7" name="Text 4"/>
          <p:cNvSpPr txBox="1"/>
          <p:nvPr/>
        </p:nvSpPr>
        <p:spPr>
          <a:xfrm>
            <a:off x="658368" y="2377440"/>
            <a:ext cx="1737360" cy="457200"/>
          </a:xfrm>
          <a:prstGeom prst="rect">
            <a:avLst/>
          </a:prstGeom>
          <a:noFill/>
          <a:ln/>
        </p:spPr>
        <p:txBody>
          <a:bodyPr wrap="square" lIns="0" tIns="0" rIns="0" bIns="0" rtlCol="0" anchor="t"/>
          <a:lstStyle/>
          <a:p>
            <a:pPr indent="0" marL="0">
              <a:buNone/>
            </a:pPr>
            <a:r>
              <a:rPr lang="en-US" sz="1300" b="1" dirty="0">
                <a:solidFill>
                  <a:schemeClr val="bg1"/>
                </a:solidFill>
              </a:rPr>
              <a:t>sales in September</a:t>
            </a:r>
            <a:endParaRPr lang="en-US" sz="1300" dirty="0"/>
          </a:p>
        </p:txBody>
      </p:sp>
      <p:sp>
        <p:nvSpPr>
          <p:cNvPr id="8" name="Text 5"/>
          <p:cNvSpPr txBox="1"/>
          <p:nvPr/>
        </p:nvSpPr>
        <p:spPr>
          <a:xfrm>
            <a:off x="658368" y="2834640"/>
            <a:ext cx="1737360" cy="640080"/>
          </a:xfrm>
          <a:prstGeom prst="rect">
            <a:avLst/>
          </a:prstGeom>
          <a:noFill/>
          <a:ln/>
        </p:spPr>
        <p:txBody>
          <a:bodyPr wrap="square" lIns="0" tIns="0" rIns="0" bIns="0" rtlCol="0" anchor="t"/>
          <a:lstStyle/>
          <a:p>
            <a:pPr indent="0" marL="0">
              <a:buNone/>
            </a:pPr>
            <a:r>
              <a:rPr lang="en-US" sz="1100" i="1" dirty="0">
                <a:solidFill>
                  <a:schemeClr val="bg1"/>
                </a:solidFill>
              </a:rPr>
              <a:t>“Not quite right for us” became “yes”</a:t>
            </a:r>
            <a:endParaRPr lang="en-US" sz="1100" dirty="0"/>
          </a:p>
        </p:txBody>
      </p:sp>
      <p:sp>
        <p:nvSpPr>
          <p:cNvPr id="9" name="Text 6"/>
          <p:cNvSpPr txBox="1"/>
          <p:nvPr/>
        </p:nvSpPr>
        <p:spPr>
          <a:xfrm>
            <a:off x="2788920" y="1325880"/>
            <a:ext cx="5897880" cy="228600"/>
          </a:xfrm>
          <a:prstGeom prst="rect">
            <a:avLst/>
          </a:prstGeom>
          <a:noFill/>
          <a:ln/>
        </p:spPr>
        <p:txBody>
          <a:bodyPr wrap="square" lIns="0" tIns="0" rIns="0" bIns="0" rtlCol="0" anchor="ctr"/>
          <a:lstStyle/>
          <a:p>
            <a:pPr indent="0" marL="0">
              <a:buNone/>
            </a:pPr>
            <a:r>
              <a:rPr lang="en-US" sz="1000" b="1" spc="100" kern="0" dirty="0">
                <a:solidFill>
                  <a:schemeClr val="accent5"/>
                </a:solidFill>
              </a:rPr>
              <a:t>10 WAYS TO BUY, ONE CLIENT JOURNEY</a:t>
            </a:r>
            <a:endParaRPr lang="en-US" sz="1000" dirty="0"/>
          </a:p>
        </p:txBody>
      </p:sp>
      <p:sp>
        <p:nvSpPr>
          <p:cNvPr id="10" name="stage PLAN"/>
          <p:cNvSpPr/>
          <p:nvPr/>
        </p:nvSpPr>
        <p:spPr>
          <a:xfrm>
            <a:off x="2788920" y="1600200"/>
            <a:ext cx="1106424" cy="274320"/>
          </a:xfrm>
          <a:prstGeom prst="roundRect">
            <a:avLst>
              <a:gd name="adj" fmla="val 50000"/>
            </a:avLst>
          </a:prstGeom>
          <a:solidFill>
            <a:schemeClr val="accent5"/>
          </a:solidFill>
          <a:ln/>
        </p:spPr>
      </p:sp>
      <p:sp>
        <p:nvSpPr>
          <p:cNvPr id="11" name="Text 8"/>
          <p:cNvSpPr txBox="1"/>
          <p:nvPr/>
        </p:nvSpPr>
        <p:spPr>
          <a:xfrm>
            <a:off x="2788920" y="1600200"/>
            <a:ext cx="1106424" cy="274320"/>
          </a:xfrm>
          <a:prstGeom prst="rect">
            <a:avLst/>
          </a:prstGeom>
          <a:noFill/>
          <a:ln/>
        </p:spPr>
        <p:txBody>
          <a:bodyPr wrap="square" lIns="0" tIns="0" rIns="0" bIns="0" rtlCol="0" anchor="ctr"/>
          <a:lstStyle/>
          <a:p>
            <a:pPr algn="ctr" indent="0" marL="0">
              <a:buNone/>
            </a:pPr>
            <a:r>
              <a:rPr lang="en-US" sz="900" b="1" spc="100" kern="0" dirty="0">
                <a:solidFill>
                  <a:schemeClr val="bg1"/>
                </a:solidFill>
              </a:rPr>
              <a:t>PLAN</a:t>
            </a:r>
            <a:endParaRPr lang="en-US" sz="900" dirty="0"/>
          </a:p>
        </p:txBody>
      </p:sp>
      <p:sp>
        <p:nvSpPr>
          <p:cNvPr id="12" name="product Freedom Plan"/>
          <p:cNvSpPr/>
          <p:nvPr/>
        </p:nvSpPr>
        <p:spPr>
          <a:xfrm>
            <a:off x="2788920" y="1947672"/>
            <a:ext cx="1106424" cy="493776"/>
          </a:xfrm>
          <a:prstGeom prst="roundRect">
            <a:avLst>
              <a:gd name="adj" fmla="val 14815"/>
            </a:avLst>
          </a:prstGeom>
          <a:solidFill>
            <a:schemeClr val="accent1"/>
          </a:solidFill>
          <a:ln/>
        </p:spPr>
      </p:sp>
      <p:sp>
        <p:nvSpPr>
          <p:cNvPr id="13" name="Text 10"/>
          <p:cNvSpPr txBox="1"/>
          <p:nvPr/>
        </p:nvSpPr>
        <p:spPr>
          <a:xfrm>
            <a:off x="2862072" y="1947672"/>
            <a:ext cx="996696" cy="493776"/>
          </a:xfrm>
          <a:prstGeom prst="rect">
            <a:avLst/>
          </a:prstGeom>
          <a:noFill/>
          <a:ln/>
        </p:spPr>
        <p:txBody>
          <a:bodyPr wrap="square" lIns="0" tIns="0" rIns="0" bIns="0" rtlCol="0" anchor="ctr"/>
          <a:lstStyle/>
          <a:p>
            <a:pPr indent="0" marL="0">
              <a:lnSpc>
                <a:spcPct val="95000"/>
              </a:lnSpc>
              <a:buNone/>
            </a:pPr>
            <a:r>
              <a:rPr lang="en-US" sz="1000" b="1" dirty="0">
                <a:solidFill>
                  <a:schemeClr val="bg1"/>
                </a:solidFill>
              </a:rPr>
              <a:t>Freedom Plan</a:t>
            </a:r>
            <a:endParaRPr lang="en-US" sz="1000" dirty="0"/>
          </a:p>
          <a:p>
            <a:pPr indent="0" marL="0">
              <a:lnSpc>
                <a:spcPct val="95000"/>
              </a:lnSpc>
              <a:buNone/>
            </a:pPr>
            <a:r>
              <a:rPr lang="en-US" sz="900" b="1" dirty="0">
                <a:solidFill>
                  <a:schemeClr val="bg1"/>
                </a:solidFill>
              </a:rPr>
              <a:t>Start here: $500</a:t>
            </a:r>
            <a:endParaRPr lang="en-US" sz="1000" dirty="0"/>
          </a:p>
        </p:txBody>
      </p:sp>
      <p:sp>
        <p:nvSpPr>
          <p:cNvPr id="14" name="stage HIRE"/>
          <p:cNvSpPr/>
          <p:nvPr/>
        </p:nvSpPr>
        <p:spPr>
          <a:xfrm>
            <a:off x="3986784" y="1600200"/>
            <a:ext cx="1106424" cy="274320"/>
          </a:xfrm>
          <a:prstGeom prst="roundRect">
            <a:avLst>
              <a:gd name="adj" fmla="val 50000"/>
            </a:avLst>
          </a:prstGeom>
          <a:solidFill>
            <a:schemeClr val="accent5"/>
          </a:solidFill>
          <a:ln/>
        </p:spPr>
      </p:sp>
      <p:sp>
        <p:nvSpPr>
          <p:cNvPr id="15" name="Text 12"/>
          <p:cNvSpPr txBox="1"/>
          <p:nvPr/>
        </p:nvSpPr>
        <p:spPr>
          <a:xfrm>
            <a:off x="3986784" y="1600200"/>
            <a:ext cx="1106424" cy="274320"/>
          </a:xfrm>
          <a:prstGeom prst="rect">
            <a:avLst/>
          </a:prstGeom>
          <a:noFill/>
          <a:ln/>
        </p:spPr>
        <p:txBody>
          <a:bodyPr wrap="square" lIns="0" tIns="0" rIns="0" bIns="0" rtlCol="0" anchor="ctr"/>
          <a:lstStyle/>
          <a:p>
            <a:pPr algn="ctr" indent="0" marL="0">
              <a:buNone/>
            </a:pPr>
            <a:r>
              <a:rPr lang="en-US" sz="900" b="1" spc="100" kern="0" dirty="0">
                <a:solidFill>
                  <a:schemeClr val="bg1"/>
                </a:solidFill>
              </a:rPr>
              <a:t>HIRE</a:t>
            </a:r>
            <a:endParaRPr lang="en-US" sz="900" dirty="0"/>
          </a:p>
        </p:txBody>
      </p:sp>
      <p:sp>
        <p:nvSpPr>
          <p:cNvPr id="16" name="product Angel Match"/>
          <p:cNvSpPr/>
          <p:nvPr/>
        </p:nvSpPr>
        <p:spPr>
          <a:xfrm>
            <a:off x="3986784" y="1947672"/>
            <a:ext cx="1106424" cy="493776"/>
          </a:xfrm>
          <a:prstGeom prst="roundRect">
            <a:avLst>
              <a:gd name="adj" fmla="val 14815"/>
            </a:avLst>
          </a:prstGeom>
          <a:solidFill>
            <a:schemeClr val="bg2"/>
          </a:solidFill>
          <a:ln/>
        </p:spPr>
      </p:sp>
      <p:sp>
        <p:nvSpPr>
          <p:cNvPr id="17" name="Text 14"/>
          <p:cNvSpPr txBox="1"/>
          <p:nvPr/>
        </p:nvSpPr>
        <p:spPr>
          <a:xfrm>
            <a:off x="4059936" y="1947672"/>
            <a:ext cx="996696" cy="493776"/>
          </a:xfrm>
          <a:prstGeom prst="rect">
            <a:avLst/>
          </a:prstGeom>
          <a:noFill/>
          <a:ln/>
        </p:spPr>
        <p:txBody>
          <a:bodyPr wrap="square" lIns="0" tIns="0" rIns="0" bIns="0" rtlCol="0" anchor="ctr"/>
          <a:lstStyle/>
          <a:p>
            <a:pPr indent="0" marL="0">
              <a:lnSpc>
                <a:spcPct val="95000"/>
              </a:lnSpc>
              <a:buNone/>
            </a:pPr>
            <a:r>
              <a:rPr lang="en-US" sz="1000" b="1" dirty="0">
                <a:solidFill>
                  <a:schemeClr val="tx1"/>
                </a:solidFill>
              </a:rPr>
              <a:t>Angel Match</a:t>
            </a:r>
            <a:endParaRPr lang="en-US" sz="1000" dirty="0"/>
          </a:p>
        </p:txBody>
      </p:sp>
      <p:sp>
        <p:nvSpPr>
          <p:cNvPr id="18" name="stage MANAGE"/>
          <p:cNvSpPr/>
          <p:nvPr/>
        </p:nvSpPr>
        <p:spPr>
          <a:xfrm>
            <a:off x="5184648" y="1600200"/>
            <a:ext cx="1106424" cy="274320"/>
          </a:xfrm>
          <a:prstGeom prst="roundRect">
            <a:avLst>
              <a:gd name="adj" fmla="val 50000"/>
            </a:avLst>
          </a:prstGeom>
          <a:solidFill>
            <a:schemeClr val="accent5"/>
          </a:solidFill>
          <a:ln/>
        </p:spPr>
      </p:sp>
      <p:sp>
        <p:nvSpPr>
          <p:cNvPr id="19" name="Text 16"/>
          <p:cNvSpPr txBox="1"/>
          <p:nvPr/>
        </p:nvSpPr>
        <p:spPr>
          <a:xfrm>
            <a:off x="5184648" y="1600200"/>
            <a:ext cx="1106424" cy="274320"/>
          </a:xfrm>
          <a:prstGeom prst="rect">
            <a:avLst/>
          </a:prstGeom>
          <a:noFill/>
          <a:ln/>
        </p:spPr>
        <p:txBody>
          <a:bodyPr wrap="square" lIns="0" tIns="0" rIns="0" bIns="0" rtlCol="0" anchor="ctr"/>
          <a:lstStyle/>
          <a:p>
            <a:pPr algn="ctr" indent="0" marL="0">
              <a:buNone/>
            </a:pPr>
            <a:r>
              <a:rPr lang="en-US" sz="900" b="1" spc="100" kern="0" dirty="0">
                <a:solidFill>
                  <a:schemeClr val="bg1"/>
                </a:solidFill>
              </a:rPr>
              <a:t>MANAGE</a:t>
            </a:r>
            <a:endParaRPr lang="en-US" sz="900" dirty="0"/>
          </a:p>
        </p:txBody>
      </p:sp>
      <p:sp>
        <p:nvSpPr>
          <p:cNvPr id="20" name="product Angel Essentials"/>
          <p:cNvSpPr/>
          <p:nvPr/>
        </p:nvSpPr>
        <p:spPr>
          <a:xfrm>
            <a:off x="5184648" y="1947672"/>
            <a:ext cx="1106424" cy="493776"/>
          </a:xfrm>
          <a:prstGeom prst="roundRect">
            <a:avLst>
              <a:gd name="adj" fmla="val 14815"/>
            </a:avLst>
          </a:prstGeom>
          <a:solidFill>
            <a:schemeClr val="bg2"/>
          </a:solidFill>
          <a:ln/>
        </p:spPr>
      </p:sp>
      <p:sp>
        <p:nvSpPr>
          <p:cNvPr id="21" name="Text 18"/>
          <p:cNvSpPr txBox="1"/>
          <p:nvPr/>
        </p:nvSpPr>
        <p:spPr>
          <a:xfrm>
            <a:off x="5257800" y="1947672"/>
            <a:ext cx="996696" cy="493776"/>
          </a:xfrm>
          <a:prstGeom prst="rect">
            <a:avLst/>
          </a:prstGeom>
          <a:noFill/>
          <a:ln/>
        </p:spPr>
        <p:txBody>
          <a:bodyPr wrap="square" lIns="0" tIns="0" rIns="0" bIns="0" rtlCol="0" anchor="ctr"/>
          <a:lstStyle/>
          <a:p>
            <a:pPr indent="0" marL="0">
              <a:lnSpc>
                <a:spcPct val="95000"/>
              </a:lnSpc>
              <a:buNone/>
            </a:pPr>
            <a:r>
              <a:rPr lang="en-US" sz="1000" b="1" dirty="0">
                <a:solidFill>
                  <a:schemeClr val="tx1"/>
                </a:solidFill>
              </a:rPr>
              <a:t>Angel Essentials</a:t>
            </a:r>
            <a:endParaRPr lang="en-US" sz="1000" dirty="0"/>
          </a:p>
          <a:p>
            <a:pPr indent="0" marL="0">
              <a:lnSpc>
                <a:spcPct val="95000"/>
              </a:lnSpc>
              <a:buNone/>
            </a:pPr>
            <a:r>
              <a:rPr lang="en-US" sz="900" b="1" dirty="0">
                <a:solidFill>
                  <a:schemeClr val="accent5"/>
                </a:solidFill>
              </a:rPr>
              <a:t>Pilot</a:t>
            </a:r>
            <a:endParaRPr lang="en-US" sz="1000" dirty="0"/>
          </a:p>
        </p:txBody>
      </p:sp>
      <p:sp>
        <p:nvSpPr>
          <p:cNvPr id="22" name="product Angel Managed"/>
          <p:cNvSpPr/>
          <p:nvPr/>
        </p:nvSpPr>
        <p:spPr>
          <a:xfrm>
            <a:off x="5184648" y="2514600"/>
            <a:ext cx="1106424" cy="493776"/>
          </a:xfrm>
          <a:prstGeom prst="roundRect">
            <a:avLst>
              <a:gd name="adj" fmla="val 14815"/>
            </a:avLst>
          </a:prstGeom>
          <a:solidFill>
            <a:schemeClr val="bg2"/>
          </a:solidFill>
          <a:ln/>
        </p:spPr>
      </p:sp>
      <p:sp>
        <p:nvSpPr>
          <p:cNvPr id="23" name="Text 20"/>
          <p:cNvSpPr txBox="1"/>
          <p:nvPr/>
        </p:nvSpPr>
        <p:spPr>
          <a:xfrm>
            <a:off x="5257800" y="2514600"/>
            <a:ext cx="996696" cy="493776"/>
          </a:xfrm>
          <a:prstGeom prst="rect">
            <a:avLst/>
          </a:prstGeom>
          <a:noFill/>
          <a:ln/>
        </p:spPr>
        <p:txBody>
          <a:bodyPr wrap="square" lIns="0" tIns="0" rIns="0" bIns="0" rtlCol="0" anchor="ctr"/>
          <a:lstStyle/>
          <a:p>
            <a:pPr indent="0" marL="0">
              <a:lnSpc>
                <a:spcPct val="95000"/>
              </a:lnSpc>
              <a:buNone/>
            </a:pPr>
            <a:r>
              <a:rPr lang="en-US" sz="1000" b="1" dirty="0">
                <a:solidFill>
                  <a:schemeClr val="tx1"/>
                </a:solidFill>
              </a:rPr>
              <a:t>Angel Managed</a:t>
            </a:r>
            <a:endParaRPr lang="en-US" sz="1000" dirty="0"/>
          </a:p>
          <a:p>
            <a:pPr indent="0" marL="0">
              <a:lnSpc>
                <a:spcPct val="95000"/>
              </a:lnSpc>
              <a:buNone/>
            </a:pPr>
            <a:r>
              <a:rPr lang="en-US" sz="900" b="1" dirty="0">
                <a:solidFill>
                  <a:schemeClr val="accent5"/>
                </a:solidFill>
              </a:rPr>
              <a:t>Flagship</a:t>
            </a:r>
            <a:endParaRPr lang="en-US" sz="1000" dirty="0"/>
          </a:p>
        </p:txBody>
      </p:sp>
      <p:sp>
        <p:nvSpPr>
          <p:cNvPr id="24" name="stage OPTIMISE"/>
          <p:cNvSpPr/>
          <p:nvPr/>
        </p:nvSpPr>
        <p:spPr>
          <a:xfrm>
            <a:off x="6382512" y="1600200"/>
            <a:ext cx="1106424" cy="274320"/>
          </a:xfrm>
          <a:prstGeom prst="roundRect">
            <a:avLst>
              <a:gd name="adj" fmla="val 50000"/>
            </a:avLst>
          </a:prstGeom>
          <a:solidFill>
            <a:schemeClr val="accent5"/>
          </a:solidFill>
          <a:ln/>
        </p:spPr>
      </p:sp>
      <p:sp>
        <p:nvSpPr>
          <p:cNvPr id="25" name="Text 22"/>
          <p:cNvSpPr txBox="1"/>
          <p:nvPr/>
        </p:nvSpPr>
        <p:spPr>
          <a:xfrm>
            <a:off x="6382512" y="1600200"/>
            <a:ext cx="1106424" cy="274320"/>
          </a:xfrm>
          <a:prstGeom prst="rect">
            <a:avLst/>
          </a:prstGeom>
          <a:noFill/>
          <a:ln/>
        </p:spPr>
        <p:txBody>
          <a:bodyPr wrap="square" lIns="0" tIns="0" rIns="0" bIns="0" rtlCol="0" anchor="ctr"/>
          <a:lstStyle/>
          <a:p>
            <a:pPr algn="ctr" indent="0" marL="0">
              <a:buNone/>
            </a:pPr>
            <a:r>
              <a:rPr lang="en-US" sz="900" b="1" spc="100" kern="0" dirty="0">
                <a:solidFill>
                  <a:schemeClr val="bg1"/>
                </a:solidFill>
              </a:rPr>
              <a:t>OPTIMISE</a:t>
            </a:r>
            <a:endParaRPr lang="en-US" sz="900" dirty="0"/>
          </a:p>
        </p:txBody>
      </p:sp>
      <p:sp>
        <p:nvSpPr>
          <p:cNvPr id="26" name="product Angel Accelerate"/>
          <p:cNvSpPr/>
          <p:nvPr/>
        </p:nvSpPr>
        <p:spPr>
          <a:xfrm>
            <a:off x="6382512" y="1947672"/>
            <a:ext cx="1106424" cy="493776"/>
          </a:xfrm>
          <a:prstGeom prst="roundRect">
            <a:avLst>
              <a:gd name="adj" fmla="val 14815"/>
            </a:avLst>
          </a:prstGeom>
          <a:solidFill>
            <a:schemeClr val="bg2"/>
          </a:solidFill>
          <a:ln/>
        </p:spPr>
      </p:sp>
      <p:sp>
        <p:nvSpPr>
          <p:cNvPr id="27" name="Text 24"/>
          <p:cNvSpPr txBox="1"/>
          <p:nvPr/>
        </p:nvSpPr>
        <p:spPr>
          <a:xfrm>
            <a:off x="6455664" y="1947672"/>
            <a:ext cx="996696" cy="493776"/>
          </a:xfrm>
          <a:prstGeom prst="rect">
            <a:avLst/>
          </a:prstGeom>
          <a:noFill/>
          <a:ln/>
        </p:spPr>
        <p:txBody>
          <a:bodyPr wrap="square" lIns="0" tIns="0" rIns="0" bIns="0" rtlCol="0" anchor="ctr"/>
          <a:lstStyle/>
          <a:p>
            <a:pPr indent="0" marL="0">
              <a:lnSpc>
                <a:spcPct val="95000"/>
              </a:lnSpc>
              <a:buNone/>
            </a:pPr>
            <a:r>
              <a:rPr lang="en-US" sz="1000" b="1" dirty="0">
                <a:solidFill>
                  <a:schemeClr val="tx1"/>
                </a:solidFill>
              </a:rPr>
              <a:t>Angel Accelerate</a:t>
            </a:r>
            <a:endParaRPr lang="en-US" sz="1000" dirty="0"/>
          </a:p>
        </p:txBody>
      </p:sp>
      <p:sp>
        <p:nvSpPr>
          <p:cNvPr id="28" name="product Angel Growth"/>
          <p:cNvSpPr/>
          <p:nvPr/>
        </p:nvSpPr>
        <p:spPr>
          <a:xfrm>
            <a:off x="6382512" y="2514600"/>
            <a:ext cx="1106424" cy="493776"/>
          </a:xfrm>
          <a:prstGeom prst="roundRect">
            <a:avLst>
              <a:gd name="adj" fmla="val 14815"/>
            </a:avLst>
          </a:prstGeom>
          <a:solidFill>
            <a:schemeClr val="bg2"/>
          </a:solidFill>
          <a:ln/>
        </p:spPr>
      </p:sp>
      <p:sp>
        <p:nvSpPr>
          <p:cNvPr id="29" name="Text 26"/>
          <p:cNvSpPr txBox="1"/>
          <p:nvPr/>
        </p:nvSpPr>
        <p:spPr>
          <a:xfrm>
            <a:off x="6455664" y="2514600"/>
            <a:ext cx="996696" cy="493776"/>
          </a:xfrm>
          <a:prstGeom prst="rect">
            <a:avLst/>
          </a:prstGeom>
          <a:noFill/>
          <a:ln/>
        </p:spPr>
        <p:txBody>
          <a:bodyPr wrap="square" lIns="0" tIns="0" rIns="0" bIns="0" rtlCol="0" anchor="ctr"/>
          <a:lstStyle/>
          <a:p>
            <a:pPr indent="0" marL="0">
              <a:lnSpc>
                <a:spcPct val="95000"/>
              </a:lnSpc>
              <a:buNone/>
            </a:pPr>
            <a:r>
              <a:rPr lang="en-US" sz="1000" b="1" dirty="0">
                <a:solidFill>
                  <a:schemeClr val="tx1"/>
                </a:solidFill>
              </a:rPr>
              <a:t>Angel Growth</a:t>
            </a:r>
            <a:endParaRPr lang="en-US" sz="1000" dirty="0"/>
          </a:p>
          <a:p>
            <a:pPr indent="0" marL="0">
              <a:lnSpc>
                <a:spcPct val="95000"/>
              </a:lnSpc>
              <a:buNone/>
            </a:pPr>
            <a:r>
              <a:rPr lang="en-US" sz="900" b="1" dirty="0">
                <a:solidFill>
                  <a:schemeClr val="accent5"/>
                </a:solidFill>
              </a:rPr>
              <a:t>New: + AI</a:t>
            </a:r>
            <a:endParaRPr lang="en-US" sz="1000" dirty="0"/>
          </a:p>
        </p:txBody>
      </p:sp>
      <p:sp>
        <p:nvSpPr>
          <p:cNvPr id="30" name="stage SCALE"/>
          <p:cNvSpPr/>
          <p:nvPr/>
        </p:nvSpPr>
        <p:spPr>
          <a:xfrm>
            <a:off x="7580376" y="1600200"/>
            <a:ext cx="1106424" cy="274320"/>
          </a:xfrm>
          <a:prstGeom prst="roundRect">
            <a:avLst>
              <a:gd name="adj" fmla="val 50000"/>
            </a:avLst>
          </a:prstGeom>
          <a:solidFill>
            <a:schemeClr val="accent5"/>
          </a:solidFill>
          <a:ln/>
        </p:spPr>
      </p:sp>
      <p:sp>
        <p:nvSpPr>
          <p:cNvPr id="31" name="Text 28"/>
          <p:cNvSpPr txBox="1"/>
          <p:nvPr/>
        </p:nvSpPr>
        <p:spPr>
          <a:xfrm>
            <a:off x="7580376" y="1600200"/>
            <a:ext cx="1106424" cy="274320"/>
          </a:xfrm>
          <a:prstGeom prst="rect">
            <a:avLst/>
          </a:prstGeom>
          <a:noFill/>
          <a:ln/>
        </p:spPr>
        <p:txBody>
          <a:bodyPr wrap="square" lIns="0" tIns="0" rIns="0" bIns="0" rtlCol="0" anchor="ctr"/>
          <a:lstStyle/>
          <a:p>
            <a:pPr algn="ctr" indent="0" marL="0">
              <a:buNone/>
            </a:pPr>
            <a:r>
              <a:rPr lang="en-US" sz="900" b="1" spc="100" kern="0" dirty="0">
                <a:solidFill>
                  <a:schemeClr val="bg1"/>
                </a:solidFill>
              </a:rPr>
              <a:t>SCALE</a:t>
            </a:r>
            <a:endParaRPr lang="en-US" sz="900" dirty="0"/>
          </a:p>
        </p:txBody>
      </p:sp>
      <p:sp>
        <p:nvSpPr>
          <p:cNvPr id="32" name="product Angel Teams"/>
          <p:cNvSpPr/>
          <p:nvPr/>
        </p:nvSpPr>
        <p:spPr>
          <a:xfrm>
            <a:off x="7580376" y="1947672"/>
            <a:ext cx="1106424" cy="493776"/>
          </a:xfrm>
          <a:prstGeom prst="roundRect">
            <a:avLst>
              <a:gd name="adj" fmla="val 14815"/>
            </a:avLst>
          </a:prstGeom>
          <a:solidFill>
            <a:schemeClr val="bg2"/>
          </a:solidFill>
          <a:ln/>
        </p:spPr>
      </p:sp>
      <p:sp>
        <p:nvSpPr>
          <p:cNvPr id="33" name="Text 30"/>
          <p:cNvSpPr txBox="1"/>
          <p:nvPr/>
        </p:nvSpPr>
        <p:spPr>
          <a:xfrm>
            <a:off x="7653528" y="1947672"/>
            <a:ext cx="996696" cy="493776"/>
          </a:xfrm>
          <a:prstGeom prst="rect">
            <a:avLst/>
          </a:prstGeom>
          <a:noFill/>
          <a:ln/>
        </p:spPr>
        <p:txBody>
          <a:bodyPr wrap="square" lIns="0" tIns="0" rIns="0" bIns="0" rtlCol="0" anchor="ctr"/>
          <a:lstStyle/>
          <a:p>
            <a:pPr indent="0" marL="0">
              <a:lnSpc>
                <a:spcPct val="95000"/>
              </a:lnSpc>
              <a:buNone/>
            </a:pPr>
            <a:r>
              <a:rPr lang="en-US" sz="1000" b="1" dirty="0">
                <a:solidFill>
                  <a:schemeClr val="tx1"/>
                </a:solidFill>
              </a:rPr>
              <a:t>Angel Teams</a:t>
            </a:r>
            <a:endParaRPr lang="en-US" sz="1000" dirty="0"/>
          </a:p>
        </p:txBody>
      </p:sp>
      <p:sp>
        <p:nvSpPr>
          <p:cNvPr id="34" name="product Angel Departments"/>
          <p:cNvSpPr/>
          <p:nvPr/>
        </p:nvSpPr>
        <p:spPr>
          <a:xfrm>
            <a:off x="7580376" y="2514600"/>
            <a:ext cx="1106424" cy="493776"/>
          </a:xfrm>
          <a:prstGeom prst="roundRect">
            <a:avLst>
              <a:gd name="adj" fmla="val 14815"/>
            </a:avLst>
          </a:prstGeom>
          <a:solidFill>
            <a:schemeClr val="bg2"/>
          </a:solidFill>
          <a:ln/>
        </p:spPr>
      </p:sp>
      <p:sp>
        <p:nvSpPr>
          <p:cNvPr id="35" name="Text 32"/>
          <p:cNvSpPr txBox="1"/>
          <p:nvPr/>
        </p:nvSpPr>
        <p:spPr>
          <a:xfrm>
            <a:off x="7653528" y="2514600"/>
            <a:ext cx="996696" cy="493776"/>
          </a:xfrm>
          <a:prstGeom prst="rect">
            <a:avLst/>
          </a:prstGeom>
          <a:noFill/>
          <a:ln/>
        </p:spPr>
        <p:txBody>
          <a:bodyPr wrap="square" lIns="0" tIns="0" rIns="0" bIns="0" rtlCol="0" anchor="ctr"/>
          <a:lstStyle/>
          <a:p>
            <a:pPr indent="0" marL="0">
              <a:lnSpc>
                <a:spcPct val="95000"/>
              </a:lnSpc>
              <a:buNone/>
            </a:pPr>
            <a:r>
              <a:rPr lang="en-US" sz="1000" b="1" dirty="0">
                <a:solidFill>
                  <a:schemeClr val="tx1"/>
                </a:solidFill>
              </a:rPr>
              <a:t>Angel Departments</a:t>
            </a:r>
            <a:endParaRPr lang="en-US" sz="1000" dirty="0"/>
          </a:p>
        </p:txBody>
      </p:sp>
      <p:sp>
        <p:nvSpPr>
          <p:cNvPr id="36" name="plus programs"/>
          <p:cNvSpPr/>
          <p:nvPr/>
        </p:nvSpPr>
        <p:spPr>
          <a:xfrm>
            <a:off x="2788920" y="3127248"/>
            <a:ext cx="5897880" cy="484632"/>
          </a:xfrm>
          <a:prstGeom prst="roundRect">
            <a:avLst>
              <a:gd name="adj" fmla="val 15094"/>
            </a:avLst>
          </a:prstGeom>
          <a:solidFill>
            <a:schemeClr val="accent4"/>
          </a:solidFill>
          <a:ln/>
        </p:spPr>
      </p:sp>
      <p:sp>
        <p:nvSpPr>
          <p:cNvPr id="37" name="Text 34"/>
          <p:cNvSpPr txBox="1"/>
          <p:nvPr/>
        </p:nvSpPr>
        <p:spPr>
          <a:xfrm>
            <a:off x="2971800" y="3127248"/>
            <a:ext cx="5623560" cy="484632"/>
          </a:xfrm>
          <a:prstGeom prst="rect">
            <a:avLst/>
          </a:prstGeom>
          <a:noFill/>
          <a:ln/>
        </p:spPr>
        <p:txBody>
          <a:bodyPr wrap="square" lIns="0" tIns="0" rIns="0" bIns="0" rtlCol="0" anchor="ctr"/>
          <a:lstStyle/>
          <a:p>
            <a:pPr indent="0" marL="0">
              <a:buNone/>
            </a:pPr>
            <a:r>
              <a:rPr lang="en-US" sz="1000" b="1" spc="100" kern="0" dirty="0">
                <a:solidFill>
                  <a:schemeClr val="accent5"/>
                </a:solidFill>
              </a:rPr>
              <a:t>PLUS   </a:t>
            </a:r>
            <a:pPr indent="0" marL="0">
              <a:buNone/>
            </a:pPr>
            <a:r>
              <a:rPr lang="en-US" sz="1100" b="1" dirty="0">
                <a:solidFill>
                  <a:schemeClr val="tx1"/>
                </a:solidFill>
              </a:rPr>
              <a:t>OAX100 Marketing</a:t>
            </a:r>
            <a:pPr indent="0" marL="0">
              <a:buNone/>
            </a:pPr>
            <a:r>
              <a:rPr lang="en-US" sz="1100" dirty="0">
                <a:solidFill>
                  <a:schemeClr val="accent3"/>
                </a:solidFill>
              </a:rPr>
              <a:t> (upcoming)</a:t>
            </a:r>
            <a:pPr indent="0" marL="0">
              <a:buNone/>
            </a:pPr>
            <a:r>
              <a:rPr lang="en-US" sz="1100" dirty="0">
                <a:solidFill>
                  <a:schemeClr val="accent3"/>
                </a:solidFill>
              </a:rPr>
              <a:t>   ·   </a:t>
            </a:r>
            <a:pPr indent="0" marL="0">
              <a:buNone/>
            </a:pPr>
            <a:r>
              <a:rPr lang="en-US" sz="1100" b="1" dirty="0">
                <a:solidFill>
                  <a:schemeClr val="tx1"/>
                </a:solidFill>
              </a:rPr>
              <a:t>Fractional Partners</a:t>
            </a:r>
            <a:pPr indent="0" marL="0">
              <a:buNone/>
            </a:pPr>
            <a:r>
              <a:rPr lang="en-US" sz="1100" dirty="0">
                <a:solidFill>
                  <a:schemeClr val="accent3"/>
                </a:solidFill>
              </a:rPr>
              <a:t> (Marketing + AI)</a:t>
            </a:r>
            <a:endParaRPr lang="en-US" sz="1000" dirty="0"/>
          </a:p>
        </p:txBody>
      </p:sp>
      <p:sp>
        <p:nvSpPr>
          <p:cNvPr id="38" name="Text 35"/>
          <p:cNvSpPr txBox="1"/>
          <p:nvPr/>
        </p:nvSpPr>
        <p:spPr>
          <a:xfrm>
            <a:off x="457200" y="3794760"/>
            <a:ext cx="2743200" cy="228600"/>
          </a:xfrm>
          <a:prstGeom prst="rect">
            <a:avLst/>
          </a:prstGeom>
          <a:noFill/>
          <a:ln/>
        </p:spPr>
        <p:txBody>
          <a:bodyPr wrap="square" lIns="0" tIns="0" rIns="0" bIns="0" rtlCol="0" anchor="ctr"/>
          <a:lstStyle/>
          <a:p>
            <a:pPr indent="0" marL="0">
              <a:buNone/>
            </a:pPr>
            <a:r>
              <a:rPr lang="en-US" sz="1000" b="1" spc="100" kern="0" dirty="0">
                <a:solidFill>
                  <a:schemeClr val="accent5"/>
                </a:solidFill>
              </a:rPr>
              <a:t>NEXT QUARTER</a:t>
            </a:r>
            <a:endParaRPr lang="en-US" sz="1000" dirty="0"/>
          </a:p>
        </p:txBody>
      </p:sp>
      <p:sp>
        <p:nvSpPr>
          <p:cNvPr id="39" name="next step 1"/>
          <p:cNvSpPr/>
          <p:nvPr/>
        </p:nvSpPr>
        <p:spPr>
          <a:xfrm>
            <a:off x="457200" y="4069080"/>
            <a:ext cx="4000500" cy="548640"/>
          </a:xfrm>
          <a:prstGeom prst="roundRect">
            <a:avLst>
              <a:gd name="adj" fmla="val 13333"/>
            </a:avLst>
          </a:prstGeom>
          <a:solidFill>
            <a:schemeClr val="accent4"/>
          </a:solidFill>
          <a:ln/>
        </p:spPr>
      </p:sp>
      <p:pic>
        <p:nvPicPr>
          <p:cNvPr id="40" name="next arrow 1" descr="next">    </p:cNvPr>
          <p:cNvPicPr>
            <a:picLocks noChangeAspect="1"/>
          </p:cNvPicPr>
          <p:nvPr/>
        </p:nvPicPr>
        <p:blipFill>
          <a:blip r:embed="rId1"/>
          <a:stretch>
            <a:fillRect/>
          </a:stretch>
        </p:blipFill>
        <p:spPr>
          <a:xfrm>
            <a:off x="621792" y="4233672"/>
            <a:ext cx="219456" cy="219456"/>
          </a:xfrm>
          <a:prstGeom prst="rect">
            <a:avLst/>
          </a:prstGeom>
        </p:spPr>
      </p:pic>
      <p:sp>
        <p:nvSpPr>
          <p:cNvPr id="41" name="Text 37"/>
          <p:cNvSpPr txBox="1"/>
          <p:nvPr/>
        </p:nvSpPr>
        <p:spPr>
          <a:xfrm>
            <a:off x="960120" y="4069080"/>
            <a:ext cx="3360420" cy="548640"/>
          </a:xfrm>
          <a:prstGeom prst="rect">
            <a:avLst/>
          </a:prstGeom>
          <a:noFill/>
          <a:ln/>
        </p:spPr>
        <p:txBody>
          <a:bodyPr wrap="square" lIns="0" tIns="0" rIns="0" bIns="0" rtlCol="0" anchor="ctr"/>
          <a:lstStyle/>
          <a:p>
            <a:pPr indent="0" marL="0">
              <a:buNone/>
            </a:pPr>
            <a:r>
              <a:rPr lang="en-US" sz="1100" b="1" dirty="0">
                <a:solidFill>
                  <a:schemeClr val="tx1"/>
                </a:solidFill>
              </a:rPr>
              <a:t>Lead every qualified call with the $500 Freedom Plan</a:t>
            </a:r>
            <a:endParaRPr lang="en-US" sz="1100" dirty="0"/>
          </a:p>
        </p:txBody>
      </p:sp>
      <p:sp>
        <p:nvSpPr>
          <p:cNvPr id="42" name="next step 2"/>
          <p:cNvSpPr/>
          <p:nvPr/>
        </p:nvSpPr>
        <p:spPr>
          <a:xfrm>
            <a:off x="4686300" y="4069080"/>
            <a:ext cx="4000500" cy="548640"/>
          </a:xfrm>
          <a:prstGeom prst="roundRect">
            <a:avLst>
              <a:gd name="adj" fmla="val 13333"/>
            </a:avLst>
          </a:prstGeom>
          <a:solidFill>
            <a:schemeClr val="accent4"/>
          </a:solidFill>
          <a:ln/>
        </p:spPr>
      </p:sp>
      <p:pic>
        <p:nvPicPr>
          <p:cNvPr id="43" name="next arrow 2" descr="next">    </p:cNvPr>
          <p:cNvPicPr>
            <a:picLocks noChangeAspect="1"/>
          </p:cNvPicPr>
          <p:nvPr/>
        </p:nvPicPr>
        <p:blipFill>
          <a:blip r:embed="rId2"/>
          <a:stretch>
            <a:fillRect/>
          </a:stretch>
        </p:blipFill>
        <p:spPr>
          <a:xfrm>
            <a:off x="4850892" y="4233672"/>
            <a:ext cx="219456" cy="219456"/>
          </a:xfrm>
          <a:prstGeom prst="rect">
            <a:avLst/>
          </a:prstGeom>
        </p:spPr>
      </p:pic>
      <p:sp>
        <p:nvSpPr>
          <p:cNvPr id="44" name="Text 39"/>
          <p:cNvSpPr txBox="1"/>
          <p:nvPr/>
        </p:nvSpPr>
        <p:spPr>
          <a:xfrm>
            <a:off x="5189220" y="4069080"/>
            <a:ext cx="3360420" cy="548640"/>
          </a:xfrm>
          <a:prstGeom prst="rect">
            <a:avLst/>
          </a:prstGeom>
          <a:noFill/>
          <a:ln/>
        </p:spPr>
        <p:txBody>
          <a:bodyPr wrap="square" lIns="0" tIns="0" rIns="0" bIns="0" rtlCol="0" anchor="ctr"/>
          <a:lstStyle/>
          <a:p>
            <a:pPr indent="0" marL="0">
              <a:buNone/>
            </a:pPr>
            <a:r>
              <a:rPr lang="en-US" sz="1100" b="1" dirty="0">
                <a:solidFill>
                  <a:schemeClr val="tx1"/>
                </a:solidFill>
              </a:rPr>
              <a:t>Track sales by product</a:t>
            </a:r>
            <a:endParaRPr lang="en-US" sz="11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457200" y="320040"/>
            <a:ext cx="8229600" cy="274320"/>
          </a:xfrm>
          <a:prstGeom prst="rect">
            <a:avLst/>
          </a:prstGeom>
          <a:noFill/>
          <a:ln/>
        </p:spPr>
        <p:txBody>
          <a:bodyPr wrap="square" lIns="0" tIns="0" rIns="0" bIns="0" rtlCol="0" anchor="ctr"/>
          <a:lstStyle/>
          <a:p>
            <a:pPr indent="0" marL="0">
              <a:buNone/>
            </a:pPr>
            <a:r>
              <a:rPr lang="en-US" sz="1100" b="1" spc="200" kern="0" dirty="0">
                <a:solidFill>
                  <a:schemeClr val="accent5"/>
                </a:solidFill>
              </a:rPr>
              <a:t>ROCK 03  ·  SALES INTELLIGENCE LOOP</a:t>
            </a:r>
            <a:endParaRPr lang="en-US" sz="1100" dirty="0"/>
          </a:p>
        </p:txBody>
      </p:sp>
      <p:sp>
        <p:nvSpPr>
          <p:cNvPr id="3" name="Text 1"/>
          <p:cNvSpPr/>
          <p:nvPr>
            <p:ph idx="102" type="title" hasCustomPrompt="1"/>
          </p:nvPr>
        </p:nvSpPr>
        <p:spPr>
          <a:xfrm>
            <a:off x="457200" y="594360"/>
            <a:ext cx="8229600" cy="548640"/>
          </a:xfrm>
          <a:prstGeom prst="rect">
            <a:avLst/>
          </a:prstGeom>
          <a:noFill/>
          <a:ln/>
        </p:spPr>
        <p:txBody>
          <a:bodyPr wrap="square" lIns="0" tIns="0" rIns="0" bIns="0" rtlCol="0" anchor="ctr"/>
          <a:lstStyle/>
          <a:p>
            <a:pPr algn="l" indent="0" marL="0">
              <a:buNone/>
            </a:pPr>
            <a:r>
              <a:rPr lang="en-US" sz="2600" b="1" dirty="0">
                <a:solidFill>
                  <a:schemeClr val="tx1"/>
                </a:solidFill>
              </a:rPr>
              <a:t>Why leads say no, and how we'll answer</a:t>
            </a:r>
            <a:endParaRPr lang="en-US" sz="2600" dirty="0"/>
          </a:p>
        </p:txBody>
      </p:sp>
      <p:sp>
        <p:nvSpPr>
          <p:cNvPr id="5" name="reason 1"/>
          <p:cNvSpPr/>
          <p:nvPr/>
        </p:nvSpPr>
        <p:spPr>
          <a:xfrm>
            <a:off x="457200" y="1371600"/>
            <a:ext cx="2590800" cy="2377440"/>
          </a:xfrm>
          <a:prstGeom prst="roundRect">
            <a:avLst>
              <a:gd name="adj" fmla="val 3077"/>
            </a:avLst>
          </a:prstGeom>
          <a:solidFill>
            <a:schemeClr val="bg2"/>
          </a:solidFill>
          <a:ln/>
        </p:spPr>
      </p:sp>
      <p:sp>
        <p:nvSpPr>
          <p:cNvPr id="6" name="reason icon 1 circle"/>
          <p:cNvSpPr/>
          <p:nvPr/>
        </p:nvSpPr>
        <p:spPr>
          <a:xfrm>
            <a:off x="685800" y="1572768"/>
            <a:ext cx="457200" cy="457200"/>
          </a:xfrm>
          <a:prstGeom prst="ellipse">
            <a:avLst/>
          </a:prstGeom>
          <a:solidFill>
            <a:schemeClr val="accent1"/>
          </a:solidFill>
          <a:ln/>
        </p:spPr>
      </p:sp>
      <p:pic>
        <p:nvPicPr>
          <p:cNvPr id="7" name="reason icon 1" descr="reason icon 1">    </p:cNvPr>
          <p:cNvPicPr>
            <a:picLocks noChangeAspect="1"/>
          </p:cNvPicPr>
          <p:nvPr/>
        </p:nvPicPr>
        <p:blipFill>
          <a:blip r:embed="rId1"/>
          <a:stretch>
            <a:fillRect/>
          </a:stretch>
        </p:blipFill>
        <p:spPr>
          <a:xfrm>
            <a:off x="800100" y="1687068"/>
            <a:ext cx="228600" cy="228600"/>
          </a:xfrm>
          <a:prstGeom prst="rect">
            <a:avLst/>
          </a:prstGeom>
        </p:spPr>
      </p:pic>
      <p:sp>
        <p:nvSpPr>
          <p:cNvPr id="8" name="Text 4"/>
          <p:cNvSpPr txBox="1"/>
          <p:nvPr/>
        </p:nvSpPr>
        <p:spPr>
          <a:xfrm>
            <a:off x="1280160" y="1572768"/>
            <a:ext cx="1584960" cy="457200"/>
          </a:xfrm>
          <a:prstGeom prst="rect">
            <a:avLst/>
          </a:prstGeom>
          <a:noFill/>
          <a:ln/>
        </p:spPr>
        <p:txBody>
          <a:bodyPr wrap="square" lIns="0" tIns="0" rIns="0" bIns="0" rtlCol="0" anchor="ctr"/>
          <a:lstStyle/>
          <a:p>
            <a:pPr indent="0" marL="0">
              <a:buNone/>
            </a:pPr>
            <a:r>
              <a:rPr lang="en-US" sz="1500" b="1" dirty="0">
                <a:solidFill>
                  <a:schemeClr val="tx1"/>
                </a:solidFill>
              </a:rPr>
              <a:t>Comparing options</a:t>
            </a:r>
            <a:endParaRPr lang="en-US" sz="1500" dirty="0"/>
          </a:p>
        </p:txBody>
      </p:sp>
      <p:sp>
        <p:nvSpPr>
          <p:cNvPr id="9" name="Text 5"/>
          <p:cNvSpPr txBox="1"/>
          <p:nvPr/>
        </p:nvSpPr>
        <p:spPr>
          <a:xfrm>
            <a:off x="685800" y="2148840"/>
            <a:ext cx="2179320" cy="411480"/>
          </a:xfrm>
          <a:prstGeom prst="rect">
            <a:avLst/>
          </a:prstGeom>
          <a:noFill/>
          <a:ln/>
        </p:spPr>
        <p:txBody>
          <a:bodyPr wrap="square" lIns="0" tIns="0" rIns="0" bIns="0" rtlCol="0" anchor="t"/>
          <a:lstStyle/>
          <a:p>
            <a:pPr indent="0" marL="0">
              <a:buNone/>
            </a:pPr>
            <a:r>
              <a:rPr lang="en-US" sz="1200" i="1" dirty="0">
                <a:solidFill>
                  <a:schemeClr val="accent3"/>
                </a:solidFill>
              </a:rPr>
              <a:t>“We’re weighing it up”</a:t>
            </a:r>
            <a:endParaRPr lang="en-US" sz="1200" dirty="0"/>
          </a:p>
        </p:txBody>
      </p:sp>
      <p:sp>
        <p:nvSpPr>
          <p:cNvPr id="10" name="answer 1"/>
          <p:cNvSpPr/>
          <p:nvPr/>
        </p:nvSpPr>
        <p:spPr>
          <a:xfrm>
            <a:off x="594360" y="2651760"/>
            <a:ext cx="2316480" cy="960120"/>
          </a:xfrm>
          <a:prstGeom prst="roundRect">
            <a:avLst>
              <a:gd name="adj" fmla="val 7619"/>
            </a:avLst>
          </a:prstGeom>
          <a:solidFill>
            <a:schemeClr val="bg1"/>
          </a:solidFill>
          <a:ln/>
        </p:spPr>
      </p:sp>
      <p:sp>
        <p:nvSpPr>
          <p:cNvPr id="11" name="Text 7"/>
          <p:cNvSpPr txBox="1"/>
          <p:nvPr/>
        </p:nvSpPr>
        <p:spPr>
          <a:xfrm>
            <a:off x="731520" y="2743200"/>
            <a:ext cx="2042160" cy="201168"/>
          </a:xfrm>
          <a:prstGeom prst="rect">
            <a:avLst/>
          </a:prstGeom>
          <a:noFill/>
          <a:ln/>
        </p:spPr>
        <p:txBody>
          <a:bodyPr wrap="square" lIns="0" tIns="0" rIns="0" bIns="0" rtlCol="0" anchor="ctr"/>
          <a:lstStyle/>
          <a:p>
            <a:pPr indent="0" marL="0">
              <a:buNone/>
            </a:pPr>
            <a:r>
              <a:rPr lang="en-US" sz="900" b="1" spc="100" kern="0" dirty="0">
                <a:solidFill>
                  <a:schemeClr val="accent5"/>
                </a:solidFill>
              </a:rPr>
              <a:t>OUR ANSWER</a:t>
            </a:r>
            <a:endParaRPr lang="en-US" sz="900" dirty="0"/>
          </a:p>
        </p:txBody>
      </p:sp>
      <p:sp>
        <p:nvSpPr>
          <p:cNvPr id="12" name="Text 8"/>
          <p:cNvSpPr txBox="1"/>
          <p:nvPr/>
        </p:nvSpPr>
        <p:spPr>
          <a:xfrm>
            <a:off x="731520" y="2971800"/>
            <a:ext cx="2087880" cy="566928"/>
          </a:xfrm>
          <a:prstGeom prst="rect">
            <a:avLst/>
          </a:prstGeom>
          <a:noFill/>
          <a:ln/>
        </p:spPr>
        <p:txBody>
          <a:bodyPr wrap="square" lIns="0" tIns="0" rIns="0" bIns="0" rtlCol="0" anchor="t"/>
          <a:lstStyle/>
          <a:p>
            <a:pPr indent="0" marL="0">
              <a:buNone/>
            </a:pPr>
            <a:r>
              <a:rPr lang="en-US" sz="1200" b="1" dirty="0">
                <a:solidFill>
                  <a:schemeClr val="tx1"/>
                </a:solidFill>
              </a:rPr>
              <a:t>Lead with outcomes and value</a:t>
            </a:r>
            <a:endParaRPr lang="en-US" sz="1200" dirty="0"/>
          </a:p>
        </p:txBody>
      </p:sp>
      <p:sp>
        <p:nvSpPr>
          <p:cNvPr id="13" name="reason 2"/>
          <p:cNvSpPr/>
          <p:nvPr/>
        </p:nvSpPr>
        <p:spPr>
          <a:xfrm>
            <a:off x="3276600" y="1371600"/>
            <a:ext cx="2590800" cy="2377440"/>
          </a:xfrm>
          <a:prstGeom prst="roundRect">
            <a:avLst>
              <a:gd name="adj" fmla="val 3077"/>
            </a:avLst>
          </a:prstGeom>
          <a:solidFill>
            <a:schemeClr val="bg2"/>
          </a:solidFill>
          <a:ln/>
        </p:spPr>
      </p:sp>
      <p:sp>
        <p:nvSpPr>
          <p:cNvPr id="14" name="reason icon 2 circle"/>
          <p:cNvSpPr/>
          <p:nvPr/>
        </p:nvSpPr>
        <p:spPr>
          <a:xfrm>
            <a:off x="3505200" y="1572768"/>
            <a:ext cx="457200" cy="457200"/>
          </a:xfrm>
          <a:prstGeom prst="ellipse">
            <a:avLst/>
          </a:prstGeom>
          <a:solidFill>
            <a:schemeClr val="accent1"/>
          </a:solidFill>
          <a:ln/>
        </p:spPr>
      </p:sp>
      <p:pic>
        <p:nvPicPr>
          <p:cNvPr id="15" name="reason icon 2" descr="reason icon 2">    </p:cNvPr>
          <p:cNvPicPr>
            <a:picLocks noChangeAspect="1"/>
          </p:cNvPicPr>
          <p:nvPr/>
        </p:nvPicPr>
        <p:blipFill>
          <a:blip r:embed="rId2"/>
          <a:stretch>
            <a:fillRect/>
          </a:stretch>
        </p:blipFill>
        <p:spPr>
          <a:xfrm>
            <a:off x="3619500" y="1687068"/>
            <a:ext cx="228600" cy="228600"/>
          </a:xfrm>
          <a:prstGeom prst="rect">
            <a:avLst/>
          </a:prstGeom>
        </p:spPr>
      </p:pic>
      <p:sp>
        <p:nvSpPr>
          <p:cNvPr id="16" name="Text 11"/>
          <p:cNvSpPr txBox="1"/>
          <p:nvPr/>
        </p:nvSpPr>
        <p:spPr>
          <a:xfrm>
            <a:off x="4099560" y="1572768"/>
            <a:ext cx="1584960" cy="457200"/>
          </a:xfrm>
          <a:prstGeom prst="rect">
            <a:avLst/>
          </a:prstGeom>
          <a:noFill/>
          <a:ln/>
        </p:spPr>
        <p:txBody>
          <a:bodyPr wrap="square" lIns="0" tIns="0" rIns="0" bIns="0" rtlCol="0" anchor="ctr"/>
          <a:lstStyle/>
          <a:p>
            <a:pPr indent="0" marL="0">
              <a:buNone/>
            </a:pPr>
            <a:r>
              <a:rPr lang="en-US" sz="1500" b="1" dirty="0">
                <a:solidFill>
                  <a:schemeClr val="tx1"/>
                </a:solidFill>
              </a:rPr>
              <a:t>Not ready yet</a:t>
            </a:r>
            <a:endParaRPr lang="en-US" sz="1500" dirty="0"/>
          </a:p>
        </p:txBody>
      </p:sp>
      <p:sp>
        <p:nvSpPr>
          <p:cNvPr id="17" name="Text 12"/>
          <p:cNvSpPr txBox="1"/>
          <p:nvPr/>
        </p:nvSpPr>
        <p:spPr>
          <a:xfrm>
            <a:off x="3505200" y="2148840"/>
            <a:ext cx="2179320" cy="411480"/>
          </a:xfrm>
          <a:prstGeom prst="rect">
            <a:avLst/>
          </a:prstGeom>
          <a:noFill/>
          <a:ln/>
        </p:spPr>
        <p:txBody>
          <a:bodyPr wrap="square" lIns="0" tIns="0" rIns="0" bIns="0" rtlCol="0" anchor="t"/>
          <a:lstStyle/>
          <a:p>
            <a:pPr indent="0" marL="0">
              <a:buNone/>
            </a:pPr>
            <a:r>
              <a:rPr lang="en-US" sz="1200" i="1" dirty="0">
                <a:solidFill>
                  <a:schemeClr val="accent3"/>
                </a:solidFill>
              </a:rPr>
              <a:t>“We’re not ready to hire”</a:t>
            </a:r>
            <a:endParaRPr lang="en-US" sz="1200" dirty="0"/>
          </a:p>
        </p:txBody>
      </p:sp>
      <p:sp>
        <p:nvSpPr>
          <p:cNvPr id="18" name="answer 2"/>
          <p:cNvSpPr/>
          <p:nvPr/>
        </p:nvSpPr>
        <p:spPr>
          <a:xfrm>
            <a:off x="3413760" y="2651760"/>
            <a:ext cx="2316480" cy="960120"/>
          </a:xfrm>
          <a:prstGeom prst="roundRect">
            <a:avLst>
              <a:gd name="adj" fmla="val 7619"/>
            </a:avLst>
          </a:prstGeom>
          <a:solidFill>
            <a:schemeClr val="bg1"/>
          </a:solidFill>
          <a:ln/>
        </p:spPr>
      </p:sp>
      <p:sp>
        <p:nvSpPr>
          <p:cNvPr id="19" name="Text 14"/>
          <p:cNvSpPr txBox="1"/>
          <p:nvPr/>
        </p:nvSpPr>
        <p:spPr>
          <a:xfrm>
            <a:off x="3550920" y="2743200"/>
            <a:ext cx="2042160" cy="201168"/>
          </a:xfrm>
          <a:prstGeom prst="rect">
            <a:avLst/>
          </a:prstGeom>
          <a:noFill/>
          <a:ln/>
        </p:spPr>
        <p:txBody>
          <a:bodyPr wrap="square" lIns="0" tIns="0" rIns="0" bIns="0" rtlCol="0" anchor="ctr"/>
          <a:lstStyle/>
          <a:p>
            <a:pPr indent="0" marL="0">
              <a:buNone/>
            </a:pPr>
            <a:r>
              <a:rPr lang="en-US" sz="900" b="1" spc="100" kern="0" dirty="0">
                <a:solidFill>
                  <a:schemeClr val="accent5"/>
                </a:solidFill>
              </a:rPr>
              <a:t>OUR ANSWER</a:t>
            </a:r>
            <a:endParaRPr lang="en-US" sz="900" dirty="0"/>
          </a:p>
        </p:txBody>
      </p:sp>
      <p:sp>
        <p:nvSpPr>
          <p:cNvPr id="20" name="Text 15"/>
          <p:cNvSpPr txBox="1"/>
          <p:nvPr/>
        </p:nvSpPr>
        <p:spPr>
          <a:xfrm>
            <a:off x="3550920" y="2971800"/>
            <a:ext cx="2087880" cy="566928"/>
          </a:xfrm>
          <a:prstGeom prst="rect">
            <a:avLst/>
          </a:prstGeom>
          <a:noFill/>
          <a:ln/>
        </p:spPr>
        <p:txBody>
          <a:bodyPr wrap="square" lIns="0" tIns="0" rIns="0" bIns="0" rtlCol="0" anchor="t"/>
          <a:lstStyle/>
          <a:p>
            <a:pPr indent="0" marL="0">
              <a:buNone/>
            </a:pPr>
            <a:r>
              <a:rPr lang="en-US" sz="1200" b="1" dirty="0">
                <a:solidFill>
                  <a:schemeClr val="tx1"/>
                </a:solidFill>
              </a:rPr>
              <a:t>Nurture until they are ready</a:t>
            </a:r>
            <a:endParaRPr lang="en-US" sz="1200" dirty="0"/>
          </a:p>
        </p:txBody>
      </p:sp>
      <p:sp>
        <p:nvSpPr>
          <p:cNvPr id="21" name="reason 3"/>
          <p:cNvSpPr/>
          <p:nvPr/>
        </p:nvSpPr>
        <p:spPr>
          <a:xfrm>
            <a:off x="6096000" y="1371600"/>
            <a:ext cx="2590800" cy="2377440"/>
          </a:xfrm>
          <a:prstGeom prst="roundRect">
            <a:avLst>
              <a:gd name="adj" fmla="val 3077"/>
            </a:avLst>
          </a:prstGeom>
          <a:solidFill>
            <a:schemeClr val="bg2"/>
          </a:solidFill>
          <a:ln/>
        </p:spPr>
      </p:sp>
      <p:sp>
        <p:nvSpPr>
          <p:cNvPr id="22" name="reason icon 3 circle"/>
          <p:cNvSpPr/>
          <p:nvPr/>
        </p:nvSpPr>
        <p:spPr>
          <a:xfrm>
            <a:off x="6324600" y="1572768"/>
            <a:ext cx="457200" cy="457200"/>
          </a:xfrm>
          <a:prstGeom prst="ellipse">
            <a:avLst/>
          </a:prstGeom>
          <a:solidFill>
            <a:schemeClr val="accent1"/>
          </a:solidFill>
          <a:ln/>
        </p:spPr>
      </p:sp>
      <p:pic>
        <p:nvPicPr>
          <p:cNvPr id="23" name="reason icon 3" descr="reason icon 3">    </p:cNvPr>
          <p:cNvPicPr>
            <a:picLocks noChangeAspect="1"/>
          </p:cNvPicPr>
          <p:nvPr/>
        </p:nvPicPr>
        <p:blipFill>
          <a:blip r:embed="rId3"/>
          <a:stretch>
            <a:fillRect/>
          </a:stretch>
        </p:blipFill>
        <p:spPr>
          <a:xfrm>
            <a:off x="6438900" y="1687068"/>
            <a:ext cx="228600" cy="228600"/>
          </a:xfrm>
          <a:prstGeom prst="rect">
            <a:avLst/>
          </a:prstGeom>
        </p:spPr>
      </p:pic>
      <p:sp>
        <p:nvSpPr>
          <p:cNvPr id="24" name="Text 18"/>
          <p:cNvSpPr txBox="1"/>
          <p:nvPr/>
        </p:nvSpPr>
        <p:spPr>
          <a:xfrm>
            <a:off x="6918960" y="1572768"/>
            <a:ext cx="1584960" cy="457200"/>
          </a:xfrm>
          <a:prstGeom prst="rect">
            <a:avLst/>
          </a:prstGeom>
          <a:noFill/>
          <a:ln/>
        </p:spPr>
        <p:txBody>
          <a:bodyPr wrap="square" lIns="0" tIns="0" rIns="0" bIns="0" rtlCol="0" anchor="ctr"/>
          <a:lstStyle/>
          <a:p>
            <a:pPr indent="0" marL="0">
              <a:buNone/>
            </a:pPr>
            <a:r>
              <a:rPr lang="en-US" sz="1500" b="1" dirty="0">
                <a:solidFill>
                  <a:schemeClr val="tx1"/>
                </a:solidFill>
              </a:rPr>
              <a:t>Still shopping</a:t>
            </a:r>
            <a:endParaRPr lang="en-US" sz="1500" dirty="0"/>
          </a:p>
        </p:txBody>
      </p:sp>
      <p:sp>
        <p:nvSpPr>
          <p:cNvPr id="25" name="Text 19"/>
          <p:cNvSpPr txBox="1"/>
          <p:nvPr/>
        </p:nvSpPr>
        <p:spPr>
          <a:xfrm>
            <a:off x="6324600" y="2148840"/>
            <a:ext cx="2179320" cy="411480"/>
          </a:xfrm>
          <a:prstGeom prst="rect">
            <a:avLst/>
          </a:prstGeom>
          <a:noFill/>
          <a:ln/>
        </p:spPr>
        <p:txBody>
          <a:bodyPr wrap="square" lIns="0" tIns="0" rIns="0" bIns="0" rtlCol="0" anchor="t"/>
          <a:lstStyle/>
          <a:p>
            <a:pPr indent="0" marL="0">
              <a:buNone/>
            </a:pPr>
            <a:r>
              <a:rPr lang="en-US" sz="1200" i="1" dirty="0">
                <a:solidFill>
                  <a:schemeClr val="accent3"/>
                </a:solidFill>
              </a:rPr>
              <a:t>“We’re talking to others”</a:t>
            </a:r>
            <a:endParaRPr lang="en-US" sz="1200" dirty="0"/>
          </a:p>
        </p:txBody>
      </p:sp>
      <p:sp>
        <p:nvSpPr>
          <p:cNvPr id="26" name="answer 3"/>
          <p:cNvSpPr/>
          <p:nvPr/>
        </p:nvSpPr>
        <p:spPr>
          <a:xfrm>
            <a:off x="6233160" y="2651760"/>
            <a:ext cx="2316480" cy="960120"/>
          </a:xfrm>
          <a:prstGeom prst="roundRect">
            <a:avLst>
              <a:gd name="adj" fmla="val 7619"/>
            </a:avLst>
          </a:prstGeom>
          <a:solidFill>
            <a:schemeClr val="bg1"/>
          </a:solidFill>
          <a:ln/>
        </p:spPr>
      </p:sp>
      <p:sp>
        <p:nvSpPr>
          <p:cNvPr id="27" name="Text 21"/>
          <p:cNvSpPr txBox="1"/>
          <p:nvPr/>
        </p:nvSpPr>
        <p:spPr>
          <a:xfrm>
            <a:off x="6370320" y="2743200"/>
            <a:ext cx="2042160" cy="201168"/>
          </a:xfrm>
          <a:prstGeom prst="rect">
            <a:avLst/>
          </a:prstGeom>
          <a:noFill/>
          <a:ln/>
        </p:spPr>
        <p:txBody>
          <a:bodyPr wrap="square" lIns="0" tIns="0" rIns="0" bIns="0" rtlCol="0" anchor="ctr"/>
          <a:lstStyle/>
          <a:p>
            <a:pPr indent="0" marL="0">
              <a:buNone/>
            </a:pPr>
            <a:r>
              <a:rPr lang="en-US" sz="900" b="1" spc="100" kern="0" dirty="0">
                <a:solidFill>
                  <a:schemeClr val="accent5"/>
                </a:solidFill>
              </a:rPr>
              <a:t>OUR ANSWER</a:t>
            </a:r>
            <a:endParaRPr lang="en-US" sz="900" dirty="0"/>
          </a:p>
        </p:txBody>
      </p:sp>
      <p:sp>
        <p:nvSpPr>
          <p:cNvPr id="28" name="Text 22"/>
          <p:cNvSpPr txBox="1"/>
          <p:nvPr/>
        </p:nvSpPr>
        <p:spPr>
          <a:xfrm>
            <a:off x="6370320" y="2971800"/>
            <a:ext cx="2087880" cy="566928"/>
          </a:xfrm>
          <a:prstGeom prst="rect">
            <a:avLst/>
          </a:prstGeom>
          <a:noFill/>
          <a:ln/>
        </p:spPr>
        <p:txBody>
          <a:bodyPr wrap="square" lIns="0" tIns="0" rIns="0" bIns="0" rtlCol="0" anchor="t"/>
          <a:lstStyle/>
          <a:p>
            <a:pPr indent="0" marL="0">
              <a:buNone/>
            </a:pPr>
            <a:r>
              <a:rPr lang="en-US" sz="1200" b="1" dirty="0">
                <a:solidFill>
                  <a:schemeClr val="tx1"/>
                </a:solidFill>
              </a:rPr>
              <a:t>Offer the Freedom Plan as a low-commitment first step</a:t>
            </a:r>
            <a:endParaRPr lang="en-US" sz="1200" dirty="0"/>
          </a:p>
        </p:txBody>
      </p:sp>
      <p:sp>
        <p:nvSpPr>
          <p:cNvPr id="29" name="takeaway"/>
          <p:cNvSpPr/>
          <p:nvPr/>
        </p:nvSpPr>
        <p:spPr>
          <a:xfrm>
            <a:off x="457200" y="3977640"/>
            <a:ext cx="8229600" cy="594360"/>
          </a:xfrm>
          <a:prstGeom prst="roundRect">
            <a:avLst>
              <a:gd name="adj" fmla="val 12308"/>
            </a:avLst>
          </a:prstGeom>
          <a:solidFill>
            <a:schemeClr val="accent5"/>
          </a:solidFill>
          <a:ln/>
        </p:spPr>
      </p:sp>
      <p:sp>
        <p:nvSpPr>
          <p:cNvPr id="30" name="Text 24"/>
          <p:cNvSpPr txBox="1"/>
          <p:nvPr/>
        </p:nvSpPr>
        <p:spPr>
          <a:xfrm>
            <a:off x="731520" y="3977640"/>
            <a:ext cx="7680960" cy="594360"/>
          </a:xfrm>
          <a:prstGeom prst="rect">
            <a:avLst/>
          </a:prstGeom>
          <a:noFill/>
          <a:ln/>
        </p:spPr>
        <p:txBody>
          <a:bodyPr wrap="square" lIns="0" tIns="0" rIns="0" bIns="0" rtlCol="0" anchor="ctr"/>
          <a:lstStyle/>
          <a:p>
            <a:pPr indent="0" marL="0">
              <a:buNone/>
            </a:pPr>
            <a:r>
              <a:rPr lang="en-US" sz="1100" b="1" spc="100" kern="0" dirty="0">
                <a:solidFill>
                  <a:schemeClr val="bg1"/>
                </a:solidFill>
              </a:rPr>
              <a:t>INSIGHT   </a:t>
            </a:r>
            <a:pPr indent="0" marL="0">
              <a:buNone/>
            </a:pPr>
            <a:r>
              <a:rPr lang="en-US" sz="1400" b="1" dirty="0">
                <a:solidFill>
                  <a:schemeClr val="bg1"/>
                </a:solidFill>
              </a:rPr>
              <a:t>Most lost deals are about timing and comparison, not OA's quality.</a:t>
            </a:r>
            <a:endParaRPr lang="en-US" sz="11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457200" y="320040"/>
            <a:ext cx="8229600" cy="274320"/>
          </a:xfrm>
          <a:prstGeom prst="rect">
            <a:avLst/>
          </a:prstGeom>
          <a:noFill/>
          <a:ln/>
        </p:spPr>
        <p:txBody>
          <a:bodyPr wrap="square" lIns="0" tIns="0" rIns="0" bIns="0" rtlCol="0" anchor="ctr"/>
          <a:lstStyle/>
          <a:p>
            <a:pPr indent="0" marL="0">
              <a:buNone/>
            </a:pPr>
            <a:r>
              <a:rPr lang="en-US" sz="1100" b="1" spc="200" kern="0" dirty="0">
                <a:solidFill>
                  <a:schemeClr val="accent5"/>
                </a:solidFill>
              </a:rPr>
              <a:t>WHAT WE LEARNED</a:t>
            </a:r>
            <a:endParaRPr lang="en-US" sz="1100" dirty="0"/>
          </a:p>
        </p:txBody>
      </p:sp>
      <p:sp>
        <p:nvSpPr>
          <p:cNvPr id="3" name="Text 1"/>
          <p:cNvSpPr/>
          <p:nvPr>
            <p:ph idx="102" type="title" hasCustomPrompt="1"/>
          </p:nvPr>
        </p:nvSpPr>
        <p:spPr>
          <a:xfrm>
            <a:off x="457200" y="594360"/>
            <a:ext cx="8229600" cy="548640"/>
          </a:xfrm>
          <a:prstGeom prst="rect">
            <a:avLst/>
          </a:prstGeom>
          <a:noFill/>
          <a:ln/>
        </p:spPr>
        <p:txBody>
          <a:bodyPr wrap="square" lIns="0" tIns="0" rIns="0" bIns="0" rtlCol="0" anchor="ctr"/>
          <a:lstStyle/>
          <a:p>
            <a:pPr algn="l" indent="0" marL="0">
              <a:buNone/>
            </a:pPr>
            <a:r>
              <a:rPr lang="en-US" sz="2600" b="1" dirty="0">
                <a:solidFill>
                  <a:schemeClr val="tx1"/>
                </a:solidFill>
              </a:rPr>
              <a:t>More ways to say yes = more yeses</a:t>
            </a:r>
            <a:endParaRPr lang="en-US" sz="2600" dirty="0"/>
          </a:p>
        </p:txBody>
      </p:sp>
      <p:sp>
        <p:nvSpPr>
          <p:cNvPr id="5" name="keep doing"/>
          <p:cNvSpPr/>
          <p:nvPr/>
        </p:nvSpPr>
        <p:spPr>
          <a:xfrm>
            <a:off x="457200" y="1371600"/>
            <a:ext cx="4000500" cy="2423160"/>
          </a:xfrm>
          <a:prstGeom prst="roundRect">
            <a:avLst>
              <a:gd name="adj" fmla="val 3019"/>
            </a:avLst>
          </a:prstGeom>
          <a:solidFill>
            <a:schemeClr val="accent4"/>
          </a:solidFill>
          <a:ln/>
        </p:spPr>
      </p:sp>
      <p:sp>
        <p:nvSpPr>
          <p:cNvPr id="6" name="keep doing icon circle"/>
          <p:cNvSpPr/>
          <p:nvPr/>
        </p:nvSpPr>
        <p:spPr>
          <a:xfrm>
            <a:off x="731520" y="1600200"/>
            <a:ext cx="457200" cy="457200"/>
          </a:xfrm>
          <a:prstGeom prst="ellipse">
            <a:avLst/>
          </a:prstGeom>
          <a:solidFill>
            <a:schemeClr val="accent5"/>
          </a:solidFill>
          <a:ln/>
        </p:spPr>
      </p:sp>
      <p:pic>
        <p:nvPicPr>
          <p:cNvPr id="7" name="keep doing icon" descr="keep doing icon">    </p:cNvPr>
          <p:cNvPicPr>
            <a:picLocks noChangeAspect="1"/>
          </p:cNvPicPr>
          <p:nvPr/>
        </p:nvPicPr>
        <p:blipFill>
          <a:blip r:embed="rId1"/>
          <a:stretch>
            <a:fillRect/>
          </a:stretch>
        </p:blipFill>
        <p:spPr>
          <a:xfrm>
            <a:off x="845820" y="1714500"/>
            <a:ext cx="228600" cy="228600"/>
          </a:xfrm>
          <a:prstGeom prst="rect">
            <a:avLst/>
          </a:prstGeom>
        </p:spPr>
      </p:pic>
      <p:sp>
        <p:nvSpPr>
          <p:cNvPr id="8" name="Text 4"/>
          <p:cNvSpPr txBox="1"/>
          <p:nvPr/>
        </p:nvSpPr>
        <p:spPr>
          <a:xfrm>
            <a:off x="1325880" y="1600200"/>
            <a:ext cx="2743200" cy="457200"/>
          </a:xfrm>
          <a:prstGeom prst="rect">
            <a:avLst/>
          </a:prstGeom>
          <a:noFill/>
          <a:ln/>
        </p:spPr>
        <p:txBody>
          <a:bodyPr wrap="square" lIns="0" tIns="0" rIns="0" bIns="0" rtlCol="0" anchor="ctr"/>
          <a:lstStyle/>
          <a:p>
            <a:pPr indent="0" marL="0">
              <a:buNone/>
            </a:pPr>
            <a:r>
              <a:rPr lang="en-US" sz="1300" b="1" spc="100" kern="0" dirty="0">
                <a:solidFill>
                  <a:schemeClr val="accent5"/>
                </a:solidFill>
              </a:rPr>
              <a:t>KEEP DOING</a:t>
            </a:r>
            <a:endParaRPr lang="en-US" sz="1300" dirty="0"/>
          </a:p>
        </p:txBody>
      </p:sp>
      <p:sp>
        <p:nvSpPr>
          <p:cNvPr id="9" name="Text 5"/>
          <p:cNvSpPr txBox="1"/>
          <p:nvPr/>
        </p:nvSpPr>
        <p:spPr>
          <a:xfrm>
            <a:off x="731520" y="2194560"/>
            <a:ext cx="3451860" cy="1508760"/>
          </a:xfrm>
          <a:prstGeom prst="rect">
            <a:avLst/>
          </a:prstGeom>
          <a:noFill/>
          <a:ln/>
        </p:spPr>
        <p:txBody>
          <a:bodyPr wrap="square" lIns="0" tIns="0" rIns="0" bIns="0" rtlCol="0" anchor="t"/>
          <a:lstStyle/>
          <a:p>
            <a:pPr marL="177800" indent="-177800">
              <a:spcAft>
                <a:spcPts val="1000"/>
              </a:spcAft>
              <a:buSzPct val="100000"/>
              <a:buChar char="•"/>
            </a:pPr>
            <a:r>
              <a:rPr lang="en-US" sz="1400" dirty="0">
                <a:solidFill>
                  <a:schemeClr val="tx1"/>
                </a:solidFill>
              </a:rPr>
              <a:t>Reactivating our existing CRM: warm past leads re-engage and convert</a:t>
            </a:r>
            <a:endParaRPr lang="en-US" sz="1400" dirty="0"/>
          </a:p>
          <a:p>
            <a:pPr marL="177800" indent="-177800">
              <a:spcAft>
                <a:spcPts val="1000"/>
              </a:spcAft>
              <a:buSzPct val="100000"/>
              <a:buChar char="•"/>
            </a:pPr>
            <a:r>
              <a:rPr lang="en-US" sz="1400" dirty="0">
                <a:solidFill>
                  <a:schemeClr val="tx1"/>
                </a:solidFill>
              </a:rPr>
              <a:t>Leading with flexible options, not one fixed package</a:t>
            </a:r>
            <a:endParaRPr lang="en-US" sz="1400" dirty="0"/>
          </a:p>
        </p:txBody>
      </p:sp>
      <p:sp>
        <p:nvSpPr>
          <p:cNvPr id="10" name="change in q3"/>
          <p:cNvSpPr/>
          <p:nvPr/>
        </p:nvSpPr>
        <p:spPr>
          <a:xfrm>
            <a:off x="4686300" y="1371600"/>
            <a:ext cx="4000500" cy="2423160"/>
          </a:xfrm>
          <a:prstGeom prst="roundRect">
            <a:avLst>
              <a:gd name="adj" fmla="val 3019"/>
            </a:avLst>
          </a:prstGeom>
          <a:solidFill>
            <a:schemeClr val="bg2"/>
          </a:solidFill>
          <a:ln/>
        </p:spPr>
      </p:sp>
      <p:sp>
        <p:nvSpPr>
          <p:cNvPr id="11" name="change in q3 icon circle"/>
          <p:cNvSpPr/>
          <p:nvPr/>
        </p:nvSpPr>
        <p:spPr>
          <a:xfrm>
            <a:off x="4960620" y="1600200"/>
            <a:ext cx="457200" cy="457200"/>
          </a:xfrm>
          <a:prstGeom prst="ellipse">
            <a:avLst/>
          </a:prstGeom>
          <a:solidFill>
            <a:schemeClr val="accent1"/>
          </a:solidFill>
          <a:ln/>
        </p:spPr>
      </p:sp>
      <p:pic>
        <p:nvPicPr>
          <p:cNvPr id="12" name="change in q3 icon" descr="change in q3 icon">    </p:cNvPr>
          <p:cNvPicPr>
            <a:picLocks noChangeAspect="1"/>
          </p:cNvPicPr>
          <p:nvPr/>
        </p:nvPicPr>
        <p:blipFill>
          <a:blip r:embed="rId2"/>
          <a:stretch>
            <a:fillRect/>
          </a:stretch>
        </p:blipFill>
        <p:spPr>
          <a:xfrm>
            <a:off x="5074920" y="1714500"/>
            <a:ext cx="228600" cy="228600"/>
          </a:xfrm>
          <a:prstGeom prst="rect">
            <a:avLst/>
          </a:prstGeom>
        </p:spPr>
      </p:pic>
      <p:sp>
        <p:nvSpPr>
          <p:cNvPr id="13" name="Text 8"/>
          <p:cNvSpPr txBox="1"/>
          <p:nvPr/>
        </p:nvSpPr>
        <p:spPr>
          <a:xfrm>
            <a:off x="5554980" y="1600200"/>
            <a:ext cx="2743200" cy="457200"/>
          </a:xfrm>
          <a:prstGeom prst="rect">
            <a:avLst/>
          </a:prstGeom>
          <a:noFill/>
          <a:ln/>
        </p:spPr>
        <p:txBody>
          <a:bodyPr wrap="square" lIns="0" tIns="0" rIns="0" bIns="0" rtlCol="0" anchor="ctr"/>
          <a:lstStyle/>
          <a:p>
            <a:pPr indent="0" marL="0">
              <a:buNone/>
            </a:pPr>
            <a:r>
              <a:rPr lang="en-US" sz="1300" b="1" spc="100" kern="0" dirty="0">
                <a:solidFill>
                  <a:schemeClr val="accent5"/>
                </a:solidFill>
              </a:rPr>
              <a:t>CHANGE IN Q3</a:t>
            </a:r>
            <a:endParaRPr lang="en-US" sz="1300" dirty="0"/>
          </a:p>
        </p:txBody>
      </p:sp>
      <p:sp>
        <p:nvSpPr>
          <p:cNvPr id="14" name="Text 9"/>
          <p:cNvSpPr txBox="1"/>
          <p:nvPr/>
        </p:nvSpPr>
        <p:spPr>
          <a:xfrm>
            <a:off x="4960620" y="2194560"/>
            <a:ext cx="3451860" cy="1508760"/>
          </a:xfrm>
          <a:prstGeom prst="rect">
            <a:avLst/>
          </a:prstGeom>
          <a:noFill/>
          <a:ln/>
        </p:spPr>
        <p:txBody>
          <a:bodyPr wrap="square" lIns="0" tIns="0" rIns="0" bIns="0" rtlCol="0" anchor="t"/>
          <a:lstStyle/>
          <a:p>
            <a:pPr marL="177800" indent="-177800">
              <a:spcAft>
                <a:spcPts val="1000"/>
              </a:spcAft>
              <a:buSzPct val="100000"/>
              <a:buChar char="•"/>
            </a:pPr>
            <a:r>
              <a:rPr lang="en-US" sz="1400" dirty="0">
                <a:solidFill>
                  <a:schemeClr val="tx1"/>
                </a:solidFill>
              </a:rPr>
              <a:t>Open with the Freedom Plan as a low-commitment first step</a:t>
            </a:r>
            <a:endParaRPr lang="en-US" sz="1400" dirty="0"/>
          </a:p>
          <a:p>
            <a:pPr marL="177800" indent="-177800">
              <a:spcAft>
                <a:spcPts val="1000"/>
              </a:spcAft>
              <a:buSzPct val="100000"/>
              <a:buChar char="•"/>
            </a:pPr>
            <a:r>
              <a:rPr lang="en-US" sz="1400" dirty="0">
                <a:solidFill>
                  <a:schemeClr val="tx1"/>
                </a:solidFill>
              </a:rPr>
              <a:t>Lead with outcomes and value</a:t>
            </a:r>
            <a:endParaRPr lang="en-US" sz="1400" dirty="0"/>
          </a:p>
          <a:p>
            <a:pPr marL="177800" indent="-177800">
              <a:spcAft>
                <a:spcPts val="1000"/>
              </a:spcAft>
              <a:buSzPct val="100000"/>
              <a:buChar char="•"/>
            </a:pPr>
            <a:r>
              <a:rPr lang="en-US" sz="1400" dirty="0">
                <a:solidFill>
                  <a:schemeClr val="tx1"/>
                </a:solidFill>
              </a:rPr>
              <a:t>Nurture not-ready leads instead of letting them go cold</a:t>
            </a:r>
            <a:endParaRPr lang="en-US" sz="1400" dirty="0"/>
          </a:p>
        </p:txBody>
      </p:sp>
      <p:sp>
        <p:nvSpPr>
          <p:cNvPr id="15" name="takeaway"/>
          <p:cNvSpPr/>
          <p:nvPr/>
        </p:nvSpPr>
        <p:spPr>
          <a:xfrm>
            <a:off x="457200" y="3977640"/>
            <a:ext cx="8229600" cy="594360"/>
          </a:xfrm>
          <a:prstGeom prst="roundRect">
            <a:avLst>
              <a:gd name="adj" fmla="val 12308"/>
            </a:avLst>
          </a:prstGeom>
          <a:solidFill>
            <a:schemeClr val="accent5"/>
          </a:solidFill>
          <a:ln/>
        </p:spPr>
      </p:sp>
      <p:sp>
        <p:nvSpPr>
          <p:cNvPr id="16" name="Text 11"/>
          <p:cNvSpPr txBox="1"/>
          <p:nvPr/>
        </p:nvSpPr>
        <p:spPr>
          <a:xfrm>
            <a:off x="731520" y="3977640"/>
            <a:ext cx="7680960" cy="594360"/>
          </a:xfrm>
          <a:prstGeom prst="rect">
            <a:avLst/>
          </a:prstGeom>
          <a:noFill/>
          <a:ln/>
        </p:spPr>
        <p:txBody>
          <a:bodyPr wrap="square" lIns="0" tIns="0" rIns="0" bIns="0" rtlCol="0" anchor="ctr"/>
          <a:lstStyle/>
          <a:p>
            <a:pPr indent="0" marL="0">
              <a:buNone/>
            </a:pPr>
            <a:r>
              <a:rPr lang="en-US" sz="1100" b="1" spc="100" kern="0" dirty="0">
                <a:solidFill>
                  <a:schemeClr val="bg1"/>
                </a:solidFill>
              </a:rPr>
              <a:t>Q3 GOAL   </a:t>
            </a:r>
            <a:pPr indent="0" marL="0">
              <a:buNone/>
            </a:pPr>
            <a:r>
              <a:rPr lang="en-US" sz="1400" b="1" dirty="0">
                <a:solidFill>
                  <a:schemeClr val="bg1"/>
                </a:solidFill>
              </a:rPr>
              <a:t>Turn more “not yet” into “yes”.</a:t>
            </a:r>
            <a:endParaRPr lang="en-US" sz="11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457200" y="320040"/>
            <a:ext cx="8229600" cy="274320"/>
          </a:xfrm>
          <a:prstGeom prst="rect">
            <a:avLst/>
          </a:prstGeom>
          <a:noFill/>
          <a:ln/>
        </p:spPr>
        <p:txBody>
          <a:bodyPr wrap="square" lIns="0" tIns="0" rIns="0" bIns="0" rtlCol="0" anchor="ctr"/>
          <a:lstStyle/>
          <a:p>
            <a:pPr indent="0" marL="0">
              <a:buNone/>
            </a:pPr>
            <a:r>
              <a:rPr lang="en-US" sz="1100" b="1" spc="200" kern="0" dirty="0">
                <a:solidFill>
                  <a:schemeClr val="accent5"/>
                </a:solidFill>
              </a:rPr>
              <a:t>Q3 FOCUS</a:t>
            </a:r>
            <a:endParaRPr lang="en-US" sz="1100" dirty="0"/>
          </a:p>
        </p:txBody>
      </p:sp>
      <p:sp>
        <p:nvSpPr>
          <p:cNvPr id="3" name="Text 1"/>
          <p:cNvSpPr/>
          <p:nvPr>
            <p:ph idx="102" type="title" hasCustomPrompt="1"/>
          </p:nvPr>
        </p:nvSpPr>
        <p:spPr>
          <a:xfrm>
            <a:off x="457200" y="594360"/>
            <a:ext cx="8229600" cy="548640"/>
          </a:xfrm>
          <a:prstGeom prst="rect">
            <a:avLst/>
          </a:prstGeom>
          <a:noFill/>
          <a:ln/>
        </p:spPr>
        <p:txBody>
          <a:bodyPr wrap="square" lIns="0" tIns="0" rIns="0" bIns="0" rtlCol="0" anchor="ctr"/>
          <a:lstStyle/>
          <a:p>
            <a:pPr algn="l" indent="0" marL="0">
              <a:buNone/>
            </a:pPr>
            <a:r>
              <a:rPr lang="en-US" sz="2600" b="1" dirty="0">
                <a:solidFill>
                  <a:schemeClr val="tx1"/>
                </a:solidFill>
              </a:rPr>
              <a:t>What we will track each month in Q3</a:t>
            </a:r>
            <a:endParaRPr lang="en-US" sz="2600" dirty="0"/>
          </a:p>
        </p:txBody>
      </p:sp>
      <p:sp>
        <p:nvSpPr>
          <p:cNvPr id="5" name="metric 1"/>
          <p:cNvSpPr/>
          <p:nvPr/>
        </p:nvSpPr>
        <p:spPr>
          <a:xfrm>
            <a:off x="457200" y="1371600"/>
            <a:ext cx="4000500" cy="960120"/>
          </a:xfrm>
          <a:prstGeom prst="roundRect">
            <a:avLst>
              <a:gd name="adj" fmla="val 7619"/>
            </a:avLst>
          </a:prstGeom>
          <a:solidFill>
            <a:schemeClr val="bg2"/>
          </a:solidFill>
          <a:ln/>
        </p:spPr>
      </p:sp>
      <p:sp>
        <p:nvSpPr>
          <p:cNvPr id="6" name="metric icon 1 circle"/>
          <p:cNvSpPr/>
          <p:nvPr/>
        </p:nvSpPr>
        <p:spPr>
          <a:xfrm>
            <a:off x="685800" y="1600200"/>
            <a:ext cx="502920" cy="502920"/>
          </a:xfrm>
          <a:prstGeom prst="ellipse">
            <a:avLst/>
          </a:prstGeom>
          <a:solidFill>
            <a:schemeClr val="accent1"/>
          </a:solidFill>
          <a:ln/>
        </p:spPr>
      </p:sp>
      <p:pic>
        <p:nvPicPr>
          <p:cNvPr id="7" name="metric icon 1" descr="metric icon 1">    </p:cNvPr>
          <p:cNvPicPr>
            <a:picLocks noChangeAspect="1"/>
          </p:cNvPicPr>
          <p:nvPr/>
        </p:nvPicPr>
        <p:blipFill>
          <a:blip r:embed="rId1"/>
          <a:stretch>
            <a:fillRect/>
          </a:stretch>
        </p:blipFill>
        <p:spPr>
          <a:xfrm>
            <a:off x="811530" y="1725930"/>
            <a:ext cx="251460" cy="251460"/>
          </a:xfrm>
          <a:prstGeom prst="rect">
            <a:avLst/>
          </a:prstGeom>
        </p:spPr>
      </p:pic>
      <p:sp>
        <p:nvSpPr>
          <p:cNvPr id="8" name="Text 4"/>
          <p:cNvSpPr txBox="1"/>
          <p:nvPr/>
        </p:nvSpPr>
        <p:spPr>
          <a:xfrm>
            <a:off x="1371600" y="1499616"/>
            <a:ext cx="2903220" cy="411480"/>
          </a:xfrm>
          <a:prstGeom prst="rect">
            <a:avLst/>
          </a:prstGeom>
          <a:noFill/>
          <a:ln/>
        </p:spPr>
        <p:txBody>
          <a:bodyPr wrap="square" lIns="0" tIns="0" rIns="0" bIns="0" rtlCol="0" anchor="ctr"/>
          <a:lstStyle/>
          <a:p>
            <a:pPr indent="0" marL="0">
              <a:buNone/>
            </a:pPr>
            <a:r>
              <a:rPr lang="en-US" sz="1400" b="1" dirty="0">
                <a:solidFill>
                  <a:schemeClr val="tx1"/>
                </a:solidFill>
              </a:rPr>
              <a:t>Sales by product</a:t>
            </a:r>
            <a:endParaRPr lang="en-US" sz="1400" dirty="0"/>
          </a:p>
        </p:txBody>
      </p:sp>
      <p:sp>
        <p:nvSpPr>
          <p:cNvPr id="9" name="Text 5"/>
          <p:cNvSpPr txBox="1"/>
          <p:nvPr/>
        </p:nvSpPr>
        <p:spPr>
          <a:xfrm>
            <a:off x="1371600" y="1901952"/>
            <a:ext cx="2903220" cy="320040"/>
          </a:xfrm>
          <a:prstGeom prst="rect">
            <a:avLst/>
          </a:prstGeom>
          <a:noFill/>
          <a:ln/>
        </p:spPr>
        <p:txBody>
          <a:bodyPr wrap="square" lIns="0" tIns="0" rIns="0" bIns="0" rtlCol="0" anchor="t"/>
          <a:lstStyle/>
          <a:p>
            <a:pPr indent="0" marL="0">
              <a:buNone/>
            </a:pPr>
            <a:r>
              <a:rPr lang="en-US" sz="1100" b="1" dirty="0">
                <a:solidFill>
                  <a:schemeClr val="accent5"/>
                </a:solidFill>
              </a:rPr>
              <a:t>Q2 start: </a:t>
            </a:r>
            <a:pPr indent="0" marL="0">
              <a:buNone/>
            </a:pPr>
            <a:r>
              <a:rPr lang="en-US" sz="1100" dirty="0">
                <a:solidFill>
                  <a:schemeClr val="accent3"/>
                </a:solidFill>
              </a:rPr>
              <a:t>12 in Sept (new products)</a:t>
            </a:r>
            <a:endParaRPr lang="en-US" sz="1100" dirty="0"/>
          </a:p>
        </p:txBody>
      </p:sp>
      <p:sp>
        <p:nvSpPr>
          <p:cNvPr id="10" name="metric 2"/>
          <p:cNvSpPr/>
          <p:nvPr/>
        </p:nvSpPr>
        <p:spPr>
          <a:xfrm>
            <a:off x="4686300" y="1371600"/>
            <a:ext cx="4000500" cy="960120"/>
          </a:xfrm>
          <a:prstGeom prst="roundRect">
            <a:avLst>
              <a:gd name="adj" fmla="val 7619"/>
            </a:avLst>
          </a:prstGeom>
          <a:solidFill>
            <a:schemeClr val="bg2"/>
          </a:solidFill>
          <a:ln/>
        </p:spPr>
      </p:sp>
      <p:sp>
        <p:nvSpPr>
          <p:cNvPr id="11" name="metric icon 2 circle"/>
          <p:cNvSpPr/>
          <p:nvPr/>
        </p:nvSpPr>
        <p:spPr>
          <a:xfrm>
            <a:off x="4914900" y="1600200"/>
            <a:ext cx="502920" cy="502920"/>
          </a:xfrm>
          <a:prstGeom prst="ellipse">
            <a:avLst/>
          </a:prstGeom>
          <a:solidFill>
            <a:schemeClr val="accent1"/>
          </a:solidFill>
          <a:ln/>
        </p:spPr>
      </p:sp>
      <p:pic>
        <p:nvPicPr>
          <p:cNvPr id="12" name="metric icon 2" descr="metric icon 2">    </p:cNvPr>
          <p:cNvPicPr>
            <a:picLocks noChangeAspect="1"/>
          </p:cNvPicPr>
          <p:nvPr/>
        </p:nvPicPr>
        <p:blipFill>
          <a:blip r:embed="rId2"/>
          <a:stretch>
            <a:fillRect/>
          </a:stretch>
        </p:blipFill>
        <p:spPr>
          <a:xfrm>
            <a:off x="5040630" y="1725930"/>
            <a:ext cx="251460" cy="251460"/>
          </a:xfrm>
          <a:prstGeom prst="rect">
            <a:avLst/>
          </a:prstGeom>
        </p:spPr>
      </p:pic>
      <p:sp>
        <p:nvSpPr>
          <p:cNvPr id="13" name="Text 8"/>
          <p:cNvSpPr txBox="1"/>
          <p:nvPr/>
        </p:nvSpPr>
        <p:spPr>
          <a:xfrm>
            <a:off x="5600700" y="1499616"/>
            <a:ext cx="2903220" cy="411480"/>
          </a:xfrm>
          <a:prstGeom prst="rect">
            <a:avLst/>
          </a:prstGeom>
          <a:noFill/>
          <a:ln/>
        </p:spPr>
        <p:txBody>
          <a:bodyPr wrap="square" lIns="0" tIns="0" rIns="0" bIns="0" rtlCol="0" anchor="ctr"/>
          <a:lstStyle/>
          <a:p>
            <a:pPr indent="0" marL="0">
              <a:buNone/>
            </a:pPr>
            <a:r>
              <a:rPr lang="en-US" sz="1400" b="1" dirty="0">
                <a:solidFill>
                  <a:schemeClr val="tx1"/>
                </a:solidFill>
              </a:rPr>
              <a:t>Wins from reactivated leads</a:t>
            </a:r>
            <a:endParaRPr lang="en-US" sz="1400" dirty="0"/>
          </a:p>
        </p:txBody>
      </p:sp>
      <p:sp>
        <p:nvSpPr>
          <p:cNvPr id="14" name="Text 9"/>
          <p:cNvSpPr txBox="1"/>
          <p:nvPr/>
        </p:nvSpPr>
        <p:spPr>
          <a:xfrm>
            <a:off x="5600700" y="1901952"/>
            <a:ext cx="2903220" cy="320040"/>
          </a:xfrm>
          <a:prstGeom prst="rect">
            <a:avLst/>
          </a:prstGeom>
          <a:noFill/>
          <a:ln/>
        </p:spPr>
        <p:txBody>
          <a:bodyPr wrap="square" lIns="0" tIns="0" rIns="0" bIns="0" rtlCol="0" anchor="t"/>
          <a:lstStyle/>
          <a:p>
            <a:pPr indent="0" marL="0">
              <a:buNone/>
            </a:pPr>
            <a:r>
              <a:rPr lang="en-US" sz="1100" b="1" dirty="0">
                <a:solidFill>
                  <a:schemeClr val="accent5"/>
                </a:solidFill>
              </a:rPr>
              <a:t>Q2 start: </a:t>
            </a:r>
            <a:pPr indent="0" marL="0">
              <a:buNone/>
            </a:pPr>
            <a:r>
              <a:rPr lang="en-US" sz="1100" dirty="0">
                <a:solidFill>
                  <a:schemeClr val="accent3"/>
                </a:solidFill>
              </a:rPr>
              <a:t>1 in Q2 (Andrew Owen)</a:t>
            </a:r>
            <a:endParaRPr lang="en-US" sz="1100" dirty="0"/>
          </a:p>
        </p:txBody>
      </p:sp>
      <p:sp>
        <p:nvSpPr>
          <p:cNvPr id="15" name="metric 3"/>
          <p:cNvSpPr/>
          <p:nvPr/>
        </p:nvSpPr>
        <p:spPr>
          <a:xfrm>
            <a:off x="457200" y="2514600"/>
            <a:ext cx="4000500" cy="960120"/>
          </a:xfrm>
          <a:prstGeom prst="roundRect">
            <a:avLst>
              <a:gd name="adj" fmla="val 7619"/>
            </a:avLst>
          </a:prstGeom>
          <a:solidFill>
            <a:schemeClr val="bg2"/>
          </a:solidFill>
          <a:ln/>
        </p:spPr>
      </p:sp>
      <p:sp>
        <p:nvSpPr>
          <p:cNvPr id="16" name="metric icon 3 circle"/>
          <p:cNvSpPr/>
          <p:nvPr/>
        </p:nvSpPr>
        <p:spPr>
          <a:xfrm>
            <a:off x="685800" y="2743200"/>
            <a:ext cx="502920" cy="502920"/>
          </a:xfrm>
          <a:prstGeom prst="ellipse">
            <a:avLst/>
          </a:prstGeom>
          <a:solidFill>
            <a:schemeClr val="accent1"/>
          </a:solidFill>
          <a:ln/>
        </p:spPr>
      </p:sp>
      <p:pic>
        <p:nvPicPr>
          <p:cNvPr id="17" name="metric icon 3" descr="metric icon 3">    </p:cNvPr>
          <p:cNvPicPr>
            <a:picLocks noChangeAspect="1"/>
          </p:cNvPicPr>
          <p:nvPr/>
        </p:nvPicPr>
        <p:blipFill>
          <a:blip r:embed="rId3"/>
          <a:stretch>
            <a:fillRect/>
          </a:stretch>
        </p:blipFill>
        <p:spPr>
          <a:xfrm>
            <a:off x="811530" y="2868930"/>
            <a:ext cx="251460" cy="251460"/>
          </a:xfrm>
          <a:prstGeom prst="rect">
            <a:avLst/>
          </a:prstGeom>
        </p:spPr>
      </p:pic>
      <p:sp>
        <p:nvSpPr>
          <p:cNvPr id="18" name="Text 12"/>
          <p:cNvSpPr txBox="1"/>
          <p:nvPr/>
        </p:nvSpPr>
        <p:spPr>
          <a:xfrm>
            <a:off x="1371600" y="2642616"/>
            <a:ext cx="2903220" cy="411480"/>
          </a:xfrm>
          <a:prstGeom prst="rect">
            <a:avLst/>
          </a:prstGeom>
          <a:noFill/>
          <a:ln/>
        </p:spPr>
        <p:txBody>
          <a:bodyPr wrap="square" lIns="0" tIns="0" rIns="0" bIns="0" rtlCol="0" anchor="ctr"/>
          <a:lstStyle/>
          <a:p>
            <a:pPr indent="0" marL="0">
              <a:buNone/>
            </a:pPr>
            <a:r>
              <a:rPr lang="en-US" sz="1400" b="1" dirty="0">
                <a:solidFill>
                  <a:schemeClr val="tx1"/>
                </a:solidFill>
              </a:rPr>
              <a:t>Warm leads to proposal</a:t>
            </a:r>
            <a:endParaRPr lang="en-US" sz="1400" dirty="0"/>
          </a:p>
        </p:txBody>
      </p:sp>
      <p:sp>
        <p:nvSpPr>
          <p:cNvPr id="19" name="Text 13"/>
          <p:cNvSpPr txBox="1"/>
          <p:nvPr/>
        </p:nvSpPr>
        <p:spPr>
          <a:xfrm>
            <a:off x="1371600" y="3044952"/>
            <a:ext cx="2903220" cy="320040"/>
          </a:xfrm>
          <a:prstGeom prst="rect">
            <a:avLst/>
          </a:prstGeom>
          <a:noFill/>
          <a:ln/>
        </p:spPr>
        <p:txBody>
          <a:bodyPr wrap="square" lIns="0" tIns="0" rIns="0" bIns="0" rtlCol="0" anchor="t"/>
          <a:lstStyle/>
          <a:p>
            <a:pPr indent="0" marL="0">
              <a:buNone/>
            </a:pPr>
            <a:r>
              <a:rPr lang="en-US" sz="1100" b="1" dirty="0">
                <a:solidFill>
                  <a:schemeClr val="accent5"/>
                </a:solidFill>
              </a:rPr>
              <a:t>Q2 start: </a:t>
            </a:r>
            <a:pPr indent="0" marL="0">
              <a:buNone/>
            </a:pPr>
            <a:r>
              <a:rPr lang="en-US" sz="1100" dirty="0">
                <a:solidFill>
                  <a:schemeClr val="accent3"/>
                </a:solidFill>
              </a:rPr>
              <a:t>New measure in Q3</a:t>
            </a:r>
            <a:endParaRPr lang="en-US" sz="1100" dirty="0"/>
          </a:p>
        </p:txBody>
      </p:sp>
      <p:sp>
        <p:nvSpPr>
          <p:cNvPr id="20" name="metric 4"/>
          <p:cNvSpPr/>
          <p:nvPr/>
        </p:nvSpPr>
        <p:spPr>
          <a:xfrm>
            <a:off x="4686300" y="2514600"/>
            <a:ext cx="4000500" cy="960120"/>
          </a:xfrm>
          <a:prstGeom prst="roundRect">
            <a:avLst>
              <a:gd name="adj" fmla="val 7619"/>
            </a:avLst>
          </a:prstGeom>
          <a:solidFill>
            <a:schemeClr val="bg2"/>
          </a:solidFill>
          <a:ln/>
        </p:spPr>
      </p:sp>
      <p:sp>
        <p:nvSpPr>
          <p:cNvPr id="21" name="metric icon 4 circle"/>
          <p:cNvSpPr/>
          <p:nvPr/>
        </p:nvSpPr>
        <p:spPr>
          <a:xfrm>
            <a:off x="4914900" y="2743200"/>
            <a:ext cx="502920" cy="502920"/>
          </a:xfrm>
          <a:prstGeom prst="ellipse">
            <a:avLst/>
          </a:prstGeom>
          <a:solidFill>
            <a:schemeClr val="accent1"/>
          </a:solidFill>
          <a:ln/>
        </p:spPr>
      </p:sp>
      <p:pic>
        <p:nvPicPr>
          <p:cNvPr id="22" name="metric icon 4" descr="metric icon 4">    </p:cNvPr>
          <p:cNvPicPr>
            <a:picLocks noChangeAspect="1"/>
          </p:cNvPicPr>
          <p:nvPr/>
        </p:nvPicPr>
        <p:blipFill>
          <a:blip r:embed="rId4"/>
          <a:stretch>
            <a:fillRect/>
          </a:stretch>
        </p:blipFill>
        <p:spPr>
          <a:xfrm>
            <a:off x="5040630" y="2868930"/>
            <a:ext cx="251460" cy="251460"/>
          </a:xfrm>
          <a:prstGeom prst="rect">
            <a:avLst/>
          </a:prstGeom>
        </p:spPr>
      </p:pic>
      <p:sp>
        <p:nvSpPr>
          <p:cNvPr id="23" name="Text 16"/>
          <p:cNvSpPr txBox="1"/>
          <p:nvPr/>
        </p:nvSpPr>
        <p:spPr>
          <a:xfrm>
            <a:off x="5600700" y="2642616"/>
            <a:ext cx="2903220" cy="411480"/>
          </a:xfrm>
          <a:prstGeom prst="rect">
            <a:avLst/>
          </a:prstGeom>
          <a:noFill/>
          <a:ln/>
        </p:spPr>
        <p:txBody>
          <a:bodyPr wrap="square" lIns="0" tIns="0" rIns="0" bIns="0" rtlCol="0" anchor="ctr"/>
          <a:lstStyle/>
          <a:p>
            <a:pPr indent="0" marL="0">
              <a:buNone/>
            </a:pPr>
            <a:r>
              <a:rPr lang="en-US" sz="1400" b="1" dirty="0">
                <a:solidFill>
                  <a:schemeClr val="tx1"/>
                </a:solidFill>
              </a:rPr>
              <a:t>Sales Intelligence report</a:t>
            </a:r>
            <a:endParaRPr lang="en-US" sz="1400" dirty="0"/>
          </a:p>
        </p:txBody>
      </p:sp>
      <p:sp>
        <p:nvSpPr>
          <p:cNvPr id="24" name="Text 17"/>
          <p:cNvSpPr txBox="1"/>
          <p:nvPr/>
        </p:nvSpPr>
        <p:spPr>
          <a:xfrm>
            <a:off x="5600700" y="3044952"/>
            <a:ext cx="2903220" cy="320040"/>
          </a:xfrm>
          <a:prstGeom prst="rect">
            <a:avLst/>
          </a:prstGeom>
          <a:noFill/>
          <a:ln/>
        </p:spPr>
        <p:txBody>
          <a:bodyPr wrap="square" lIns="0" tIns="0" rIns="0" bIns="0" rtlCol="0" anchor="t"/>
          <a:lstStyle/>
          <a:p>
            <a:pPr indent="0" marL="0">
              <a:buNone/>
            </a:pPr>
            <a:r>
              <a:rPr lang="en-US" sz="1100" b="1" dirty="0">
                <a:solidFill>
                  <a:schemeClr val="accent5"/>
                </a:solidFill>
              </a:rPr>
              <a:t>Q2 start: </a:t>
            </a:r>
            <a:pPr indent="0" marL="0">
              <a:buNone/>
            </a:pPr>
            <a:r>
              <a:rPr lang="en-US" sz="1100" dirty="0">
                <a:solidFill>
                  <a:schemeClr val="accent3"/>
                </a:solidFill>
              </a:rPr>
              <a:t>New: monthly to Mktg + Recruitment</a:t>
            </a:r>
            <a:endParaRPr lang="en-US" sz="1100" dirty="0"/>
          </a:p>
        </p:txBody>
      </p:sp>
      <p:sp>
        <p:nvSpPr>
          <p:cNvPr id="25" name="takeaway"/>
          <p:cNvSpPr/>
          <p:nvPr/>
        </p:nvSpPr>
        <p:spPr>
          <a:xfrm>
            <a:off x="457200" y="3794760"/>
            <a:ext cx="8229600" cy="685800"/>
          </a:xfrm>
          <a:prstGeom prst="roundRect">
            <a:avLst>
              <a:gd name="adj" fmla="val 10667"/>
            </a:avLst>
          </a:prstGeom>
          <a:solidFill>
            <a:schemeClr val="accent5"/>
          </a:solidFill>
          <a:ln/>
        </p:spPr>
      </p:sp>
      <p:sp>
        <p:nvSpPr>
          <p:cNvPr id="26" name="Text 19"/>
          <p:cNvSpPr txBox="1"/>
          <p:nvPr/>
        </p:nvSpPr>
        <p:spPr>
          <a:xfrm>
            <a:off x="731520" y="3794760"/>
            <a:ext cx="7680960" cy="685800"/>
          </a:xfrm>
          <a:prstGeom prst="rect">
            <a:avLst/>
          </a:prstGeom>
          <a:noFill/>
          <a:ln/>
        </p:spPr>
        <p:txBody>
          <a:bodyPr wrap="square" lIns="0" tIns="0" rIns="0" bIns="0" rtlCol="0" anchor="ctr"/>
          <a:lstStyle/>
          <a:p>
            <a:pPr indent="0" marL="0">
              <a:buNone/>
            </a:pPr>
            <a:r>
              <a:rPr lang="en-US" sz="1100" b="1" spc="100" kern="0" dirty="0">
                <a:solidFill>
                  <a:schemeClr val="bg1"/>
                </a:solidFill>
              </a:rPr>
              <a:t>THE AIM   </a:t>
            </a:r>
            <a:pPr indent="0" marL="0">
              <a:buNone/>
            </a:pPr>
            <a:r>
              <a:rPr lang="en-US" sz="1400" b="1" dirty="0">
                <a:solidFill>
                  <a:schemeClr val="bg1"/>
                </a:solidFill>
              </a:rPr>
              <a:t>Turn Q2's wins into a repeatable monthly sales rhythm.</a:t>
            </a:r>
            <a:endParaRPr lang="en-US" sz="11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OA Sales">
  <a:themeElements>
    <a:clrScheme name="OA Sales">
      <a:dk1>
        <a:srgbClr val="111111"/>
      </a:dk1>
      <a:lt1>
        <a:srgbClr val="FFFFFF"/>
      </a:lt1>
      <a:dk2>
        <a:srgbClr val="3D4A48"/>
      </a:dk2>
      <a:lt2>
        <a:srgbClr val="F3F8F7"/>
      </a:lt2>
      <a:accent1>
        <a:srgbClr val="02B99F"/>
      </a:accent1>
      <a:accent2>
        <a:srgbClr val="F5B947"/>
      </a:accent2>
      <a:accent3>
        <a:srgbClr val="5A5A5A"/>
      </a:accent3>
      <a:accent4>
        <a:srgbClr val="E3F6F2"/>
      </a:accent4>
      <a:accent5>
        <a:srgbClr val="0A7D6C"/>
      </a:accent5>
      <a:accent6>
        <a:srgbClr val="C8504A"/>
      </a:accent6>
      <a:hlink>
        <a:srgbClr val="0A7D6C"/>
      </a:hlink>
      <a:folHlink>
        <a:srgbClr val="5A5A5A"/>
      </a:folHlink>
    </a:clrScheme>
    <a:fontScheme name="OA Sales">
      <a:majorFont>
        <a:latin typeface="Montserra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ontserra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Outsourcing Angel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Q2 2026 Sales Rock Recap</dc:title>
  <dc:subject>PptxGenJS Presentation</dc:subject>
  <dc:creator>Gail Galima-Mendoza</dc:creator>
  <cp:lastModifiedBy>Gail Galima-Mendoza</cp:lastModifiedBy>
  <cp:revision>1</cp:revision>
  <dcterms:created xsi:type="dcterms:W3CDTF">2026-10-12T00:05:43Z</dcterms:created>
  <dcterms:modified xsi:type="dcterms:W3CDTF">2026-10-12T00:05:43Z</dcterms:modified>
</cp:coreProperties>
</file>