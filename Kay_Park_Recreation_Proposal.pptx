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A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KAY PARK RECREATION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mailto:gail@outsourcingangel.com.au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463040"/>
            <a:ext cx="4572000" cy="4572000"/>
          </a:xfrm>
          <a:prstGeom prst="ellipse">
            <a:avLst/>
          </a:prstGeom>
          <a:solidFill>
            <a:srgbClr val="243041"/>
          </a:solidFill>
          <a:ln w="12700">
            <a:solidFill>
              <a:srgbClr val="2430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3CC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2024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4F6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Kay Park Recreation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3CC2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Senior Marketing VA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31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Chris Borglum, Larry Borglum, Chad DeBoer and Jordan Nuss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Gail Galima-Mendoza  ·  22 October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8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RECOMMENDATION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senior Marketing VA who owns your campaigns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766560" cy="4480560"/>
          </a:xfrm>
          <a:prstGeom prst="roundRect">
            <a:avLst>
              <a:gd name="adj" fmla="val 1633"/>
            </a:avLst>
          </a:prstGeom>
          <a:solidFill>
            <a:srgbClr val="1B2430"/>
          </a:solidFill>
          <a:ln w="9525">
            <a:solidFill>
              <a:srgbClr val="1B24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CC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RECOMMEND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4F6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full-time, senior Marketing VA (5+ years) who owns campaign planning and execution.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84048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F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gives direction, approvals and feedback. The VA does the doing: ideas, content, ads and landing pages.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589520" y="1600200"/>
            <a:ext cx="4050792" cy="1005840"/>
          </a:xfrm>
          <a:prstGeom prst="roundRect">
            <a:avLst>
              <a:gd name="adj" fmla="val 7273"/>
            </a:avLst>
          </a:prstGeom>
          <a:solidFill>
            <a:srgbClr val="E4F2EC"/>
          </a:solidFill>
          <a:ln w="9525">
            <a:solidFill>
              <a:srgbClr val="E4F2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1812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6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hrs/week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818120" y="2167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Full-time, working US hours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89520" y="2743200"/>
            <a:ext cx="4050792" cy="1005840"/>
          </a:xfrm>
          <a:prstGeom prst="roundRect">
            <a:avLst>
              <a:gd name="adj" fmla="val 7273"/>
            </a:avLst>
          </a:prstGeom>
          <a:solidFill>
            <a:srgbClr val="E4F2EC"/>
          </a:solidFill>
          <a:ln w="9525">
            <a:solidFill>
              <a:srgbClr val="E4F2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18120" y="2880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6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5+ years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818120" y="3310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Senior, already skilled in the tools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0" y="3886200"/>
            <a:ext cx="4050792" cy="1005840"/>
          </a:xfrm>
          <a:prstGeom prst="roundRect">
            <a:avLst>
              <a:gd name="adj" fmla="val 7273"/>
            </a:avLst>
          </a:prstGeom>
          <a:solidFill>
            <a:srgbClr val="E4F2EC"/>
          </a:solidFill>
          <a:ln w="9525">
            <a:solidFill>
              <a:srgbClr val="E4F2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18120" y="4023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6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1–2 weeks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818120" y="4453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3–4 candidate profiles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89520" y="5029200"/>
            <a:ext cx="4050792" cy="1005840"/>
          </a:xfrm>
          <a:prstGeom prst="roundRect">
            <a:avLst>
              <a:gd name="adj" fmla="val 7273"/>
            </a:avLst>
          </a:prstGeom>
          <a:solidFill>
            <a:srgbClr val="E4F2EC"/>
          </a:solidFill>
          <a:ln w="9525">
            <a:solidFill>
              <a:srgbClr val="E4F2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18120" y="5166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6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months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818120" y="5596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term, then 30 days’ notice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8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HEARD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have the strategy, but not the hands to execute it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“We’re just more of the approval, guidance and feedback loop, not the generation of it.” – Chris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6975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7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7A5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WordPress site launched in July. Content was moved across but not yet updated.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new post about every two weeks.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SEO and PPC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Handled by an outside agency.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media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Facebook page rarely used; LinkedIn not in use yet.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plan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Chris is mapping what content to build and prioritise for 2027.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X100 program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Bootcamp starts once the VA is on board, so they learn it with your team.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You’d like the VA to start as soon as they’re hired.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8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your Marketing VA will own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 runs campaigns from idea to launch; your team supplies personas and approves.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4573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94560"/>
            <a:ext cx="384048" cy="384048"/>
          </a:xfrm>
          <a:prstGeom prst="ellipse">
            <a:avLst/>
          </a:prstGeom>
          <a:solidFill>
            <a:srgbClr val="187A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212848"/>
            <a:ext cx="2631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planning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43200"/>
            <a:ext cx="30885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your personas into campaign ideas, and carry what works into the next campaign.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22978" y="1965960"/>
            <a:ext cx="354573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1578" y="2194560"/>
            <a:ext cx="384048" cy="384048"/>
          </a:xfrm>
          <a:prstGeom prst="ellipse">
            <a:avLst/>
          </a:prstGeom>
          <a:solidFill>
            <a:srgbClr val="187A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054498" y="2212848"/>
            <a:ext cx="2631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51578" y="2743200"/>
            <a:ext cx="30885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social posts, repurposed video and landing pages that point people to your website.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97317" y="1965960"/>
            <a:ext cx="354573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5917" y="2194560"/>
            <a:ext cx="384048" cy="384048"/>
          </a:xfrm>
          <a:prstGeom prst="ellipse">
            <a:avLst/>
          </a:prstGeom>
          <a:solidFill>
            <a:srgbClr val="187A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828837" y="2212848"/>
            <a:ext cx="2631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Paid ads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25917" y="2743200"/>
            <a:ext cx="30885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run Meta Ads first, then Google Ads once Meta is working.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354573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069080"/>
            <a:ext cx="384048" cy="384048"/>
          </a:xfrm>
          <a:prstGeom prst="ellipse">
            <a:avLst/>
          </a:prstGeom>
          <a:solidFill>
            <a:srgbClr val="187A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087368"/>
            <a:ext cx="2631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Coordination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617720"/>
            <a:ext cx="30885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your SEO/PPC agency on content that goes onto the website.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322978" y="3840480"/>
            <a:ext cx="354573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1578" y="4069080"/>
            <a:ext cx="384048" cy="384048"/>
          </a:xfrm>
          <a:prstGeom prst="ellipse">
            <a:avLst/>
          </a:prstGeom>
          <a:solidFill>
            <a:srgbClr val="187A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054498" y="4087368"/>
            <a:ext cx="2631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X100 program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4551578" y="4617720"/>
            <a:ext cx="30885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bootcamp with your team and apply it to Kay Park straight away.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097317" y="3840480"/>
            <a:ext cx="354573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5917" y="4069080"/>
            <a:ext cx="384048" cy="384048"/>
          </a:xfrm>
          <a:prstGeom prst="ellipse">
            <a:avLst/>
          </a:prstGeom>
          <a:solidFill>
            <a:srgbClr val="187A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828837" y="4087368"/>
            <a:ext cx="2631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8325917" y="4617720"/>
            <a:ext cx="30885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end-of-day report showing the hours spent on each task.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they work with: Jordan is the likely day-to-day manager, with Chris and Chad on strategy and approvals (to be confirmed this week).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8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 WE’LL LOOK FOR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Proactive first: someone who doesn’t wait to be told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and Chris both asked for a self-starter who brings ideas and chases replies.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39112"/>
            <a:ext cx="73152" cy="502920"/>
          </a:xfrm>
          <a:prstGeom prst="rect">
            <a:avLst/>
          </a:prstGeom>
          <a:solidFill>
            <a:srgbClr val="187A5E"/>
          </a:solidFill>
          <a:ln w="12700">
            <a:solidFill>
              <a:srgbClr val="187A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95144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years in marketing. You teach them your process, not the skills.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73152" cy="502920"/>
          </a:xfrm>
          <a:prstGeom prst="rect">
            <a:avLst/>
          </a:prstGeom>
          <a:solidFill>
            <a:srgbClr val="187A5E"/>
          </a:solidFill>
          <a:ln w="12700">
            <a:solidFill>
              <a:srgbClr val="187A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7432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with ads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72384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running Meta Ads and Google Ads campaigns.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593592"/>
            <a:ext cx="73152" cy="502920"/>
          </a:xfrm>
          <a:prstGeom prst="rect">
            <a:avLst/>
          </a:prstGeom>
          <a:solidFill>
            <a:srgbClr val="187A5E"/>
          </a:solidFill>
          <a:ln w="12700">
            <a:solidFill>
              <a:srgbClr val="187A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5204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and landing pages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849624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Short-form social, video repurposing and WordPress.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370832"/>
            <a:ext cx="73152" cy="502920"/>
          </a:xfrm>
          <a:prstGeom prst="rect">
            <a:avLst/>
          </a:prstGeom>
          <a:solidFill>
            <a:srgbClr val="187A5E"/>
          </a:solidFill>
          <a:ln w="12700">
            <a:solidFill>
              <a:srgbClr val="187A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2976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626864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worked in one campaign, let’s try it in the others.” Follows up when replies are slow.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148072"/>
            <a:ext cx="73152" cy="502920"/>
          </a:xfrm>
          <a:prstGeom prst="rect">
            <a:avLst/>
          </a:prstGeom>
          <a:solidFill>
            <a:srgbClr val="187A5E"/>
          </a:solidFill>
          <a:ln w="12700">
            <a:solidFill>
              <a:srgbClr val="187A5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50749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in your hours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404104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Philippines-based and working US hours, as 40% of our VAs already do.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138160" y="1965960"/>
            <a:ext cx="3502152" cy="3749040"/>
          </a:xfrm>
          <a:prstGeom prst="roundRect">
            <a:avLst>
              <a:gd name="adj" fmla="val 2089"/>
            </a:avLst>
          </a:prstGeom>
          <a:solidFill>
            <a:srgbClr val="FFF6E8"/>
          </a:solidFill>
          <a:ln w="9525">
            <a:solidFill>
              <a:srgbClr val="B26B0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0" y="2240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26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TEST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2606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 campaign challenge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342900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interviews, give each shortlisted candidate one of your personas and see what campaign they come up with. It’s exactly the work they’ll do every week.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8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OUTSOURCING ANGEL SUPPORTS YOU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You’re not hiring one person on your own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stays involved for as long as you work with us.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1004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486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6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years of experience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Sydney-based, placing VAs with clients in the US, Australia, Asia and Europe.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33008" y="1965960"/>
            <a:ext cx="541004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07328" y="2148840"/>
            <a:ext cx="486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6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X100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51460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Partnered with Scott for 10 months; our team has done the program and placed marketing VAs with X100 clients.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5410048" cy="1188720"/>
          </a:xfrm>
          <a:prstGeom prst="roundRect">
            <a:avLst>
              <a:gd name="adj" fmla="val 6154"/>
            </a:avLst>
          </a:prstGeom>
          <a:solidFill>
            <a:srgbClr val="E4F2EC"/>
          </a:solidFill>
          <a:ln w="9525">
            <a:solidFill>
              <a:srgbClr val="E4F2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520440"/>
            <a:ext cx="486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6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Freedom Plan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88620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blueprint of goals, KPIs and success measures, so the VA knows what’s expected from Day 1.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33008" y="3337560"/>
            <a:ext cx="541004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07328" y="3520440"/>
            <a:ext cx="486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6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account manager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07328" y="388620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progress against the Freedom Plan and makes sure you’re happy.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541004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892040"/>
            <a:ext cx="486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6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leaders behind the scenes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25780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Coaching, check-ins, retraining and, if ever needed, a performance plan.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33008" y="4709160"/>
            <a:ext cx="541004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07328" y="4892040"/>
            <a:ext cx="486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6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replacements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507328" y="525780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VA ever leaves, we replace them free, with a 1-week free trial of the new person.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8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AND TERMS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monthly invoice: our fee plus your VA’s rate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take no cut of the VA’s hourly rate. All prices in USD.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652241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7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(USD)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7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7A5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Refundable deposit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7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 one-time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 recruitment. Refunded if you don’t go ahead after seeing candidates, or at contract end if nothing is outstanding.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Agency fee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7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$1,000 / month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Payroll, VA benefits and incentives, your account manager and our support team.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 hourly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7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$15–$18 / hr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by each candidate and shown on their profile. They receive it in full.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7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/ week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Full-time. Minimum 20 hours a week; hours can change month to month.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4632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1B2430"/>
          </a:solidFill>
          <a:ln w="9525">
            <a:solidFill>
              <a:srgbClr val="1B243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9560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CC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MONTHLY TOTAL</a:t>
            </a:r>
            <a:endParaRPr lang="en-US" sz="1100" dirty="0"/>
          </a:p>
        </p:txBody>
      </p:sp>
      <p:sp>
        <p:nvSpPr>
          <p:cNvPr id="8" name="Estimated total"/>
          <p:cNvSpPr txBox="1"/>
          <p:nvPr/>
        </p:nvSpPr>
        <p:spPr>
          <a:xfrm>
            <a:off x="822960" y="5257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6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$3,600 – $4,100 / month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806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 hrs/month (40 hrs × 52 weeks ÷ 12) at $15–$18/hr, plus the $1,000 agency fee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498348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minimum term, then 30 days’ notice.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end-of-day reports with hours per task; no report, no pay for that day.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us; we take care of your VA’s payroll.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8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OWNERSHIP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your VA builds stays with Kay Park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they work inside accounts you own.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384048" cy="384048"/>
          </a:xfrm>
          <a:prstGeom prst="ellipse">
            <a:avLst/>
          </a:prstGeom>
          <a:solidFill>
            <a:srgbClr val="187A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965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accounts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1965960"/>
            <a:ext cx="7711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 up the tools (ChatGPT, WordPress, Meta, ad accounts) and give access. Personas and campaigns stay with you if the VA leaves.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384048" cy="384048"/>
          </a:xfrm>
          <a:prstGeom prst="ellipse">
            <a:avLst/>
          </a:prstGeom>
          <a:solidFill>
            <a:srgbClr val="187A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788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email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2788920"/>
            <a:ext cx="7711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recommend a Kay Park work email for the VA, for an extra layer of security.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384048" cy="384048"/>
          </a:xfrm>
          <a:prstGeom prst="ellipse">
            <a:avLst/>
          </a:prstGeom>
          <a:solidFill>
            <a:srgbClr val="187A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611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3611880"/>
            <a:ext cx="7711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VA can sign a non-disclosure agreement if you’d like.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480560"/>
            <a:ext cx="384048" cy="384048"/>
          </a:xfrm>
          <a:prstGeom prst="ellipse">
            <a:avLst/>
          </a:prstGeom>
          <a:solidFill>
            <a:srgbClr val="187A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434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Indemnity insurance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4434840"/>
            <a:ext cx="7711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clients are covered for privacy, data or IP breaches.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303520"/>
            <a:ext cx="384048" cy="384048"/>
          </a:xfrm>
          <a:prstGeom prst="ellipse">
            <a:avLst/>
          </a:prstGeom>
          <a:solidFill>
            <a:srgbClr val="187A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5257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5257800"/>
            <a:ext cx="7711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 are contracted through our legal entity in the Philippines.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8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profiles within 1–2 weeks of your deposit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Sooner if we find strong candidates earlier.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734769" cy="2377440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48840"/>
            <a:ext cx="384048" cy="384048"/>
          </a:xfrm>
          <a:prstGeom prst="ellipse">
            <a:avLst/>
          </a:prstGeom>
          <a:solidFill>
            <a:srgbClr val="187A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51760"/>
            <a:ext cx="13690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deposit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154680"/>
            <a:ext cx="136900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$500, refundable. We start recruiting straight away.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420569" y="1965960"/>
            <a:ext cx="1734769" cy="2377440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3449" y="2148840"/>
            <a:ext cx="384048" cy="384048"/>
          </a:xfrm>
          <a:prstGeom prst="ellipse">
            <a:avLst/>
          </a:prstGeom>
          <a:solidFill>
            <a:srgbClr val="187A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603449" y="2651760"/>
            <a:ext cx="13690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Freedom Plan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603449" y="3154680"/>
            <a:ext cx="136900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short questions by email on KPIs and day-to-day.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92498" y="1965960"/>
            <a:ext cx="1734769" cy="2377440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75378" y="2148840"/>
            <a:ext cx="384048" cy="384048"/>
          </a:xfrm>
          <a:prstGeom prst="ellipse">
            <a:avLst/>
          </a:prstGeom>
          <a:solidFill>
            <a:srgbClr val="187A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475378" y="2651760"/>
            <a:ext cx="13690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475378" y="3154680"/>
            <a:ext cx="136900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senior profiles, reference-checked with past clients.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64428" y="1965960"/>
            <a:ext cx="1734769" cy="2377440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7308" y="2148840"/>
            <a:ext cx="384048" cy="384048"/>
          </a:xfrm>
          <a:prstGeom prst="ellipse">
            <a:avLst/>
          </a:prstGeom>
          <a:solidFill>
            <a:srgbClr val="187A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347308" y="2651760"/>
            <a:ext cx="13690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session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47308" y="3154680"/>
            <a:ext cx="136900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walk you through the candidates and your Freedom Plan.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36357" y="1965960"/>
            <a:ext cx="1734769" cy="2377440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19237" y="2148840"/>
            <a:ext cx="384048" cy="384048"/>
          </a:xfrm>
          <a:prstGeom prst="ellipse">
            <a:avLst/>
          </a:prstGeom>
          <a:solidFill>
            <a:srgbClr val="187A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19237" y="2651760"/>
            <a:ext cx="13690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interview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219237" y="3154680"/>
            <a:ext cx="136900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persona test, then interview your favourites.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908286" y="1965960"/>
            <a:ext cx="1734769" cy="2377440"/>
          </a:xfrm>
          <a:prstGeom prst="roundRect">
            <a:avLst>
              <a:gd name="adj" fmla="val 4217"/>
            </a:avLst>
          </a:prstGeom>
          <a:solidFill>
            <a:srgbClr val="E4F2EC"/>
          </a:solidFill>
          <a:ln w="9525">
            <a:solidFill>
              <a:srgbClr val="E4F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91166" y="2148840"/>
            <a:ext cx="384048" cy="384048"/>
          </a:xfrm>
          <a:prstGeom prst="ellipse">
            <a:avLst/>
          </a:prstGeom>
          <a:solidFill>
            <a:srgbClr val="1160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091166" y="2651760"/>
            <a:ext cx="13690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0091166" y="3154680"/>
            <a:ext cx="136900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VA starts and joins the X100 bootcamp with you.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NOW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9377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☐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Chris: send Gail the company profile from ChatGPT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☐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 Park team: decide who manages the VA day to day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☐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 Park team: review this proposal and confirm you’d like to go ahead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463040"/>
            <a:ext cx="4572000" cy="4572000"/>
          </a:xfrm>
          <a:prstGeom prst="ellipse">
            <a:avLst/>
          </a:prstGeom>
          <a:solidFill>
            <a:srgbClr val="243041"/>
          </a:solidFill>
          <a:ln w="12700">
            <a:solidFill>
              <a:srgbClr val="2430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3CC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WHEN YOU ARE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4F6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time to grow Kay Park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918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sets the direction; your Marketing VA makes it happen, campaign after campaign.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480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Email Gail any time: </a:t>
            </a:r>
            <a:pPr indent="0" marL="0">
              <a:buNone/>
            </a:pPr>
            <a:r>
              <a:rPr lang="en-US" sz="1800" b="1" u="sng" dirty="0">
                <a:solidFill>
                  <a:srgbClr val="3CC29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gail@outsourcingangel.com.au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Outsourcing Angel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Kay Park Recreation – Marketing VA Proposal</dc:title>
  <dc:subject>PptxGenJS Presentation</dc:subject>
  <dc:creator>Gail Galima-Mendoza, Outsourcing Angel</dc:creator>
  <cp:lastModifiedBy>Gail Galima-Mendoza, Outsourcing Angel</cp:lastModifiedBy>
  <cp:revision>1</cp:revision>
  <dcterms:created xsi:type="dcterms:W3CDTF">2026-10-22T13:50:39Z</dcterms:created>
  <dcterms:modified xsi:type="dcterms:W3CDTF">2026-10-22T13:50:39Z</dcterms:modified>
</cp:coreProperties>
</file>