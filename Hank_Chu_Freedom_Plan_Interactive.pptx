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477b11de-6a44-9f1c-e351-db227ccb7dd0}">
          <p14:sldIdLst>
            <p14:sldId id="256"/>
            <p14:sldId id="257"/>
            <p14:sldId id="258"/>
          </p14:sldIdLst>
        </p14:section>
        <p14:section name="Our recommendation" id="{3a2764c0-2505-aa12-062a-ebfd10acba0f}">
          <p14:sldIdLst>
            <p14:sldId id="259"/>
            <p14:sldId id="260"/>
            <p14:sldId id="261"/>
            <p14:sldId id="262"/>
            <p14:sldId id="263"/>
            <p14:sldId id="264"/>
            <p14:sldId id="265"/>
            <p14:sldId id="266"/>
            <p14:sldId id="267"/>
            <p14:sldId id="268"/>
            <p14:sldId id="269"/>
          </p14:sldIdLst>
        </p14:section>
        <p14:section name="Your playbook" id="{c5aec067-92e8-ba94-b5d5-a98e17dfde5a}">
          <p14:sldIdLst>
            <p14:sldId id="270"/>
            <p14:sldId id="271"/>
            <p14:sldId id="272"/>
            <p14:sldId id="273"/>
            <p14:sldId id="274"/>
            <p14:sldId id="275"/>
          </p14:sldIdLst>
        </p14:section>
        <p14:section name="Over to you" id="{0f2f4b57-ac64-5f56-e3a9-a230c650f750}">
          <p14:sldIdLst>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Interactive edition of Hank Chu’s Freedom Plan (Hanks Tea). Built from the Freedom Audit on 16 September 2026, the Alignment Session on 6 October 2026, the agreed job description and the recruitment card. Every amber box is an editable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three kinds of input: amber note boxes, tick boxes (type X) and tables with amber cells. Hank can save and email the file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Menu. Every tile is a hyperlink. In slideshow mode, click to jump; in edit mode, Ctrl-click (Cmd-click on Mac).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Quotes are from the Fathom recordings: Freedom Audit 16 Sept (01:24, 08:59, 11:12) and Alignment Session 6 Oct (14:06, 16:07).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Channels from the Alignment Session (6 Oct, 02:39–03:15). Phone calls comment from Freedom Audit (03:30). Typical enquiries from Freedom Audit (04:23) and the JD.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workstreams from the Alignment Session (6 Oct, 09:19–10:28). One-third estimate at 09:19. Credit customers at 10:51. “Outstanding” comment at 17:26.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Escalation from the Alignment Session (6 Oct, 05:58–06:46). Mistakes and second layer at 16:07–16:59.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process from the Alignment Session (6 Oct, 08:26–09:19): COD vs credit, hand-off to fulfilment, “key in the wrong item”. 80–90% of orders are straightforward (04:23).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Dormant list and 10–15 a month: Freedom Audit (07:28, 11:12). 500–600 sleeping customers and 15 target: Alignment Session (11:46). Excel CRM: Alignment Session (12:28). “Outstanding” quote at 17:26.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Weekly report content from the Alignment Session (6 Oct, 12:28–13:38): enquiries worth noting, AR report, and a basic Excel CRM for dormant customers. Routine order and delivery questions don’t need individual reporting.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Traits from the Freedom Audit (12:07–12:26) and Alignment Session (14:06, 15:40, 19:07). B2B not a deal breaker: Alignment Session 15:22–15:48.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Two-hour response: Freedom Audit (08:59) and Alignment Session (05:09). Wrong item: Alignment Session (09:05). AR three days: Alignment Session (11:00). Reactivation 15: Alignment Session (11:46).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Pricing from the Freedom Audit (16 Sept, 19:10–25:00): $1,200 agency fee for the managed service; Angel Essential at $800 less 10% = $720, with light management and replacement fees after three months. The recruitment card lists “Angel Managed with 10% discount” and the Sales Update lists Angel Essential, so Hank confirms here. $500 refundable deposit paid 30 September.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from the Freedom Audit (16 Sept, 13:28–14:58): Christmas peak, quieter mid-December to mid-January, November start, two-month trial then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Templates and manual: Freedom Audit (04:56) and Alignment Session (07:51–07:57). Hank wants to create the processes himself.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Progression summarised by Gail and confirmed by Hank at the end of the Alignment Session (18:12–19:06).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Hank manages the VA (Freedom Audit 15:13). Processes created by Hank (Alignment Session 07:51). Mistakes: 16:07.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Scorecard. Start values to be captured at kick-off.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Monthly check-in grid. Cells are editable.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Delegation board. When “Next to delegate” outgrows one VA’s hours, talk to your Account Manager about a second Angel; Hank said hitting the reactivation target could justify more VAs (Alignment Session 17:38).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Phone: Freedom Audit (03:30). CRM: Freedom Audit (06:05–06:53), named “Unleash and Prospect” in the transcript. Backup: Alignment Session (16:12). Language question is ours to ask: WeChat is one of his channels; no language requirement was discussed.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page. When Hank sends the file back, Gail updates the Freedom Plan and the job description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AFBF9"/>
        </a:solidFill>
      </p:bgPr>
    </p:bg>
    <p:spTree>
      <p:nvGrpSpPr>
        <p:cNvPr id="1" name=""/>
        <p:cNvGrpSpPr/>
        <p:nvPr/>
      </p:nvGrpSpPr>
      <p:grpSpPr>
        <a:xfrm>
          <a:off x="0" y="0"/>
          <a:ext cx="0" cy="0"/>
          <a:chOff x="0" y="0"/>
          <a:chExt cx="0" cy="0"/>
        </a:xfrm>
      </p:grpSpPr>
      <p:sp>
        <p:nvSpPr>
          <p:cNvPr id="2" name="Text 0"/>
          <p:cNvSpPr/>
          <p:nvPr/>
        </p:nvSpPr>
        <p:spPr>
          <a:xfrm>
            <a:off x="457200" y="6400800"/>
            <a:ext cx="7315200" cy="274320"/>
          </a:xfrm>
          <a:prstGeom prst="rect">
            <a:avLst/>
          </a:prstGeom>
          <a:noFill/>
          <a:ln/>
        </p:spPr>
        <p:txBody>
          <a:bodyPr wrap="square" rtlCol="0" anchor="ctr"/>
          <a:lstStyle/>
          <a:p>
            <a:pPr indent="0" marL="0">
              <a:buNone/>
            </a:pPr>
            <a:r>
              <a:rPr lang="en-US" sz="900" spc="200" kern="0" dirty="0">
                <a:solidFill>
                  <a:srgbClr val="6B7480"/>
                </a:solidFill>
                <a:latin typeface="Calibri" pitchFamily="34" charset="0"/>
                <a:ea typeface="Calibri" pitchFamily="34" charset="-122"/>
                <a:cs typeface="Calibri" pitchFamily="34" charset="-120"/>
              </a:rPr>
              <a:t>OUTSOURCING ANGEL  ·  THE FREEDOM PLAN™  ·  INTERACTIVE EDITION</a:t>
            </a:r>
            <a:endParaRPr lang="en-US" sz="9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430"/>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4.xml"/><Relationship Id="rId3" Type="http://schemas.openxmlformats.org/officeDocument/2006/relationships/slide" Target="slide6.xml"/><Relationship Id="rId4" Type="http://schemas.openxmlformats.org/officeDocument/2006/relationships/slide" Target="slide15.xml"/><Relationship Id="rId5" Type="http://schemas.openxmlformats.org/officeDocument/2006/relationships/slide" Target="slide22.xml"/><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4.xml"/><Relationship Id="rId3" Type="http://schemas.openxmlformats.org/officeDocument/2006/relationships/slide" Target="slide6.xml"/><Relationship Id="rId4" Type="http://schemas.openxmlformats.org/officeDocument/2006/relationships/slide" Target="slide15.xml"/><Relationship Id="rId5" Type="http://schemas.openxmlformats.org/officeDocument/2006/relationships/slide" Target="slide22.xml"/><Relationship Id="rId6" Type="http://schemas.openxmlformats.org/officeDocument/2006/relationships/slide" Target="slide4.xml"/><Relationship Id="rId7" Type="http://schemas.openxmlformats.org/officeDocument/2006/relationships/slide" Target="slide5.xml"/><Relationship Id="rId8" Type="http://schemas.openxmlformats.org/officeDocument/2006/relationships/slide" Target="slide6.xml"/><Relationship Id="rId9" Type="http://schemas.openxmlformats.org/officeDocument/2006/relationships/slide" Target="slide7.xml"/><Relationship Id="rId10" Type="http://schemas.openxmlformats.org/officeDocument/2006/relationships/slide" Target="slide8.xml"/><Relationship Id="rId11" Type="http://schemas.openxmlformats.org/officeDocument/2006/relationships/slide" Target="slide9.xml"/><Relationship Id="rId12" Type="http://schemas.openxmlformats.org/officeDocument/2006/relationships/slide" Target="slide10.xml"/><Relationship Id="rId13" Type="http://schemas.openxmlformats.org/officeDocument/2006/relationships/slide" Target="slide11.xml"/><Relationship Id="rId14" Type="http://schemas.openxmlformats.org/officeDocument/2006/relationships/slide" Target="slide12.xml"/><Relationship Id="rId15" Type="http://schemas.openxmlformats.org/officeDocument/2006/relationships/slide" Target="slide13.xml"/><Relationship Id="rId16" Type="http://schemas.openxmlformats.org/officeDocument/2006/relationships/slide" Target="slide14.xml"/><Relationship Id="rId17" Type="http://schemas.openxmlformats.org/officeDocument/2006/relationships/slide" Target="slide15.xml"/><Relationship Id="rId18" Type="http://schemas.openxmlformats.org/officeDocument/2006/relationships/slide" Target="slide16.xml"/><Relationship Id="rId19" Type="http://schemas.openxmlformats.org/officeDocument/2006/relationships/slide" Target="slide17.xml"/><Relationship Id="rId20" Type="http://schemas.openxmlformats.org/officeDocument/2006/relationships/slide" Target="slide18.xml"/><Relationship Id="rId21" Type="http://schemas.openxmlformats.org/officeDocument/2006/relationships/slide" Target="slide19.xml"/><Relationship Id="rId22" Type="http://schemas.openxmlformats.org/officeDocument/2006/relationships/slide" Target="slide20.xml"/><Relationship Id="rId23" Type="http://schemas.openxmlformats.org/officeDocument/2006/relationships/slide" Target="slide21.xml"/><Relationship Id="rId24" Type="http://schemas.openxmlformats.org/officeDocument/2006/relationships/slide" Target="slide22.xml"/><Relationship Id="rId25" Type="http://schemas.openxmlformats.org/officeDocument/2006/relationships/slideLayout" Target="../slideLayouts/slideLayout2.xml"/><Relationship Id="rId2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4.xml"/><Relationship Id="rId3" Type="http://schemas.openxmlformats.org/officeDocument/2006/relationships/slide" Target="slide6.xml"/><Relationship Id="rId4" Type="http://schemas.openxmlformats.org/officeDocument/2006/relationships/slide" Target="slide15.xml"/><Relationship Id="rId5" Type="http://schemas.openxmlformats.org/officeDocument/2006/relationships/slide" Target="slide22.xml"/><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4.xml"/><Relationship Id="rId3" Type="http://schemas.openxmlformats.org/officeDocument/2006/relationships/slide" Target="slide6.xml"/><Relationship Id="rId4" Type="http://schemas.openxmlformats.org/officeDocument/2006/relationships/slide" Target="slide15.xml"/><Relationship Id="rId5" Type="http://schemas.openxmlformats.org/officeDocument/2006/relationships/slide" Target="slide22.xml"/><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4.xml"/><Relationship Id="rId3" Type="http://schemas.openxmlformats.org/officeDocument/2006/relationships/slide" Target="slide6.xml"/><Relationship Id="rId4" Type="http://schemas.openxmlformats.org/officeDocument/2006/relationships/slide" Target="slide15.xml"/><Relationship Id="rId5" Type="http://schemas.openxmlformats.org/officeDocument/2006/relationships/slide" Target="slide22.xml"/><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4.xml"/><Relationship Id="rId3" Type="http://schemas.openxmlformats.org/officeDocument/2006/relationships/slide" Target="slide6.xml"/><Relationship Id="rId4" Type="http://schemas.openxmlformats.org/officeDocument/2006/relationships/slide" Target="slide15.xml"/><Relationship Id="rId5" Type="http://schemas.openxmlformats.org/officeDocument/2006/relationships/slide" Target="slide22.xml"/><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4.xml"/><Relationship Id="rId3" Type="http://schemas.openxmlformats.org/officeDocument/2006/relationships/slide" Target="slide6.xml"/><Relationship Id="rId4" Type="http://schemas.openxmlformats.org/officeDocument/2006/relationships/slide" Target="slide15.xml"/><Relationship Id="rId5" Type="http://schemas.openxmlformats.org/officeDocument/2006/relationships/slide" Target="slide22.xml"/><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4.xml"/><Relationship Id="rId3" Type="http://schemas.openxmlformats.org/officeDocument/2006/relationships/slide" Target="slide6.xml"/><Relationship Id="rId4" Type="http://schemas.openxmlformats.org/officeDocument/2006/relationships/slide" Target="slide15.xml"/><Relationship Id="rId5" Type="http://schemas.openxmlformats.org/officeDocument/2006/relationships/slide" Target="slide22.xml"/><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4.xml"/><Relationship Id="rId3" Type="http://schemas.openxmlformats.org/officeDocument/2006/relationships/slide" Target="slide6.xml"/><Relationship Id="rId4" Type="http://schemas.openxmlformats.org/officeDocument/2006/relationships/slide" Target="slide15.xml"/><Relationship Id="rId5" Type="http://schemas.openxmlformats.org/officeDocument/2006/relationships/slide" Target="slide22.xml"/><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4.xml"/><Relationship Id="rId3" Type="http://schemas.openxmlformats.org/officeDocument/2006/relationships/slide" Target="slide6.xml"/><Relationship Id="rId4" Type="http://schemas.openxmlformats.org/officeDocument/2006/relationships/slide" Target="slide15.xml"/><Relationship Id="rId5" Type="http://schemas.openxmlformats.org/officeDocument/2006/relationships/slide" Target="slide22.xml"/><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4.xml"/><Relationship Id="rId3" Type="http://schemas.openxmlformats.org/officeDocument/2006/relationships/slide" Target="slide6.xml"/><Relationship Id="rId4" Type="http://schemas.openxmlformats.org/officeDocument/2006/relationships/slide" Target="slide15.xml"/><Relationship Id="rId5" Type="http://schemas.openxmlformats.org/officeDocument/2006/relationships/slide" Target="slide22.xml"/><Relationship Id="rId6" Type="http://schemas.openxmlformats.org/officeDocument/2006/relationships/slideLayout" Target="../slideLayouts/slideLayout2.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4.xml"/><Relationship Id="rId3" Type="http://schemas.openxmlformats.org/officeDocument/2006/relationships/slide" Target="slide6.xml"/><Relationship Id="rId4" Type="http://schemas.openxmlformats.org/officeDocument/2006/relationships/slide" Target="slide15.xml"/><Relationship Id="rId5" Type="http://schemas.openxmlformats.org/officeDocument/2006/relationships/slide" Target="slide22.xml"/><Relationship Id="rId6" Type="http://schemas.openxmlformats.org/officeDocument/2006/relationships/slideLayout" Target="../slideLayouts/slideLayout2.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4.xml"/><Relationship Id="rId3" Type="http://schemas.openxmlformats.org/officeDocument/2006/relationships/slide" Target="slide6.xml"/><Relationship Id="rId4" Type="http://schemas.openxmlformats.org/officeDocument/2006/relationships/slide" Target="slide15.xml"/><Relationship Id="rId5" Type="http://schemas.openxmlformats.org/officeDocument/2006/relationships/slide" Target="slide22.xml"/><Relationship Id="rId6" Type="http://schemas.openxmlformats.org/officeDocument/2006/relationships/slideLayout" Target="../slideLayouts/slideLayout2.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4.xml"/><Relationship Id="rId3" Type="http://schemas.openxmlformats.org/officeDocument/2006/relationships/slide" Target="slide6.xml"/><Relationship Id="rId4" Type="http://schemas.openxmlformats.org/officeDocument/2006/relationships/slide" Target="slide15.xml"/><Relationship Id="rId5" Type="http://schemas.openxmlformats.org/officeDocument/2006/relationships/slide" Target="slide22.xml"/><Relationship Id="rId6" Type="http://schemas.openxmlformats.org/officeDocument/2006/relationships/slideLayout" Target="../slideLayouts/slideLayout2.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4.xml"/><Relationship Id="rId3" Type="http://schemas.openxmlformats.org/officeDocument/2006/relationships/slide" Target="slide6.xml"/><Relationship Id="rId4" Type="http://schemas.openxmlformats.org/officeDocument/2006/relationships/slide" Target="slide15.xml"/><Relationship Id="rId5" Type="http://schemas.openxmlformats.org/officeDocument/2006/relationships/slide" Target="slide22.xml"/><Relationship Id="rId6" Type="http://schemas.openxmlformats.org/officeDocument/2006/relationships/slideLayout" Target="../slideLayouts/slideLayout2.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4.xml"/><Relationship Id="rId3" Type="http://schemas.openxmlformats.org/officeDocument/2006/relationships/slide" Target="slide6.xml"/><Relationship Id="rId4" Type="http://schemas.openxmlformats.org/officeDocument/2006/relationships/slide" Target="slide15.xml"/><Relationship Id="rId5" Type="http://schemas.openxmlformats.org/officeDocument/2006/relationships/slide" Target="slide22.xml"/><Relationship Id="rId6" Type="http://schemas.openxmlformats.org/officeDocument/2006/relationships/slideLayout" Target="../slideLayouts/slideLayout2.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4.xml"/><Relationship Id="rId3" Type="http://schemas.openxmlformats.org/officeDocument/2006/relationships/slide" Target="slide6.xml"/><Relationship Id="rId4" Type="http://schemas.openxmlformats.org/officeDocument/2006/relationships/slide" Target="slide15.xml"/><Relationship Id="rId5" Type="http://schemas.openxmlformats.org/officeDocument/2006/relationships/slide" Target="slide22.xml"/><Relationship Id="rId6" Type="http://schemas.openxmlformats.org/officeDocument/2006/relationships/slideLayout" Target="../slideLayouts/slideLayout2.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4.xml"/><Relationship Id="rId3" Type="http://schemas.openxmlformats.org/officeDocument/2006/relationships/slide" Target="slide6.xml"/><Relationship Id="rId4" Type="http://schemas.openxmlformats.org/officeDocument/2006/relationships/slide" Target="slide15.xml"/><Relationship Id="rId5" Type="http://schemas.openxmlformats.org/officeDocument/2006/relationships/slide" Target="slide22.xml"/><Relationship Id="rId6" Type="http://schemas.openxmlformats.org/officeDocument/2006/relationships/slideLayout" Target="../slideLayouts/slideLayout2.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4.xml"/><Relationship Id="rId3" Type="http://schemas.openxmlformats.org/officeDocument/2006/relationships/slide" Target="slide6.xml"/><Relationship Id="rId4" Type="http://schemas.openxmlformats.org/officeDocument/2006/relationships/slide" Target="slide15.xml"/><Relationship Id="rId5" Type="http://schemas.openxmlformats.org/officeDocument/2006/relationships/slide" Target="slide22.xml"/><Relationship Id="rId6" Type="http://schemas.openxmlformats.org/officeDocument/2006/relationships/slideLayout" Target="../slideLayouts/slideLayout2.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4.xml"/><Relationship Id="rId3" Type="http://schemas.openxmlformats.org/officeDocument/2006/relationships/slide" Target="slide6.xml"/><Relationship Id="rId4" Type="http://schemas.openxmlformats.org/officeDocument/2006/relationships/slide" Target="slide15.xml"/><Relationship Id="rId5" Type="http://schemas.openxmlformats.org/officeDocument/2006/relationships/slide" Target="slide22.xml"/><Relationship Id="rId6" Type="http://schemas.openxmlformats.org/officeDocument/2006/relationships/slide" Target="slide13.xml"/><Relationship Id="rId7" Type="http://schemas.openxmlformats.org/officeDocument/2006/relationships/slideLayout" Target="../slideLayouts/slideLayout2.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4.xml"/><Relationship Id="rId3" Type="http://schemas.openxmlformats.org/officeDocument/2006/relationships/slide" Target="slide6.xml"/><Relationship Id="rId4" Type="http://schemas.openxmlformats.org/officeDocument/2006/relationships/slide" Target="slide15.xml"/><Relationship Id="rId5" Type="http://schemas.openxmlformats.org/officeDocument/2006/relationships/slide" Target="slide22.xml"/><Relationship Id="rId6" Type="http://schemas.openxmlformats.org/officeDocument/2006/relationships/slideLayout" Target="../slideLayouts/slideLayout2.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22.xml"/><Relationship Id="rId3" Type="http://schemas.openxmlformats.org/officeDocument/2006/relationships/slideLayout" Target="../slideLayouts/slideLayout3.xml"/><Relationship Id="rId4"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9692640" y="-1097280"/>
            <a:ext cx="3657600" cy="3657600"/>
          </a:xfrm>
          <a:prstGeom prst="ellipse">
            <a:avLst/>
          </a:prstGeom>
          <a:solidFill>
            <a:srgbClr val="243041"/>
          </a:solidFill>
          <a:ln w="12700">
            <a:solidFill>
              <a:srgbClr val="243041"/>
            </a:solidFill>
            <a:prstDash val="solid"/>
          </a:ln>
        </p:spPr>
      </p:sp>
      <p:sp>
        <p:nvSpPr>
          <p:cNvPr id="3" name="Shape 1"/>
          <p:cNvSpPr/>
          <p:nvPr/>
        </p:nvSpPr>
        <p:spPr>
          <a:xfrm>
            <a:off x="-914400" y="5120640"/>
            <a:ext cx="2743200" cy="2743200"/>
          </a:xfrm>
          <a:prstGeom prst="ellipse">
            <a:avLst/>
          </a:prstGeom>
          <a:solidFill>
            <a:srgbClr val="243041"/>
          </a:solidFill>
          <a:ln w="12700">
            <a:solidFill>
              <a:srgbClr val="243041"/>
            </a:solidFill>
            <a:prstDash val="solid"/>
          </a:ln>
        </p:spPr>
      </p:sp>
      <p:sp>
        <p:nvSpPr>
          <p:cNvPr id="4" name="Text 2"/>
          <p:cNvSpPr txBox="1"/>
          <p:nvPr/>
        </p:nvSpPr>
        <p:spPr>
          <a:xfrm>
            <a:off x="731520" y="1005840"/>
            <a:ext cx="7315200" cy="320040"/>
          </a:xfrm>
          <a:prstGeom prst="rect">
            <a:avLst/>
          </a:prstGeom>
          <a:noFill/>
          <a:ln/>
        </p:spPr>
        <p:txBody>
          <a:bodyPr wrap="square" lIns="0" tIns="0" rIns="0" bIns="0" rtlCol="0" anchor="ctr"/>
          <a:lstStyle/>
          <a:p>
            <a:pPr indent="0" marL="0">
              <a:buNone/>
            </a:pPr>
            <a:r>
              <a:rPr lang="en-US" sz="1200" b="1" spc="400" kern="0" dirty="0">
                <a:solidFill>
                  <a:srgbClr val="3CC29A"/>
                </a:solidFill>
                <a:latin typeface="Calibri" pitchFamily="34" charset="0"/>
                <a:ea typeface="Calibri" pitchFamily="34" charset="-122"/>
                <a:cs typeface="Calibri" pitchFamily="34" charset="-120"/>
              </a:rPr>
              <a:t>OUTSOURCING ANGEL  ·  INTERACTIVE EDITION</a:t>
            </a:r>
            <a:endParaRPr lang="en-US" sz="1200" dirty="0"/>
          </a:p>
        </p:txBody>
      </p:sp>
      <p:sp>
        <p:nvSpPr>
          <p:cNvPr id="5" name="Text 3"/>
          <p:cNvSpPr txBox="1"/>
          <p:nvPr/>
        </p:nvSpPr>
        <p:spPr>
          <a:xfrm>
            <a:off x="731520" y="1463040"/>
            <a:ext cx="9144000" cy="1005840"/>
          </a:xfrm>
          <a:prstGeom prst="rect">
            <a:avLst/>
          </a:prstGeom>
          <a:noFill/>
          <a:ln/>
        </p:spPr>
        <p:txBody>
          <a:bodyPr wrap="square" lIns="0" tIns="0" rIns="0" bIns="0" rtlCol="0" anchor="ctr"/>
          <a:lstStyle/>
          <a:p>
            <a:pPr indent="0" marL="0">
              <a:buNone/>
            </a:pPr>
            <a:r>
              <a:rPr lang="en-US" sz="5400" b="1" dirty="0">
                <a:solidFill>
                  <a:srgbClr val="F4F6F3"/>
                </a:solidFill>
                <a:latin typeface="Cambria" pitchFamily="34" charset="0"/>
                <a:ea typeface="Cambria" pitchFamily="34" charset="-122"/>
                <a:cs typeface="Cambria" pitchFamily="34" charset="-120"/>
              </a:rPr>
              <a:t>The Freedom </a:t>
            </a:r>
            <a:pPr indent="0" marL="0">
              <a:buNone/>
            </a:pPr>
            <a:r>
              <a:rPr lang="en-US" sz="5400" b="1" dirty="0">
                <a:solidFill>
                  <a:srgbClr val="3CC29A"/>
                </a:solidFill>
                <a:latin typeface="Cambria" pitchFamily="34" charset="0"/>
                <a:ea typeface="Cambria" pitchFamily="34" charset="-122"/>
                <a:cs typeface="Cambria" pitchFamily="34" charset="-120"/>
              </a:rPr>
              <a:t>Plan™</a:t>
            </a:r>
            <a:endParaRPr lang="en-US" sz="5400" dirty="0"/>
          </a:p>
        </p:txBody>
      </p:sp>
      <p:sp>
        <p:nvSpPr>
          <p:cNvPr id="6" name="Text 4"/>
          <p:cNvSpPr txBox="1"/>
          <p:nvPr/>
        </p:nvSpPr>
        <p:spPr>
          <a:xfrm>
            <a:off x="731520" y="2606040"/>
            <a:ext cx="9144000" cy="457200"/>
          </a:xfrm>
          <a:prstGeom prst="rect">
            <a:avLst/>
          </a:prstGeom>
          <a:noFill/>
          <a:ln/>
        </p:spPr>
        <p:txBody>
          <a:bodyPr wrap="square" lIns="0" tIns="0" rIns="0" bIns="0" rtlCol="0" anchor="ctr"/>
          <a:lstStyle/>
          <a:p>
            <a:pPr indent="0" marL="0">
              <a:buNone/>
            </a:pPr>
            <a:r>
              <a:rPr lang="en-US" sz="2000" dirty="0">
                <a:solidFill>
                  <a:srgbClr val="F4F6F3"/>
                </a:solidFill>
                <a:latin typeface="Calibri" pitchFamily="34" charset="0"/>
                <a:ea typeface="Calibri" pitchFamily="34" charset="-122"/>
                <a:cs typeface="Calibri" pitchFamily="34" charset="-120"/>
              </a:rPr>
              <a:t>Prepared for </a:t>
            </a:r>
            <a:pPr indent="0" marL="0">
              <a:buNone/>
            </a:pPr>
            <a:r>
              <a:rPr lang="en-US" sz="2000" b="1" dirty="0">
                <a:solidFill>
                  <a:srgbClr val="F4F6F3"/>
                </a:solidFill>
                <a:latin typeface="Calibri" pitchFamily="34" charset="0"/>
                <a:ea typeface="Calibri" pitchFamily="34" charset="-122"/>
                <a:cs typeface="Calibri" pitchFamily="34" charset="-120"/>
              </a:rPr>
              <a:t>Hank Chu</a:t>
            </a:r>
            <a:pPr indent="0" marL="0">
              <a:buNone/>
            </a:pPr>
            <a:r>
              <a:rPr lang="en-US" sz="2000" dirty="0">
                <a:solidFill>
                  <a:srgbClr val="F4F6F3"/>
                </a:solidFill>
                <a:latin typeface="Calibri" pitchFamily="34" charset="0"/>
                <a:ea typeface="Calibri" pitchFamily="34" charset="-122"/>
                <a:cs typeface="Calibri" pitchFamily="34" charset="-120"/>
              </a:rPr>
              <a:t>  |  </a:t>
            </a:r>
            <a:pPr indent="0" marL="0">
              <a:buNone/>
            </a:pPr>
            <a:r>
              <a:rPr lang="en-US" sz="2000" b="1" dirty="0">
                <a:solidFill>
                  <a:srgbClr val="F4F6F3"/>
                </a:solidFill>
                <a:latin typeface="Calibri" pitchFamily="34" charset="0"/>
                <a:ea typeface="Calibri" pitchFamily="34" charset="-122"/>
                <a:cs typeface="Calibri" pitchFamily="34" charset="-120"/>
              </a:rPr>
              <a:t>Hanks Tea</a:t>
            </a:r>
            <a:endParaRPr lang="en-US" sz="2000" dirty="0"/>
          </a:p>
        </p:txBody>
      </p:sp>
      <p:sp>
        <p:nvSpPr>
          <p:cNvPr id="7" name="Text 5"/>
          <p:cNvSpPr txBox="1"/>
          <p:nvPr/>
        </p:nvSpPr>
        <p:spPr>
          <a:xfrm>
            <a:off x="731520" y="3200400"/>
            <a:ext cx="7498080" cy="914400"/>
          </a:xfrm>
          <a:prstGeom prst="rect">
            <a:avLst/>
          </a:prstGeom>
          <a:noFill/>
          <a:ln/>
        </p:spPr>
        <p:txBody>
          <a:bodyPr wrap="square" lIns="0" tIns="0" rIns="0" bIns="0" rtlCol="0" anchor="t"/>
          <a:lstStyle/>
          <a:p>
            <a:pPr indent="0" marL="0">
              <a:buNone/>
            </a:pPr>
            <a:r>
              <a:rPr lang="en-US" sz="1500" dirty="0">
                <a:solidFill>
                  <a:srgbClr val="BFC9D3"/>
                </a:solidFill>
                <a:latin typeface="Calibri" pitchFamily="34" charset="0"/>
                <a:ea typeface="Calibri" pitchFamily="34" charset="-122"/>
                <a:cs typeface="Calibri" pitchFamily="34" charset="-120"/>
              </a:rPr>
              <a:t>Your plan for a Customer Service &amp; Sales Support VA, built from our Freedom Audit (16 September) and Alignment Session (6 October). This edition is yours to write in: add notes, tick what’s right, flag what isn’t, and send it back.</a:t>
            </a:r>
            <a:endParaRPr lang="en-US" sz="1500" dirty="0"/>
          </a:p>
        </p:txBody>
      </p:sp>
      <p:sp>
        <p:nvSpPr>
          <p:cNvPr id="8" name="Button: Start here"/>
          <p:cNvSpPr txBox="1"/>
          <p:nvPr/>
        </p:nvSpPr>
        <p:spPr>
          <a:xfrm>
            <a:off x="731520" y="4434840"/>
            <a:ext cx="2011680" cy="457200"/>
          </a:xfrm>
          <a:prstGeom prst="roundRect">
            <a:avLst>
              <a:gd name="adj" fmla="val 50000"/>
            </a:avLst>
          </a:prstGeom>
          <a:solidFill>
            <a:srgbClr val="187A5E"/>
          </a:solidFill>
          <a:ln/>
        </p:spPr>
        <p:txBody>
          <a:bodyPr wrap="square" lIns="0" tIns="0" rIns="0" bIns="0" rtlCol="0" anchor="ctr"/>
          <a:lstStyle/>
          <a:p>
            <a:pPr algn="ctr" indent="0" marL="0">
              <a:buNone/>
            </a:pPr>
            <a:r>
              <a:rPr lang="en-US" sz="1500" b="1" u="sng" dirty="0">
                <a:solidFill>
                  <a:srgbClr val="FFFFFF"/>
                </a:solidFill>
                <a:latin typeface="Calibri" pitchFamily="34" charset="0"/>
                <a:ea typeface="Calibri" pitchFamily="34" charset="-122"/>
                <a:cs typeface="Calibri" pitchFamily="34" charset="-120"/>
                <a:hlinkClick r:id="rId1" action="ppaction://hlinksldjump" tooltip="How to use this plan">
                  <a:extLst>
                    <a:ext uri="{A12FA001-AC4F-418D-AE19-62706E023703}">
                      <ahyp:hlinkClr xmlns:ahyp="http://schemas.microsoft.com/office/drawing/2018/hyperlinkcolor" val="tx"/>
                    </a:ext>
                  </a:extLst>
                </a:hlinkClick>
              </a:rPr>
              <a:t>Start here  →</a:t>
            </a:r>
            <a:endParaRPr lang="en-US" sz="1500" dirty="0"/>
          </a:p>
        </p:txBody>
      </p:sp>
      <p:sp>
        <p:nvSpPr>
          <p:cNvPr id="9" name="Button: Menu"/>
          <p:cNvSpPr txBox="1"/>
          <p:nvPr/>
        </p:nvSpPr>
        <p:spPr>
          <a:xfrm>
            <a:off x="2926080" y="4434840"/>
            <a:ext cx="2194560" cy="457200"/>
          </a:xfrm>
          <a:prstGeom prst="roundRect">
            <a:avLst>
              <a:gd name="adj" fmla="val 50000"/>
            </a:avLst>
          </a:prstGeom>
          <a:solidFill>
            <a:srgbClr val="243041"/>
          </a:solidFill>
          <a:ln/>
        </p:spPr>
        <p:txBody>
          <a:bodyPr wrap="square" lIns="0" tIns="0" rIns="0" bIns="0" rtlCol="0" anchor="ctr"/>
          <a:lstStyle/>
          <a:p>
            <a:pPr algn="ctr" indent="0" marL="0">
              <a:buNone/>
            </a:pPr>
            <a:r>
              <a:rPr lang="en-US" sz="1500" u="sng" dirty="0">
                <a:solidFill>
                  <a:srgbClr val="F4F6F3"/>
                </a:solidFill>
                <a:latin typeface="Calibri" pitchFamily="34" charset="0"/>
                <a:ea typeface="Calibri" pitchFamily="34" charset="-122"/>
                <a:cs typeface="Calibri" pitchFamily="34" charset="-120"/>
                <a:hlinkClick r:id="rId2" action="ppaction://hlinksldjump" tooltip="Menu">
                  <a:extLst>
                    <a:ext uri="{A12FA001-AC4F-418D-AE19-62706E023703}">
                      <ahyp:hlinkClr xmlns:ahyp="http://schemas.microsoft.com/office/drawing/2018/hyperlinkcolor" val="tx"/>
                    </a:ext>
                  </a:extLst>
                </a:hlinkClick>
              </a:rPr>
              <a:t>Jump to the menu</a:t>
            </a:r>
            <a:endParaRPr lang="en-US" sz="1500" dirty="0"/>
          </a:p>
        </p:txBody>
      </p:sp>
      <p:sp>
        <p:nvSpPr>
          <p:cNvPr id="10" name="Text 8"/>
          <p:cNvSpPr txBox="1"/>
          <p:nvPr/>
        </p:nvSpPr>
        <p:spPr>
          <a:xfrm>
            <a:off x="731520" y="6126480"/>
            <a:ext cx="7315200" cy="274320"/>
          </a:xfrm>
          <a:prstGeom prst="rect">
            <a:avLst/>
          </a:prstGeom>
          <a:noFill/>
          <a:ln/>
        </p:spPr>
        <p:txBody>
          <a:bodyPr wrap="square" lIns="0" tIns="0" rIns="0" bIns="0" rtlCol="0" anchor="ctr"/>
          <a:lstStyle/>
          <a:p>
            <a:pPr indent="0" marL="0">
              <a:buNone/>
            </a:pPr>
            <a:r>
              <a:rPr lang="en-US" sz="1100" dirty="0">
                <a:solidFill>
                  <a:srgbClr val="9AA6B2"/>
                </a:solidFill>
                <a:latin typeface="Calibri" pitchFamily="34" charset="0"/>
                <a:ea typeface="Calibri" pitchFamily="34" charset="-122"/>
                <a:cs typeface="Calibri" pitchFamily="34" charset="-120"/>
              </a:rPr>
              <a:t>October 2026  ·  Prepared by Gail Galima-Mendoza, Outsourcing Angel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GETTING STARTED</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How to use this interactive plan</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Four things to know. It takes two minutes.</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sp>
        <p:nvSpPr>
          <p:cNvPr id="10" name="Card"/>
          <p:cNvSpPr/>
          <p:nvPr/>
        </p:nvSpPr>
        <p:spPr>
          <a:xfrm>
            <a:off x="457200" y="1828800"/>
            <a:ext cx="2697480" cy="2331720"/>
          </a:xfrm>
          <a:prstGeom prst="roundRect">
            <a:avLst>
              <a:gd name="adj" fmla="val 3137"/>
            </a:avLst>
          </a:prstGeom>
          <a:solidFill>
            <a:srgbClr val="FFFFFF"/>
          </a:solidFill>
          <a:ln w="9525">
            <a:solidFill>
              <a:srgbClr val="DDE4E0"/>
            </a:solidFill>
            <a:prstDash val="solid"/>
          </a:ln>
        </p:spPr>
      </p:sp>
      <p:sp>
        <p:nvSpPr>
          <p:cNvPr id="11" name="Text 9"/>
          <p:cNvSpPr txBox="1"/>
          <p:nvPr/>
        </p:nvSpPr>
        <p:spPr>
          <a:xfrm>
            <a:off x="685800" y="2057400"/>
            <a:ext cx="384048" cy="384048"/>
          </a:xfrm>
          <a:prstGeom prst="ellipse">
            <a:avLst/>
          </a:prstGeom>
          <a:solidFill>
            <a:srgbClr val="187A5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2" name="Text 10"/>
          <p:cNvSpPr txBox="1"/>
          <p:nvPr/>
        </p:nvSpPr>
        <p:spPr>
          <a:xfrm>
            <a:off x="685800" y="2560320"/>
            <a:ext cx="2286000" cy="365760"/>
          </a:xfrm>
          <a:prstGeom prst="rect">
            <a:avLst/>
          </a:prstGeom>
          <a:noFill/>
          <a:ln/>
        </p:spPr>
        <p:txBody>
          <a:bodyPr wrap="square" lIns="0" tIns="0" rIns="0" bIns="0" rtlCol="0" anchor="ctr"/>
          <a:lstStyle/>
          <a:p>
            <a:pPr indent="0" marL="0">
              <a:buNone/>
            </a:pPr>
            <a:r>
              <a:rPr lang="en-US" sz="1700" b="1" dirty="0">
                <a:solidFill>
                  <a:srgbClr val="1B2430"/>
                </a:solidFill>
                <a:latin typeface="Cambria" pitchFamily="34" charset="0"/>
                <a:ea typeface="Cambria" pitchFamily="34" charset="-122"/>
                <a:cs typeface="Cambria" pitchFamily="34" charset="-120"/>
              </a:rPr>
              <a:t>Jump around</a:t>
            </a:r>
            <a:endParaRPr lang="en-US" sz="1700" dirty="0"/>
          </a:p>
        </p:txBody>
      </p:sp>
      <p:sp>
        <p:nvSpPr>
          <p:cNvPr id="13" name="Text 11"/>
          <p:cNvSpPr txBox="1"/>
          <p:nvPr/>
        </p:nvSpPr>
        <p:spPr>
          <a:xfrm>
            <a:off x="685800" y="2971800"/>
            <a:ext cx="2286000" cy="1097280"/>
          </a:xfrm>
          <a:prstGeom prst="rect">
            <a:avLst/>
          </a:prstGeom>
          <a:noFill/>
          <a:ln/>
        </p:spPr>
        <p:txBody>
          <a:bodyPr wrap="square" lIns="0" tIns="0" rIns="0" bIns="0" rtlCol="0" anchor="t"/>
          <a:lstStyle/>
          <a:p>
            <a:pPr indent="0" marL="0">
              <a:buNone/>
            </a:pPr>
            <a:r>
              <a:rPr lang="en-US" sz="1300" dirty="0">
                <a:solidFill>
                  <a:srgbClr val="4A5563"/>
                </a:solidFill>
                <a:latin typeface="Calibri" pitchFamily="34" charset="0"/>
                <a:ea typeface="Calibri" pitchFamily="34" charset="-122"/>
                <a:cs typeface="Calibri" pitchFamily="34" charset="-120"/>
              </a:rPr>
              <a:t>Click the tabs at the top right of every slide, or any tile on the Menu, to go straight to a section.</a:t>
            </a:r>
            <a:endParaRPr lang="en-US" sz="1300" dirty="0"/>
          </a:p>
        </p:txBody>
      </p:sp>
      <p:sp>
        <p:nvSpPr>
          <p:cNvPr id="14" name="Card"/>
          <p:cNvSpPr/>
          <p:nvPr/>
        </p:nvSpPr>
        <p:spPr>
          <a:xfrm>
            <a:off x="3319272" y="1828800"/>
            <a:ext cx="2697480" cy="2331720"/>
          </a:xfrm>
          <a:prstGeom prst="roundRect">
            <a:avLst>
              <a:gd name="adj" fmla="val 3137"/>
            </a:avLst>
          </a:prstGeom>
          <a:solidFill>
            <a:srgbClr val="FFFFFF"/>
          </a:solidFill>
          <a:ln w="9525">
            <a:solidFill>
              <a:srgbClr val="DDE4E0"/>
            </a:solidFill>
            <a:prstDash val="solid"/>
          </a:ln>
        </p:spPr>
      </p:sp>
      <p:sp>
        <p:nvSpPr>
          <p:cNvPr id="15" name="Text 13"/>
          <p:cNvSpPr txBox="1"/>
          <p:nvPr/>
        </p:nvSpPr>
        <p:spPr>
          <a:xfrm>
            <a:off x="3547872" y="2057400"/>
            <a:ext cx="384048" cy="384048"/>
          </a:xfrm>
          <a:prstGeom prst="ellipse">
            <a:avLst/>
          </a:prstGeom>
          <a:solidFill>
            <a:srgbClr val="187A5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4"/>
          <p:cNvSpPr txBox="1"/>
          <p:nvPr/>
        </p:nvSpPr>
        <p:spPr>
          <a:xfrm>
            <a:off x="3547872" y="2560320"/>
            <a:ext cx="2286000" cy="365760"/>
          </a:xfrm>
          <a:prstGeom prst="rect">
            <a:avLst/>
          </a:prstGeom>
          <a:noFill/>
          <a:ln/>
        </p:spPr>
        <p:txBody>
          <a:bodyPr wrap="square" lIns="0" tIns="0" rIns="0" bIns="0" rtlCol="0" anchor="ctr"/>
          <a:lstStyle/>
          <a:p>
            <a:pPr indent="0" marL="0">
              <a:buNone/>
            </a:pPr>
            <a:r>
              <a:rPr lang="en-US" sz="1700" b="1" dirty="0">
                <a:solidFill>
                  <a:srgbClr val="1B2430"/>
                </a:solidFill>
                <a:latin typeface="Cambria" pitchFamily="34" charset="0"/>
                <a:ea typeface="Cambria" pitchFamily="34" charset="-122"/>
                <a:cs typeface="Cambria" pitchFamily="34" charset="-120"/>
              </a:rPr>
              <a:t>Type your notes</a:t>
            </a:r>
            <a:endParaRPr lang="en-US" sz="1700" dirty="0"/>
          </a:p>
        </p:txBody>
      </p:sp>
      <p:sp>
        <p:nvSpPr>
          <p:cNvPr id="17" name="Text 15"/>
          <p:cNvSpPr txBox="1"/>
          <p:nvPr/>
        </p:nvSpPr>
        <p:spPr>
          <a:xfrm>
            <a:off x="3547872" y="2971800"/>
            <a:ext cx="2286000" cy="1097280"/>
          </a:xfrm>
          <a:prstGeom prst="rect">
            <a:avLst/>
          </a:prstGeom>
          <a:noFill/>
          <a:ln/>
        </p:spPr>
        <p:txBody>
          <a:bodyPr wrap="square" lIns="0" tIns="0" rIns="0" bIns="0" rtlCol="0" anchor="t"/>
          <a:lstStyle/>
          <a:p>
            <a:pPr indent="0" marL="0">
              <a:buNone/>
            </a:pPr>
            <a:r>
              <a:rPr lang="en-US" sz="1300" dirty="0">
                <a:solidFill>
                  <a:srgbClr val="4A5563"/>
                </a:solidFill>
                <a:latin typeface="Calibri" pitchFamily="34" charset="0"/>
                <a:ea typeface="Calibri" pitchFamily="34" charset="-122"/>
                <a:cs typeface="Calibri" pitchFamily="34" charset="-120"/>
              </a:rPr>
              <a:t>Click inside an amber box, delete the grey prompt and type. Boxes grow as you write.</a:t>
            </a:r>
            <a:endParaRPr lang="en-US" sz="1300" dirty="0"/>
          </a:p>
        </p:txBody>
      </p:sp>
      <p:sp>
        <p:nvSpPr>
          <p:cNvPr id="18" name="Card"/>
          <p:cNvSpPr/>
          <p:nvPr/>
        </p:nvSpPr>
        <p:spPr>
          <a:xfrm>
            <a:off x="6181344" y="1828800"/>
            <a:ext cx="2697480" cy="2331720"/>
          </a:xfrm>
          <a:prstGeom prst="roundRect">
            <a:avLst>
              <a:gd name="adj" fmla="val 3137"/>
            </a:avLst>
          </a:prstGeom>
          <a:solidFill>
            <a:srgbClr val="FFFFFF"/>
          </a:solidFill>
          <a:ln w="9525">
            <a:solidFill>
              <a:srgbClr val="DDE4E0"/>
            </a:solidFill>
            <a:prstDash val="solid"/>
          </a:ln>
        </p:spPr>
      </p:sp>
      <p:sp>
        <p:nvSpPr>
          <p:cNvPr id="19" name="Text 17"/>
          <p:cNvSpPr txBox="1"/>
          <p:nvPr/>
        </p:nvSpPr>
        <p:spPr>
          <a:xfrm>
            <a:off x="6409944" y="2057400"/>
            <a:ext cx="384048" cy="384048"/>
          </a:xfrm>
          <a:prstGeom prst="ellipse">
            <a:avLst/>
          </a:prstGeom>
          <a:solidFill>
            <a:srgbClr val="187A5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8"/>
          <p:cNvSpPr txBox="1"/>
          <p:nvPr/>
        </p:nvSpPr>
        <p:spPr>
          <a:xfrm>
            <a:off x="6409944" y="2560320"/>
            <a:ext cx="2286000" cy="365760"/>
          </a:xfrm>
          <a:prstGeom prst="rect">
            <a:avLst/>
          </a:prstGeom>
          <a:noFill/>
          <a:ln/>
        </p:spPr>
        <p:txBody>
          <a:bodyPr wrap="square" lIns="0" tIns="0" rIns="0" bIns="0" rtlCol="0" anchor="ctr"/>
          <a:lstStyle/>
          <a:p>
            <a:pPr indent="0" marL="0">
              <a:buNone/>
            </a:pPr>
            <a:r>
              <a:rPr lang="en-US" sz="1700" b="1" dirty="0">
                <a:solidFill>
                  <a:srgbClr val="1B2430"/>
                </a:solidFill>
                <a:latin typeface="Cambria" pitchFamily="34" charset="0"/>
                <a:ea typeface="Cambria" pitchFamily="34" charset="-122"/>
                <a:cs typeface="Cambria" pitchFamily="34" charset="-120"/>
              </a:rPr>
              <a:t>Tick with an X</a:t>
            </a:r>
            <a:endParaRPr lang="en-US" sz="1700" dirty="0"/>
          </a:p>
        </p:txBody>
      </p:sp>
      <p:sp>
        <p:nvSpPr>
          <p:cNvPr id="21" name="Text 19"/>
          <p:cNvSpPr txBox="1"/>
          <p:nvPr/>
        </p:nvSpPr>
        <p:spPr>
          <a:xfrm>
            <a:off x="6409944" y="2971800"/>
            <a:ext cx="2286000" cy="1097280"/>
          </a:xfrm>
          <a:prstGeom prst="rect">
            <a:avLst/>
          </a:prstGeom>
          <a:noFill/>
          <a:ln/>
        </p:spPr>
        <p:txBody>
          <a:bodyPr wrap="square" lIns="0" tIns="0" rIns="0" bIns="0" rtlCol="0" anchor="t"/>
          <a:lstStyle/>
          <a:p>
            <a:pPr indent="0" marL="0">
              <a:buNone/>
            </a:pPr>
            <a:r>
              <a:rPr lang="en-US" sz="1300" dirty="0">
                <a:solidFill>
                  <a:srgbClr val="4A5563"/>
                </a:solidFill>
                <a:latin typeface="Calibri" pitchFamily="34" charset="0"/>
                <a:ea typeface="Calibri" pitchFamily="34" charset="-122"/>
                <a:cs typeface="Calibri" pitchFamily="34" charset="-120"/>
              </a:rPr>
              <a:t>Click inside a small square and type X. Use the same for 1–5 ratings.</a:t>
            </a:r>
            <a:endParaRPr lang="en-US" sz="1300" dirty="0"/>
          </a:p>
        </p:txBody>
      </p:sp>
      <p:sp>
        <p:nvSpPr>
          <p:cNvPr id="22" name="Card"/>
          <p:cNvSpPr/>
          <p:nvPr/>
        </p:nvSpPr>
        <p:spPr>
          <a:xfrm>
            <a:off x="9043416" y="1828800"/>
            <a:ext cx="2697480" cy="2331720"/>
          </a:xfrm>
          <a:prstGeom prst="roundRect">
            <a:avLst>
              <a:gd name="adj" fmla="val 3137"/>
            </a:avLst>
          </a:prstGeom>
          <a:solidFill>
            <a:srgbClr val="FFFFFF"/>
          </a:solidFill>
          <a:ln w="9525">
            <a:solidFill>
              <a:srgbClr val="DDE4E0"/>
            </a:solidFill>
            <a:prstDash val="solid"/>
          </a:ln>
        </p:spPr>
      </p:sp>
      <p:sp>
        <p:nvSpPr>
          <p:cNvPr id="23" name="Text 21"/>
          <p:cNvSpPr txBox="1"/>
          <p:nvPr/>
        </p:nvSpPr>
        <p:spPr>
          <a:xfrm>
            <a:off x="9272016" y="2057400"/>
            <a:ext cx="384048" cy="384048"/>
          </a:xfrm>
          <a:prstGeom prst="ellipse">
            <a:avLst/>
          </a:prstGeom>
          <a:solidFill>
            <a:srgbClr val="187A5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2"/>
          <p:cNvSpPr txBox="1"/>
          <p:nvPr/>
        </p:nvSpPr>
        <p:spPr>
          <a:xfrm>
            <a:off x="9272016" y="2560320"/>
            <a:ext cx="2286000" cy="365760"/>
          </a:xfrm>
          <a:prstGeom prst="rect">
            <a:avLst/>
          </a:prstGeom>
          <a:noFill/>
          <a:ln/>
        </p:spPr>
        <p:txBody>
          <a:bodyPr wrap="square" lIns="0" tIns="0" rIns="0" bIns="0" rtlCol="0" anchor="ctr"/>
          <a:lstStyle/>
          <a:p>
            <a:pPr indent="0" marL="0">
              <a:buNone/>
            </a:pPr>
            <a:r>
              <a:rPr lang="en-US" sz="1700" b="1" dirty="0">
                <a:solidFill>
                  <a:srgbClr val="1B2430"/>
                </a:solidFill>
                <a:latin typeface="Cambria" pitchFamily="34" charset="0"/>
                <a:ea typeface="Cambria" pitchFamily="34" charset="-122"/>
                <a:cs typeface="Cambria" pitchFamily="34" charset="-120"/>
              </a:rPr>
              <a:t>Send it back</a:t>
            </a:r>
            <a:endParaRPr lang="en-US" sz="1700" dirty="0"/>
          </a:p>
        </p:txBody>
      </p:sp>
      <p:sp>
        <p:nvSpPr>
          <p:cNvPr id="25" name="Text 23"/>
          <p:cNvSpPr txBox="1"/>
          <p:nvPr/>
        </p:nvSpPr>
        <p:spPr>
          <a:xfrm>
            <a:off x="9272016" y="2971800"/>
            <a:ext cx="2286000" cy="1097280"/>
          </a:xfrm>
          <a:prstGeom prst="rect">
            <a:avLst/>
          </a:prstGeom>
          <a:noFill/>
          <a:ln/>
        </p:spPr>
        <p:txBody>
          <a:bodyPr wrap="square" lIns="0" tIns="0" rIns="0" bIns="0" rtlCol="0" anchor="t"/>
          <a:lstStyle/>
          <a:p>
            <a:pPr indent="0" marL="0">
              <a:buNone/>
            </a:pPr>
            <a:r>
              <a:rPr lang="en-US" sz="1300" dirty="0">
                <a:solidFill>
                  <a:srgbClr val="4A5563"/>
                </a:solidFill>
                <a:latin typeface="Calibri" pitchFamily="34" charset="0"/>
                <a:ea typeface="Calibri" pitchFamily="34" charset="-122"/>
                <a:cs typeface="Calibri" pitchFamily="34" charset="-120"/>
              </a:rPr>
              <a:t>Save the file and email it to Gail, or bring it to our next call. We’ll update your plan from it.</a:t>
            </a:r>
            <a:endParaRPr lang="en-US" sz="1300" dirty="0"/>
          </a:p>
        </p:txBody>
      </p:sp>
      <p:sp>
        <p:nvSpPr>
          <p:cNvPr id="26" name="Text 24"/>
          <p:cNvSpPr txBox="1"/>
          <p:nvPr/>
        </p:nvSpPr>
        <p:spPr>
          <a:xfrm>
            <a:off x="457200" y="4480560"/>
            <a:ext cx="36576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TRY IT HERE</a:t>
            </a:r>
            <a:endParaRPr lang="en-US" sz="1000" dirty="0"/>
          </a:p>
        </p:txBody>
      </p:sp>
      <p:sp>
        <p:nvSpPr>
          <p:cNvPr id="27" name="Input: Your first note"/>
          <p:cNvSpPr txBox="1"/>
          <p:nvPr/>
        </p:nvSpPr>
        <p:spPr>
          <a:xfrm>
            <a:off x="457200" y="4754880"/>
            <a:ext cx="5577840" cy="132588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YOUR FIRST NOTE</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Click here, delete this text and type anything…</a:t>
            </a:r>
            <a:endParaRPr lang="en-US" sz="900" dirty="0"/>
          </a:p>
        </p:txBody>
      </p:sp>
      <p:sp>
        <p:nvSpPr>
          <p:cNvPr id="28" name="Card"/>
          <p:cNvSpPr/>
          <p:nvPr/>
        </p:nvSpPr>
        <p:spPr>
          <a:xfrm>
            <a:off x="6263640" y="4754880"/>
            <a:ext cx="5468112" cy="1325880"/>
          </a:xfrm>
          <a:prstGeom prst="roundRect">
            <a:avLst>
              <a:gd name="adj" fmla="val 5517"/>
            </a:avLst>
          </a:prstGeom>
          <a:solidFill>
            <a:srgbClr val="F1F4F2"/>
          </a:solidFill>
          <a:ln w="9525">
            <a:solidFill>
              <a:srgbClr val="DDE4E0"/>
            </a:solidFill>
            <a:prstDash val="solid"/>
          </a:ln>
        </p:spPr>
      </p:sp>
      <p:sp>
        <p:nvSpPr>
          <p:cNvPr id="29" name="Tick box: Type an X in this box to tick it"/>
          <p:cNvSpPr txBox="1"/>
          <p:nvPr/>
        </p:nvSpPr>
        <p:spPr>
          <a:xfrm>
            <a:off x="6492240" y="495604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0" name="Text 28"/>
          <p:cNvSpPr txBox="1"/>
          <p:nvPr/>
        </p:nvSpPr>
        <p:spPr>
          <a:xfrm>
            <a:off x="6784848" y="4937760"/>
            <a:ext cx="38221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Type an X in this box to tick it</a:t>
            </a:r>
            <a:endParaRPr lang="en-US" sz="1200" dirty="0"/>
          </a:p>
        </p:txBody>
      </p:sp>
      <p:sp>
        <p:nvSpPr>
          <p:cNvPr id="31" name="Text 29"/>
          <p:cNvSpPr txBox="1"/>
          <p:nvPr/>
        </p:nvSpPr>
        <p:spPr>
          <a:xfrm>
            <a:off x="6492240" y="5349240"/>
            <a:ext cx="5029200" cy="640080"/>
          </a:xfrm>
          <a:prstGeom prst="rect">
            <a:avLst/>
          </a:prstGeom>
          <a:noFill/>
          <a:ln/>
        </p:spPr>
        <p:txBody>
          <a:bodyPr wrap="square" lIns="0" tIns="0" rIns="0" bIns="0" rtlCol="0" anchor="t"/>
          <a:lstStyle/>
          <a:p>
            <a:pPr indent="0" marL="0">
              <a:buNone/>
            </a:pPr>
            <a:r>
              <a:rPr lang="en-US" sz="1200" dirty="0">
                <a:solidFill>
                  <a:srgbClr val="6B7480"/>
                </a:solidFill>
                <a:latin typeface="Calibri" pitchFamily="34" charset="0"/>
                <a:ea typeface="Calibri" pitchFamily="34" charset="-122"/>
                <a:cs typeface="Calibri" pitchFamily="34" charset="-120"/>
              </a:rPr>
              <a:t>Tip: type in normal editing view, not slideshow mode. Works in PowerPoint, Keynote and Google Slides.</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MENU</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Where would you like to go?</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Click any tile. Every slide has tabs to bring you back here.</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sp>
        <p:nvSpPr>
          <p:cNvPr id="10" name="Text 8"/>
          <p:cNvSpPr txBox="1"/>
          <p:nvPr/>
        </p:nvSpPr>
        <p:spPr>
          <a:xfrm>
            <a:off x="457200" y="1783080"/>
            <a:ext cx="36576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OUR RECOMMENDATION</a:t>
            </a:r>
            <a:endParaRPr lang="en-US" sz="1000" dirty="0"/>
          </a:p>
        </p:txBody>
      </p:sp>
      <p:sp>
        <p:nvSpPr>
          <p:cNvPr id="11" name="Menu tile: What we heard"/>
          <p:cNvSpPr txBox="1"/>
          <p:nvPr/>
        </p:nvSpPr>
        <p:spPr>
          <a:xfrm>
            <a:off x="457200" y="2075688"/>
            <a:ext cx="1773936" cy="457200"/>
          </a:xfrm>
          <a:prstGeom prst="roundRect">
            <a:avLst>
              <a:gd name="adj" fmla="val 16000"/>
            </a:avLst>
          </a:prstGeom>
          <a:solidFill>
            <a:srgbClr val="FFFFFF"/>
          </a:solidFill>
          <a:ln w="12700">
            <a:solidFill>
              <a:srgbClr val="187A5E"/>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6" action="ppaction://hlinksldjump" tooltip="Go to What we heard">
                  <a:extLst>
                    <a:ext uri="{A12FA001-AC4F-418D-AE19-62706E023703}">
                      <ahyp:hlinkClr xmlns:ahyp="http://schemas.microsoft.com/office/drawing/2018/hyperlinkcolor" val="tx"/>
                    </a:ext>
                  </a:extLst>
                </a:hlinkClick>
              </a:rPr>
              <a:t>What we heard</a:t>
            </a:r>
            <a:endParaRPr lang="en-US" sz="1200" dirty="0"/>
          </a:p>
        </p:txBody>
      </p:sp>
      <p:sp>
        <p:nvSpPr>
          <p:cNvPr id="12" name="Menu tile: Your channels"/>
          <p:cNvSpPr txBox="1"/>
          <p:nvPr/>
        </p:nvSpPr>
        <p:spPr>
          <a:xfrm>
            <a:off x="2340864" y="2075688"/>
            <a:ext cx="1773936" cy="457200"/>
          </a:xfrm>
          <a:prstGeom prst="roundRect">
            <a:avLst>
              <a:gd name="adj" fmla="val 16000"/>
            </a:avLst>
          </a:prstGeom>
          <a:solidFill>
            <a:srgbClr val="FFFFFF"/>
          </a:solidFill>
          <a:ln w="12700">
            <a:solidFill>
              <a:srgbClr val="187A5E"/>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7" action="ppaction://hlinksldjump" tooltip="Go to Your channels">
                  <a:extLst>
                    <a:ext uri="{A12FA001-AC4F-418D-AE19-62706E023703}">
                      <ahyp:hlinkClr xmlns:ahyp="http://schemas.microsoft.com/office/drawing/2018/hyperlinkcolor" val="tx"/>
                    </a:ext>
                  </a:extLst>
                </a:hlinkClick>
              </a:rPr>
              <a:t>Your channels</a:t>
            </a:r>
            <a:endParaRPr lang="en-US" sz="1200" dirty="0"/>
          </a:p>
        </p:txBody>
      </p:sp>
      <p:sp>
        <p:nvSpPr>
          <p:cNvPr id="13" name="Menu tile: The role"/>
          <p:cNvSpPr txBox="1"/>
          <p:nvPr/>
        </p:nvSpPr>
        <p:spPr>
          <a:xfrm>
            <a:off x="4224528" y="2075688"/>
            <a:ext cx="1773936" cy="457200"/>
          </a:xfrm>
          <a:prstGeom prst="roundRect">
            <a:avLst>
              <a:gd name="adj" fmla="val 16000"/>
            </a:avLst>
          </a:prstGeom>
          <a:solidFill>
            <a:srgbClr val="FFFFFF"/>
          </a:solidFill>
          <a:ln w="12700">
            <a:solidFill>
              <a:srgbClr val="187A5E"/>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8" action="ppaction://hlinksldjump" tooltip="Go to The role">
                  <a:extLst>
                    <a:ext uri="{A12FA001-AC4F-418D-AE19-62706E023703}">
                      <ahyp:hlinkClr xmlns:ahyp="http://schemas.microsoft.com/office/drawing/2018/hyperlinkcolor" val="tx"/>
                    </a:ext>
                  </a:extLst>
                </a:hlinkClick>
              </a:rPr>
              <a:t>The role</a:t>
            </a:r>
            <a:endParaRPr lang="en-US" sz="1200" dirty="0"/>
          </a:p>
        </p:txBody>
      </p:sp>
      <p:sp>
        <p:nvSpPr>
          <p:cNvPr id="14" name="Menu tile: Close the loop"/>
          <p:cNvSpPr txBox="1"/>
          <p:nvPr/>
        </p:nvSpPr>
        <p:spPr>
          <a:xfrm>
            <a:off x="6108192" y="2075688"/>
            <a:ext cx="1773936" cy="457200"/>
          </a:xfrm>
          <a:prstGeom prst="roundRect">
            <a:avLst>
              <a:gd name="adj" fmla="val 16000"/>
            </a:avLst>
          </a:prstGeom>
          <a:solidFill>
            <a:srgbClr val="FFFFFF"/>
          </a:solidFill>
          <a:ln w="12700">
            <a:solidFill>
              <a:srgbClr val="187A5E"/>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9" action="ppaction://hlinksldjump" tooltip="Go to Close the loop">
                  <a:extLst>
                    <a:ext uri="{A12FA001-AC4F-418D-AE19-62706E023703}">
                      <ahyp:hlinkClr xmlns:ahyp="http://schemas.microsoft.com/office/drawing/2018/hyperlinkcolor" val="tx"/>
                    </a:ext>
                  </a:extLst>
                </a:hlinkClick>
              </a:rPr>
              <a:t>Close the loop</a:t>
            </a:r>
            <a:endParaRPr lang="en-US" sz="1200" dirty="0"/>
          </a:p>
        </p:txBody>
      </p:sp>
      <p:sp>
        <p:nvSpPr>
          <p:cNvPr id="15" name="Menu tile: Order hand-off"/>
          <p:cNvSpPr txBox="1"/>
          <p:nvPr/>
        </p:nvSpPr>
        <p:spPr>
          <a:xfrm>
            <a:off x="7991856" y="2075688"/>
            <a:ext cx="1773936" cy="457200"/>
          </a:xfrm>
          <a:prstGeom prst="roundRect">
            <a:avLst>
              <a:gd name="adj" fmla="val 16000"/>
            </a:avLst>
          </a:prstGeom>
          <a:solidFill>
            <a:srgbClr val="FFFFFF"/>
          </a:solidFill>
          <a:ln w="12700">
            <a:solidFill>
              <a:srgbClr val="187A5E"/>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10" action="ppaction://hlinksldjump" tooltip="Go to Order hand-off">
                  <a:extLst>
                    <a:ext uri="{A12FA001-AC4F-418D-AE19-62706E023703}">
                      <ahyp:hlinkClr xmlns:ahyp="http://schemas.microsoft.com/office/drawing/2018/hyperlinkcolor" val="tx"/>
                    </a:ext>
                  </a:extLst>
                </a:hlinkClick>
              </a:rPr>
              <a:t>Order hand-off</a:t>
            </a:r>
            <a:endParaRPr lang="en-US" sz="1200" dirty="0"/>
          </a:p>
        </p:txBody>
      </p:sp>
      <p:sp>
        <p:nvSpPr>
          <p:cNvPr id="16" name="Menu tile: Reactivation"/>
          <p:cNvSpPr txBox="1"/>
          <p:nvPr/>
        </p:nvSpPr>
        <p:spPr>
          <a:xfrm>
            <a:off x="9875520" y="2075688"/>
            <a:ext cx="1773936" cy="457200"/>
          </a:xfrm>
          <a:prstGeom prst="roundRect">
            <a:avLst>
              <a:gd name="adj" fmla="val 16000"/>
            </a:avLst>
          </a:prstGeom>
          <a:solidFill>
            <a:srgbClr val="FFFFFF"/>
          </a:solidFill>
          <a:ln w="12700">
            <a:solidFill>
              <a:srgbClr val="187A5E"/>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11" action="ppaction://hlinksldjump" tooltip="Go to Reactivation">
                  <a:extLst>
                    <a:ext uri="{A12FA001-AC4F-418D-AE19-62706E023703}">
                      <ahyp:hlinkClr xmlns:ahyp="http://schemas.microsoft.com/office/drawing/2018/hyperlinkcolor" val="tx"/>
                    </a:ext>
                  </a:extLst>
                </a:hlinkClick>
              </a:rPr>
              <a:t>Reactivation</a:t>
            </a:r>
            <a:endParaRPr lang="en-US" sz="1200" dirty="0"/>
          </a:p>
        </p:txBody>
      </p:sp>
      <p:sp>
        <p:nvSpPr>
          <p:cNvPr id="17" name="Menu tile: Weekly report"/>
          <p:cNvSpPr txBox="1"/>
          <p:nvPr/>
        </p:nvSpPr>
        <p:spPr>
          <a:xfrm>
            <a:off x="457200" y="2642616"/>
            <a:ext cx="1773936" cy="457200"/>
          </a:xfrm>
          <a:prstGeom prst="roundRect">
            <a:avLst>
              <a:gd name="adj" fmla="val 16000"/>
            </a:avLst>
          </a:prstGeom>
          <a:solidFill>
            <a:srgbClr val="FFFFFF"/>
          </a:solidFill>
          <a:ln w="12700">
            <a:solidFill>
              <a:srgbClr val="187A5E"/>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12" action="ppaction://hlinksldjump" tooltip="Go to Weekly report">
                  <a:extLst>
                    <a:ext uri="{A12FA001-AC4F-418D-AE19-62706E023703}">
                      <ahyp:hlinkClr xmlns:ahyp="http://schemas.microsoft.com/office/drawing/2018/hyperlinkcolor" val="tx"/>
                    </a:ext>
                  </a:extLst>
                </a:hlinkClick>
              </a:rPr>
              <a:t>Weekly report</a:t>
            </a:r>
            <a:endParaRPr lang="en-US" sz="1200" dirty="0"/>
          </a:p>
        </p:txBody>
      </p:sp>
      <p:sp>
        <p:nvSpPr>
          <p:cNvPr id="18" name="Menu tile: Ideal VA"/>
          <p:cNvSpPr txBox="1"/>
          <p:nvPr/>
        </p:nvSpPr>
        <p:spPr>
          <a:xfrm>
            <a:off x="2340864" y="2642616"/>
            <a:ext cx="1773936" cy="457200"/>
          </a:xfrm>
          <a:prstGeom prst="roundRect">
            <a:avLst>
              <a:gd name="adj" fmla="val 16000"/>
            </a:avLst>
          </a:prstGeom>
          <a:solidFill>
            <a:srgbClr val="FFFFFF"/>
          </a:solidFill>
          <a:ln w="12700">
            <a:solidFill>
              <a:srgbClr val="187A5E"/>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13" action="ppaction://hlinksldjump" tooltip="Go to Ideal VA">
                  <a:extLst>
                    <a:ext uri="{A12FA001-AC4F-418D-AE19-62706E023703}">
                      <ahyp:hlinkClr xmlns:ahyp="http://schemas.microsoft.com/office/drawing/2018/hyperlinkcolor" val="tx"/>
                    </a:ext>
                  </a:extLst>
                </a:hlinkClick>
              </a:rPr>
              <a:t>Ideal VA</a:t>
            </a:r>
            <a:endParaRPr lang="en-US" sz="1200" dirty="0"/>
          </a:p>
        </p:txBody>
      </p:sp>
      <p:sp>
        <p:nvSpPr>
          <p:cNvPr id="19" name="Menu tile: Success measures"/>
          <p:cNvSpPr txBox="1"/>
          <p:nvPr/>
        </p:nvSpPr>
        <p:spPr>
          <a:xfrm>
            <a:off x="4224528" y="2642616"/>
            <a:ext cx="1773936" cy="457200"/>
          </a:xfrm>
          <a:prstGeom prst="roundRect">
            <a:avLst>
              <a:gd name="adj" fmla="val 16000"/>
            </a:avLst>
          </a:prstGeom>
          <a:solidFill>
            <a:srgbClr val="FFFFFF"/>
          </a:solidFill>
          <a:ln w="12700">
            <a:solidFill>
              <a:srgbClr val="187A5E"/>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14" action="ppaction://hlinksldjump" tooltip="Go to Success measures">
                  <a:extLst>
                    <a:ext uri="{A12FA001-AC4F-418D-AE19-62706E023703}">
                      <ahyp:hlinkClr xmlns:ahyp="http://schemas.microsoft.com/office/drawing/2018/hyperlinkcolor" val="tx"/>
                    </a:ext>
                  </a:extLst>
                </a:hlinkClick>
              </a:rPr>
              <a:t>Success measures</a:t>
            </a:r>
            <a:endParaRPr lang="en-US" sz="1200" dirty="0"/>
          </a:p>
        </p:txBody>
      </p:sp>
      <p:sp>
        <p:nvSpPr>
          <p:cNvPr id="20" name="Menu tile: Package &amp; investment"/>
          <p:cNvSpPr txBox="1"/>
          <p:nvPr/>
        </p:nvSpPr>
        <p:spPr>
          <a:xfrm>
            <a:off x="6108192" y="2642616"/>
            <a:ext cx="1773936" cy="457200"/>
          </a:xfrm>
          <a:prstGeom prst="roundRect">
            <a:avLst>
              <a:gd name="adj" fmla="val 16000"/>
            </a:avLst>
          </a:prstGeom>
          <a:solidFill>
            <a:srgbClr val="FFFFFF"/>
          </a:solidFill>
          <a:ln w="12700">
            <a:solidFill>
              <a:srgbClr val="187A5E"/>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15" action="ppaction://hlinksldjump" tooltip="Go to Package &amp; investment">
                  <a:extLst>
                    <a:ext uri="{A12FA001-AC4F-418D-AE19-62706E023703}">
                      <ahyp:hlinkClr xmlns:ahyp="http://schemas.microsoft.com/office/drawing/2018/hyperlinkcolor" val="tx"/>
                    </a:ext>
                  </a:extLst>
                </a:hlinkClick>
              </a:rPr>
              <a:t>Package &amp; investment</a:t>
            </a:r>
            <a:endParaRPr lang="en-US" sz="1200" dirty="0"/>
          </a:p>
        </p:txBody>
      </p:sp>
      <p:sp>
        <p:nvSpPr>
          <p:cNvPr id="21" name="Menu tile: Timeline"/>
          <p:cNvSpPr txBox="1"/>
          <p:nvPr/>
        </p:nvSpPr>
        <p:spPr>
          <a:xfrm>
            <a:off x="7991856" y="2642616"/>
            <a:ext cx="1773936" cy="457200"/>
          </a:xfrm>
          <a:prstGeom prst="roundRect">
            <a:avLst>
              <a:gd name="adj" fmla="val 16000"/>
            </a:avLst>
          </a:prstGeom>
          <a:solidFill>
            <a:srgbClr val="FFFFFF"/>
          </a:solidFill>
          <a:ln w="12700">
            <a:solidFill>
              <a:srgbClr val="187A5E"/>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16" action="ppaction://hlinksldjump" tooltip="Go to Timeline">
                  <a:extLst>
                    <a:ext uri="{A12FA001-AC4F-418D-AE19-62706E023703}">
                      <ahyp:hlinkClr xmlns:ahyp="http://schemas.microsoft.com/office/drawing/2018/hyperlinkcolor" val="tx"/>
                    </a:ext>
                  </a:extLst>
                </a:hlinkClick>
              </a:rPr>
              <a:t>Timeline</a:t>
            </a:r>
            <a:endParaRPr lang="en-US" sz="1200" dirty="0"/>
          </a:p>
        </p:txBody>
      </p:sp>
      <p:sp>
        <p:nvSpPr>
          <p:cNvPr id="22" name="Text 20"/>
          <p:cNvSpPr txBox="1"/>
          <p:nvPr/>
        </p:nvSpPr>
        <p:spPr>
          <a:xfrm>
            <a:off x="457200" y="3438144"/>
            <a:ext cx="3657600" cy="237744"/>
          </a:xfrm>
          <a:prstGeom prst="rect">
            <a:avLst/>
          </a:prstGeom>
          <a:noFill/>
          <a:ln/>
        </p:spPr>
        <p:txBody>
          <a:bodyPr wrap="square" lIns="0" tIns="0" rIns="0" bIns="0" rtlCol="0" anchor="ctr"/>
          <a:lstStyle/>
          <a:p>
            <a:pPr indent="0" marL="0">
              <a:buNone/>
            </a:pPr>
            <a:r>
              <a:rPr lang="en-US" sz="1000" b="1" spc="200" kern="0" dirty="0">
                <a:solidFill>
                  <a:srgbClr val="11604A"/>
                </a:solidFill>
                <a:latin typeface="Calibri" pitchFamily="34" charset="0"/>
                <a:ea typeface="Calibri" pitchFamily="34" charset="-122"/>
                <a:cs typeface="Calibri" pitchFamily="34" charset="-120"/>
              </a:rPr>
              <a:t>YOUR PLAYBOOK</a:t>
            </a:r>
            <a:endParaRPr lang="en-US" sz="1000" dirty="0"/>
          </a:p>
        </p:txBody>
      </p:sp>
      <p:sp>
        <p:nvSpPr>
          <p:cNvPr id="23" name="Menu tile: Day 1 setup"/>
          <p:cNvSpPr txBox="1"/>
          <p:nvPr/>
        </p:nvSpPr>
        <p:spPr>
          <a:xfrm>
            <a:off x="457200" y="3730752"/>
            <a:ext cx="1773936" cy="457200"/>
          </a:xfrm>
          <a:prstGeom prst="roundRect">
            <a:avLst>
              <a:gd name="adj" fmla="val 16000"/>
            </a:avLst>
          </a:prstGeom>
          <a:solidFill>
            <a:srgbClr val="FFFFFF"/>
          </a:solidFill>
          <a:ln w="12700">
            <a:solidFill>
              <a:srgbClr val="11604A"/>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17" action="ppaction://hlinksldjump" tooltip="Go to Day 1 setup">
                  <a:extLst>
                    <a:ext uri="{A12FA001-AC4F-418D-AE19-62706E023703}">
                      <ahyp:hlinkClr xmlns:ahyp="http://schemas.microsoft.com/office/drawing/2018/hyperlinkcolor" val="tx"/>
                    </a:ext>
                  </a:extLst>
                </a:hlinkClick>
              </a:rPr>
              <a:t>Day 1 setup</a:t>
            </a:r>
            <a:endParaRPr lang="en-US" sz="1200" dirty="0"/>
          </a:p>
        </p:txBody>
      </p:sp>
      <p:sp>
        <p:nvSpPr>
          <p:cNvPr id="24" name="Menu tile: First 90 days"/>
          <p:cNvSpPr txBox="1"/>
          <p:nvPr/>
        </p:nvSpPr>
        <p:spPr>
          <a:xfrm>
            <a:off x="2340864" y="3730752"/>
            <a:ext cx="1773936" cy="457200"/>
          </a:xfrm>
          <a:prstGeom prst="roundRect">
            <a:avLst>
              <a:gd name="adj" fmla="val 16000"/>
            </a:avLst>
          </a:prstGeom>
          <a:solidFill>
            <a:srgbClr val="FFFFFF"/>
          </a:solidFill>
          <a:ln w="12700">
            <a:solidFill>
              <a:srgbClr val="11604A"/>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18" action="ppaction://hlinksldjump" tooltip="Go to First 90 days">
                  <a:extLst>
                    <a:ext uri="{A12FA001-AC4F-418D-AE19-62706E023703}">
                      <ahyp:hlinkClr xmlns:ahyp="http://schemas.microsoft.com/office/drawing/2018/hyperlinkcolor" val="tx"/>
                    </a:ext>
                  </a:extLst>
                </a:hlinkClick>
              </a:rPr>
              <a:t>First 90 days</a:t>
            </a:r>
            <a:endParaRPr lang="en-US" sz="1200" dirty="0"/>
          </a:p>
        </p:txBody>
      </p:sp>
      <p:sp>
        <p:nvSpPr>
          <p:cNvPr id="25" name="Menu tile: Working with Hank"/>
          <p:cNvSpPr txBox="1"/>
          <p:nvPr/>
        </p:nvSpPr>
        <p:spPr>
          <a:xfrm>
            <a:off x="4224528" y="3730752"/>
            <a:ext cx="1773936" cy="457200"/>
          </a:xfrm>
          <a:prstGeom prst="roundRect">
            <a:avLst>
              <a:gd name="adj" fmla="val 16000"/>
            </a:avLst>
          </a:prstGeom>
          <a:solidFill>
            <a:srgbClr val="FFFFFF"/>
          </a:solidFill>
          <a:ln w="12700">
            <a:solidFill>
              <a:srgbClr val="11604A"/>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19" action="ppaction://hlinksldjump" tooltip="Go to Working with Hank">
                  <a:extLst>
                    <a:ext uri="{A12FA001-AC4F-418D-AE19-62706E023703}">
                      <ahyp:hlinkClr xmlns:ahyp="http://schemas.microsoft.com/office/drawing/2018/hyperlinkcolor" val="tx"/>
                    </a:ext>
                  </a:extLst>
                </a:hlinkClick>
              </a:rPr>
              <a:t>Working with Hank</a:t>
            </a:r>
            <a:endParaRPr lang="en-US" sz="1200" dirty="0"/>
          </a:p>
        </p:txBody>
      </p:sp>
      <p:sp>
        <p:nvSpPr>
          <p:cNvPr id="26" name="Menu tile: Scorecard"/>
          <p:cNvSpPr txBox="1"/>
          <p:nvPr/>
        </p:nvSpPr>
        <p:spPr>
          <a:xfrm>
            <a:off x="6108192" y="3730752"/>
            <a:ext cx="1773936" cy="457200"/>
          </a:xfrm>
          <a:prstGeom prst="roundRect">
            <a:avLst>
              <a:gd name="adj" fmla="val 16000"/>
            </a:avLst>
          </a:prstGeom>
          <a:solidFill>
            <a:srgbClr val="FFFFFF"/>
          </a:solidFill>
          <a:ln w="12700">
            <a:solidFill>
              <a:srgbClr val="11604A"/>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20" action="ppaction://hlinksldjump" tooltip="Go to Scorecard">
                  <a:extLst>
                    <a:ext uri="{A12FA001-AC4F-418D-AE19-62706E023703}">
                      <ahyp:hlinkClr xmlns:ahyp="http://schemas.microsoft.com/office/drawing/2018/hyperlinkcolor" val="tx"/>
                    </a:ext>
                  </a:extLst>
                </a:hlinkClick>
              </a:rPr>
              <a:t>Scorecard</a:t>
            </a:r>
            <a:endParaRPr lang="en-US" sz="1200" dirty="0"/>
          </a:p>
        </p:txBody>
      </p:sp>
      <p:sp>
        <p:nvSpPr>
          <p:cNvPr id="27" name="Menu tile: Monthly check-in"/>
          <p:cNvSpPr txBox="1"/>
          <p:nvPr/>
        </p:nvSpPr>
        <p:spPr>
          <a:xfrm>
            <a:off x="7991856" y="3730752"/>
            <a:ext cx="1773936" cy="457200"/>
          </a:xfrm>
          <a:prstGeom prst="roundRect">
            <a:avLst>
              <a:gd name="adj" fmla="val 16000"/>
            </a:avLst>
          </a:prstGeom>
          <a:solidFill>
            <a:srgbClr val="FFFFFF"/>
          </a:solidFill>
          <a:ln w="12700">
            <a:solidFill>
              <a:srgbClr val="11604A"/>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21" action="ppaction://hlinksldjump" tooltip="Go to Monthly check-in">
                  <a:extLst>
                    <a:ext uri="{A12FA001-AC4F-418D-AE19-62706E023703}">
                      <ahyp:hlinkClr xmlns:ahyp="http://schemas.microsoft.com/office/drawing/2018/hyperlinkcolor" val="tx"/>
                    </a:ext>
                  </a:extLst>
                </a:hlinkClick>
              </a:rPr>
              <a:t>Monthly check-in</a:t>
            </a:r>
            <a:endParaRPr lang="en-US" sz="1200" dirty="0"/>
          </a:p>
        </p:txBody>
      </p:sp>
      <p:sp>
        <p:nvSpPr>
          <p:cNvPr id="28" name="Menu tile: Delegation board"/>
          <p:cNvSpPr txBox="1"/>
          <p:nvPr/>
        </p:nvSpPr>
        <p:spPr>
          <a:xfrm>
            <a:off x="9875520" y="3730752"/>
            <a:ext cx="1773936" cy="457200"/>
          </a:xfrm>
          <a:prstGeom prst="roundRect">
            <a:avLst>
              <a:gd name="adj" fmla="val 16000"/>
            </a:avLst>
          </a:prstGeom>
          <a:solidFill>
            <a:srgbClr val="FFFFFF"/>
          </a:solidFill>
          <a:ln w="12700">
            <a:solidFill>
              <a:srgbClr val="11604A"/>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22" action="ppaction://hlinksldjump" tooltip="Go to Delegation board">
                  <a:extLst>
                    <a:ext uri="{A12FA001-AC4F-418D-AE19-62706E023703}">
                      <ahyp:hlinkClr xmlns:ahyp="http://schemas.microsoft.com/office/drawing/2018/hyperlinkcolor" val="tx"/>
                    </a:ext>
                  </a:extLst>
                </a:hlinkClick>
              </a:rPr>
              <a:t>Delegation board</a:t>
            </a:r>
            <a:endParaRPr lang="en-US" sz="1200" dirty="0"/>
          </a:p>
        </p:txBody>
      </p:sp>
      <p:sp>
        <p:nvSpPr>
          <p:cNvPr id="29" name="Text 27"/>
          <p:cNvSpPr txBox="1"/>
          <p:nvPr/>
        </p:nvSpPr>
        <p:spPr>
          <a:xfrm>
            <a:off x="457200" y="4526280"/>
            <a:ext cx="3657600" cy="237744"/>
          </a:xfrm>
          <a:prstGeom prst="rect">
            <a:avLst/>
          </a:prstGeom>
          <a:noFill/>
          <a:ln/>
        </p:spPr>
        <p:txBody>
          <a:bodyPr wrap="square" lIns="0" tIns="0" rIns="0" bIns="0" rtlCol="0" anchor="ctr"/>
          <a:lstStyle/>
          <a:p>
            <a:pPr indent="0" marL="0">
              <a:buNone/>
            </a:pPr>
            <a:r>
              <a:rPr lang="en-US" sz="1000" b="1" spc="200" kern="0" dirty="0">
                <a:solidFill>
                  <a:srgbClr val="B26B0E"/>
                </a:solidFill>
                <a:latin typeface="Calibri" pitchFamily="34" charset="0"/>
                <a:ea typeface="Calibri" pitchFamily="34" charset="-122"/>
                <a:cs typeface="Calibri" pitchFamily="34" charset="-120"/>
              </a:rPr>
              <a:t>OVER TO YOU</a:t>
            </a:r>
            <a:endParaRPr lang="en-US" sz="1000" dirty="0"/>
          </a:p>
        </p:txBody>
      </p:sp>
      <p:sp>
        <p:nvSpPr>
          <p:cNvPr id="30" name="Menu tile: Open questions"/>
          <p:cNvSpPr txBox="1"/>
          <p:nvPr/>
        </p:nvSpPr>
        <p:spPr>
          <a:xfrm>
            <a:off x="457200" y="4818888"/>
            <a:ext cx="1773936" cy="457200"/>
          </a:xfrm>
          <a:prstGeom prst="roundRect">
            <a:avLst>
              <a:gd name="adj" fmla="val 16000"/>
            </a:avLst>
          </a:prstGeom>
          <a:solidFill>
            <a:srgbClr val="FFF6E8"/>
          </a:solidFill>
          <a:ln w="12700">
            <a:solidFill>
              <a:srgbClr val="B26B0E"/>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23" action="ppaction://hlinksldjump" tooltip="Go to Open questions">
                  <a:extLst>
                    <a:ext uri="{A12FA001-AC4F-418D-AE19-62706E023703}">
                      <ahyp:hlinkClr xmlns:ahyp="http://schemas.microsoft.com/office/drawing/2018/hyperlinkcolor" val="tx"/>
                    </a:ext>
                  </a:extLst>
                </a:hlinkClick>
              </a:rPr>
              <a:t>Open questions</a:t>
            </a:r>
            <a:endParaRPr lang="en-US" sz="1200" dirty="0"/>
          </a:p>
        </p:txBody>
      </p:sp>
      <p:sp>
        <p:nvSpPr>
          <p:cNvPr id="31" name="Menu tile: Your feedback"/>
          <p:cNvSpPr txBox="1"/>
          <p:nvPr/>
        </p:nvSpPr>
        <p:spPr>
          <a:xfrm>
            <a:off x="2340864" y="4818888"/>
            <a:ext cx="1773936" cy="457200"/>
          </a:xfrm>
          <a:prstGeom prst="roundRect">
            <a:avLst>
              <a:gd name="adj" fmla="val 16000"/>
            </a:avLst>
          </a:prstGeom>
          <a:solidFill>
            <a:srgbClr val="FFF6E8"/>
          </a:solidFill>
          <a:ln w="12700">
            <a:solidFill>
              <a:srgbClr val="B26B0E"/>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24" action="ppaction://hlinksldjump" tooltip="Go to Your feedback">
                  <a:extLst>
                    <a:ext uri="{A12FA001-AC4F-418D-AE19-62706E023703}">
                      <ahyp:hlinkClr xmlns:ahyp="http://schemas.microsoft.com/office/drawing/2018/hyperlinkcolor" val="tx"/>
                    </a:ext>
                  </a:extLst>
                </a:hlinkClick>
              </a:rPr>
              <a:t>Your feedback</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A  ·  01</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What we heard</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In your words, from our two calls. Tell us if we got any of it wrong.</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sp>
        <p:nvSpPr>
          <p:cNvPr id="10" name="Card"/>
          <p:cNvSpPr/>
          <p:nvPr/>
        </p:nvSpPr>
        <p:spPr>
          <a:xfrm>
            <a:off x="457200" y="1783080"/>
            <a:ext cx="7406640" cy="676656"/>
          </a:xfrm>
          <a:prstGeom prst="roundRect">
            <a:avLst>
              <a:gd name="adj" fmla="val 10811"/>
            </a:avLst>
          </a:prstGeom>
          <a:solidFill>
            <a:srgbClr val="FFFFFF"/>
          </a:solidFill>
          <a:ln w="9525">
            <a:solidFill>
              <a:srgbClr val="DDE4E0"/>
            </a:solidFill>
            <a:prstDash val="solid"/>
          </a:ln>
        </p:spPr>
      </p:sp>
      <p:sp>
        <p:nvSpPr>
          <p:cNvPr id="11" name="Text 9"/>
          <p:cNvSpPr txBox="1"/>
          <p:nvPr/>
        </p:nvSpPr>
        <p:spPr>
          <a:xfrm>
            <a:off x="640080" y="1837944"/>
            <a:ext cx="5120640" cy="384048"/>
          </a:xfrm>
          <a:prstGeom prst="rect">
            <a:avLst/>
          </a:prstGeom>
          <a:noFill/>
          <a:ln/>
        </p:spPr>
        <p:txBody>
          <a:bodyPr wrap="square" lIns="0" tIns="0" rIns="0" bIns="0" rtlCol="0" anchor="ctr"/>
          <a:lstStyle/>
          <a:p>
            <a:pPr indent="0" marL="0">
              <a:buNone/>
            </a:pPr>
            <a:r>
              <a:rPr lang="en-US" sz="1400" i="1" dirty="0">
                <a:solidFill>
                  <a:srgbClr val="1B2430"/>
                </a:solidFill>
                <a:latin typeface="Cambria" pitchFamily="34" charset="0"/>
                <a:ea typeface="Cambria" pitchFamily="34" charset="-122"/>
                <a:cs typeface="Cambria" pitchFamily="34" charset="-120"/>
              </a:rPr>
              <a:t>“We are a small team. So everyone is sort of doing that a little bit.”</a:t>
            </a:r>
            <a:endParaRPr lang="en-US" sz="1400" dirty="0"/>
          </a:p>
        </p:txBody>
      </p:sp>
      <p:sp>
        <p:nvSpPr>
          <p:cNvPr id="12" name="Text 10"/>
          <p:cNvSpPr txBox="1"/>
          <p:nvPr/>
        </p:nvSpPr>
        <p:spPr>
          <a:xfrm>
            <a:off x="640080" y="2203704"/>
            <a:ext cx="5120640" cy="201168"/>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Freedom Audit, 16 Sept</a:t>
            </a:r>
            <a:endParaRPr lang="en-US" sz="1000" dirty="0"/>
          </a:p>
        </p:txBody>
      </p:sp>
      <p:sp>
        <p:nvSpPr>
          <p:cNvPr id="13" name="Tick box: Spot on"/>
          <p:cNvSpPr txBox="1"/>
          <p:nvPr/>
        </p:nvSpPr>
        <p:spPr>
          <a:xfrm>
            <a:off x="5897880" y="1874520"/>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4" name="Text 12"/>
          <p:cNvSpPr txBox="1"/>
          <p:nvPr/>
        </p:nvSpPr>
        <p:spPr>
          <a:xfrm>
            <a:off x="6190488" y="1856232"/>
            <a:ext cx="75895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Spot on</a:t>
            </a:r>
            <a:endParaRPr lang="en-US" sz="1100" dirty="0"/>
          </a:p>
        </p:txBody>
      </p:sp>
      <p:sp>
        <p:nvSpPr>
          <p:cNvPr id="15" name="Tick box: Not quite"/>
          <p:cNvSpPr txBox="1"/>
          <p:nvPr/>
        </p:nvSpPr>
        <p:spPr>
          <a:xfrm>
            <a:off x="6812280" y="1874520"/>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6" name="Text 14"/>
          <p:cNvSpPr txBox="1"/>
          <p:nvPr/>
        </p:nvSpPr>
        <p:spPr>
          <a:xfrm>
            <a:off x="7104888" y="1856232"/>
            <a:ext cx="75895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Not quite</a:t>
            </a:r>
            <a:endParaRPr lang="en-US" sz="1100" dirty="0"/>
          </a:p>
        </p:txBody>
      </p:sp>
      <p:sp>
        <p:nvSpPr>
          <p:cNvPr id="17" name="Tick box: Let’s discuss"/>
          <p:cNvSpPr txBox="1"/>
          <p:nvPr/>
        </p:nvSpPr>
        <p:spPr>
          <a:xfrm>
            <a:off x="5897880" y="216712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8" name="Text 16"/>
          <p:cNvSpPr txBox="1"/>
          <p:nvPr/>
        </p:nvSpPr>
        <p:spPr>
          <a:xfrm>
            <a:off x="6190488" y="2148840"/>
            <a:ext cx="117043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Let’s discuss</a:t>
            </a:r>
            <a:endParaRPr lang="en-US" sz="1100" dirty="0"/>
          </a:p>
        </p:txBody>
      </p:sp>
      <p:sp>
        <p:nvSpPr>
          <p:cNvPr id="19" name="Card"/>
          <p:cNvSpPr/>
          <p:nvPr/>
        </p:nvSpPr>
        <p:spPr>
          <a:xfrm>
            <a:off x="457200" y="2551176"/>
            <a:ext cx="7406640" cy="676656"/>
          </a:xfrm>
          <a:prstGeom prst="roundRect">
            <a:avLst>
              <a:gd name="adj" fmla="val 10811"/>
            </a:avLst>
          </a:prstGeom>
          <a:solidFill>
            <a:srgbClr val="FFFFFF"/>
          </a:solidFill>
          <a:ln w="9525">
            <a:solidFill>
              <a:srgbClr val="DDE4E0"/>
            </a:solidFill>
            <a:prstDash val="solid"/>
          </a:ln>
        </p:spPr>
      </p:sp>
      <p:sp>
        <p:nvSpPr>
          <p:cNvPr id="20" name="Text 18"/>
          <p:cNvSpPr txBox="1"/>
          <p:nvPr/>
        </p:nvSpPr>
        <p:spPr>
          <a:xfrm>
            <a:off x="640080" y="2606040"/>
            <a:ext cx="5120640" cy="384048"/>
          </a:xfrm>
          <a:prstGeom prst="rect">
            <a:avLst/>
          </a:prstGeom>
          <a:noFill/>
          <a:ln/>
        </p:spPr>
        <p:txBody>
          <a:bodyPr wrap="square" lIns="0" tIns="0" rIns="0" bIns="0" rtlCol="0" anchor="ctr"/>
          <a:lstStyle/>
          <a:p>
            <a:pPr indent="0" marL="0">
              <a:buNone/>
            </a:pPr>
            <a:r>
              <a:rPr lang="en-US" sz="1400" i="1" dirty="0">
                <a:solidFill>
                  <a:srgbClr val="1B2430"/>
                </a:solidFill>
                <a:latin typeface="Cambria" pitchFamily="34" charset="0"/>
                <a:ea typeface="Cambria" pitchFamily="34" charset="-122"/>
                <a:cs typeface="Cambria" pitchFamily="34" charset="-120"/>
              </a:rPr>
              <a:t>“We always want the customer to be answered within the two hours.”</a:t>
            </a:r>
            <a:endParaRPr lang="en-US" sz="1400" dirty="0"/>
          </a:p>
        </p:txBody>
      </p:sp>
      <p:sp>
        <p:nvSpPr>
          <p:cNvPr id="21" name="Text 19"/>
          <p:cNvSpPr txBox="1"/>
          <p:nvPr/>
        </p:nvSpPr>
        <p:spPr>
          <a:xfrm>
            <a:off x="640080" y="2971800"/>
            <a:ext cx="5120640" cy="201168"/>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Freedom Audit, 16 Sept</a:t>
            </a:r>
            <a:endParaRPr lang="en-US" sz="1000" dirty="0"/>
          </a:p>
        </p:txBody>
      </p:sp>
      <p:sp>
        <p:nvSpPr>
          <p:cNvPr id="22" name="Tick box: Spot on"/>
          <p:cNvSpPr txBox="1"/>
          <p:nvPr/>
        </p:nvSpPr>
        <p:spPr>
          <a:xfrm>
            <a:off x="5897880" y="2642616"/>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3" name="Text 21"/>
          <p:cNvSpPr txBox="1"/>
          <p:nvPr/>
        </p:nvSpPr>
        <p:spPr>
          <a:xfrm>
            <a:off x="6190488" y="2624328"/>
            <a:ext cx="75895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Spot on</a:t>
            </a:r>
            <a:endParaRPr lang="en-US" sz="1100" dirty="0"/>
          </a:p>
        </p:txBody>
      </p:sp>
      <p:sp>
        <p:nvSpPr>
          <p:cNvPr id="24" name="Tick box: Not quite"/>
          <p:cNvSpPr txBox="1"/>
          <p:nvPr/>
        </p:nvSpPr>
        <p:spPr>
          <a:xfrm>
            <a:off x="6812280" y="2642616"/>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5" name="Text 23"/>
          <p:cNvSpPr txBox="1"/>
          <p:nvPr/>
        </p:nvSpPr>
        <p:spPr>
          <a:xfrm>
            <a:off x="7104888" y="2624328"/>
            <a:ext cx="75895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Not quite</a:t>
            </a:r>
            <a:endParaRPr lang="en-US" sz="1100" dirty="0"/>
          </a:p>
        </p:txBody>
      </p:sp>
      <p:sp>
        <p:nvSpPr>
          <p:cNvPr id="26" name="Tick box: Let’s discuss"/>
          <p:cNvSpPr txBox="1"/>
          <p:nvPr/>
        </p:nvSpPr>
        <p:spPr>
          <a:xfrm>
            <a:off x="5897880" y="2935224"/>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7" name="Text 25"/>
          <p:cNvSpPr txBox="1"/>
          <p:nvPr/>
        </p:nvSpPr>
        <p:spPr>
          <a:xfrm>
            <a:off x="6190488" y="2916936"/>
            <a:ext cx="117043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Let’s discuss</a:t>
            </a:r>
            <a:endParaRPr lang="en-US" sz="1100" dirty="0"/>
          </a:p>
        </p:txBody>
      </p:sp>
      <p:sp>
        <p:nvSpPr>
          <p:cNvPr id="28" name="Card"/>
          <p:cNvSpPr/>
          <p:nvPr/>
        </p:nvSpPr>
        <p:spPr>
          <a:xfrm>
            <a:off x="457200" y="3319272"/>
            <a:ext cx="7406640" cy="676656"/>
          </a:xfrm>
          <a:prstGeom prst="roundRect">
            <a:avLst>
              <a:gd name="adj" fmla="val 10811"/>
            </a:avLst>
          </a:prstGeom>
          <a:solidFill>
            <a:srgbClr val="FFFFFF"/>
          </a:solidFill>
          <a:ln w="9525">
            <a:solidFill>
              <a:srgbClr val="DDE4E0"/>
            </a:solidFill>
            <a:prstDash val="solid"/>
          </a:ln>
        </p:spPr>
      </p:sp>
      <p:sp>
        <p:nvSpPr>
          <p:cNvPr id="29" name="Text 27"/>
          <p:cNvSpPr txBox="1"/>
          <p:nvPr/>
        </p:nvSpPr>
        <p:spPr>
          <a:xfrm>
            <a:off x="640080" y="3374136"/>
            <a:ext cx="5120640" cy="384048"/>
          </a:xfrm>
          <a:prstGeom prst="rect">
            <a:avLst/>
          </a:prstGeom>
          <a:noFill/>
          <a:ln/>
        </p:spPr>
        <p:txBody>
          <a:bodyPr wrap="square" lIns="0" tIns="0" rIns="0" bIns="0" rtlCol="0" anchor="ctr"/>
          <a:lstStyle/>
          <a:p>
            <a:pPr indent="0" marL="0">
              <a:buNone/>
            </a:pPr>
            <a:r>
              <a:rPr lang="en-US" sz="1400" i="1" dirty="0">
                <a:solidFill>
                  <a:srgbClr val="1B2430"/>
                </a:solidFill>
                <a:latin typeface="Cambria" pitchFamily="34" charset="0"/>
                <a:ea typeface="Cambria" pitchFamily="34" charset="-122"/>
                <a:cs typeface="Cambria" pitchFamily="34" charset="-120"/>
              </a:rPr>
              <a:t>“Every month we wake up 10 to 15 customers… That’s going to be successful.”</a:t>
            </a:r>
            <a:endParaRPr lang="en-US" sz="1400" dirty="0"/>
          </a:p>
        </p:txBody>
      </p:sp>
      <p:sp>
        <p:nvSpPr>
          <p:cNvPr id="30" name="Text 28"/>
          <p:cNvSpPr txBox="1"/>
          <p:nvPr/>
        </p:nvSpPr>
        <p:spPr>
          <a:xfrm>
            <a:off x="640080" y="3739896"/>
            <a:ext cx="5120640" cy="201168"/>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Freedom Audit, 16 Sept</a:t>
            </a:r>
            <a:endParaRPr lang="en-US" sz="1000" dirty="0"/>
          </a:p>
        </p:txBody>
      </p:sp>
      <p:sp>
        <p:nvSpPr>
          <p:cNvPr id="31" name="Tick box: Spot on"/>
          <p:cNvSpPr txBox="1"/>
          <p:nvPr/>
        </p:nvSpPr>
        <p:spPr>
          <a:xfrm>
            <a:off x="5897880" y="3410712"/>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2" name="Text 30"/>
          <p:cNvSpPr txBox="1"/>
          <p:nvPr/>
        </p:nvSpPr>
        <p:spPr>
          <a:xfrm>
            <a:off x="6190488" y="3392424"/>
            <a:ext cx="75895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Spot on</a:t>
            </a:r>
            <a:endParaRPr lang="en-US" sz="1100" dirty="0"/>
          </a:p>
        </p:txBody>
      </p:sp>
      <p:sp>
        <p:nvSpPr>
          <p:cNvPr id="33" name="Tick box: Not quite"/>
          <p:cNvSpPr txBox="1"/>
          <p:nvPr/>
        </p:nvSpPr>
        <p:spPr>
          <a:xfrm>
            <a:off x="6812280" y="3410712"/>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4" name="Text 32"/>
          <p:cNvSpPr txBox="1"/>
          <p:nvPr/>
        </p:nvSpPr>
        <p:spPr>
          <a:xfrm>
            <a:off x="7104888" y="3392424"/>
            <a:ext cx="75895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Not quite</a:t>
            </a:r>
            <a:endParaRPr lang="en-US" sz="1100" dirty="0"/>
          </a:p>
        </p:txBody>
      </p:sp>
      <p:sp>
        <p:nvSpPr>
          <p:cNvPr id="35" name="Tick box: Let’s discuss"/>
          <p:cNvSpPr txBox="1"/>
          <p:nvPr/>
        </p:nvSpPr>
        <p:spPr>
          <a:xfrm>
            <a:off x="5897880" y="3703320"/>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6" name="Text 34"/>
          <p:cNvSpPr txBox="1"/>
          <p:nvPr/>
        </p:nvSpPr>
        <p:spPr>
          <a:xfrm>
            <a:off x="6190488" y="3685032"/>
            <a:ext cx="117043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Let’s discuss</a:t>
            </a:r>
            <a:endParaRPr lang="en-US" sz="1100" dirty="0"/>
          </a:p>
        </p:txBody>
      </p:sp>
      <p:sp>
        <p:nvSpPr>
          <p:cNvPr id="37" name="Card"/>
          <p:cNvSpPr/>
          <p:nvPr/>
        </p:nvSpPr>
        <p:spPr>
          <a:xfrm>
            <a:off x="457200" y="4087368"/>
            <a:ext cx="7406640" cy="676656"/>
          </a:xfrm>
          <a:prstGeom prst="roundRect">
            <a:avLst>
              <a:gd name="adj" fmla="val 10811"/>
            </a:avLst>
          </a:prstGeom>
          <a:solidFill>
            <a:srgbClr val="FFFFFF"/>
          </a:solidFill>
          <a:ln w="9525">
            <a:solidFill>
              <a:srgbClr val="DDE4E0"/>
            </a:solidFill>
            <a:prstDash val="solid"/>
          </a:ln>
        </p:spPr>
      </p:sp>
      <p:sp>
        <p:nvSpPr>
          <p:cNvPr id="38" name="Text 36"/>
          <p:cNvSpPr txBox="1"/>
          <p:nvPr/>
        </p:nvSpPr>
        <p:spPr>
          <a:xfrm>
            <a:off x="640080" y="4142232"/>
            <a:ext cx="5120640" cy="384048"/>
          </a:xfrm>
          <a:prstGeom prst="rect">
            <a:avLst/>
          </a:prstGeom>
          <a:noFill/>
          <a:ln/>
        </p:spPr>
        <p:txBody>
          <a:bodyPr wrap="square" lIns="0" tIns="0" rIns="0" bIns="0" rtlCol="0" anchor="ctr"/>
          <a:lstStyle/>
          <a:p>
            <a:pPr indent="0" marL="0">
              <a:buNone/>
            </a:pPr>
            <a:r>
              <a:rPr lang="en-US" sz="1400" i="1" dirty="0">
                <a:solidFill>
                  <a:srgbClr val="1B2430"/>
                </a:solidFill>
                <a:latin typeface="Cambria" pitchFamily="34" charset="0"/>
                <a:ea typeface="Cambria" pitchFamily="34" charset="-122"/>
                <a:cs typeface="Cambria" pitchFamily="34" charset="-120"/>
              </a:rPr>
              <a:t>“I need someone that can help me to look at the details.”</a:t>
            </a:r>
            <a:endParaRPr lang="en-US" sz="1400" dirty="0"/>
          </a:p>
        </p:txBody>
      </p:sp>
      <p:sp>
        <p:nvSpPr>
          <p:cNvPr id="39" name="Text 37"/>
          <p:cNvSpPr txBox="1"/>
          <p:nvPr/>
        </p:nvSpPr>
        <p:spPr>
          <a:xfrm>
            <a:off x="640080" y="4507992"/>
            <a:ext cx="5120640" cy="201168"/>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Alignment Session, 6 Oct</a:t>
            </a:r>
            <a:endParaRPr lang="en-US" sz="1000" dirty="0"/>
          </a:p>
        </p:txBody>
      </p:sp>
      <p:sp>
        <p:nvSpPr>
          <p:cNvPr id="40" name="Tick box: Spot on"/>
          <p:cNvSpPr txBox="1"/>
          <p:nvPr/>
        </p:nvSpPr>
        <p:spPr>
          <a:xfrm>
            <a:off x="5897880" y="417880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41" name="Text 39"/>
          <p:cNvSpPr txBox="1"/>
          <p:nvPr/>
        </p:nvSpPr>
        <p:spPr>
          <a:xfrm>
            <a:off x="6190488" y="4160520"/>
            <a:ext cx="75895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Spot on</a:t>
            </a:r>
            <a:endParaRPr lang="en-US" sz="1100" dirty="0"/>
          </a:p>
        </p:txBody>
      </p:sp>
      <p:sp>
        <p:nvSpPr>
          <p:cNvPr id="42" name="Tick box: Not quite"/>
          <p:cNvSpPr txBox="1"/>
          <p:nvPr/>
        </p:nvSpPr>
        <p:spPr>
          <a:xfrm>
            <a:off x="6812280" y="417880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43" name="Text 41"/>
          <p:cNvSpPr txBox="1"/>
          <p:nvPr/>
        </p:nvSpPr>
        <p:spPr>
          <a:xfrm>
            <a:off x="7104888" y="4160520"/>
            <a:ext cx="75895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Not quite</a:t>
            </a:r>
            <a:endParaRPr lang="en-US" sz="1100" dirty="0"/>
          </a:p>
        </p:txBody>
      </p:sp>
      <p:sp>
        <p:nvSpPr>
          <p:cNvPr id="44" name="Tick box: Let’s discuss"/>
          <p:cNvSpPr txBox="1"/>
          <p:nvPr/>
        </p:nvSpPr>
        <p:spPr>
          <a:xfrm>
            <a:off x="5897880" y="4471416"/>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45" name="Text 43"/>
          <p:cNvSpPr txBox="1"/>
          <p:nvPr/>
        </p:nvSpPr>
        <p:spPr>
          <a:xfrm>
            <a:off x="6190488" y="4453128"/>
            <a:ext cx="117043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Let’s discuss</a:t>
            </a:r>
            <a:endParaRPr lang="en-US" sz="1100" dirty="0"/>
          </a:p>
        </p:txBody>
      </p:sp>
      <p:sp>
        <p:nvSpPr>
          <p:cNvPr id="46" name="Card"/>
          <p:cNvSpPr/>
          <p:nvPr/>
        </p:nvSpPr>
        <p:spPr>
          <a:xfrm>
            <a:off x="457200" y="4855464"/>
            <a:ext cx="7406640" cy="676656"/>
          </a:xfrm>
          <a:prstGeom prst="roundRect">
            <a:avLst>
              <a:gd name="adj" fmla="val 10811"/>
            </a:avLst>
          </a:prstGeom>
          <a:solidFill>
            <a:srgbClr val="FFFFFF"/>
          </a:solidFill>
          <a:ln w="9525">
            <a:solidFill>
              <a:srgbClr val="DDE4E0"/>
            </a:solidFill>
            <a:prstDash val="solid"/>
          </a:ln>
        </p:spPr>
      </p:sp>
      <p:sp>
        <p:nvSpPr>
          <p:cNvPr id="47" name="Text 45"/>
          <p:cNvSpPr txBox="1"/>
          <p:nvPr/>
        </p:nvSpPr>
        <p:spPr>
          <a:xfrm>
            <a:off x="640080" y="4910328"/>
            <a:ext cx="5120640" cy="384048"/>
          </a:xfrm>
          <a:prstGeom prst="rect">
            <a:avLst/>
          </a:prstGeom>
          <a:noFill/>
          <a:ln/>
        </p:spPr>
        <p:txBody>
          <a:bodyPr wrap="square" lIns="0" tIns="0" rIns="0" bIns="0" rtlCol="0" anchor="ctr"/>
          <a:lstStyle/>
          <a:p>
            <a:pPr indent="0" marL="0">
              <a:buNone/>
            </a:pPr>
            <a:r>
              <a:rPr lang="en-US" sz="1400" i="1" dirty="0">
                <a:solidFill>
                  <a:srgbClr val="1B2430"/>
                </a:solidFill>
                <a:latin typeface="Cambria" pitchFamily="34" charset="0"/>
                <a:ea typeface="Cambria" pitchFamily="34" charset="-122"/>
                <a:cs typeface="Cambria" pitchFamily="34" charset="-120"/>
              </a:rPr>
              <a:t>“Just tell me straight. Everyone makes a mistake.”</a:t>
            </a:r>
            <a:endParaRPr lang="en-US" sz="1400" dirty="0"/>
          </a:p>
        </p:txBody>
      </p:sp>
      <p:sp>
        <p:nvSpPr>
          <p:cNvPr id="48" name="Text 46"/>
          <p:cNvSpPr txBox="1"/>
          <p:nvPr/>
        </p:nvSpPr>
        <p:spPr>
          <a:xfrm>
            <a:off x="640080" y="5276088"/>
            <a:ext cx="5120640" cy="201168"/>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Alignment Session, 6 Oct</a:t>
            </a:r>
            <a:endParaRPr lang="en-US" sz="1000" dirty="0"/>
          </a:p>
        </p:txBody>
      </p:sp>
      <p:sp>
        <p:nvSpPr>
          <p:cNvPr id="49" name="Tick box: Spot on"/>
          <p:cNvSpPr txBox="1"/>
          <p:nvPr/>
        </p:nvSpPr>
        <p:spPr>
          <a:xfrm>
            <a:off x="5897880" y="4946904"/>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50" name="Text 48"/>
          <p:cNvSpPr txBox="1"/>
          <p:nvPr/>
        </p:nvSpPr>
        <p:spPr>
          <a:xfrm>
            <a:off x="6190488" y="4928616"/>
            <a:ext cx="75895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Spot on</a:t>
            </a:r>
            <a:endParaRPr lang="en-US" sz="1100" dirty="0"/>
          </a:p>
        </p:txBody>
      </p:sp>
      <p:sp>
        <p:nvSpPr>
          <p:cNvPr id="51" name="Tick box: Not quite"/>
          <p:cNvSpPr txBox="1"/>
          <p:nvPr/>
        </p:nvSpPr>
        <p:spPr>
          <a:xfrm>
            <a:off x="6812280" y="4946904"/>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52" name="Text 50"/>
          <p:cNvSpPr txBox="1"/>
          <p:nvPr/>
        </p:nvSpPr>
        <p:spPr>
          <a:xfrm>
            <a:off x="7104888" y="4928616"/>
            <a:ext cx="75895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Not quite</a:t>
            </a:r>
            <a:endParaRPr lang="en-US" sz="1100" dirty="0"/>
          </a:p>
        </p:txBody>
      </p:sp>
      <p:sp>
        <p:nvSpPr>
          <p:cNvPr id="53" name="Tick box: Let’s discuss"/>
          <p:cNvSpPr txBox="1"/>
          <p:nvPr/>
        </p:nvSpPr>
        <p:spPr>
          <a:xfrm>
            <a:off x="5897880" y="5239512"/>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54" name="Text 52"/>
          <p:cNvSpPr txBox="1"/>
          <p:nvPr/>
        </p:nvSpPr>
        <p:spPr>
          <a:xfrm>
            <a:off x="6190488" y="5221224"/>
            <a:ext cx="117043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Let’s discuss</a:t>
            </a:r>
            <a:endParaRPr lang="en-US" sz="1100" dirty="0"/>
          </a:p>
        </p:txBody>
      </p:sp>
      <p:sp>
        <p:nvSpPr>
          <p:cNvPr id="55" name="Input: Anything we missed?"/>
          <p:cNvSpPr txBox="1"/>
          <p:nvPr/>
        </p:nvSpPr>
        <p:spPr>
          <a:xfrm>
            <a:off x="8092440" y="1783080"/>
            <a:ext cx="3639312" cy="182880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ANYTHING WE MISSED?</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What else should your VA know about Hanks Tea, your customers or your team?</a:t>
            </a:r>
            <a:endParaRPr lang="en-US" sz="900" dirty="0"/>
          </a:p>
        </p:txBody>
      </p:sp>
      <p:sp>
        <p:nvSpPr>
          <p:cNvPr id="56" name="Input: What’s changed since we spoke?"/>
          <p:cNvSpPr txBox="1"/>
          <p:nvPr/>
        </p:nvSpPr>
        <p:spPr>
          <a:xfrm>
            <a:off x="8092440" y="3749040"/>
            <a:ext cx="3639312" cy="182880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WHAT’S CHANGED SINCE WE SPOKE?</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New products, team changes, busy periods…</a:t>
            </a:r>
            <a:endParaRPr lang="en-US" sz="9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A  ·  02</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Your customer channels</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You want one person handling every channel. Help us rank them and size the work.</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47120" cy="914400"/>
        </p:xfrm>
        <a:graphic>
          <a:graphicData uri="http://schemas.openxmlformats.org/drawingml/2006/table">
            <a:tbl>
              <a:tblPr/>
              <a:tblGrid>
                <a:gridCol w="2103120"/>
                <a:gridCol w="3931920"/>
                <a:gridCol w="1828800"/>
                <a:gridCol w="1280160"/>
                <a:gridCol w="2103120"/>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Channel</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customers usually ask here</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Messages a day (approx.)</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Priority 1–7</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VA covers from Day 1? (X)</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r>
              <a:tr h="384048">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WhatsApp</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384048">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Messenger</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384048">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WeChat</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384048">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Email</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384048">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Shopify Inbox</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384048">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Order Mentor messages</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384048">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Phone / internet phone</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bl>
          </a:graphicData>
        </a:graphic>
      </p:graphicFrame>
      <p:sp>
        <p:nvSpPr>
          <p:cNvPr id="11" name="Text 8"/>
          <p:cNvSpPr txBox="1"/>
          <p:nvPr/>
        </p:nvSpPr>
        <p:spPr>
          <a:xfrm>
            <a:off x="457200" y="5029200"/>
            <a:ext cx="7498080" cy="822960"/>
          </a:xfrm>
          <a:prstGeom prst="rect">
            <a:avLst/>
          </a:prstGeom>
          <a:noFill/>
          <a:ln/>
        </p:spPr>
        <p:txBody>
          <a:bodyPr wrap="square" lIns="0" tIns="0" rIns="0" bIns="0" rtlCol="0" anchor="t"/>
          <a:lstStyle/>
          <a:p>
            <a:pPr indent="0" marL="0">
              <a:buNone/>
            </a:pPr>
            <a:r>
              <a:rPr lang="en-US" sz="1200" dirty="0">
                <a:solidFill>
                  <a:srgbClr val="6B7480"/>
                </a:solidFill>
                <a:latin typeface="Calibri" pitchFamily="34" charset="0"/>
                <a:ea typeface="Calibri" pitchFamily="34" charset="-122"/>
                <a:cs typeface="Calibri" pitchFamily="34" charset="-120"/>
              </a:rPr>
              <a:t>Amber cells are editable: click a cell and type. On the calls you said phone calls “could be better” but aren’t used much yet, and that customers mostly ask about orders, deliveries, product information and account setup.</a:t>
            </a:r>
            <a:endParaRPr lang="en-US" sz="1200" dirty="0"/>
          </a:p>
        </p:txBody>
      </p:sp>
      <p:sp>
        <p:nvSpPr>
          <p:cNvPr id="12" name="Input: Channel notes"/>
          <p:cNvSpPr txBox="1"/>
          <p:nvPr/>
        </p:nvSpPr>
        <p:spPr>
          <a:xfrm>
            <a:off x="8183880" y="4892040"/>
            <a:ext cx="3547872" cy="123444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CHANNEL NOTES</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e.g. WeChat customers prefer…</a:t>
            </a:r>
            <a:endParaRPr lang="en-US" sz="9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A  ·  03</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The role: three main jobs</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From the Alignment Session: “that’s the main three things I want this VA” to do.</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sp>
        <p:nvSpPr>
          <p:cNvPr id="10" name="Card"/>
          <p:cNvSpPr/>
          <p:nvPr/>
        </p:nvSpPr>
        <p:spPr>
          <a:xfrm>
            <a:off x="457200" y="1783080"/>
            <a:ext cx="3639312" cy="4343400"/>
          </a:xfrm>
          <a:prstGeom prst="roundRect">
            <a:avLst>
              <a:gd name="adj" fmla="val 2010"/>
            </a:avLst>
          </a:prstGeom>
          <a:solidFill>
            <a:srgbClr val="FFFFFF"/>
          </a:solidFill>
          <a:ln w="9525">
            <a:solidFill>
              <a:srgbClr val="DDE4E0"/>
            </a:solidFill>
            <a:prstDash val="solid"/>
          </a:ln>
        </p:spPr>
      </p:sp>
      <p:sp>
        <p:nvSpPr>
          <p:cNvPr id="11" name="Text 9"/>
          <p:cNvSpPr txBox="1"/>
          <p:nvPr/>
        </p:nvSpPr>
        <p:spPr>
          <a:xfrm>
            <a:off x="685800" y="2011680"/>
            <a:ext cx="384048" cy="384048"/>
          </a:xfrm>
          <a:prstGeom prst="ellipse">
            <a:avLst/>
          </a:prstGeom>
          <a:solidFill>
            <a:srgbClr val="187A5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2" name="Text 10"/>
          <p:cNvSpPr txBox="1"/>
          <p:nvPr/>
        </p:nvSpPr>
        <p:spPr>
          <a:xfrm>
            <a:off x="1188720" y="2011680"/>
            <a:ext cx="2724912" cy="384048"/>
          </a:xfrm>
          <a:prstGeom prst="rect">
            <a:avLst/>
          </a:prstGeom>
          <a:noFill/>
          <a:ln/>
        </p:spPr>
        <p:txBody>
          <a:bodyPr wrap="square" lIns="0" tIns="0" rIns="0" bIns="0" rtlCol="0" anchor="ctr"/>
          <a:lstStyle/>
          <a:p>
            <a:pPr indent="0" marL="0">
              <a:buNone/>
            </a:pPr>
            <a:r>
              <a:rPr lang="en-US" sz="1600" b="1" dirty="0">
                <a:solidFill>
                  <a:srgbClr val="1B2430"/>
                </a:solidFill>
                <a:latin typeface="Cambria" pitchFamily="34" charset="0"/>
                <a:ea typeface="Cambria" pitchFamily="34" charset="-122"/>
                <a:cs typeface="Cambria" pitchFamily="34" charset="-120"/>
              </a:rPr>
              <a:t>Customer service &amp; orders</a:t>
            </a:r>
            <a:endParaRPr lang="en-US" sz="1600" dirty="0"/>
          </a:p>
        </p:txBody>
      </p:sp>
      <p:sp>
        <p:nvSpPr>
          <p:cNvPr id="13" name="Text 11"/>
          <p:cNvSpPr txBox="1"/>
          <p:nvPr/>
        </p:nvSpPr>
        <p:spPr>
          <a:xfrm>
            <a:off x="685800" y="2560320"/>
            <a:ext cx="3227832" cy="123444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4A5563"/>
                </a:solidFill>
                <a:latin typeface="Calibri" pitchFamily="34" charset="0"/>
                <a:ea typeface="Calibri" pitchFamily="34" charset="-122"/>
                <a:cs typeface="Calibri" pitchFamily="34" charset="-120"/>
              </a:rPr>
              <a:t>Answer every enquiry within two hours</a:t>
            </a:r>
            <a:endParaRPr lang="en-US" sz="1200" dirty="0"/>
          </a:p>
          <a:p>
            <a:pPr marL="342900" indent="-342900">
              <a:spcAft>
                <a:spcPts val="400"/>
              </a:spcAft>
              <a:buSzPct val="100000"/>
              <a:buChar char="•"/>
            </a:pPr>
            <a:r>
              <a:rPr lang="en-US" sz="1200" dirty="0">
                <a:solidFill>
                  <a:srgbClr val="4A5563"/>
                </a:solidFill>
                <a:latin typeface="Calibri" pitchFamily="34" charset="0"/>
                <a:ea typeface="Calibri" pitchFamily="34" charset="-122"/>
                <a:cs typeface="Calibri" pitchFamily="34" charset="-120"/>
              </a:rPr>
              <a:t>Take orders and enter them in Shopify or Order Mentor</a:t>
            </a:r>
            <a:endParaRPr lang="en-US" sz="1200" dirty="0"/>
          </a:p>
          <a:p>
            <a:pPr marL="342900" indent="-342900">
              <a:spcAft>
                <a:spcPts val="400"/>
              </a:spcAft>
              <a:buSzPct val="100000"/>
              <a:buChar char="•"/>
            </a:pPr>
            <a:r>
              <a:rPr lang="en-US" sz="1200" dirty="0">
                <a:solidFill>
                  <a:srgbClr val="4A5563"/>
                </a:solidFill>
                <a:latin typeface="Calibri" pitchFamily="34" charset="0"/>
                <a:ea typeface="Calibri" pitchFamily="34" charset="-122"/>
                <a:cs typeface="Calibri" pitchFamily="34" charset="-120"/>
              </a:rPr>
              <a:t>Update customers on deliveries and close the loop</a:t>
            </a:r>
            <a:endParaRPr lang="en-US" sz="1200" dirty="0"/>
          </a:p>
        </p:txBody>
      </p:sp>
      <p:sp>
        <p:nvSpPr>
          <p:cNvPr id="14" name="Text 12"/>
          <p:cNvSpPr txBox="1"/>
          <p:nvPr/>
        </p:nvSpPr>
        <p:spPr>
          <a:xfrm>
            <a:off x="685800" y="3840480"/>
            <a:ext cx="3227832" cy="411480"/>
          </a:xfrm>
          <a:prstGeom prst="rect">
            <a:avLst/>
          </a:prstGeom>
          <a:noFill/>
          <a:ln/>
        </p:spPr>
        <p:txBody>
          <a:bodyPr wrap="square" lIns="0" tIns="0" rIns="0" bIns="0" rtlCol="0" anchor="ctr"/>
          <a:lstStyle/>
          <a:p>
            <a:pPr indent="0" marL="0">
              <a:buNone/>
            </a:pPr>
            <a:r>
              <a:rPr lang="en-US" sz="1100" i="1" dirty="0">
                <a:solidFill>
                  <a:srgbClr val="187A5E"/>
                </a:solidFill>
                <a:latin typeface="Calibri" pitchFamily="34" charset="0"/>
                <a:ea typeface="Calibri" pitchFamily="34" charset="-122"/>
                <a:cs typeface="Calibri" pitchFamily="34" charset="-120"/>
              </a:rPr>
              <a:t>You estimated order taking is about one-third of the job.</a:t>
            </a:r>
            <a:endParaRPr lang="en-US" sz="1100" dirty="0"/>
          </a:p>
        </p:txBody>
      </p:sp>
      <p:sp>
        <p:nvSpPr>
          <p:cNvPr id="15" name="Tick box: Agree"/>
          <p:cNvSpPr txBox="1"/>
          <p:nvPr/>
        </p:nvSpPr>
        <p:spPr>
          <a:xfrm>
            <a:off x="685800" y="436168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6" name="Text 14"/>
          <p:cNvSpPr txBox="1"/>
          <p:nvPr/>
        </p:nvSpPr>
        <p:spPr>
          <a:xfrm>
            <a:off x="978408" y="4343400"/>
            <a:ext cx="80467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Agree</a:t>
            </a:r>
            <a:endParaRPr lang="en-US" sz="1200" dirty="0"/>
          </a:p>
        </p:txBody>
      </p:sp>
      <p:sp>
        <p:nvSpPr>
          <p:cNvPr id="17" name="Tick box: Change it"/>
          <p:cNvSpPr txBox="1"/>
          <p:nvPr/>
        </p:nvSpPr>
        <p:spPr>
          <a:xfrm>
            <a:off x="1828800" y="436168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8" name="Text 16"/>
          <p:cNvSpPr txBox="1"/>
          <p:nvPr/>
        </p:nvSpPr>
        <p:spPr>
          <a:xfrm>
            <a:off x="2121408" y="4343400"/>
            <a:ext cx="10789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Change it</a:t>
            </a:r>
            <a:endParaRPr lang="en-US" sz="1200" dirty="0"/>
          </a:p>
        </p:txBody>
      </p:sp>
      <p:sp>
        <p:nvSpPr>
          <p:cNvPr id="19" name="Input: Share of the week / changes"/>
          <p:cNvSpPr txBox="1"/>
          <p:nvPr/>
        </p:nvSpPr>
        <p:spPr>
          <a:xfrm>
            <a:off x="685800" y="4709160"/>
            <a:ext cx="3182112" cy="123444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SHARE OF THE WEEK / CHANGES</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e.g. 40% of the week. Add or remove tasks…</a:t>
            </a:r>
            <a:endParaRPr lang="en-US" sz="900" dirty="0"/>
          </a:p>
        </p:txBody>
      </p:sp>
      <p:sp>
        <p:nvSpPr>
          <p:cNvPr id="20" name="Card"/>
          <p:cNvSpPr/>
          <p:nvPr/>
        </p:nvSpPr>
        <p:spPr>
          <a:xfrm>
            <a:off x="4261104" y="1783080"/>
            <a:ext cx="3639312" cy="4343400"/>
          </a:xfrm>
          <a:prstGeom prst="roundRect">
            <a:avLst>
              <a:gd name="adj" fmla="val 2010"/>
            </a:avLst>
          </a:prstGeom>
          <a:solidFill>
            <a:srgbClr val="FFFFFF"/>
          </a:solidFill>
          <a:ln w="9525">
            <a:solidFill>
              <a:srgbClr val="DDE4E0"/>
            </a:solidFill>
            <a:prstDash val="solid"/>
          </a:ln>
        </p:spPr>
      </p:sp>
      <p:sp>
        <p:nvSpPr>
          <p:cNvPr id="21" name="Text 19"/>
          <p:cNvSpPr txBox="1"/>
          <p:nvPr/>
        </p:nvSpPr>
        <p:spPr>
          <a:xfrm>
            <a:off x="4489704" y="2011680"/>
            <a:ext cx="384048" cy="384048"/>
          </a:xfrm>
          <a:prstGeom prst="ellipse">
            <a:avLst/>
          </a:prstGeom>
          <a:solidFill>
            <a:srgbClr val="187A5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2" name="Text 20"/>
          <p:cNvSpPr txBox="1"/>
          <p:nvPr/>
        </p:nvSpPr>
        <p:spPr>
          <a:xfrm>
            <a:off x="4992624" y="2011680"/>
            <a:ext cx="2724912" cy="384048"/>
          </a:xfrm>
          <a:prstGeom prst="rect">
            <a:avLst/>
          </a:prstGeom>
          <a:noFill/>
          <a:ln/>
        </p:spPr>
        <p:txBody>
          <a:bodyPr wrap="square" lIns="0" tIns="0" rIns="0" bIns="0" rtlCol="0" anchor="ctr"/>
          <a:lstStyle/>
          <a:p>
            <a:pPr indent="0" marL="0">
              <a:buNone/>
            </a:pPr>
            <a:r>
              <a:rPr lang="en-US" sz="1600" b="1" dirty="0">
                <a:solidFill>
                  <a:srgbClr val="1B2430"/>
                </a:solidFill>
                <a:latin typeface="Cambria" pitchFamily="34" charset="0"/>
                <a:ea typeface="Cambria" pitchFamily="34" charset="-122"/>
                <a:cs typeface="Cambria" pitchFamily="34" charset="-120"/>
              </a:rPr>
              <a:t>Open orders &amp; AR</a:t>
            </a:r>
            <a:endParaRPr lang="en-US" sz="1600" dirty="0"/>
          </a:p>
        </p:txBody>
      </p:sp>
      <p:sp>
        <p:nvSpPr>
          <p:cNvPr id="23" name="Text 21"/>
          <p:cNvSpPr txBox="1"/>
          <p:nvPr/>
        </p:nvSpPr>
        <p:spPr>
          <a:xfrm>
            <a:off x="4489704" y="2560320"/>
            <a:ext cx="3227832" cy="123444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4A5563"/>
                </a:solidFill>
                <a:latin typeface="Calibri" pitchFamily="34" charset="0"/>
                <a:ea typeface="Calibri" pitchFamily="34" charset="-122"/>
                <a:cs typeface="Calibri" pitchFamily="34" charset="-120"/>
              </a:rPr>
              <a:t>Chase open orders until they’re complete</a:t>
            </a:r>
            <a:endParaRPr lang="en-US" sz="1200" dirty="0"/>
          </a:p>
          <a:p>
            <a:pPr marL="342900" indent="-342900">
              <a:spcAft>
                <a:spcPts val="400"/>
              </a:spcAft>
              <a:buSzPct val="100000"/>
              <a:buChar char="•"/>
            </a:pPr>
            <a:r>
              <a:rPr lang="en-US" sz="1200" dirty="0">
                <a:solidFill>
                  <a:srgbClr val="4A5563"/>
                </a:solidFill>
                <a:latin typeface="Calibri" pitchFamily="34" charset="0"/>
                <a:ea typeface="Calibri" pitchFamily="34" charset="-122"/>
                <a:cs typeface="Calibri" pitchFamily="34" charset="-120"/>
              </a:rPr>
              <a:t>Follow up overdue accounts three days after due</a:t>
            </a:r>
            <a:endParaRPr lang="en-US" sz="1200" dirty="0"/>
          </a:p>
          <a:p>
            <a:pPr marL="342900" indent="-342900">
              <a:spcAft>
                <a:spcPts val="400"/>
              </a:spcAft>
              <a:buSzPct val="100000"/>
              <a:buChar char="•"/>
            </a:pPr>
            <a:r>
              <a:rPr lang="en-US" sz="1200" dirty="0">
                <a:solidFill>
                  <a:srgbClr val="4A5563"/>
                </a:solidFill>
                <a:latin typeface="Calibri" pitchFamily="34" charset="0"/>
                <a:ea typeface="Calibri" pitchFamily="34" charset="-122"/>
                <a:cs typeface="Calibri" pitchFamily="34" charset="-120"/>
              </a:rPr>
              <a:t>Record payments and report what’s outstanding</a:t>
            </a:r>
            <a:endParaRPr lang="en-US" sz="1200" dirty="0"/>
          </a:p>
        </p:txBody>
      </p:sp>
      <p:sp>
        <p:nvSpPr>
          <p:cNvPr id="24" name="Text 22"/>
          <p:cNvSpPr txBox="1"/>
          <p:nvPr/>
        </p:nvSpPr>
        <p:spPr>
          <a:xfrm>
            <a:off x="4489704" y="3840480"/>
            <a:ext cx="3227832" cy="411480"/>
          </a:xfrm>
          <a:prstGeom prst="rect">
            <a:avLst/>
          </a:prstGeom>
          <a:noFill/>
          <a:ln/>
        </p:spPr>
        <p:txBody>
          <a:bodyPr wrap="square" lIns="0" tIns="0" rIns="0" bIns="0" rtlCol="0" anchor="ctr"/>
          <a:lstStyle/>
          <a:p>
            <a:pPr indent="0" marL="0">
              <a:buNone/>
            </a:pPr>
            <a:r>
              <a:rPr lang="en-US" sz="1100" i="1" dirty="0">
                <a:solidFill>
                  <a:srgbClr val="187A5E"/>
                </a:solidFill>
                <a:latin typeface="Calibri" pitchFamily="34" charset="0"/>
                <a:ea typeface="Calibri" pitchFamily="34" charset="-122"/>
                <a:cs typeface="Calibri" pitchFamily="34" charset="-120"/>
              </a:rPr>
              <a:t>About 10 credit customers today.</a:t>
            </a:r>
            <a:endParaRPr lang="en-US" sz="1100" dirty="0"/>
          </a:p>
        </p:txBody>
      </p:sp>
      <p:sp>
        <p:nvSpPr>
          <p:cNvPr id="25" name="Tick box: Agree"/>
          <p:cNvSpPr txBox="1"/>
          <p:nvPr/>
        </p:nvSpPr>
        <p:spPr>
          <a:xfrm>
            <a:off x="4489704" y="436168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6" name="Text 24"/>
          <p:cNvSpPr txBox="1"/>
          <p:nvPr/>
        </p:nvSpPr>
        <p:spPr>
          <a:xfrm>
            <a:off x="4782312" y="4343400"/>
            <a:ext cx="80467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Agree</a:t>
            </a:r>
            <a:endParaRPr lang="en-US" sz="1200" dirty="0"/>
          </a:p>
        </p:txBody>
      </p:sp>
      <p:sp>
        <p:nvSpPr>
          <p:cNvPr id="27" name="Tick box: Change it"/>
          <p:cNvSpPr txBox="1"/>
          <p:nvPr/>
        </p:nvSpPr>
        <p:spPr>
          <a:xfrm>
            <a:off x="5632704" y="436168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8" name="Text 26"/>
          <p:cNvSpPr txBox="1"/>
          <p:nvPr/>
        </p:nvSpPr>
        <p:spPr>
          <a:xfrm>
            <a:off x="5925312" y="4343400"/>
            <a:ext cx="10789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Change it</a:t>
            </a:r>
            <a:endParaRPr lang="en-US" sz="1200" dirty="0"/>
          </a:p>
        </p:txBody>
      </p:sp>
      <p:sp>
        <p:nvSpPr>
          <p:cNvPr id="29" name="Input: Share of the week / changes"/>
          <p:cNvSpPr txBox="1"/>
          <p:nvPr/>
        </p:nvSpPr>
        <p:spPr>
          <a:xfrm>
            <a:off x="4489704" y="4709160"/>
            <a:ext cx="3182112" cy="123444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SHARE OF THE WEEK / CHANGES</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e.g. 40% of the week. Add or remove tasks…</a:t>
            </a:r>
            <a:endParaRPr lang="en-US" sz="900" dirty="0"/>
          </a:p>
        </p:txBody>
      </p:sp>
      <p:sp>
        <p:nvSpPr>
          <p:cNvPr id="30" name="Card"/>
          <p:cNvSpPr/>
          <p:nvPr/>
        </p:nvSpPr>
        <p:spPr>
          <a:xfrm>
            <a:off x="8065008" y="1783080"/>
            <a:ext cx="3639312" cy="4343400"/>
          </a:xfrm>
          <a:prstGeom prst="roundRect">
            <a:avLst>
              <a:gd name="adj" fmla="val 2010"/>
            </a:avLst>
          </a:prstGeom>
          <a:solidFill>
            <a:srgbClr val="FFFFFF"/>
          </a:solidFill>
          <a:ln w="9525">
            <a:solidFill>
              <a:srgbClr val="DDE4E0"/>
            </a:solidFill>
            <a:prstDash val="solid"/>
          </a:ln>
        </p:spPr>
      </p:sp>
      <p:sp>
        <p:nvSpPr>
          <p:cNvPr id="31" name="Text 29"/>
          <p:cNvSpPr txBox="1"/>
          <p:nvPr/>
        </p:nvSpPr>
        <p:spPr>
          <a:xfrm>
            <a:off x="8293608" y="2011680"/>
            <a:ext cx="384048" cy="384048"/>
          </a:xfrm>
          <a:prstGeom prst="ellipse">
            <a:avLst/>
          </a:prstGeom>
          <a:solidFill>
            <a:srgbClr val="187A5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2" name="Text 30"/>
          <p:cNvSpPr txBox="1"/>
          <p:nvPr/>
        </p:nvSpPr>
        <p:spPr>
          <a:xfrm>
            <a:off x="8796528" y="2011680"/>
            <a:ext cx="2724912" cy="384048"/>
          </a:xfrm>
          <a:prstGeom prst="rect">
            <a:avLst/>
          </a:prstGeom>
          <a:noFill/>
          <a:ln/>
        </p:spPr>
        <p:txBody>
          <a:bodyPr wrap="square" lIns="0" tIns="0" rIns="0" bIns="0" rtlCol="0" anchor="ctr"/>
          <a:lstStyle/>
          <a:p>
            <a:pPr indent="0" marL="0">
              <a:buNone/>
            </a:pPr>
            <a:r>
              <a:rPr lang="en-US" sz="1600" b="1" dirty="0">
                <a:solidFill>
                  <a:srgbClr val="1B2430"/>
                </a:solidFill>
                <a:latin typeface="Cambria" pitchFamily="34" charset="0"/>
                <a:ea typeface="Cambria" pitchFamily="34" charset="-122"/>
                <a:cs typeface="Cambria" pitchFamily="34" charset="-120"/>
              </a:rPr>
              <a:t>Customer reactivation</a:t>
            </a:r>
            <a:endParaRPr lang="en-US" sz="1600" dirty="0"/>
          </a:p>
        </p:txBody>
      </p:sp>
      <p:sp>
        <p:nvSpPr>
          <p:cNvPr id="33" name="Text 31"/>
          <p:cNvSpPr txBox="1"/>
          <p:nvPr/>
        </p:nvSpPr>
        <p:spPr>
          <a:xfrm>
            <a:off x="8293608" y="2560320"/>
            <a:ext cx="3227832" cy="123444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4A5563"/>
                </a:solidFill>
                <a:latin typeface="Calibri" pitchFamily="34" charset="0"/>
                <a:ea typeface="Calibri" pitchFamily="34" charset="-122"/>
                <a:cs typeface="Calibri" pitchFamily="34" charset="-120"/>
              </a:rPr>
              <a:t>Contact the 500–600 sleeping customers</a:t>
            </a:r>
            <a:endParaRPr lang="en-US" sz="1200" dirty="0"/>
          </a:p>
          <a:p>
            <a:pPr marL="342900" indent="-342900">
              <a:spcAft>
                <a:spcPts val="400"/>
              </a:spcAft>
              <a:buSzPct val="100000"/>
              <a:buChar char="•"/>
            </a:pPr>
            <a:r>
              <a:rPr lang="en-US" sz="1200" dirty="0">
                <a:solidFill>
                  <a:srgbClr val="4A5563"/>
                </a:solidFill>
                <a:latin typeface="Calibri" pitchFamily="34" charset="0"/>
                <a:ea typeface="Calibri" pitchFamily="34" charset="-122"/>
                <a:cs typeface="Calibri" pitchFamily="34" charset="-120"/>
              </a:rPr>
              <a:t>Track each one in a simple Excel tracker</a:t>
            </a:r>
            <a:endParaRPr lang="en-US" sz="1200" dirty="0"/>
          </a:p>
          <a:p>
            <a:pPr marL="342900" indent="-342900">
              <a:spcAft>
                <a:spcPts val="400"/>
              </a:spcAft>
              <a:buSzPct val="100000"/>
              <a:buChar char="•"/>
            </a:pPr>
            <a:r>
              <a:rPr lang="en-US" sz="1200" dirty="0">
                <a:solidFill>
                  <a:srgbClr val="4A5563"/>
                </a:solidFill>
                <a:latin typeface="Calibri" pitchFamily="34" charset="0"/>
                <a:ea typeface="Calibri" pitchFamily="34" charset="-122"/>
                <a:cs typeface="Calibri" pitchFamily="34" charset="-120"/>
              </a:rPr>
              <a:t>Aim for 15 back ordering every month</a:t>
            </a:r>
            <a:endParaRPr lang="en-US" sz="1200" dirty="0"/>
          </a:p>
        </p:txBody>
      </p:sp>
      <p:sp>
        <p:nvSpPr>
          <p:cNvPr id="34" name="Text 32"/>
          <p:cNvSpPr txBox="1"/>
          <p:nvPr/>
        </p:nvSpPr>
        <p:spPr>
          <a:xfrm>
            <a:off x="8293608" y="3840480"/>
            <a:ext cx="3227832" cy="411480"/>
          </a:xfrm>
          <a:prstGeom prst="rect">
            <a:avLst/>
          </a:prstGeom>
          <a:noFill/>
          <a:ln/>
        </p:spPr>
        <p:txBody>
          <a:bodyPr wrap="square" lIns="0" tIns="0" rIns="0" bIns="0" rtlCol="0" anchor="ctr"/>
          <a:lstStyle/>
          <a:p>
            <a:pPr indent="0" marL="0">
              <a:buNone/>
            </a:pPr>
            <a:r>
              <a:rPr lang="en-US" sz="1100" i="1" dirty="0">
                <a:solidFill>
                  <a:srgbClr val="187A5E"/>
                </a:solidFill>
                <a:latin typeface="Calibri" pitchFamily="34" charset="0"/>
                <a:ea typeface="Calibri" pitchFamily="34" charset="-122"/>
                <a:cs typeface="Calibri" pitchFamily="34" charset="-120"/>
              </a:rPr>
              <a:t>What would make this hire “outstanding”.</a:t>
            </a:r>
            <a:endParaRPr lang="en-US" sz="1100" dirty="0"/>
          </a:p>
        </p:txBody>
      </p:sp>
      <p:sp>
        <p:nvSpPr>
          <p:cNvPr id="35" name="Tick box: Agree"/>
          <p:cNvSpPr txBox="1"/>
          <p:nvPr/>
        </p:nvSpPr>
        <p:spPr>
          <a:xfrm>
            <a:off x="8293608" y="436168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6" name="Text 34"/>
          <p:cNvSpPr txBox="1"/>
          <p:nvPr/>
        </p:nvSpPr>
        <p:spPr>
          <a:xfrm>
            <a:off x="8586216" y="4343400"/>
            <a:ext cx="80467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Agree</a:t>
            </a:r>
            <a:endParaRPr lang="en-US" sz="1200" dirty="0"/>
          </a:p>
        </p:txBody>
      </p:sp>
      <p:sp>
        <p:nvSpPr>
          <p:cNvPr id="37" name="Tick box: Change it"/>
          <p:cNvSpPr txBox="1"/>
          <p:nvPr/>
        </p:nvSpPr>
        <p:spPr>
          <a:xfrm>
            <a:off x="9436608" y="436168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8" name="Text 36"/>
          <p:cNvSpPr txBox="1"/>
          <p:nvPr/>
        </p:nvSpPr>
        <p:spPr>
          <a:xfrm>
            <a:off x="9729216" y="4343400"/>
            <a:ext cx="10789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Change it</a:t>
            </a:r>
            <a:endParaRPr lang="en-US" sz="1200" dirty="0"/>
          </a:p>
        </p:txBody>
      </p:sp>
      <p:sp>
        <p:nvSpPr>
          <p:cNvPr id="39" name="Input: Share of the week / changes"/>
          <p:cNvSpPr txBox="1"/>
          <p:nvPr/>
        </p:nvSpPr>
        <p:spPr>
          <a:xfrm>
            <a:off x="8293608" y="4709160"/>
            <a:ext cx="3182112" cy="123444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SHARE OF THE WEEK / CHANGES</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e.g. 40% of the week. Add or remove tasks…</a:t>
            </a:r>
            <a:endParaRPr lang="en-US" sz="9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A  ·  04</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Close the loop: the escalation flow</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You don’t expect the VA to fix everything, but the VA always goes back to the customer.</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sp>
        <p:nvSpPr>
          <p:cNvPr id="10" name="Text 8"/>
          <p:cNvSpPr txBox="1"/>
          <p:nvPr/>
        </p:nvSpPr>
        <p:spPr>
          <a:xfrm>
            <a:off x="457200" y="1828800"/>
            <a:ext cx="2148840" cy="685800"/>
          </a:xfrm>
          <a:prstGeom prst="chevron">
            <a:avLst/>
          </a:prstGeom>
          <a:solidFill>
            <a:srgbClr val="187A5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Identify</a:t>
            </a:r>
            <a:endParaRPr lang="en-US" sz="1400" dirty="0"/>
          </a:p>
        </p:txBody>
      </p:sp>
      <p:sp>
        <p:nvSpPr>
          <p:cNvPr id="11" name="Text 9"/>
          <p:cNvSpPr txBox="1"/>
          <p:nvPr/>
        </p:nvSpPr>
        <p:spPr>
          <a:xfrm>
            <a:off x="2724912" y="1828800"/>
            <a:ext cx="2148840" cy="685800"/>
          </a:xfrm>
          <a:prstGeom prst="chevron">
            <a:avLst/>
          </a:prstGeom>
          <a:solidFill>
            <a:srgbClr val="187A5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Escalate</a:t>
            </a:r>
            <a:endParaRPr lang="en-US" sz="1400" dirty="0"/>
          </a:p>
        </p:txBody>
      </p:sp>
      <p:sp>
        <p:nvSpPr>
          <p:cNvPr id="12" name="Text 10"/>
          <p:cNvSpPr txBox="1"/>
          <p:nvPr/>
        </p:nvSpPr>
        <p:spPr>
          <a:xfrm>
            <a:off x="4992624" y="1828800"/>
            <a:ext cx="2148840" cy="685800"/>
          </a:xfrm>
          <a:prstGeom prst="chevron">
            <a:avLst/>
          </a:prstGeom>
          <a:solidFill>
            <a:srgbClr val="187A5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Follow up</a:t>
            </a:r>
            <a:endParaRPr lang="en-US" sz="1400" dirty="0"/>
          </a:p>
        </p:txBody>
      </p:sp>
      <p:sp>
        <p:nvSpPr>
          <p:cNvPr id="13" name="Text 11"/>
          <p:cNvSpPr txBox="1"/>
          <p:nvPr/>
        </p:nvSpPr>
        <p:spPr>
          <a:xfrm>
            <a:off x="7260336" y="1828800"/>
            <a:ext cx="2148840" cy="685800"/>
          </a:xfrm>
          <a:prstGeom prst="chevron">
            <a:avLst/>
          </a:prstGeom>
          <a:solidFill>
            <a:srgbClr val="187A5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Update customer</a:t>
            </a:r>
            <a:endParaRPr lang="en-US" sz="1400" dirty="0"/>
          </a:p>
        </p:txBody>
      </p:sp>
      <p:sp>
        <p:nvSpPr>
          <p:cNvPr id="14" name="Text 12"/>
          <p:cNvSpPr txBox="1"/>
          <p:nvPr/>
        </p:nvSpPr>
        <p:spPr>
          <a:xfrm>
            <a:off x="9528048" y="1828800"/>
            <a:ext cx="2148840" cy="685800"/>
          </a:xfrm>
          <a:prstGeom prst="chevron">
            <a:avLst/>
          </a:prstGeom>
          <a:solidFill>
            <a:srgbClr val="11604A"/>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Close the loop</a:t>
            </a:r>
            <a:endParaRPr lang="en-US" sz="1400" dirty="0"/>
          </a:p>
        </p:txBody>
      </p:sp>
      <p:sp>
        <p:nvSpPr>
          <p:cNvPr id="15" name="Input: Delivery issues go to…"/>
          <p:cNvSpPr txBox="1"/>
          <p:nvPr/>
        </p:nvSpPr>
        <p:spPr>
          <a:xfrm>
            <a:off x="457200" y="2834640"/>
            <a:ext cx="3657600" cy="141732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DELIVERY ISSUES GO TO…</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Name of the fulfilment team member</a:t>
            </a:r>
            <a:endParaRPr lang="en-US" sz="900" dirty="0"/>
          </a:p>
        </p:txBody>
      </p:sp>
      <p:sp>
        <p:nvSpPr>
          <p:cNvPr id="16" name="Input: Special orders go to…"/>
          <p:cNvSpPr txBox="1"/>
          <p:nvPr/>
        </p:nvSpPr>
        <p:spPr>
          <a:xfrm>
            <a:off x="4261104" y="2834640"/>
            <a:ext cx="3657600" cy="141732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SPECIAL ORDERS GO TO…</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Who handles non-standard orders?</a:t>
            </a:r>
            <a:endParaRPr lang="en-US" sz="900" dirty="0"/>
          </a:p>
        </p:txBody>
      </p:sp>
      <p:sp>
        <p:nvSpPr>
          <p:cNvPr id="17" name="Input: The VA can fix alone…"/>
          <p:cNvSpPr txBox="1"/>
          <p:nvPr/>
        </p:nvSpPr>
        <p:spPr>
          <a:xfrm>
            <a:off x="8065008" y="2834640"/>
            <a:ext cx="3657600" cy="141732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THE VA CAN FIX ALONE…</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e.g. resend tracking, correct an address</a:t>
            </a:r>
            <a:endParaRPr lang="en-US" sz="900" dirty="0"/>
          </a:p>
        </p:txBody>
      </p:sp>
      <p:sp>
        <p:nvSpPr>
          <p:cNvPr id="18" name="Card"/>
          <p:cNvSpPr/>
          <p:nvPr/>
        </p:nvSpPr>
        <p:spPr>
          <a:xfrm>
            <a:off x="457200" y="4434840"/>
            <a:ext cx="11274552" cy="1691640"/>
          </a:xfrm>
          <a:prstGeom prst="roundRect">
            <a:avLst>
              <a:gd name="adj" fmla="val 4324"/>
            </a:avLst>
          </a:prstGeom>
          <a:solidFill>
            <a:srgbClr val="E4F2EC"/>
          </a:solidFill>
          <a:ln w="9525">
            <a:solidFill>
              <a:srgbClr val="E4F2EC"/>
            </a:solidFill>
            <a:prstDash val="solid"/>
          </a:ln>
        </p:spPr>
      </p:sp>
      <p:sp>
        <p:nvSpPr>
          <p:cNvPr id="19" name="Text 17"/>
          <p:cNvSpPr txBox="1"/>
          <p:nvPr/>
        </p:nvSpPr>
        <p:spPr>
          <a:xfrm>
            <a:off x="685800" y="4572000"/>
            <a:ext cx="36576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WHAT YOU TOLD US</a:t>
            </a:r>
            <a:endParaRPr lang="en-US" sz="1000" dirty="0"/>
          </a:p>
        </p:txBody>
      </p:sp>
      <p:sp>
        <p:nvSpPr>
          <p:cNvPr id="20" name="Text 18"/>
          <p:cNvSpPr txBox="1"/>
          <p:nvPr/>
        </p:nvSpPr>
        <p:spPr>
          <a:xfrm>
            <a:off x="685800" y="4846320"/>
            <a:ext cx="7589520" cy="1188720"/>
          </a:xfrm>
          <a:prstGeom prst="rect">
            <a:avLst/>
          </a:prstGeom>
          <a:noFill/>
          <a:ln/>
        </p:spPr>
        <p:txBody>
          <a:bodyPr wrap="square" lIns="0" tIns="0" rIns="0" bIns="0" rtlCol="0" anchor="t"/>
          <a:lstStyle/>
          <a:p>
            <a:pPr indent="0" marL="0">
              <a:buNone/>
            </a:pPr>
            <a:r>
              <a:rPr lang="en-US" sz="1250" dirty="0">
                <a:solidFill>
                  <a:srgbClr val="1B2430"/>
                </a:solidFill>
                <a:latin typeface="Calibri" pitchFamily="34" charset="0"/>
                <a:ea typeface="Calibri" pitchFamily="34" charset="-122"/>
                <a:cs typeface="Calibri" pitchFamily="34" charset="-120"/>
              </a:rPr>
              <a:t>• “Most of the time it’s all related to the delivery”, so the VA needs to align with the team.</a:t>
            </a:r>
            <a:endParaRPr lang="en-US" sz="1250" dirty="0"/>
          </a:p>
          <a:p>
            <a:pPr indent="0" marL="0">
              <a:buNone/>
            </a:pPr>
            <a:r>
              <a:rPr lang="en-US" sz="1250" dirty="0">
                <a:solidFill>
                  <a:srgbClr val="1B2430"/>
                </a:solidFill>
                <a:latin typeface="Calibri" pitchFamily="34" charset="0"/>
                <a:ea typeface="Calibri" pitchFamily="34" charset="-122"/>
                <a:cs typeface="Calibri" pitchFamily="34" charset="-120"/>
              </a:rPr>
              <a:t>• Once the VA escalates, the VA is the one who goes back to the customer.</a:t>
            </a:r>
            <a:endParaRPr lang="en-US" sz="1250" dirty="0"/>
          </a:p>
          <a:p>
            <a:pPr indent="0" marL="0">
              <a:buNone/>
            </a:pPr>
            <a:r>
              <a:rPr lang="en-US" sz="1250" dirty="0">
                <a:solidFill>
                  <a:srgbClr val="1B2430"/>
                </a:solidFill>
                <a:latin typeface="Calibri" pitchFamily="34" charset="0"/>
                <a:ea typeface="Calibri" pitchFamily="34" charset="-122"/>
                <a:cs typeface="Calibri" pitchFamily="34" charset="-120"/>
              </a:rPr>
              <a:t>• Mistakes: “Just tell me straight.” Your fulfilment team is a second check on orders.</a:t>
            </a:r>
            <a:endParaRPr lang="en-US" sz="1250" dirty="0"/>
          </a:p>
        </p:txBody>
      </p:sp>
      <p:sp>
        <p:nvSpPr>
          <p:cNvPr id="21" name="Tick box: This flow is right"/>
          <p:cNvSpPr txBox="1"/>
          <p:nvPr/>
        </p:nvSpPr>
        <p:spPr>
          <a:xfrm>
            <a:off x="8595360" y="468172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2" name="Text 20"/>
          <p:cNvSpPr txBox="1"/>
          <p:nvPr/>
        </p:nvSpPr>
        <p:spPr>
          <a:xfrm>
            <a:off x="8887968" y="4663440"/>
            <a:ext cx="263347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This flow is right</a:t>
            </a:r>
            <a:endParaRPr lang="en-US" sz="1200" dirty="0"/>
          </a:p>
        </p:txBody>
      </p:sp>
      <p:sp>
        <p:nvSpPr>
          <p:cNvPr id="23" name="Tick box: Let’s adjust it"/>
          <p:cNvSpPr txBox="1"/>
          <p:nvPr/>
        </p:nvSpPr>
        <p:spPr>
          <a:xfrm>
            <a:off x="8595360" y="504748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4" name="Text 22"/>
          <p:cNvSpPr txBox="1"/>
          <p:nvPr/>
        </p:nvSpPr>
        <p:spPr>
          <a:xfrm>
            <a:off x="8887968" y="5029200"/>
            <a:ext cx="263347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Let’s adjust it</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A  ·  05</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Order hand-off: where the VA’s job starts and ends</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“Key in the wrong item” is the mistake you most want to avoid.</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sp>
        <p:nvSpPr>
          <p:cNvPr id="10" name="Card"/>
          <p:cNvSpPr/>
          <p:nvPr/>
        </p:nvSpPr>
        <p:spPr>
          <a:xfrm>
            <a:off x="457200" y="1828800"/>
            <a:ext cx="2606040" cy="1371600"/>
          </a:xfrm>
          <a:prstGeom prst="roundRect">
            <a:avLst>
              <a:gd name="adj" fmla="val 5333"/>
            </a:avLst>
          </a:prstGeom>
          <a:solidFill>
            <a:srgbClr val="FFFFFF"/>
          </a:solidFill>
          <a:ln w="9525">
            <a:solidFill>
              <a:srgbClr val="DDE4E0"/>
            </a:solidFill>
            <a:prstDash val="solid"/>
          </a:ln>
        </p:spPr>
      </p:sp>
      <p:sp>
        <p:nvSpPr>
          <p:cNvPr id="11" name="Text 9"/>
          <p:cNvSpPr txBox="1"/>
          <p:nvPr/>
        </p:nvSpPr>
        <p:spPr>
          <a:xfrm>
            <a:off x="640080" y="1965960"/>
            <a:ext cx="347472" cy="347472"/>
          </a:xfrm>
          <a:prstGeom prst="ellipse">
            <a:avLst/>
          </a:prstGeom>
          <a:solidFill>
            <a:srgbClr val="187A5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2" name="Text 10"/>
          <p:cNvSpPr txBox="1"/>
          <p:nvPr/>
        </p:nvSpPr>
        <p:spPr>
          <a:xfrm>
            <a:off x="1097280" y="1965960"/>
            <a:ext cx="1874520" cy="347472"/>
          </a:xfrm>
          <a:prstGeom prst="rect">
            <a:avLst/>
          </a:prstGeom>
          <a:noFill/>
          <a:ln/>
        </p:spPr>
        <p:txBody>
          <a:bodyPr wrap="square" lIns="0" tIns="0" rIns="0" bIns="0" rtlCol="0" anchor="ctr"/>
          <a:lstStyle/>
          <a:p>
            <a:pPr indent="0" marL="0">
              <a:buNone/>
            </a:pPr>
            <a:r>
              <a:rPr lang="en-US" sz="1400" b="1" dirty="0">
                <a:solidFill>
                  <a:srgbClr val="1B2430"/>
                </a:solidFill>
                <a:latin typeface="Cambria" pitchFamily="34" charset="0"/>
                <a:ea typeface="Cambria" pitchFamily="34" charset="-122"/>
                <a:cs typeface="Cambria" pitchFamily="34" charset="-120"/>
              </a:rPr>
              <a:t>Customer orders</a:t>
            </a:r>
            <a:endParaRPr lang="en-US" sz="1400" dirty="0"/>
          </a:p>
        </p:txBody>
      </p:sp>
      <p:sp>
        <p:nvSpPr>
          <p:cNvPr id="13" name="Text 11"/>
          <p:cNvSpPr txBox="1"/>
          <p:nvPr/>
        </p:nvSpPr>
        <p:spPr>
          <a:xfrm>
            <a:off x="640080" y="2423160"/>
            <a:ext cx="2286000" cy="731520"/>
          </a:xfrm>
          <a:prstGeom prst="rect">
            <a:avLst/>
          </a:prstGeom>
          <a:noFill/>
          <a:ln/>
        </p:spPr>
        <p:txBody>
          <a:bodyPr wrap="square" lIns="0" tIns="0" rIns="0" bIns="0" rtlCol="0" anchor="t"/>
          <a:lstStyle/>
          <a:p>
            <a:pPr indent="0" marL="0">
              <a:buNone/>
            </a:pPr>
            <a:r>
              <a:rPr lang="en-US" sz="1200" dirty="0">
                <a:solidFill>
                  <a:srgbClr val="4A5563"/>
                </a:solidFill>
                <a:latin typeface="Calibri" pitchFamily="34" charset="0"/>
                <a:ea typeface="Calibri" pitchFamily="34" charset="-122"/>
                <a:cs typeface="Calibri" pitchFamily="34" charset="-120"/>
              </a:rPr>
              <a:t>Shopify or Order Mentor</a:t>
            </a:r>
            <a:endParaRPr lang="en-US" sz="1200" dirty="0"/>
          </a:p>
        </p:txBody>
      </p:sp>
      <p:sp>
        <p:nvSpPr>
          <p:cNvPr id="14" name="Shape 12"/>
          <p:cNvSpPr/>
          <p:nvPr/>
        </p:nvSpPr>
        <p:spPr>
          <a:xfrm>
            <a:off x="3090672" y="2377440"/>
            <a:ext cx="201168" cy="274320"/>
          </a:xfrm>
          <a:prstGeom prst="rightArrow">
            <a:avLst/>
          </a:prstGeom>
          <a:solidFill>
            <a:srgbClr val="DDE4E0"/>
          </a:solidFill>
          <a:ln w="12700">
            <a:solidFill>
              <a:srgbClr val="DDE4E0"/>
            </a:solidFill>
            <a:prstDash val="solid"/>
          </a:ln>
        </p:spPr>
      </p:sp>
      <p:sp>
        <p:nvSpPr>
          <p:cNvPr id="15" name="Card"/>
          <p:cNvSpPr/>
          <p:nvPr/>
        </p:nvSpPr>
        <p:spPr>
          <a:xfrm>
            <a:off x="3319272" y="1828800"/>
            <a:ext cx="2606040" cy="1371600"/>
          </a:xfrm>
          <a:prstGeom prst="roundRect">
            <a:avLst>
              <a:gd name="adj" fmla="val 5333"/>
            </a:avLst>
          </a:prstGeom>
          <a:solidFill>
            <a:srgbClr val="FFFFFF"/>
          </a:solidFill>
          <a:ln w="9525">
            <a:solidFill>
              <a:srgbClr val="DDE4E0"/>
            </a:solidFill>
            <a:prstDash val="solid"/>
          </a:ln>
        </p:spPr>
      </p:sp>
      <p:sp>
        <p:nvSpPr>
          <p:cNvPr id="16" name="Text 14"/>
          <p:cNvSpPr txBox="1"/>
          <p:nvPr/>
        </p:nvSpPr>
        <p:spPr>
          <a:xfrm>
            <a:off x="3502152" y="1965960"/>
            <a:ext cx="347472" cy="347472"/>
          </a:xfrm>
          <a:prstGeom prst="ellipse">
            <a:avLst/>
          </a:prstGeom>
          <a:solidFill>
            <a:srgbClr val="187A5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5"/>
          <p:cNvSpPr txBox="1"/>
          <p:nvPr/>
        </p:nvSpPr>
        <p:spPr>
          <a:xfrm>
            <a:off x="3959352" y="1965960"/>
            <a:ext cx="1874520" cy="347472"/>
          </a:xfrm>
          <a:prstGeom prst="rect">
            <a:avLst/>
          </a:prstGeom>
          <a:noFill/>
          <a:ln/>
        </p:spPr>
        <p:txBody>
          <a:bodyPr wrap="square" lIns="0" tIns="0" rIns="0" bIns="0" rtlCol="0" anchor="ctr"/>
          <a:lstStyle/>
          <a:p>
            <a:pPr indent="0" marL="0">
              <a:buNone/>
            </a:pPr>
            <a:r>
              <a:rPr lang="en-US" sz="1400" b="1" dirty="0">
                <a:solidFill>
                  <a:srgbClr val="1B2430"/>
                </a:solidFill>
                <a:latin typeface="Cambria" pitchFamily="34" charset="0"/>
                <a:ea typeface="Cambria" pitchFamily="34" charset="-122"/>
                <a:cs typeface="Cambria" pitchFamily="34" charset="-120"/>
              </a:rPr>
              <a:t>VA enters &amp; confirms</a:t>
            </a:r>
            <a:endParaRPr lang="en-US" sz="1400" dirty="0"/>
          </a:p>
        </p:txBody>
      </p:sp>
      <p:sp>
        <p:nvSpPr>
          <p:cNvPr id="18" name="Text 16"/>
          <p:cNvSpPr txBox="1"/>
          <p:nvPr/>
        </p:nvSpPr>
        <p:spPr>
          <a:xfrm>
            <a:off x="3502152" y="2423160"/>
            <a:ext cx="2286000" cy="731520"/>
          </a:xfrm>
          <a:prstGeom prst="rect">
            <a:avLst/>
          </a:prstGeom>
          <a:noFill/>
          <a:ln/>
        </p:spPr>
        <p:txBody>
          <a:bodyPr wrap="square" lIns="0" tIns="0" rIns="0" bIns="0" rtlCol="0" anchor="t"/>
          <a:lstStyle/>
          <a:p>
            <a:pPr indent="0" marL="0">
              <a:buNone/>
            </a:pPr>
            <a:r>
              <a:rPr lang="en-US" sz="1200" dirty="0">
                <a:solidFill>
                  <a:srgbClr val="4A5563"/>
                </a:solidFill>
                <a:latin typeface="Calibri" pitchFamily="34" charset="0"/>
                <a:ea typeface="Calibri" pitchFamily="34" charset="-122"/>
                <a:cs typeface="Calibri" pitchFamily="34" charset="-120"/>
              </a:rPr>
              <a:t>Item, quantity, address</a:t>
            </a:r>
            <a:endParaRPr lang="en-US" sz="1200" dirty="0"/>
          </a:p>
        </p:txBody>
      </p:sp>
      <p:sp>
        <p:nvSpPr>
          <p:cNvPr id="19" name="Shape 17"/>
          <p:cNvSpPr/>
          <p:nvPr/>
        </p:nvSpPr>
        <p:spPr>
          <a:xfrm>
            <a:off x="5952744" y="2377440"/>
            <a:ext cx="201168" cy="274320"/>
          </a:xfrm>
          <a:prstGeom prst="rightArrow">
            <a:avLst/>
          </a:prstGeom>
          <a:solidFill>
            <a:srgbClr val="DDE4E0"/>
          </a:solidFill>
          <a:ln w="12700">
            <a:solidFill>
              <a:srgbClr val="DDE4E0"/>
            </a:solidFill>
            <a:prstDash val="solid"/>
          </a:ln>
        </p:spPr>
      </p:sp>
      <p:sp>
        <p:nvSpPr>
          <p:cNvPr id="20" name="Card"/>
          <p:cNvSpPr/>
          <p:nvPr/>
        </p:nvSpPr>
        <p:spPr>
          <a:xfrm>
            <a:off x="6181344" y="1828800"/>
            <a:ext cx="2606040" cy="1371600"/>
          </a:xfrm>
          <a:prstGeom prst="roundRect">
            <a:avLst>
              <a:gd name="adj" fmla="val 5333"/>
            </a:avLst>
          </a:prstGeom>
          <a:solidFill>
            <a:srgbClr val="FFFFFF"/>
          </a:solidFill>
          <a:ln w="9525">
            <a:solidFill>
              <a:srgbClr val="DDE4E0"/>
            </a:solidFill>
            <a:prstDash val="solid"/>
          </a:ln>
        </p:spPr>
      </p:sp>
      <p:sp>
        <p:nvSpPr>
          <p:cNvPr id="21" name="Text 19"/>
          <p:cNvSpPr txBox="1"/>
          <p:nvPr/>
        </p:nvSpPr>
        <p:spPr>
          <a:xfrm>
            <a:off x="6364224" y="1965960"/>
            <a:ext cx="347472" cy="347472"/>
          </a:xfrm>
          <a:prstGeom prst="ellipse">
            <a:avLst/>
          </a:prstGeom>
          <a:solidFill>
            <a:srgbClr val="187A5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20"/>
          <p:cNvSpPr txBox="1"/>
          <p:nvPr/>
        </p:nvSpPr>
        <p:spPr>
          <a:xfrm>
            <a:off x="6821424" y="1965960"/>
            <a:ext cx="1874520" cy="347472"/>
          </a:xfrm>
          <a:prstGeom prst="rect">
            <a:avLst/>
          </a:prstGeom>
          <a:noFill/>
          <a:ln/>
        </p:spPr>
        <p:txBody>
          <a:bodyPr wrap="square" lIns="0" tIns="0" rIns="0" bIns="0" rtlCol="0" anchor="ctr"/>
          <a:lstStyle/>
          <a:p>
            <a:pPr indent="0" marL="0">
              <a:buNone/>
            </a:pPr>
            <a:r>
              <a:rPr lang="en-US" sz="1400" b="1" dirty="0">
                <a:solidFill>
                  <a:srgbClr val="1B2430"/>
                </a:solidFill>
                <a:latin typeface="Cambria" pitchFamily="34" charset="0"/>
                <a:ea typeface="Cambria" pitchFamily="34" charset="-122"/>
                <a:cs typeface="Cambria" pitchFamily="34" charset="-120"/>
              </a:rPr>
              <a:t>Payment</a:t>
            </a:r>
            <a:endParaRPr lang="en-US" sz="1400" dirty="0"/>
          </a:p>
        </p:txBody>
      </p:sp>
      <p:sp>
        <p:nvSpPr>
          <p:cNvPr id="23" name="Text 21"/>
          <p:cNvSpPr txBox="1"/>
          <p:nvPr/>
        </p:nvSpPr>
        <p:spPr>
          <a:xfrm>
            <a:off x="6364224" y="2423160"/>
            <a:ext cx="2286000" cy="731520"/>
          </a:xfrm>
          <a:prstGeom prst="rect">
            <a:avLst/>
          </a:prstGeom>
          <a:noFill/>
          <a:ln/>
        </p:spPr>
        <p:txBody>
          <a:bodyPr wrap="square" lIns="0" tIns="0" rIns="0" bIns="0" rtlCol="0" anchor="t"/>
          <a:lstStyle/>
          <a:p>
            <a:pPr indent="0" marL="0">
              <a:buNone/>
            </a:pPr>
            <a:r>
              <a:rPr lang="en-US" sz="1200" dirty="0">
                <a:solidFill>
                  <a:srgbClr val="4A5563"/>
                </a:solidFill>
                <a:latin typeface="Calibri" pitchFamily="34" charset="0"/>
                <a:ea typeface="Calibri" pitchFamily="34" charset="-122"/>
                <a:cs typeface="Calibri" pitchFamily="34" charset="-120"/>
              </a:rPr>
              <a:t>COD: mark as paid</a:t>
            </a:r>
            <a:endParaRPr lang="en-US" sz="1200" dirty="0"/>
          </a:p>
          <a:p>
            <a:pPr indent="0" marL="0">
              <a:buNone/>
            </a:pPr>
            <a:r>
              <a:rPr lang="en-US" sz="1200" dirty="0">
                <a:solidFill>
                  <a:srgbClr val="4A5563"/>
                </a:solidFill>
                <a:latin typeface="Calibri" pitchFamily="34" charset="0"/>
                <a:ea typeface="Calibri" pitchFamily="34" charset="-122"/>
                <a:cs typeface="Calibri" pitchFamily="34" charset="-120"/>
              </a:rPr>
              <a:t>Credit: invoice, then AR</a:t>
            </a:r>
            <a:endParaRPr lang="en-US" sz="1200" dirty="0"/>
          </a:p>
        </p:txBody>
      </p:sp>
      <p:sp>
        <p:nvSpPr>
          <p:cNvPr id="24" name="Shape 22"/>
          <p:cNvSpPr/>
          <p:nvPr/>
        </p:nvSpPr>
        <p:spPr>
          <a:xfrm>
            <a:off x="8814816" y="2377440"/>
            <a:ext cx="201168" cy="274320"/>
          </a:xfrm>
          <a:prstGeom prst="rightArrow">
            <a:avLst/>
          </a:prstGeom>
          <a:solidFill>
            <a:srgbClr val="DDE4E0"/>
          </a:solidFill>
          <a:ln w="12700">
            <a:solidFill>
              <a:srgbClr val="DDE4E0"/>
            </a:solidFill>
            <a:prstDash val="solid"/>
          </a:ln>
        </p:spPr>
      </p:sp>
      <p:sp>
        <p:nvSpPr>
          <p:cNvPr id="25" name="Card"/>
          <p:cNvSpPr/>
          <p:nvPr/>
        </p:nvSpPr>
        <p:spPr>
          <a:xfrm>
            <a:off x="9043416" y="1828800"/>
            <a:ext cx="2606040" cy="1371600"/>
          </a:xfrm>
          <a:prstGeom prst="roundRect">
            <a:avLst>
              <a:gd name="adj" fmla="val 5333"/>
            </a:avLst>
          </a:prstGeom>
          <a:solidFill>
            <a:srgbClr val="F1F4F2"/>
          </a:solidFill>
          <a:ln w="9525">
            <a:solidFill>
              <a:srgbClr val="DDE4E0"/>
            </a:solidFill>
            <a:prstDash val="solid"/>
          </a:ln>
        </p:spPr>
      </p:sp>
      <p:sp>
        <p:nvSpPr>
          <p:cNvPr id="26" name="Text 24"/>
          <p:cNvSpPr txBox="1"/>
          <p:nvPr/>
        </p:nvSpPr>
        <p:spPr>
          <a:xfrm>
            <a:off x="9226296" y="1965960"/>
            <a:ext cx="347472" cy="347472"/>
          </a:xfrm>
          <a:prstGeom prst="ellipse">
            <a:avLst/>
          </a:prstGeom>
          <a:solidFill>
            <a:srgbClr val="6B7480"/>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7" name="Text 25"/>
          <p:cNvSpPr txBox="1"/>
          <p:nvPr/>
        </p:nvSpPr>
        <p:spPr>
          <a:xfrm>
            <a:off x="9683496" y="1965960"/>
            <a:ext cx="1874520" cy="347472"/>
          </a:xfrm>
          <a:prstGeom prst="rect">
            <a:avLst/>
          </a:prstGeom>
          <a:noFill/>
          <a:ln/>
        </p:spPr>
        <p:txBody>
          <a:bodyPr wrap="square" lIns="0" tIns="0" rIns="0" bIns="0" rtlCol="0" anchor="ctr"/>
          <a:lstStyle/>
          <a:p>
            <a:pPr indent="0" marL="0">
              <a:buNone/>
            </a:pPr>
            <a:r>
              <a:rPr lang="en-US" sz="1400" b="1" dirty="0">
                <a:solidFill>
                  <a:srgbClr val="1B2430"/>
                </a:solidFill>
                <a:latin typeface="Cambria" pitchFamily="34" charset="0"/>
                <a:ea typeface="Cambria" pitchFamily="34" charset="-122"/>
                <a:cs typeface="Cambria" pitchFamily="34" charset="-120"/>
              </a:rPr>
              <a:t>Hand to fulfilment</a:t>
            </a:r>
            <a:endParaRPr lang="en-US" sz="1400" dirty="0"/>
          </a:p>
        </p:txBody>
      </p:sp>
      <p:sp>
        <p:nvSpPr>
          <p:cNvPr id="28" name="Text 26"/>
          <p:cNvSpPr txBox="1"/>
          <p:nvPr/>
        </p:nvSpPr>
        <p:spPr>
          <a:xfrm>
            <a:off x="9226296" y="2423160"/>
            <a:ext cx="2286000" cy="731520"/>
          </a:xfrm>
          <a:prstGeom prst="rect">
            <a:avLst/>
          </a:prstGeom>
          <a:noFill/>
          <a:ln/>
        </p:spPr>
        <p:txBody>
          <a:bodyPr wrap="square" lIns="0" tIns="0" rIns="0" bIns="0" rtlCol="0" anchor="t"/>
          <a:lstStyle/>
          <a:p>
            <a:pPr indent="0" marL="0">
              <a:buNone/>
            </a:pPr>
            <a:r>
              <a:rPr lang="en-US" sz="1200" dirty="0">
                <a:solidFill>
                  <a:srgbClr val="4A5563"/>
                </a:solidFill>
                <a:latin typeface="Calibri" pitchFamily="34" charset="0"/>
                <a:ea typeface="Calibri" pitchFamily="34" charset="-122"/>
                <a:cs typeface="Calibri" pitchFamily="34" charset="-120"/>
              </a:rPr>
              <a:t>Pick, pack and logistics</a:t>
            </a:r>
            <a:endParaRPr lang="en-US" sz="1200" dirty="0"/>
          </a:p>
        </p:txBody>
      </p:sp>
      <p:sp>
        <p:nvSpPr>
          <p:cNvPr id="29" name="Text 27"/>
          <p:cNvSpPr txBox="1"/>
          <p:nvPr/>
        </p:nvSpPr>
        <p:spPr>
          <a:xfrm>
            <a:off x="457200" y="3291840"/>
            <a:ext cx="7315200" cy="274320"/>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VA OWNS STEPS 1–3  ·  FULFILMENT OWNS STEP 4</a:t>
            </a:r>
            <a:endParaRPr lang="en-US" sz="1000" dirty="0"/>
          </a:p>
        </p:txBody>
      </p:sp>
      <p:sp>
        <p:nvSpPr>
          <p:cNvPr id="30" name="Input: Must-check before saving an order"/>
          <p:cNvSpPr txBox="1"/>
          <p:nvPr/>
        </p:nvSpPr>
        <p:spPr>
          <a:xfrm>
            <a:off x="457200" y="3703320"/>
            <a:ext cx="3657600" cy="237744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MUST-CHECK BEFORE SAVING AN ORDER</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e.g. product code, unit size, delivery day…</a:t>
            </a:r>
            <a:endParaRPr lang="en-US" sz="900" dirty="0"/>
          </a:p>
        </p:txBody>
      </p:sp>
      <p:sp>
        <p:nvSpPr>
          <p:cNvPr id="31" name="Input: Credit customers: terms &amp; contacts"/>
          <p:cNvSpPr txBox="1"/>
          <p:nvPr/>
        </p:nvSpPr>
        <p:spPr>
          <a:xfrm>
            <a:off x="4261104" y="3703320"/>
            <a:ext cx="3657600" cy="237744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CREDIT CUSTOMERS: TERMS &amp; CONTACTS</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Who are the ~10 credit customers and their terms?</a:t>
            </a:r>
            <a:endParaRPr lang="en-US" sz="900" dirty="0"/>
          </a:p>
        </p:txBody>
      </p:sp>
      <p:sp>
        <p:nvSpPr>
          <p:cNvPr id="32" name="Card"/>
          <p:cNvSpPr/>
          <p:nvPr/>
        </p:nvSpPr>
        <p:spPr>
          <a:xfrm>
            <a:off x="8065008" y="3703320"/>
            <a:ext cx="3657600" cy="2377440"/>
          </a:xfrm>
          <a:prstGeom prst="roundRect">
            <a:avLst>
              <a:gd name="adj" fmla="val 3077"/>
            </a:avLst>
          </a:prstGeom>
          <a:solidFill>
            <a:srgbClr val="F1F4F2"/>
          </a:solidFill>
          <a:ln w="9525">
            <a:solidFill>
              <a:srgbClr val="F1F4F2"/>
            </a:solidFill>
            <a:prstDash val="solid"/>
          </a:ln>
        </p:spPr>
      </p:sp>
      <p:sp>
        <p:nvSpPr>
          <p:cNvPr id="33" name="Text 31"/>
          <p:cNvSpPr txBox="1"/>
          <p:nvPr/>
        </p:nvSpPr>
        <p:spPr>
          <a:xfrm>
            <a:off x="8275320" y="3840480"/>
            <a:ext cx="32004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WHICH SPECIAL CASES?</a:t>
            </a:r>
            <a:endParaRPr lang="en-US" sz="1000" dirty="0"/>
          </a:p>
        </p:txBody>
      </p:sp>
      <p:sp>
        <p:nvSpPr>
          <p:cNvPr id="34" name="Tick box: Bulk or custom orders"/>
          <p:cNvSpPr txBox="1"/>
          <p:nvPr/>
        </p:nvSpPr>
        <p:spPr>
          <a:xfrm>
            <a:off x="8275320" y="422452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5" name="Text 33"/>
          <p:cNvSpPr txBox="1"/>
          <p:nvPr/>
        </p:nvSpPr>
        <p:spPr>
          <a:xfrm>
            <a:off x="8567928" y="4206240"/>
            <a:ext cx="29077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Bulk or custom orders</a:t>
            </a:r>
            <a:endParaRPr lang="en-US" sz="1200" dirty="0"/>
          </a:p>
        </p:txBody>
      </p:sp>
      <p:sp>
        <p:nvSpPr>
          <p:cNvPr id="36" name="Tick box: New account set-ups"/>
          <p:cNvSpPr txBox="1"/>
          <p:nvPr/>
        </p:nvSpPr>
        <p:spPr>
          <a:xfrm>
            <a:off x="8275320" y="459028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7" name="Text 35"/>
          <p:cNvSpPr txBox="1"/>
          <p:nvPr/>
        </p:nvSpPr>
        <p:spPr>
          <a:xfrm>
            <a:off x="8567928" y="4572000"/>
            <a:ext cx="29077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New account set-ups</a:t>
            </a:r>
            <a:endParaRPr lang="en-US" sz="1200" dirty="0"/>
          </a:p>
        </p:txBody>
      </p:sp>
      <p:sp>
        <p:nvSpPr>
          <p:cNvPr id="38" name="Tick box: Out-of-stock items"/>
          <p:cNvSpPr txBox="1"/>
          <p:nvPr/>
        </p:nvSpPr>
        <p:spPr>
          <a:xfrm>
            <a:off x="8275320" y="495604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9" name="Text 37"/>
          <p:cNvSpPr txBox="1"/>
          <p:nvPr/>
        </p:nvSpPr>
        <p:spPr>
          <a:xfrm>
            <a:off x="8567928" y="4937760"/>
            <a:ext cx="29077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Out-of-stock items</a:t>
            </a:r>
            <a:endParaRPr lang="en-US" sz="1200" dirty="0"/>
          </a:p>
        </p:txBody>
      </p:sp>
      <p:sp>
        <p:nvSpPr>
          <p:cNvPr id="40" name="Tick box: Price changes / discounts"/>
          <p:cNvSpPr txBox="1"/>
          <p:nvPr/>
        </p:nvSpPr>
        <p:spPr>
          <a:xfrm>
            <a:off x="8275320" y="532180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41" name="Text 39"/>
          <p:cNvSpPr txBox="1"/>
          <p:nvPr/>
        </p:nvSpPr>
        <p:spPr>
          <a:xfrm>
            <a:off x="8567928" y="5303520"/>
            <a:ext cx="29077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Price changes / discounts</a:t>
            </a:r>
            <a:endParaRPr lang="en-US" sz="1200" dirty="0"/>
          </a:p>
        </p:txBody>
      </p:sp>
      <p:sp>
        <p:nvSpPr>
          <p:cNvPr id="42" name="Text 40"/>
          <p:cNvSpPr txBox="1"/>
          <p:nvPr/>
        </p:nvSpPr>
        <p:spPr>
          <a:xfrm>
            <a:off x="8275320" y="5669280"/>
            <a:ext cx="3200400" cy="274320"/>
          </a:xfrm>
          <a:prstGeom prst="rect">
            <a:avLst/>
          </a:prstGeom>
          <a:noFill/>
          <a:ln/>
        </p:spPr>
        <p:txBody>
          <a:bodyPr wrap="square" lIns="0" tIns="0" rIns="0" bIns="0" rtlCol="0" anchor="t"/>
          <a:lstStyle/>
          <a:p>
            <a:pPr indent="0" marL="0">
              <a:buNone/>
            </a:pPr>
            <a:r>
              <a:rPr lang="en-US" sz="1100" dirty="0">
                <a:solidFill>
                  <a:srgbClr val="6B7480"/>
                </a:solidFill>
                <a:latin typeface="Calibri" pitchFamily="34" charset="0"/>
                <a:ea typeface="Calibri" pitchFamily="34" charset="-122"/>
                <a:cs typeface="Calibri" pitchFamily="34" charset="-120"/>
              </a:rPr>
              <a:t>Tick the ones the VA should escalate.</a:t>
            </a:r>
            <a:endParaRPr lang="en-US" sz="11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A  ·  06</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Waking up sleeping customers</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“How many customers can I really wake up… that’s where the actual figures are showing.”</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sp>
        <p:nvSpPr>
          <p:cNvPr id="10" name="Card"/>
          <p:cNvSpPr/>
          <p:nvPr/>
        </p:nvSpPr>
        <p:spPr>
          <a:xfrm>
            <a:off x="457200" y="1783080"/>
            <a:ext cx="2743200" cy="2011680"/>
          </a:xfrm>
          <a:prstGeom prst="roundRect">
            <a:avLst>
              <a:gd name="adj" fmla="val 3636"/>
            </a:avLst>
          </a:prstGeom>
          <a:solidFill>
            <a:srgbClr val="1B2430"/>
          </a:solidFill>
          <a:ln w="9525">
            <a:solidFill>
              <a:srgbClr val="1B2430"/>
            </a:solidFill>
            <a:prstDash val="solid"/>
          </a:ln>
        </p:spPr>
      </p:sp>
      <p:sp>
        <p:nvSpPr>
          <p:cNvPr id="11" name="Text 9"/>
          <p:cNvSpPr txBox="1"/>
          <p:nvPr/>
        </p:nvSpPr>
        <p:spPr>
          <a:xfrm>
            <a:off x="457200" y="1965960"/>
            <a:ext cx="2743200" cy="822960"/>
          </a:xfrm>
          <a:prstGeom prst="rect">
            <a:avLst/>
          </a:prstGeom>
          <a:noFill/>
          <a:ln/>
        </p:spPr>
        <p:txBody>
          <a:bodyPr wrap="square" lIns="0" tIns="0" rIns="0" bIns="0" rtlCol="0" anchor="ctr"/>
          <a:lstStyle/>
          <a:p>
            <a:pPr algn="ctr" indent="0" marL="0">
              <a:buNone/>
            </a:pPr>
            <a:r>
              <a:rPr lang="en-US" sz="4000" b="1" dirty="0">
                <a:solidFill>
                  <a:srgbClr val="3CC29A"/>
                </a:solidFill>
                <a:latin typeface="Cambria" pitchFamily="34" charset="0"/>
                <a:ea typeface="Cambria" pitchFamily="34" charset="-122"/>
                <a:cs typeface="Cambria" pitchFamily="34" charset="-120"/>
              </a:rPr>
              <a:t>500–600</a:t>
            </a:r>
            <a:endParaRPr lang="en-US" sz="4000" dirty="0"/>
          </a:p>
        </p:txBody>
      </p:sp>
      <p:sp>
        <p:nvSpPr>
          <p:cNvPr id="12" name="Text 10"/>
          <p:cNvSpPr txBox="1"/>
          <p:nvPr/>
        </p:nvSpPr>
        <p:spPr>
          <a:xfrm>
            <a:off x="640080" y="2788920"/>
            <a:ext cx="2377440" cy="640080"/>
          </a:xfrm>
          <a:prstGeom prst="rect">
            <a:avLst/>
          </a:prstGeom>
          <a:noFill/>
          <a:ln/>
        </p:spPr>
        <p:txBody>
          <a:bodyPr wrap="square" lIns="0" tIns="0" rIns="0" bIns="0" rtlCol="0" anchor="ctr"/>
          <a:lstStyle/>
          <a:p>
            <a:pPr algn="ctr" indent="0" marL="0">
              <a:buNone/>
            </a:pPr>
            <a:r>
              <a:rPr lang="en-US" sz="1300" dirty="0">
                <a:solidFill>
                  <a:srgbClr val="F4F6F3"/>
                </a:solidFill>
                <a:latin typeface="Calibri" pitchFamily="34" charset="0"/>
                <a:ea typeface="Calibri" pitchFamily="34" charset="-122"/>
                <a:cs typeface="Calibri" pitchFamily="34" charset="-120"/>
              </a:rPr>
              <a:t>dormant customers in your database</a:t>
            </a:r>
            <a:endParaRPr lang="en-US" sz="1300" dirty="0"/>
          </a:p>
        </p:txBody>
      </p:sp>
      <p:sp>
        <p:nvSpPr>
          <p:cNvPr id="13" name="Card"/>
          <p:cNvSpPr/>
          <p:nvPr/>
        </p:nvSpPr>
        <p:spPr>
          <a:xfrm>
            <a:off x="3337560" y="1783080"/>
            <a:ext cx="2743200" cy="2011680"/>
          </a:xfrm>
          <a:prstGeom prst="roundRect">
            <a:avLst>
              <a:gd name="adj" fmla="val 3636"/>
            </a:avLst>
          </a:prstGeom>
          <a:solidFill>
            <a:srgbClr val="187A5E"/>
          </a:solidFill>
          <a:ln w="9525">
            <a:solidFill>
              <a:srgbClr val="187A5E"/>
            </a:solidFill>
            <a:prstDash val="solid"/>
          </a:ln>
        </p:spPr>
      </p:sp>
      <p:sp>
        <p:nvSpPr>
          <p:cNvPr id="14" name="Text 12"/>
          <p:cNvSpPr txBox="1"/>
          <p:nvPr/>
        </p:nvSpPr>
        <p:spPr>
          <a:xfrm>
            <a:off x="3337560" y="1965960"/>
            <a:ext cx="2743200" cy="82296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15</a:t>
            </a:r>
            <a:endParaRPr lang="en-US" sz="4000" dirty="0"/>
          </a:p>
        </p:txBody>
      </p:sp>
      <p:sp>
        <p:nvSpPr>
          <p:cNvPr id="15" name="Text 13"/>
          <p:cNvSpPr txBox="1"/>
          <p:nvPr/>
        </p:nvSpPr>
        <p:spPr>
          <a:xfrm>
            <a:off x="3520440" y="2788920"/>
            <a:ext cx="2377440" cy="640080"/>
          </a:xfrm>
          <a:prstGeom prst="rect">
            <a:avLst/>
          </a:prstGeom>
          <a:noFill/>
          <a:ln/>
        </p:spPr>
        <p:txBody>
          <a:bodyPr wrap="square" lIns="0" tIns="0" rIns="0" bIns="0" rtlCol="0" anchor="ctr"/>
          <a:lstStyle/>
          <a:p>
            <a:pPr algn="ctr" indent="0" marL="0">
              <a:buNone/>
            </a:pPr>
            <a:r>
              <a:rPr lang="en-US" sz="1300" dirty="0">
                <a:solidFill>
                  <a:srgbClr val="F4F6F3"/>
                </a:solidFill>
                <a:latin typeface="Calibri" pitchFamily="34" charset="0"/>
                <a:ea typeface="Calibri" pitchFamily="34" charset="-122"/>
                <a:cs typeface="Calibri" pitchFamily="34" charset="-120"/>
              </a:rPr>
              <a:t>reactivated a month: about 2–3% of the list</a:t>
            </a:r>
            <a:endParaRPr lang="en-US" sz="1300" dirty="0"/>
          </a:p>
        </p:txBody>
      </p:sp>
      <p:sp>
        <p:nvSpPr>
          <p:cNvPr id="16" name="Input: Which customers first?"/>
          <p:cNvSpPr txBox="1"/>
          <p:nvPr/>
        </p:nvSpPr>
        <p:spPr>
          <a:xfrm>
            <a:off x="6217920" y="1783080"/>
            <a:ext cx="5513832" cy="91440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WHICH CUSTOMERS FIRST?</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e.g. ordered in the last 12 months, cafés in Sydney…</a:t>
            </a:r>
            <a:endParaRPr lang="en-US" sz="900" dirty="0"/>
          </a:p>
        </p:txBody>
      </p:sp>
      <p:sp>
        <p:nvSpPr>
          <p:cNvPr id="17" name="Input: A reason to reach out"/>
          <p:cNvSpPr txBox="1"/>
          <p:nvPr/>
        </p:nvSpPr>
        <p:spPr>
          <a:xfrm>
            <a:off x="6217920" y="2834640"/>
            <a:ext cx="5513832" cy="96012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A REASON TO REACH OUT</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New products, seasonal menu, an offer, a check-in…</a:t>
            </a:r>
            <a:endParaRPr lang="en-US" sz="900" dirty="0"/>
          </a:p>
        </p:txBody>
      </p:sp>
      <p:sp>
        <p:nvSpPr>
          <p:cNvPr id="18" name="Text 16"/>
          <p:cNvSpPr txBox="1"/>
          <p:nvPr/>
        </p:nvSpPr>
        <p:spPr>
          <a:xfrm>
            <a:off x="457200" y="3977640"/>
            <a:ext cx="73152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SIMPLE TRACKER THE VA WILL KEEP (EDIT THE COLUMNS)</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4251960"/>
          <a:ext cx="9784080" cy="914400"/>
        </p:xfrm>
        <a:graphic>
          <a:graphicData uri="http://schemas.openxmlformats.org/drawingml/2006/table">
            <a:tbl>
              <a:tblPr/>
              <a:tblGrid>
                <a:gridCol w="2011680"/>
                <a:gridCol w="1463040"/>
                <a:gridCol w="1371600"/>
                <a:gridCol w="1554480"/>
                <a:gridCol w="1463040"/>
                <a:gridCol w="1920240"/>
              </a:tblGrid>
              <a:tr h="329184">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Customer</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Date contacted</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Method</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Response</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Stage</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Next action</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r>
              <a:tr h="329184">
                <a:tc>
                  <a:txBody>
                    <a:bodyPr/>
                    <a:lstStyle/>
                    <a:p>
                      <a:pPr indent="0" marL="0">
                        <a:buNone/>
                      </a:pPr>
                      <a:r>
                        <a:rPr lang="en-US" sz="1100" i="1" dirty="0">
                          <a:solidFill>
                            <a:srgbClr val="6B7480"/>
                          </a:solidFill>
                          <a:latin typeface="Calibri" pitchFamily="34" charset="0"/>
                          <a:ea typeface="Calibri" pitchFamily="34" charset="-122"/>
                          <a:cs typeface="Calibri" pitchFamily="34" charset="-120"/>
                        </a:rPr>
                        <a:t>e.g. Café ABC</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00" i="1" dirty="0">
                          <a:solidFill>
                            <a:srgbClr val="6B7480"/>
                          </a:solidFill>
                          <a:latin typeface="Calibri" pitchFamily="34" charset="0"/>
                          <a:ea typeface="Calibri" pitchFamily="34" charset="-122"/>
                          <a:cs typeface="Calibri" pitchFamily="34" charset="-120"/>
                        </a:rPr>
                        <a:t>3 Nov</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00" i="1" dirty="0">
                          <a:solidFill>
                            <a:srgbClr val="6B7480"/>
                          </a:solidFill>
                          <a:latin typeface="Calibri" pitchFamily="34" charset="0"/>
                          <a:ea typeface="Calibri" pitchFamily="34" charset="-122"/>
                          <a:cs typeface="Calibri" pitchFamily="34" charset="-120"/>
                        </a:rPr>
                        <a:t>WhatsApp</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00" i="1" dirty="0">
                          <a:solidFill>
                            <a:srgbClr val="6B7480"/>
                          </a:solidFill>
                          <a:latin typeface="Calibri" pitchFamily="34" charset="0"/>
                          <a:ea typeface="Calibri" pitchFamily="34" charset="-122"/>
                          <a:cs typeface="Calibri" pitchFamily="34" charset="-120"/>
                        </a:rPr>
                        <a:t>Interested</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00" i="1" dirty="0">
                          <a:solidFill>
                            <a:srgbClr val="6B7480"/>
                          </a:solidFill>
                          <a:latin typeface="Calibri" pitchFamily="34" charset="0"/>
                          <a:ea typeface="Calibri" pitchFamily="34" charset="-122"/>
                          <a:cs typeface="Calibri" pitchFamily="34" charset="-120"/>
                        </a:rPr>
                        <a:t>Opportunity</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00" i="1" dirty="0">
                          <a:solidFill>
                            <a:srgbClr val="6B7480"/>
                          </a:solidFill>
                          <a:latin typeface="Calibri" pitchFamily="34" charset="0"/>
                          <a:ea typeface="Calibri" pitchFamily="34" charset="-122"/>
                          <a:cs typeface="Calibri" pitchFamily="34" charset="-120"/>
                        </a:rPr>
                        <a:t>Send price list</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r>
              <a:tr h="329184">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bl>
          </a:graphicData>
        </a:graphic>
      </p:graphicFrame>
      <p:sp>
        <p:nvSpPr>
          <p:cNvPr id="20" name="Input: Counts as reactivated"/>
          <p:cNvSpPr txBox="1"/>
          <p:nvPr/>
        </p:nvSpPr>
        <p:spPr>
          <a:xfrm>
            <a:off x="10378440" y="4251960"/>
            <a:ext cx="1353312" cy="187452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COUNTS AS REACTIVATED</a:t>
            </a:r>
            <a:endParaRPr lang="en-US" sz="900" dirty="0"/>
          </a:p>
          <a:p>
            <a:pPr indent="0" marL="0">
              <a:spcAft>
                <a:spcPts val="300"/>
              </a:spcAft>
              <a:buNone/>
            </a:pPr>
            <a:r>
              <a:rPr lang="en-US" sz="1000" i="1" dirty="0">
                <a:solidFill>
                  <a:srgbClr val="9AA3AD"/>
                </a:solidFill>
                <a:latin typeface="Calibri" pitchFamily="34" charset="0"/>
                <a:ea typeface="Calibri" pitchFamily="34" charset="-122"/>
                <a:cs typeface="Calibri" pitchFamily="34" charset="-120"/>
              </a:rPr>
              <a:t>First order placed?</a:t>
            </a:r>
            <a:endParaRPr lang="en-US" sz="900" dirty="0"/>
          </a:p>
        </p:txBody>
      </p:sp>
      <p:sp>
        <p:nvSpPr>
          <p:cNvPr id="21" name="Tick box: 15 a month feels right"/>
          <p:cNvSpPr txBox="1"/>
          <p:nvPr/>
        </p:nvSpPr>
        <p:spPr>
          <a:xfrm>
            <a:off x="457200" y="564184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2" name="Text 19"/>
          <p:cNvSpPr txBox="1"/>
          <p:nvPr/>
        </p:nvSpPr>
        <p:spPr>
          <a:xfrm>
            <a:off x="749808" y="5623560"/>
            <a:ext cx="208483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15 a month feels right</a:t>
            </a:r>
            <a:endParaRPr lang="en-US" sz="1200" dirty="0"/>
          </a:p>
        </p:txBody>
      </p:sp>
      <p:sp>
        <p:nvSpPr>
          <p:cNvPr id="23" name="Tick box: Start lower, e.g. 10"/>
          <p:cNvSpPr txBox="1"/>
          <p:nvPr/>
        </p:nvSpPr>
        <p:spPr>
          <a:xfrm>
            <a:off x="3017520" y="564184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4" name="Text 21"/>
          <p:cNvSpPr txBox="1"/>
          <p:nvPr/>
        </p:nvSpPr>
        <p:spPr>
          <a:xfrm>
            <a:off x="3310128" y="5623560"/>
            <a:ext cx="208483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Start lower, e.g. 10</a:t>
            </a:r>
            <a:endParaRPr lang="en-US" sz="1200" dirty="0"/>
          </a:p>
        </p:txBody>
      </p:sp>
      <p:sp>
        <p:nvSpPr>
          <p:cNvPr id="25" name="Tick box: Aim higher"/>
          <p:cNvSpPr txBox="1"/>
          <p:nvPr/>
        </p:nvSpPr>
        <p:spPr>
          <a:xfrm>
            <a:off x="5577840" y="564184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6" name="Text 23"/>
          <p:cNvSpPr txBox="1"/>
          <p:nvPr/>
        </p:nvSpPr>
        <p:spPr>
          <a:xfrm>
            <a:off x="5870448" y="5623560"/>
            <a:ext cx="15361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Aim higher</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A  ·  07</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Your weekly report</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Three parts, as you described them. Tick what to keep and add your own.</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sp>
        <p:nvSpPr>
          <p:cNvPr id="10" name="Card"/>
          <p:cNvSpPr/>
          <p:nvPr/>
        </p:nvSpPr>
        <p:spPr>
          <a:xfrm>
            <a:off x="457200" y="1783080"/>
            <a:ext cx="3639312" cy="2788920"/>
          </a:xfrm>
          <a:prstGeom prst="roundRect">
            <a:avLst>
              <a:gd name="adj" fmla="val 2623"/>
            </a:avLst>
          </a:prstGeom>
          <a:solidFill>
            <a:srgbClr val="FFFFFF"/>
          </a:solidFill>
          <a:ln w="9525">
            <a:solidFill>
              <a:srgbClr val="DDE4E0"/>
            </a:solidFill>
            <a:prstDash val="solid"/>
          </a:ln>
        </p:spPr>
      </p:sp>
      <p:sp>
        <p:nvSpPr>
          <p:cNvPr id="11" name="Text 9"/>
          <p:cNvSpPr txBox="1"/>
          <p:nvPr/>
        </p:nvSpPr>
        <p:spPr>
          <a:xfrm>
            <a:off x="685800" y="1920240"/>
            <a:ext cx="3200400" cy="365760"/>
          </a:xfrm>
          <a:prstGeom prst="rect">
            <a:avLst/>
          </a:prstGeom>
          <a:noFill/>
          <a:ln/>
        </p:spPr>
        <p:txBody>
          <a:bodyPr wrap="square" lIns="0" tIns="0" rIns="0" bIns="0" rtlCol="0" anchor="ctr"/>
          <a:lstStyle/>
          <a:p>
            <a:pPr indent="0" marL="0">
              <a:buNone/>
            </a:pPr>
            <a:r>
              <a:rPr lang="en-US" sz="1600" b="1" dirty="0">
                <a:solidFill>
                  <a:srgbClr val="1B2430"/>
                </a:solidFill>
                <a:latin typeface="Cambria" pitchFamily="34" charset="0"/>
                <a:ea typeface="Cambria" pitchFamily="34" charset="-122"/>
                <a:cs typeface="Cambria" pitchFamily="34" charset="-120"/>
              </a:rPr>
              <a:t>Customer insights</a:t>
            </a:r>
            <a:endParaRPr lang="en-US" sz="1600" dirty="0"/>
          </a:p>
        </p:txBody>
      </p:sp>
      <p:sp>
        <p:nvSpPr>
          <p:cNvPr id="12" name="Tick box: Product questions"/>
          <p:cNvSpPr txBox="1"/>
          <p:nvPr/>
        </p:nvSpPr>
        <p:spPr>
          <a:xfrm>
            <a:off x="685800" y="244144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3" name="Text 11"/>
          <p:cNvSpPr txBox="1"/>
          <p:nvPr/>
        </p:nvSpPr>
        <p:spPr>
          <a:xfrm>
            <a:off x="978408" y="2423160"/>
            <a:ext cx="29077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Product questions</a:t>
            </a:r>
            <a:endParaRPr lang="en-US" sz="1200" dirty="0"/>
          </a:p>
        </p:txBody>
      </p:sp>
      <p:sp>
        <p:nvSpPr>
          <p:cNvPr id="14" name="Tick box: New product requests"/>
          <p:cNvSpPr txBox="1"/>
          <p:nvPr/>
        </p:nvSpPr>
        <p:spPr>
          <a:xfrm>
            <a:off x="685800" y="2825496"/>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5" name="Text 13"/>
          <p:cNvSpPr txBox="1"/>
          <p:nvPr/>
        </p:nvSpPr>
        <p:spPr>
          <a:xfrm>
            <a:off x="978408" y="2807208"/>
            <a:ext cx="29077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New product requests</a:t>
            </a:r>
            <a:endParaRPr lang="en-US" sz="1200" dirty="0"/>
          </a:p>
        </p:txBody>
      </p:sp>
      <p:sp>
        <p:nvSpPr>
          <p:cNvPr id="16" name="Tick box: Service questions"/>
          <p:cNvSpPr txBox="1"/>
          <p:nvPr/>
        </p:nvSpPr>
        <p:spPr>
          <a:xfrm>
            <a:off x="685800" y="3209544"/>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7" name="Text 15"/>
          <p:cNvSpPr txBox="1"/>
          <p:nvPr/>
        </p:nvSpPr>
        <p:spPr>
          <a:xfrm>
            <a:off x="978408" y="3191256"/>
            <a:ext cx="29077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Service questions</a:t>
            </a:r>
            <a:endParaRPr lang="en-US" sz="1200" dirty="0"/>
          </a:p>
        </p:txBody>
      </p:sp>
      <p:sp>
        <p:nvSpPr>
          <p:cNvPr id="18" name="Tick box: Customer needs &amp;amp; ideas"/>
          <p:cNvSpPr txBox="1"/>
          <p:nvPr/>
        </p:nvSpPr>
        <p:spPr>
          <a:xfrm>
            <a:off x="685800" y="3593592"/>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9" name="Text 17"/>
          <p:cNvSpPr txBox="1"/>
          <p:nvPr/>
        </p:nvSpPr>
        <p:spPr>
          <a:xfrm>
            <a:off x="978408" y="3575304"/>
            <a:ext cx="29077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Customer needs &amp; ideas</a:t>
            </a:r>
            <a:endParaRPr lang="en-US" sz="1200" dirty="0"/>
          </a:p>
        </p:txBody>
      </p:sp>
      <p:sp>
        <p:nvSpPr>
          <p:cNvPr id="20" name="Input: Add"/>
          <p:cNvSpPr txBox="1"/>
          <p:nvPr/>
        </p:nvSpPr>
        <p:spPr>
          <a:xfrm>
            <a:off x="685800" y="3977640"/>
            <a:ext cx="3182112" cy="50292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ADD</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Something else…</a:t>
            </a:r>
            <a:endParaRPr lang="en-US" sz="900" dirty="0"/>
          </a:p>
        </p:txBody>
      </p:sp>
      <p:sp>
        <p:nvSpPr>
          <p:cNvPr id="21" name="Card"/>
          <p:cNvSpPr/>
          <p:nvPr/>
        </p:nvSpPr>
        <p:spPr>
          <a:xfrm>
            <a:off x="4261104" y="1783080"/>
            <a:ext cx="3639312" cy="2788920"/>
          </a:xfrm>
          <a:prstGeom prst="roundRect">
            <a:avLst>
              <a:gd name="adj" fmla="val 2623"/>
            </a:avLst>
          </a:prstGeom>
          <a:solidFill>
            <a:srgbClr val="FFFFFF"/>
          </a:solidFill>
          <a:ln w="9525">
            <a:solidFill>
              <a:srgbClr val="DDE4E0"/>
            </a:solidFill>
            <a:prstDash val="solid"/>
          </a:ln>
        </p:spPr>
      </p:sp>
      <p:sp>
        <p:nvSpPr>
          <p:cNvPr id="22" name="Text 20"/>
          <p:cNvSpPr txBox="1"/>
          <p:nvPr/>
        </p:nvSpPr>
        <p:spPr>
          <a:xfrm>
            <a:off x="4489704" y="1920240"/>
            <a:ext cx="3200400" cy="365760"/>
          </a:xfrm>
          <a:prstGeom prst="rect">
            <a:avLst/>
          </a:prstGeom>
          <a:noFill/>
          <a:ln/>
        </p:spPr>
        <p:txBody>
          <a:bodyPr wrap="square" lIns="0" tIns="0" rIns="0" bIns="0" rtlCol="0" anchor="ctr"/>
          <a:lstStyle/>
          <a:p>
            <a:pPr indent="0" marL="0">
              <a:buNone/>
            </a:pPr>
            <a:r>
              <a:rPr lang="en-US" sz="1600" b="1" dirty="0">
                <a:solidFill>
                  <a:srgbClr val="1B2430"/>
                </a:solidFill>
                <a:latin typeface="Cambria" pitchFamily="34" charset="0"/>
                <a:ea typeface="Cambria" pitchFamily="34" charset="-122"/>
                <a:cs typeface="Cambria" pitchFamily="34" charset="-120"/>
              </a:rPr>
              <a:t>Accounts receivable</a:t>
            </a:r>
            <a:endParaRPr lang="en-US" sz="1600" dirty="0"/>
          </a:p>
        </p:txBody>
      </p:sp>
      <p:sp>
        <p:nvSpPr>
          <p:cNvPr id="23" name="Tick box: Overdue accounts"/>
          <p:cNvSpPr txBox="1"/>
          <p:nvPr/>
        </p:nvSpPr>
        <p:spPr>
          <a:xfrm>
            <a:off x="4489704" y="244144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4" name="Text 22"/>
          <p:cNvSpPr txBox="1"/>
          <p:nvPr/>
        </p:nvSpPr>
        <p:spPr>
          <a:xfrm>
            <a:off x="4782312" y="2423160"/>
            <a:ext cx="29077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Overdue accounts</a:t>
            </a:r>
            <a:endParaRPr lang="en-US" sz="1200" dirty="0"/>
          </a:p>
        </p:txBody>
      </p:sp>
      <p:sp>
        <p:nvSpPr>
          <p:cNvPr id="25" name="Tick box: Accounts chased this week"/>
          <p:cNvSpPr txBox="1"/>
          <p:nvPr/>
        </p:nvSpPr>
        <p:spPr>
          <a:xfrm>
            <a:off x="4489704" y="2825496"/>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6" name="Text 24"/>
          <p:cNvSpPr txBox="1"/>
          <p:nvPr/>
        </p:nvSpPr>
        <p:spPr>
          <a:xfrm>
            <a:off x="4782312" y="2807208"/>
            <a:ext cx="29077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Accounts chased this week</a:t>
            </a:r>
            <a:endParaRPr lang="en-US" sz="1200" dirty="0"/>
          </a:p>
        </p:txBody>
      </p:sp>
      <p:sp>
        <p:nvSpPr>
          <p:cNvPr id="27" name="Tick box: Payments received"/>
          <p:cNvSpPr txBox="1"/>
          <p:nvPr/>
        </p:nvSpPr>
        <p:spPr>
          <a:xfrm>
            <a:off x="4489704" y="3209544"/>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8" name="Text 26"/>
          <p:cNvSpPr txBox="1"/>
          <p:nvPr/>
        </p:nvSpPr>
        <p:spPr>
          <a:xfrm>
            <a:off x="4782312" y="3191256"/>
            <a:ext cx="29077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Payments received</a:t>
            </a:r>
            <a:endParaRPr lang="en-US" sz="1200" dirty="0"/>
          </a:p>
        </p:txBody>
      </p:sp>
      <p:sp>
        <p:nvSpPr>
          <p:cNvPr id="29" name="Tick box: Still outstanding"/>
          <p:cNvSpPr txBox="1"/>
          <p:nvPr/>
        </p:nvSpPr>
        <p:spPr>
          <a:xfrm>
            <a:off x="4489704" y="3593592"/>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0" name="Text 28"/>
          <p:cNvSpPr txBox="1"/>
          <p:nvPr/>
        </p:nvSpPr>
        <p:spPr>
          <a:xfrm>
            <a:off x="4782312" y="3575304"/>
            <a:ext cx="29077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Still outstanding</a:t>
            </a:r>
            <a:endParaRPr lang="en-US" sz="1200" dirty="0"/>
          </a:p>
        </p:txBody>
      </p:sp>
      <p:sp>
        <p:nvSpPr>
          <p:cNvPr id="31" name="Input: Add"/>
          <p:cNvSpPr txBox="1"/>
          <p:nvPr/>
        </p:nvSpPr>
        <p:spPr>
          <a:xfrm>
            <a:off x="4489704" y="3977640"/>
            <a:ext cx="3182112" cy="50292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ADD</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Something else…</a:t>
            </a:r>
            <a:endParaRPr lang="en-US" sz="900" dirty="0"/>
          </a:p>
        </p:txBody>
      </p:sp>
      <p:sp>
        <p:nvSpPr>
          <p:cNvPr id="32" name="Card"/>
          <p:cNvSpPr/>
          <p:nvPr/>
        </p:nvSpPr>
        <p:spPr>
          <a:xfrm>
            <a:off x="8065008" y="1783080"/>
            <a:ext cx="3639312" cy="2788920"/>
          </a:xfrm>
          <a:prstGeom prst="roundRect">
            <a:avLst>
              <a:gd name="adj" fmla="val 2623"/>
            </a:avLst>
          </a:prstGeom>
          <a:solidFill>
            <a:srgbClr val="FFFFFF"/>
          </a:solidFill>
          <a:ln w="9525">
            <a:solidFill>
              <a:srgbClr val="DDE4E0"/>
            </a:solidFill>
            <a:prstDash val="solid"/>
          </a:ln>
        </p:spPr>
      </p:sp>
      <p:sp>
        <p:nvSpPr>
          <p:cNvPr id="33" name="Text 31"/>
          <p:cNvSpPr txBox="1"/>
          <p:nvPr/>
        </p:nvSpPr>
        <p:spPr>
          <a:xfrm>
            <a:off x="8293608" y="1920240"/>
            <a:ext cx="3200400" cy="365760"/>
          </a:xfrm>
          <a:prstGeom prst="rect">
            <a:avLst/>
          </a:prstGeom>
          <a:noFill/>
          <a:ln/>
        </p:spPr>
        <p:txBody>
          <a:bodyPr wrap="square" lIns="0" tIns="0" rIns="0" bIns="0" rtlCol="0" anchor="ctr"/>
          <a:lstStyle/>
          <a:p>
            <a:pPr indent="0" marL="0">
              <a:buNone/>
            </a:pPr>
            <a:r>
              <a:rPr lang="en-US" sz="1600" b="1" dirty="0">
                <a:solidFill>
                  <a:srgbClr val="1B2430"/>
                </a:solidFill>
                <a:latin typeface="Cambria" pitchFamily="34" charset="0"/>
                <a:ea typeface="Cambria" pitchFamily="34" charset="-122"/>
                <a:cs typeface="Cambria" pitchFamily="34" charset="-120"/>
              </a:rPr>
              <a:t>Reactivation</a:t>
            </a:r>
            <a:endParaRPr lang="en-US" sz="1600" dirty="0"/>
          </a:p>
        </p:txBody>
      </p:sp>
      <p:sp>
        <p:nvSpPr>
          <p:cNvPr id="34" name="Tick box: Customers contacted"/>
          <p:cNvSpPr txBox="1"/>
          <p:nvPr/>
        </p:nvSpPr>
        <p:spPr>
          <a:xfrm>
            <a:off x="8293608" y="244144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5" name="Text 33"/>
          <p:cNvSpPr txBox="1"/>
          <p:nvPr/>
        </p:nvSpPr>
        <p:spPr>
          <a:xfrm>
            <a:off x="8586216" y="2423160"/>
            <a:ext cx="29077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Customers contacted</a:t>
            </a:r>
            <a:endParaRPr lang="en-US" sz="1200" dirty="0"/>
          </a:p>
        </p:txBody>
      </p:sp>
      <p:sp>
        <p:nvSpPr>
          <p:cNvPr id="36" name="Tick box: Opportunities in progress"/>
          <p:cNvSpPr txBox="1"/>
          <p:nvPr/>
        </p:nvSpPr>
        <p:spPr>
          <a:xfrm>
            <a:off x="8293608" y="2825496"/>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7" name="Text 35"/>
          <p:cNvSpPr txBox="1"/>
          <p:nvPr/>
        </p:nvSpPr>
        <p:spPr>
          <a:xfrm>
            <a:off x="8586216" y="2807208"/>
            <a:ext cx="29077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Opportunities in progress</a:t>
            </a:r>
            <a:endParaRPr lang="en-US" sz="1200" dirty="0"/>
          </a:p>
        </p:txBody>
      </p:sp>
      <p:sp>
        <p:nvSpPr>
          <p:cNvPr id="38" name="Tick box: Customers reactivated"/>
          <p:cNvSpPr txBox="1"/>
          <p:nvPr/>
        </p:nvSpPr>
        <p:spPr>
          <a:xfrm>
            <a:off x="8293608" y="3209544"/>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9" name="Text 37"/>
          <p:cNvSpPr txBox="1"/>
          <p:nvPr/>
        </p:nvSpPr>
        <p:spPr>
          <a:xfrm>
            <a:off x="8586216" y="3191256"/>
            <a:ext cx="29077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Customers reactivated</a:t>
            </a:r>
            <a:endParaRPr lang="en-US" sz="1200" dirty="0"/>
          </a:p>
        </p:txBody>
      </p:sp>
      <p:sp>
        <p:nvSpPr>
          <p:cNvPr id="40" name="Tick box: Lost, and why"/>
          <p:cNvSpPr txBox="1"/>
          <p:nvPr/>
        </p:nvSpPr>
        <p:spPr>
          <a:xfrm>
            <a:off x="8293608" y="3593592"/>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41" name="Text 39"/>
          <p:cNvSpPr txBox="1"/>
          <p:nvPr/>
        </p:nvSpPr>
        <p:spPr>
          <a:xfrm>
            <a:off x="8586216" y="3575304"/>
            <a:ext cx="29077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Lost, and why</a:t>
            </a:r>
            <a:endParaRPr lang="en-US" sz="1200" dirty="0"/>
          </a:p>
        </p:txBody>
      </p:sp>
      <p:sp>
        <p:nvSpPr>
          <p:cNvPr id="42" name="Input: Add"/>
          <p:cNvSpPr txBox="1"/>
          <p:nvPr/>
        </p:nvSpPr>
        <p:spPr>
          <a:xfrm>
            <a:off x="8293608" y="3977640"/>
            <a:ext cx="3182112" cy="50292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ADD</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Something else…</a:t>
            </a:r>
            <a:endParaRPr lang="en-US" sz="900" dirty="0"/>
          </a:p>
        </p:txBody>
      </p:sp>
      <p:sp>
        <p:nvSpPr>
          <p:cNvPr id="43" name="Input: Day and time to receive it"/>
          <p:cNvSpPr txBox="1"/>
          <p:nvPr/>
        </p:nvSpPr>
        <p:spPr>
          <a:xfrm>
            <a:off x="457200" y="4754880"/>
            <a:ext cx="3657600" cy="137160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DAY AND TIME TO RECEIVE IT</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e.g. Friday 3pm</a:t>
            </a:r>
            <a:endParaRPr lang="en-US" sz="900" dirty="0"/>
          </a:p>
        </p:txBody>
      </p:sp>
      <p:sp>
        <p:nvSpPr>
          <p:cNvPr id="44" name="Card"/>
          <p:cNvSpPr/>
          <p:nvPr/>
        </p:nvSpPr>
        <p:spPr>
          <a:xfrm>
            <a:off x="4261104" y="4754880"/>
            <a:ext cx="3657600" cy="1371600"/>
          </a:xfrm>
          <a:prstGeom prst="roundRect">
            <a:avLst>
              <a:gd name="adj" fmla="val 5333"/>
            </a:avLst>
          </a:prstGeom>
          <a:solidFill>
            <a:srgbClr val="F1F4F2"/>
          </a:solidFill>
          <a:ln w="9525">
            <a:solidFill>
              <a:srgbClr val="F1F4F2"/>
            </a:solidFill>
            <a:prstDash val="solid"/>
          </a:ln>
        </p:spPr>
      </p:sp>
      <p:sp>
        <p:nvSpPr>
          <p:cNvPr id="45" name="Text 43"/>
          <p:cNvSpPr txBox="1"/>
          <p:nvPr/>
        </p:nvSpPr>
        <p:spPr>
          <a:xfrm>
            <a:off x="4480560" y="4864608"/>
            <a:ext cx="27432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FORMAT</a:t>
            </a:r>
            <a:endParaRPr lang="en-US" sz="1000" dirty="0"/>
          </a:p>
        </p:txBody>
      </p:sp>
      <p:sp>
        <p:nvSpPr>
          <p:cNvPr id="46" name="Tick box: Excel / Google Sheet"/>
          <p:cNvSpPr txBox="1"/>
          <p:nvPr/>
        </p:nvSpPr>
        <p:spPr>
          <a:xfrm>
            <a:off x="4480560" y="518464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47" name="Text 45"/>
          <p:cNvSpPr txBox="1"/>
          <p:nvPr/>
        </p:nvSpPr>
        <p:spPr>
          <a:xfrm>
            <a:off x="4773168" y="5166360"/>
            <a:ext cx="281635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Excel / Google Sheet</a:t>
            </a:r>
            <a:endParaRPr lang="en-US" sz="1200" dirty="0"/>
          </a:p>
        </p:txBody>
      </p:sp>
      <p:sp>
        <p:nvSpPr>
          <p:cNvPr id="48" name="Tick box: Email summary"/>
          <p:cNvSpPr txBox="1"/>
          <p:nvPr/>
        </p:nvSpPr>
        <p:spPr>
          <a:xfrm>
            <a:off x="4480560" y="550468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49" name="Text 47"/>
          <p:cNvSpPr txBox="1"/>
          <p:nvPr/>
        </p:nvSpPr>
        <p:spPr>
          <a:xfrm>
            <a:off x="4773168" y="5486400"/>
            <a:ext cx="281635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Email summary</a:t>
            </a:r>
            <a:endParaRPr lang="en-US" sz="1200" dirty="0"/>
          </a:p>
        </p:txBody>
      </p:sp>
      <p:sp>
        <p:nvSpPr>
          <p:cNvPr id="50" name="Tick box: Quick call"/>
          <p:cNvSpPr txBox="1"/>
          <p:nvPr/>
        </p:nvSpPr>
        <p:spPr>
          <a:xfrm>
            <a:off x="4480560" y="582472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51" name="Text 49"/>
          <p:cNvSpPr txBox="1"/>
          <p:nvPr/>
        </p:nvSpPr>
        <p:spPr>
          <a:xfrm>
            <a:off x="4773168" y="5806440"/>
            <a:ext cx="281635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Quick call</a:t>
            </a:r>
            <a:endParaRPr lang="en-US" sz="1200" dirty="0"/>
          </a:p>
        </p:txBody>
      </p:sp>
      <p:sp>
        <p:nvSpPr>
          <p:cNvPr id="52" name="Input: What would make it useful?"/>
          <p:cNvSpPr txBox="1"/>
          <p:nvPr/>
        </p:nvSpPr>
        <p:spPr>
          <a:xfrm>
            <a:off x="8065008" y="4754880"/>
            <a:ext cx="3657600" cy="137160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WHAT WOULD MAKE IT USEFUL?</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What decisions should it help you make?</a:t>
            </a:r>
            <a:endParaRPr lang="en-US" sz="9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A  ·  08</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Your ideal VA</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Rank your top three traits (type 1, 2 and 3 in the boxes).</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sp>
        <p:nvSpPr>
          <p:cNvPr id="10" name="Card"/>
          <p:cNvSpPr/>
          <p:nvPr/>
        </p:nvSpPr>
        <p:spPr>
          <a:xfrm>
            <a:off x="457200" y="1783080"/>
            <a:ext cx="3639312" cy="1188720"/>
          </a:xfrm>
          <a:prstGeom prst="roundRect">
            <a:avLst>
              <a:gd name="adj" fmla="val 6154"/>
            </a:avLst>
          </a:prstGeom>
          <a:solidFill>
            <a:srgbClr val="FFFFFF"/>
          </a:solidFill>
          <a:ln w="9525">
            <a:solidFill>
              <a:srgbClr val="DDE4E0"/>
            </a:solidFill>
            <a:prstDash val="solid"/>
          </a:ln>
        </p:spPr>
      </p:sp>
      <p:sp>
        <p:nvSpPr>
          <p:cNvPr id="11" name="Rank: Accountable"/>
          <p:cNvSpPr txBox="1"/>
          <p:nvPr/>
        </p:nvSpPr>
        <p:spPr>
          <a:xfrm>
            <a:off x="640080" y="1984248"/>
            <a:ext cx="384048" cy="384048"/>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600" dirty="0"/>
          </a:p>
        </p:txBody>
      </p:sp>
      <p:sp>
        <p:nvSpPr>
          <p:cNvPr id="12" name="Text 10"/>
          <p:cNvSpPr txBox="1"/>
          <p:nvPr/>
        </p:nvSpPr>
        <p:spPr>
          <a:xfrm>
            <a:off x="1188720" y="1965960"/>
            <a:ext cx="2743200" cy="365760"/>
          </a:xfrm>
          <a:prstGeom prst="rect">
            <a:avLst/>
          </a:prstGeom>
          <a:noFill/>
          <a:ln/>
        </p:spPr>
        <p:txBody>
          <a:bodyPr wrap="square" lIns="0" tIns="0" rIns="0" bIns="0" rtlCol="0" anchor="ctr"/>
          <a:lstStyle/>
          <a:p>
            <a:pPr indent="0" marL="0">
              <a:buNone/>
            </a:pPr>
            <a:r>
              <a:rPr lang="en-US" sz="1500" b="1" dirty="0">
                <a:solidFill>
                  <a:srgbClr val="1B2430"/>
                </a:solidFill>
                <a:latin typeface="Cambria" pitchFamily="34" charset="0"/>
                <a:ea typeface="Cambria" pitchFamily="34" charset="-122"/>
                <a:cs typeface="Cambria" pitchFamily="34" charset="-120"/>
              </a:rPr>
              <a:t>Accountable</a:t>
            </a:r>
            <a:endParaRPr lang="en-US" sz="1500" dirty="0"/>
          </a:p>
        </p:txBody>
      </p:sp>
      <p:sp>
        <p:nvSpPr>
          <p:cNvPr id="13" name="Text 11"/>
          <p:cNvSpPr txBox="1"/>
          <p:nvPr/>
        </p:nvSpPr>
        <p:spPr>
          <a:xfrm>
            <a:off x="1188720" y="2350008"/>
            <a:ext cx="2743200" cy="548640"/>
          </a:xfrm>
          <a:prstGeom prst="rect">
            <a:avLst/>
          </a:prstGeom>
          <a:noFill/>
          <a:ln/>
        </p:spPr>
        <p:txBody>
          <a:bodyPr wrap="square" lIns="0" tIns="0" rIns="0" bIns="0" rtlCol="0" anchor="t"/>
          <a:lstStyle/>
          <a:p>
            <a:pPr indent="0" marL="0">
              <a:buNone/>
            </a:pPr>
            <a:r>
              <a:rPr lang="en-US" sz="1150" dirty="0">
                <a:solidFill>
                  <a:srgbClr val="4A5563"/>
                </a:solidFill>
                <a:latin typeface="Calibri" pitchFamily="34" charset="0"/>
                <a:ea typeface="Calibri" pitchFamily="34" charset="-122"/>
                <a:cs typeface="Calibri" pitchFamily="34" charset="-120"/>
              </a:rPr>
              <a:t>Makes sure each question is actually answered, not just acknowledged.</a:t>
            </a:r>
            <a:endParaRPr lang="en-US" sz="1150" dirty="0"/>
          </a:p>
        </p:txBody>
      </p:sp>
      <p:sp>
        <p:nvSpPr>
          <p:cNvPr id="14" name="Card"/>
          <p:cNvSpPr/>
          <p:nvPr/>
        </p:nvSpPr>
        <p:spPr>
          <a:xfrm>
            <a:off x="4261104" y="1783080"/>
            <a:ext cx="3639312" cy="1188720"/>
          </a:xfrm>
          <a:prstGeom prst="roundRect">
            <a:avLst>
              <a:gd name="adj" fmla="val 6154"/>
            </a:avLst>
          </a:prstGeom>
          <a:solidFill>
            <a:srgbClr val="FFFFFF"/>
          </a:solidFill>
          <a:ln w="9525">
            <a:solidFill>
              <a:srgbClr val="DDE4E0"/>
            </a:solidFill>
            <a:prstDash val="solid"/>
          </a:ln>
        </p:spPr>
      </p:sp>
      <p:sp>
        <p:nvSpPr>
          <p:cNvPr id="15" name="Rank: Careful &amp;amp; patient"/>
          <p:cNvSpPr txBox="1"/>
          <p:nvPr/>
        </p:nvSpPr>
        <p:spPr>
          <a:xfrm>
            <a:off x="4443984" y="1984248"/>
            <a:ext cx="384048" cy="384048"/>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600" dirty="0"/>
          </a:p>
        </p:txBody>
      </p:sp>
      <p:sp>
        <p:nvSpPr>
          <p:cNvPr id="16" name="Text 14"/>
          <p:cNvSpPr txBox="1"/>
          <p:nvPr/>
        </p:nvSpPr>
        <p:spPr>
          <a:xfrm>
            <a:off x="4992624" y="1965960"/>
            <a:ext cx="2743200" cy="365760"/>
          </a:xfrm>
          <a:prstGeom prst="rect">
            <a:avLst/>
          </a:prstGeom>
          <a:noFill/>
          <a:ln/>
        </p:spPr>
        <p:txBody>
          <a:bodyPr wrap="square" lIns="0" tIns="0" rIns="0" bIns="0" rtlCol="0" anchor="ctr"/>
          <a:lstStyle/>
          <a:p>
            <a:pPr indent="0" marL="0">
              <a:buNone/>
            </a:pPr>
            <a:r>
              <a:rPr lang="en-US" sz="1500" b="1" dirty="0">
                <a:solidFill>
                  <a:srgbClr val="1B2430"/>
                </a:solidFill>
                <a:latin typeface="Cambria" pitchFamily="34" charset="0"/>
                <a:ea typeface="Cambria" pitchFamily="34" charset="-122"/>
                <a:cs typeface="Cambria" pitchFamily="34" charset="-120"/>
              </a:rPr>
              <a:t>Careful &amp; patient</a:t>
            </a:r>
            <a:endParaRPr lang="en-US" sz="1500" dirty="0"/>
          </a:p>
        </p:txBody>
      </p:sp>
      <p:sp>
        <p:nvSpPr>
          <p:cNvPr id="17" name="Text 15"/>
          <p:cNvSpPr txBox="1"/>
          <p:nvPr/>
        </p:nvSpPr>
        <p:spPr>
          <a:xfrm>
            <a:off x="4992624" y="2350008"/>
            <a:ext cx="2743200" cy="548640"/>
          </a:xfrm>
          <a:prstGeom prst="rect">
            <a:avLst/>
          </a:prstGeom>
          <a:noFill/>
          <a:ln/>
        </p:spPr>
        <p:txBody>
          <a:bodyPr wrap="square" lIns="0" tIns="0" rIns="0" bIns="0" rtlCol="0" anchor="t"/>
          <a:lstStyle/>
          <a:p>
            <a:pPr indent="0" marL="0">
              <a:buNone/>
            </a:pPr>
            <a:r>
              <a:rPr lang="en-US" sz="1150" dirty="0">
                <a:solidFill>
                  <a:srgbClr val="4A5563"/>
                </a:solidFill>
                <a:latin typeface="Calibri" pitchFamily="34" charset="0"/>
                <a:ea typeface="Calibri" pitchFamily="34" charset="-122"/>
                <a:cs typeface="Calibri" pitchFamily="34" charset="-120"/>
              </a:rPr>
              <a:t>Handles 10–15 customers at once without rushing.</a:t>
            </a:r>
            <a:endParaRPr lang="en-US" sz="1150" dirty="0"/>
          </a:p>
        </p:txBody>
      </p:sp>
      <p:sp>
        <p:nvSpPr>
          <p:cNvPr id="18" name="Card"/>
          <p:cNvSpPr/>
          <p:nvPr/>
        </p:nvSpPr>
        <p:spPr>
          <a:xfrm>
            <a:off x="8065008" y="1783080"/>
            <a:ext cx="3639312" cy="1188720"/>
          </a:xfrm>
          <a:prstGeom prst="roundRect">
            <a:avLst>
              <a:gd name="adj" fmla="val 6154"/>
            </a:avLst>
          </a:prstGeom>
          <a:solidFill>
            <a:srgbClr val="FFFFFF"/>
          </a:solidFill>
          <a:ln w="9525">
            <a:solidFill>
              <a:srgbClr val="DDE4E0"/>
            </a:solidFill>
            <a:prstDash val="solid"/>
          </a:ln>
        </p:spPr>
      </p:sp>
      <p:sp>
        <p:nvSpPr>
          <p:cNvPr id="19" name="Rank: Detail-oriented"/>
          <p:cNvSpPr txBox="1"/>
          <p:nvPr/>
        </p:nvSpPr>
        <p:spPr>
          <a:xfrm>
            <a:off x="8247888" y="1984248"/>
            <a:ext cx="384048" cy="384048"/>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600" dirty="0"/>
          </a:p>
        </p:txBody>
      </p:sp>
      <p:sp>
        <p:nvSpPr>
          <p:cNvPr id="20" name="Text 18"/>
          <p:cNvSpPr txBox="1"/>
          <p:nvPr/>
        </p:nvSpPr>
        <p:spPr>
          <a:xfrm>
            <a:off x="8796528" y="1965960"/>
            <a:ext cx="2743200" cy="365760"/>
          </a:xfrm>
          <a:prstGeom prst="rect">
            <a:avLst/>
          </a:prstGeom>
          <a:noFill/>
          <a:ln/>
        </p:spPr>
        <p:txBody>
          <a:bodyPr wrap="square" lIns="0" tIns="0" rIns="0" bIns="0" rtlCol="0" anchor="ctr"/>
          <a:lstStyle/>
          <a:p>
            <a:pPr indent="0" marL="0">
              <a:buNone/>
            </a:pPr>
            <a:r>
              <a:rPr lang="en-US" sz="1500" b="1" dirty="0">
                <a:solidFill>
                  <a:srgbClr val="1B2430"/>
                </a:solidFill>
                <a:latin typeface="Cambria" pitchFamily="34" charset="0"/>
                <a:ea typeface="Cambria" pitchFamily="34" charset="-122"/>
                <a:cs typeface="Cambria" pitchFamily="34" charset="-120"/>
              </a:rPr>
              <a:t>Detail-oriented</a:t>
            </a:r>
            <a:endParaRPr lang="en-US" sz="1500" dirty="0"/>
          </a:p>
        </p:txBody>
      </p:sp>
      <p:sp>
        <p:nvSpPr>
          <p:cNvPr id="21" name="Text 19"/>
          <p:cNvSpPr txBox="1"/>
          <p:nvPr/>
        </p:nvSpPr>
        <p:spPr>
          <a:xfrm>
            <a:off x="8796528" y="2350008"/>
            <a:ext cx="2743200" cy="548640"/>
          </a:xfrm>
          <a:prstGeom prst="rect">
            <a:avLst/>
          </a:prstGeom>
          <a:noFill/>
          <a:ln/>
        </p:spPr>
        <p:txBody>
          <a:bodyPr wrap="square" lIns="0" tIns="0" rIns="0" bIns="0" rtlCol="0" anchor="t"/>
          <a:lstStyle/>
          <a:p>
            <a:pPr indent="0" marL="0">
              <a:buNone/>
            </a:pPr>
            <a:r>
              <a:rPr lang="en-US" sz="1150" dirty="0">
                <a:solidFill>
                  <a:srgbClr val="4A5563"/>
                </a:solidFill>
                <a:latin typeface="Calibri" pitchFamily="34" charset="0"/>
                <a:ea typeface="Calibri" pitchFamily="34" charset="-122"/>
                <a:cs typeface="Calibri" pitchFamily="34" charset="-120"/>
              </a:rPr>
              <a:t>Your eye for detail, including what the customer is really after.</a:t>
            </a:r>
            <a:endParaRPr lang="en-US" sz="1150" dirty="0"/>
          </a:p>
        </p:txBody>
      </p:sp>
      <p:sp>
        <p:nvSpPr>
          <p:cNvPr id="22" name="Card"/>
          <p:cNvSpPr/>
          <p:nvPr/>
        </p:nvSpPr>
        <p:spPr>
          <a:xfrm>
            <a:off x="457200" y="3108960"/>
            <a:ext cx="3639312" cy="1188720"/>
          </a:xfrm>
          <a:prstGeom prst="roundRect">
            <a:avLst>
              <a:gd name="adj" fmla="val 6154"/>
            </a:avLst>
          </a:prstGeom>
          <a:solidFill>
            <a:srgbClr val="FFFFFF"/>
          </a:solidFill>
          <a:ln w="9525">
            <a:solidFill>
              <a:srgbClr val="DDE4E0"/>
            </a:solidFill>
            <a:prstDash val="solid"/>
          </a:ln>
        </p:spPr>
      </p:sp>
      <p:sp>
        <p:nvSpPr>
          <p:cNvPr id="23" name="Rank: Customer-focused"/>
          <p:cNvSpPr txBox="1"/>
          <p:nvPr/>
        </p:nvSpPr>
        <p:spPr>
          <a:xfrm>
            <a:off x="640080" y="3310128"/>
            <a:ext cx="384048" cy="384048"/>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600" dirty="0"/>
          </a:p>
        </p:txBody>
      </p:sp>
      <p:sp>
        <p:nvSpPr>
          <p:cNvPr id="24" name="Text 22"/>
          <p:cNvSpPr txBox="1"/>
          <p:nvPr/>
        </p:nvSpPr>
        <p:spPr>
          <a:xfrm>
            <a:off x="1188720" y="3291840"/>
            <a:ext cx="2743200" cy="365760"/>
          </a:xfrm>
          <a:prstGeom prst="rect">
            <a:avLst/>
          </a:prstGeom>
          <a:noFill/>
          <a:ln/>
        </p:spPr>
        <p:txBody>
          <a:bodyPr wrap="square" lIns="0" tIns="0" rIns="0" bIns="0" rtlCol="0" anchor="ctr"/>
          <a:lstStyle/>
          <a:p>
            <a:pPr indent="0" marL="0">
              <a:buNone/>
            </a:pPr>
            <a:r>
              <a:rPr lang="en-US" sz="1500" b="1" dirty="0">
                <a:solidFill>
                  <a:srgbClr val="1B2430"/>
                </a:solidFill>
                <a:latin typeface="Cambria" pitchFamily="34" charset="0"/>
                <a:ea typeface="Cambria" pitchFamily="34" charset="-122"/>
                <a:cs typeface="Cambria" pitchFamily="34" charset="-120"/>
              </a:rPr>
              <a:t>Customer-focused</a:t>
            </a:r>
            <a:endParaRPr lang="en-US" sz="1500" dirty="0"/>
          </a:p>
        </p:txBody>
      </p:sp>
      <p:sp>
        <p:nvSpPr>
          <p:cNvPr id="25" name="Text 23"/>
          <p:cNvSpPr txBox="1"/>
          <p:nvPr/>
        </p:nvSpPr>
        <p:spPr>
          <a:xfrm>
            <a:off x="1188720" y="3675888"/>
            <a:ext cx="2743200" cy="548640"/>
          </a:xfrm>
          <a:prstGeom prst="rect">
            <a:avLst/>
          </a:prstGeom>
          <a:noFill/>
          <a:ln/>
        </p:spPr>
        <p:txBody>
          <a:bodyPr wrap="square" lIns="0" tIns="0" rIns="0" bIns="0" rtlCol="0" anchor="t"/>
          <a:lstStyle/>
          <a:p>
            <a:pPr indent="0" marL="0">
              <a:buNone/>
            </a:pPr>
            <a:r>
              <a:rPr lang="en-US" sz="1150" dirty="0">
                <a:solidFill>
                  <a:srgbClr val="4A5563"/>
                </a:solidFill>
                <a:latin typeface="Calibri" pitchFamily="34" charset="0"/>
                <a:ea typeface="Calibri" pitchFamily="34" charset="-122"/>
                <a:cs typeface="Calibri" pitchFamily="34" charset="-120"/>
              </a:rPr>
              <a:t>Understands what each café or tea shop needs.</a:t>
            </a:r>
            <a:endParaRPr lang="en-US" sz="1150" dirty="0"/>
          </a:p>
        </p:txBody>
      </p:sp>
      <p:sp>
        <p:nvSpPr>
          <p:cNvPr id="26" name="Card"/>
          <p:cNvSpPr/>
          <p:nvPr/>
        </p:nvSpPr>
        <p:spPr>
          <a:xfrm>
            <a:off x="4261104" y="3108960"/>
            <a:ext cx="3639312" cy="1188720"/>
          </a:xfrm>
          <a:prstGeom prst="roundRect">
            <a:avLst>
              <a:gd name="adj" fmla="val 6154"/>
            </a:avLst>
          </a:prstGeom>
          <a:solidFill>
            <a:srgbClr val="FFFFFF"/>
          </a:solidFill>
          <a:ln w="9525">
            <a:solidFill>
              <a:srgbClr val="DDE4E0"/>
            </a:solidFill>
            <a:prstDash val="solid"/>
          </a:ln>
        </p:spPr>
      </p:sp>
      <p:sp>
        <p:nvSpPr>
          <p:cNvPr id="27" name="Rank: Proactive"/>
          <p:cNvSpPr txBox="1"/>
          <p:nvPr/>
        </p:nvSpPr>
        <p:spPr>
          <a:xfrm>
            <a:off x="4443984" y="3310128"/>
            <a:ext cx="384048" cy="384048"/>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600" dirty="0"/>
          </a:p>
        </p:txBody>
      </p:sp>
      <p:sp>
        <p:nvSpPr>
          <p:cNvPr id="28" name="Text 26"/>
          <p:cNvSpPr txBox="1"/>
          <p:nvPr/>
        </p:nvSpPr>
        <p:spPr>
          <a:xfrm>
            <a:off x="4992624" y="3291840"/>
            <a:ext cx="2743200" cy="365760"/>
          </a:xfrm>
          <a:prstGeom prst="rect">
            <a:avLst/>
          </a:prstGeom>
          <a:noFill/>
          <a:ln/>
        </p:spPr>
        <p:txBody>
          <a:bodyPr wrap="square" lIns="0" tIns="0" rIns="0" bIns="0" rtlCol="0" anchor="ctr"/>
          <a:lstStyle/>
          <a:p>
            <a:pPr indent="0" marL="0">
              <a:buNone/>
            </a:pPr>
            <a:r>
              <a:rPr lang="en-US" sz="1500" b="1" dirty="0">
                <a:solidFill>
                  <a:srgbClr val="1B2430"/>
                </a:solidFill>
                <a:latin typeface="Cambria" pitchFamily="34" charset="0"/>
                <a:ea typeface="Cambria" pitchFamily="34" charset="-122"/>
                <a:cs typeface="Cambria" pitchFamily="34" charset="-120"/>
              </a:rPr>
              <a:t>Proactive</a:t>
            </a:r>
            <a:endParaRPr lang="en-US" sz="1500" dirty="0"/>
          </a:p>
        </p:txBody>
      </p:sp>
      <p:sp>
        <p:nvSpPr>
          <p:cNvPr id="29" name="Text 27"/>
          <p:cNvSpPr txBox="1"/>
          <p:nvPr/>
        </p:nvSpPr>
        <p:spPr>
          <a:xfrm>
            <a:off x="4992624" y="3675888"/>
            <a:ext cx="2743200" cy="548640"/>
          </a:xfrm>
          <a:prstGeom prst="rect">
            <a:avLst/>
          </a:prstGeom>
          <a:noFill/>
          <a:ln/>
        </p:spPr>
        <p:txBody>
          <a:bodyPr wrap="square" lIns="0" tIns="0" rIns="0" bIns="0" rtlCol="0" anchor="t"/>
          <a:lstStyle/>
          <a:p>
            <a:pPr indent="0" marL="0">
              <a:buNone/>
            </a:pPr>
            <a:r>
              <a:rPr lang="en-US" sz="1150" dirty="0">
                <a:solidFill>
                  <a:srgbClr val="4A5563"/>
                </a:solidFill>
                <a:latin typeface="Calibri" pitchFamily="34" charset="0"/>
                <a:ea typeface="Calibri" pitchFamily="34" charset="-122"/>
                <a:cs typeface="Calibri" pitchFamily="34" charset="-120"/>
              </a:rPr>
              <a:t>Follows up without being reminded.</a:t>
            </a:r>
            <a:endParaRPr lang="en-US" sz="1150" dirty="0"/>
          </a:p>
        </p:txBody>
      </p:sp>
      <p:sp>
        <p:nvSpPr>
          <p:cNvPr id="30" name="Card"/>
          <p:cNvSpPr/>
          <p:nvPr/>
        </p:nvSpPr>
        <p:spPr>
          <a:xfrm>
            <a:off x="8065008" y="3108960"/>
            <a:ext cx="3639312" cy="1188720"/>
          </a:xfrm>
          <a:prstGeom prst="roundRect">
            <a:avLst>
              <a:gd name="adj" fmla="val 6154"/>
            </a:avLst>
          </a:prstGeom>
          <a:solidFill>
            <a:srgbClr val="FFFFFF"/>
          </a:solidFill>
          <a:ln w="9525">
            <a:solidFill>
              <a:srgbClr val="DDE4E0"/>
            </a:solidFill>
            <a:prstDash val="solid"/>
          </a:ln>
        </p:spPr>
      </p:sp>
      <p:sp>
        <p:nvSpPr>
          <p:cNvPr id="31" name="Rank: Clear communicator"/>
          <p:cNvSpPr txBox="1"/>
          <p:nvPr/>
        </p:nvSpPr>
        <p:spPr>
          <a:xfrm>
            <a:off x="8247888" y="3310128"/>
            <a:ext cx="384048" cy="384048"/>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600" dirty="0"/>
          </a:p>
        </p:txBody>
      </p:sp>
      <p:sp>
        <p:nvSpPr>
          <p:cNvPr id="32" name="Text 30"/>
          <p:cNvSpPr txBox="1"/>
          <p:nvPr/>
        </p:nvSpPr>
        <p:spPr>
          <a:xfrm>
            <a:off x="8796528" y="3291840"/>
            <a:ext cx="2743200" cy="365760"/>
          </a:xfrm>
          <a:prstGeom prst="rect">
            <a:avLst/>
          </a:prstGeom>
          <a:noFill/>
          <a:ln/>
        </p:spPr>
        <p:txBody>
          <a:bodyPr wrap="square" lIns="0" tIns="0" rIns="0" bIns="0" rtlCol="0" anchor="ctr"/>
          <a:lstStyle/>
          <a:p>
            <a:pPr indent="0" marL="0">
              <a:buNone/>
            </a:pPr>
            <a:r>
              <a:rPr lang="en-US" sz="1500" b="1" dirty="0">
                <a:solidFill>
                  <a:srgbClr val="1B2430"/>
                </a:solidFill>
                <a:latin typeface="Cambria" pitchFamily="34" charset="0"/>
                <a:ea typeface="Cambria" pitchFamily="34" charset="-122"/>
                <a:cs typeface="Cambria" pitchFamily="34" charset="-120"/>
              </a:rPr>
              <a:t>Clear communicator</a:t>
            </a:r>
            <a:endParaRPr lang="en-US" sz="1500" dirty="0"/>
          </a:p>
        </p:txBody>
      </p:sp>
      <p:sp>
        <p:nvSpPr>
          <p:cNvPr id="33" name="Text 31"/>
          <p:cNvSpPr txBox="1"/>
          <p:nvPr/>
        </p:nvSpPr>
        <p:spPr>
          <a:xfrm>
            <a:off x="8796528" y="3675888"/>
            <a:ext cx="2743200" cy="548640"/>
          </a:xfrm>
          <a:prstGeom prst="rect">
            <a:avLst/>
          </a:prstGeom>
          <a:noFill/>
          <a:ln/>
        </p:spPr>
        <p:txBody>
          <a:bodyPr wrap="square" lIns="0" tIns="0" rIns="0" bIns="0" rtlCol="0" anchor="t"/>
          <a:lstStyle/>
          <a:p>
            <a:pPr indent="0" marL="0">
              <a:buNone/>
            </a:pPr>
            <a:r>
              <a:rPr lang="en-US" sz="1150" dirty="0">
                <a:solidFill>
                  <a:srgbClr val="4A5563"/>
                </a:solidFill>
                <a:latin typeface="Calibri" pitchFamily="34" charset="0"/>
                <a:ea typeface="Calibri" pitchFamily="34" charset="-122"/>
                <a:cs typeface="Calibri" pitchFamily="34" charset="-120"/>
              </a:rPr>
              <a:t>Writes and speaks clearly across every channel.</a:t>
            </a:r>
            <a:endParaRPr lang="en-US" sz="1150" dirty="0"/>
          </a:p>
        </p:txBody>
      </p:sp>
      <p:sp>
        <p:nvSpPr>
          <p:cNvPr id="34" name="Card"/>
          <p:cNvSpPr/>
          <p:nvPr/>
        </p:nvSpPr>
        <p:spPr>
          <a:xfrm>
            <a:off x="457200" y="4526280"/>
            <a:ext cx="5577840" cy="1600200"/>
          </a:xfrm>
          <a:prstGeom prst="roundRect">
            <a:avLst>
              <a:gd name="adj" fmla="val 4571"/>
            </a:avLst>
          </a:prstGeom>
          <a:solidFill>
            <a:srgbClr val="E4F2EC"/>
          </a:solidFill>
          <a:ln w="9525">
            <a:solidFill>
              <a:srgbClr val="E4F2EC"/>
            </a:solidFill>
            <a:prstDash val="solid"/>
          </a:ln>
        </p:spPr>
      </p:sp>
      <p:sp>
        <p:nvSpPr>
          <p:cNvPr id="35" name="Text 33"/>
          <p:cNvSpPr txBox="1"/>
          <p:nvPr/>
        </p:nvSpPr>
        <p:spPr>
          <a:xfrm>
            <a:off x="685800" y="4645152"/>
            <a:ext cx="36576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EXPERIENCE</a:t>
            </a:r>
            <a:endParaRPr lang="en-US" sz="1000" dirty="0"/>
          </a:p>
        </p:txBody>
      </p:sp>
      <p:sp>
        <p:nvSpPr>
          <p:cNvPr id="36" name="Text 34"/>
          <p:cNvSpPr txBox="1"/>
          <p:nvPr/>
        </p:nvSpPr>
        <p:spPr>
          <a:xfrm>
            <a:off x="685800" y="4937760"/>
            <a:ext cx="5120640" cy="548640"/>
          </a:xfrm>
          <a:prstGeom prst="rect">
            <a:avLst/>
          </a:prstGeom>
          <a:noFill/>
          <a:ln/>
        </p:spPr>
        <p:txBody>
          <a:bodyPr wrap="square" lIns="0" tIns="0" rIns="0" bIns="0" rtlCol="0" anchor="t"/>
          <a:lstStyle/>
          <a:p>
            <a:pPr indent="0" marL="0">
              <a:buNone/>
            </a:pPr>
            <a:r>
              <a:rPr lang="en-US" sz="1250" dirty="0">
                <a:solidFill>
                  <a:srgbClr val="1B2430"/>
                </a:solidFill>
                <a:latin typeface="Calibri" pitchFamily="34" charset="0"/>
                <a:ea typeface="Calibri" pitchFamily="34" charset="-122"/>
                <a:cs typeface="Calibri" pitchFamily="34" charset="-120"/>
              </a:rPr>
              <a:t>You said B2B or wholesale experience isn’t the deal breaker. Attention to detail is. Is that still true?</a:t>
            </a:r>
            <a:endParaRPr lang="en-US" sz="1250" dirty="0"/>
          </a:p>
        </p:txBody>
      </p:sp>
      <p:sp>
        <p:nvSpPr>
          <p:cNvPr id="37" name="Tick box: Yes"/>
          <p:cNvSpPr txBox="1"/>
          <p:nvPr/>
        </p:nvSpPr>
        <p:spPr>
          <a:xfrm>
            <a:off x="685800" y="559612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8" name="Text 36"/>
          <p:cNvSpPr txBox="1"/>
          <p:nvPr/>
        </p:nvSpPr>
        <p:spPr>
          <a:xfrm>
            <a:off x="978408" y="5577840"/>
            <a:ext cx="6217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Yes</a:t>
            </a:r>
            <a:endParaRPr lang="en-US" sz="1200" dirty="0"/>
          </a:p>
        </p:txBody>
      </p:sp>
      <p:sp>
        <p:nvSpPr>
          <p:cNvPr id="39" name="Tick box: B2B experience is a must"/>
          <p:cNvSpPr txBox="1"/>
          <p:nvPr/>
        </p:nvSpPr>
        <p:spPr>
          <a:xfrm>
            <a:off x="1737360" y="559612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40" name="Text 38"/>
          <p:cNvSpPr txBox="1"/>
          <p:nvPr/>
        </p:nvSpPr>
        <p:spPr>
          <a:xfrm>
            <a:off x="2029968" y="5577840"/>
            <a:ext cx="24505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B2B experience is a must</a:t>
            </a:r>
            <a:endParaRPr lang="en-US" sz="1200" dirty="0"/>
          </a:p>
        </p:txBody>
      </p:sp>
      <p:sp>
        <p:nvSpPr>
          <p:cNvPr id="41" name="Input: What would make a candidate stand out?"/>
          <p:cNvSpPr txBox="1"/>
          <p:nvPr/>
        </p:nvSpPr>
        <p:spPr>
          <a:xfrm>
            <a:off x="6172200" y="4526280"/>
            <a:ext cx="5559552" cy="160020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WHAT WOULD MAKE A CANDIDATE STAND OUT?</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Languages, product knowledge, Shopify depth…</a:t>
            </a:r>
            <a:endParaRPr lang="en-US" sz="9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A  ·  09</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Success measures</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Our suggested targets from your calls. Type your own in the amber column.</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1737360"/>
                <a:gridCol w="2834640"/>
                <a:gridCol w="2560320"/>
                <a:gridCol w="1828800"/>
                <a:gridCol w="2313432"/>
              </a:tblGrid>
              <a:tr h="45720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Measure</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we heard</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Suggested target</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Your target</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How to check</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r>
              <a:tr h="457200">
                <a:tc>
                  <a:txBody>
                    <a:bodyPr/>
                    <a:lstStyle/>
                    <a:p>
                      <a:pPr indent="0" marL="0">
                        <a:buNone/>
                      </a:pPr>
                      <a:r>
                        <a:rPr lang="en-US" sz="1150" b="1" dirty="0">
                          <a:solidFill>
                            <a:srgbClr val="1B2430"/>
                          </a:solidFill>
                          <a:latin typeface="Calibri" pitchFamily="34" charset="0"/>
                          <a:ea typeface="Calibri" pitchFamily="34" charset="-122"/>
                          <a:cs typeface="Calibri" pitchFamily="34" charset="-120"/>
                        </a:rPr>
                        <a:t>Response time</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“Answered within two hours”</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Within 2 hours, every channel</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Ask: what’s waiting for a reply?</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r>
              <a:tr h="457200">
                <a:tc>
                  <a:txBody>
                    <a:bodyPr/>
                    <a:lstStyle/>
                    <a:p>
                      <a:pPr indent="0" marL="0">
                        <a:buNone/>
                      </a:pPr>
                      <a:r>
                        <a:rPr lang="en-US" sz="1150" b="1" dirty="0">
                          <a:solidFill>
                            <a:srgbClr val="1B2430"/>
                          </a:solidFill>
                          <a:latin typeface="Calibri" pitchFamily="34" charset="0"/>
                          <a:ea typeface="Calibri" pitchFamily="34" charset="-122"/>
                          <a:cs typeface="Calibri" pitchFamily="34" charset="-120"/>
                        </a:rPr>
                        <a:t>Order accuracy</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“Key in the wrong item” is the risk</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No wrong items or quantities</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Orders corrected by fulfilment</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r>
              <a:tr h="457200">
                <a:tc>
                  <a:txBody>
                    <a:bodyPr/>
                    <a:lstStyle/>
                    <a:p>
                      <a:pPr indent="0" marL="0">
                        <a:buNone/>
                      </a:pPr>
                      <a:r>
                        <a:rPr lang="en-US" sz="1150" b="1" dirty="0">
                          <a:solidFill>
                            <a:srgbClr val="1B2430"/>
                          </a:solidFill>
                          <a:latin typeface="Calibri" pitchFamily="34" charset="0"/>
                          <a:ea typeface="Calibri" pitchFamily="34" charset="-122"/>
                          <a:cs typeface="Calibri" pitchFamily="34" charset="-120"/>
                        </a:rPr>
                        <a:t>Open orders</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Chase open orders</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Reviewed every day</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Open-order list in the report</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r>
              <a:tr h="457200">
                <a:tc>
                  <a:txBody>
                    <a:bodyPr/>
                    <a:lstStyle/>
                    <a:p>
                      <a:pPr indent="0" marL="0">
                        <a:buNone/>
                      </a:pPr>
                      <a:r>
                        <a:rPr lang="en-US" sz="1150" b="1" dirty="0">
                          <a:solidFill>
                            <a:srgbClr val="1B2430"/>
                          </a:solidFill>
                          <a:latin typeface="Calibri" pitchFamily="34" charset="0"/>
                          <a:ea typeface="Calibri" pitchFamily="34" charset="-122"/>
                          <a:cs typeface="Calibri" pitchFamily="34" charset="-120"/>
                        </a:rPr>
                        <a:t>AR follow-up</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Follow up 3 days after overdue</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Every overdue account chased on day 3</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AR section of weekly report</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r>
              <a:tr h="457200">
                <a:tc>
                  <a:txBody>
                    <a:bodyPr/>
                    <a:lstStyle/>
                    <a:p>
                      <a:pPr indent="0" marL="0">
                        <a:buNone/>
                      </a:pPr>
                      <a:r>
                        <a:rPr lang="en-US" sz="1150" b="1" dirty="0">
                          <a:solidFill>
                            <a:srgbClr val="1B2430"/>
                          </a:solidFill>
                          <a:latin typeface="Calibri" pitchFamily="34" charset="0"/>
                          <a:ea typeface="Calibri" pitchFamily="34" charset="-122"/>
                          <a:cs typeface="Calibri" pitchFamily="34" charset="-120"/>
                        </a:rPr>
                        <a:t>Reactivation</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“10 to 15 customers” a month</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15 customers a month</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Tracker: reactivated count</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r>
              <a:tr h="457200">
                <a:tc>
                  <a:txBody>
                    <a:bodyPr/>
                    <a:lstStyle/>
                    <a:p>
                      <a:pPr indent="0" marL="0">
                        <a:buNone/>
                      </a:pPr>
                      <a:r>
                        <a:rPr lang="en-US" sz="1150" b="1" dirty="0">
                          <a:solidFill>
                            <a:srgbClr val="1B2430"/>
                          </a:solidFill>
                          <a:latin typeface="Calibri" pitchFamily="34" charset="0"/>
                          <a:ea typeface="Calibri" pitchFamily="34" charset="-122"/>
                          <a:cs typeface="Calibri" pitchFamily="34" charset="-120"/>
                        </a:rPr>
                        <a:t>Weekly report</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Insights, AR, reactivation</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Sent every week, on time</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Received on the agreed day</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r>
            </a:tbl>
          </a:graphicData>
        </a:graphic>
      </p:graphicFrame>
      <p:sp>
        <p:nvSpPr>
          <p:cNvPr id="11" name="Tick box: These are the right measures"/>
          <p:cNvSpPr txBox="1"/>
          <p:nvPr/>
        </p:nvSpPr>
        <p:spPr>
          <a:xfrm>
            <a:off x="457200" y="527608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2" name="Text 9"/>
          <p:cNvSpPr txBox="1"/>
          <p:nvPr/>
        </p:nvSpPr>
        <p:spPr>
          <a:xfrm>
            <a:off x="749808" y="5257800"/>
            <a:ext cx="272491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These are the right measures</a:t>
            </a:r>
            <a:endParaRPr lang="en-US" sz="1200" dirty="0"/>
          </a:p>
        </p:txBody>
      </p:sp>
      <p:sp>
        <p:nvSpPr>
          <p:cNvPr id="13" name="Tick box: Add or change some"/>
          <p:cNvSpPr txBox="1"/>
          <p:nvPr/>
        </p:nvSpPr>
        <p:spPr>
          <a:xfrm>
            <a:off x="3657600" y="527608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4" name="Text 11"/>
          <p:cNvSpPr txBox="1"/>
          <p:nvPr/>
        </p:nvSpPr>
        <p:spPr>
          <a:xfrm>
            <a:off x="3950208" y="5257800"/>
            <a:ext cx="24505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Add or change some</a:t>
            </a:r>
            <a:endParaRPr lang="en-US" sz="1200" dirty="0"/>
          </a:p>
        </p:txBody>
      </p:sp>
      <p:sp>
        <p:nvSpPr>
          <p:cNvPr id="15" name="Input: Measures to add"/>
          <p:cNvSpPr txBox="1"/>
          <p:nvPr/>
        </p:nvSpPr>
        <p:spPr>
          <a:xfrm>
            <a:off x="6766560" y="5074920"/>
            <a:ext cx="4965192" cy="105156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MEASURES TO ADD</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e.g. customer satisfaction, average order value…</a:t>
            </a:r>
            <a:endParaRPr lang="en-US" sz="9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A  ·  10</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Package &amp; investment</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We talked through two options. Please confirm which one you’d like.</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sp>
        <p:nvSpPr>
          <p:cNvPr id="10" name="Card"/>
          <p:cNvSpPr/>
          <p:nvPr/>
        </p:nvSpPr>
        <p:spPr>
          <a:xfrm>
            <a:off x="457200" y="1783080"/>
            <a:ext cx="3639312" cy="4343400"/>
          </a:xfrm>
          <a:prstGeom prst="roundRect">
            <a:avLst>
              <a:gd name="adj" fmla="val 2010"/>
            </a:avLst>
          </a:prstGeom>
          <a:solidFill>
            <a:srgbClr val="FFFFFF"/>
          </a:solidFill>
          <a:ln w="9525">
            <a:solidFill>
              <a:srgbClr val="187A5E"/>
            </a:solidFill>
            <a:prstDash val="solid"/>
          </a:ln>
        </p:spPr>
      </p:sp>
      <p:sp>
        <p:nvSpPr>
          <p:cNvPr id="11" name="Text 9"/>
          <p:cNvSpPr txBox="1"/>
          <p:nvPr/>
        </p:nvSpPr>
        <p:spPr>
          <a:xfrm>
            <a:off x="685800" y="1965960"/>
            <a:ext cx="3182112" cy="365760"/>
          </a:xfrm>
          <a:prstGeom prst="rect">
            <a:avLst/>
          </a:prstGeom>
          <a:noFill/>
          <a:ln/>
        </p:spPr>
        <p:txBody>
          <a:bodyPr wrap="square" lIns="0" tIns="0" rIns="0" bIns="0" rtlCol="0" anchor="ctr"/>
          <a:lstStyle/>
          <a:p>
            <a:pPr indent="0" marL="0">
              <a:buNone/>
            </a:pPr>
            <a:r>
              <a:rPr lang="en-US" sz="1800" b="1" dirty="0">
                <a:solidFill>
                  <a:srgbClr val="1B2430"/>
                </a:solidFill>
                <a:latin typeface="Cambria" pitchFamily="34" charset="0"/>
                <a:ea typeface="Cambria" pitchFamily="34" charset="-122"/>
                <a:cs typeface="Cambria" pitchFamily="34" charset="-120"/>
              </a:rPr>
              <a:t>Angel Managed</a:t>
            </a:r>
            <a:endParaRPr lang="en-US" sz="1800" dirty="0"/>
          </a:p>
        </p:txBody>
      </p:sp>
      <p:sp>
        <p:nvSpPr>
          <p:cNvPr id="12" name="Text 10"/>
          <p:cNvSpPr txBox="1"/>
          <p:nvPr/>
        </p:nvSpPr>
        <p:spPr>
          <a:xfrm>
            <a:off x="685800" y="2331720"/>
            <a:ext cx="3182112" cy="274320"/>
          </a:xfrm>
          <a:prstGeom prst="rect">
            <a:avLst/>
          </a:prstGeom>
          <a:noFill/>
          <a:ln/>
        </p:spPr>
        <p:txBody>
          <a:bodyPr wrap="square" lIns="0" tIns="0" rIns="0" bIns="0" rtlCol="0" anchor="t"/>
          <a:lstStyle/>
          <a:p>
            <a:pPr indent="0" marL="0">
              <a:buNone/>
            </a:pPr>
            <a:r>
              <a:rPr lang="en-US" sz="1200" dirty="0">
                <a:solidFill>
                  <a:srgbClr val="6B7480"/>
                </a:solidFill>
                <a:latin typeface="Calibri" pitchFamily="34" charset="0"/>
                <a:ea typeface="Calibri" pitchFamily="34" charset="-122"/>
                <a:cs typeface="Calibri" pitchFamily="34" charset="-120"/>
              </a:rPr>
              <a:t>with CAX support</a:t>
            </a:r>
            <a:endParaRPr lang="en-US" sz="1200" dirty="0"/>
          </a:p>
        </p:txBody>
      </p:sp>
      <p:sp>
        <p:nvSpPr>
          <p:cNvPr id="13" name="Text 11"/>
          <p:cNvSpPr txBox="1"/>
          <p:nvPr/>
        </p:nvSpPr>
        <p:spPr>
          <a:xfrm>
            <a:off x="685800" y="2651760"/>
            <a:ext cx="3182112" cy="548640"/>
          </a:xfrm>
          <a:prstGeom prst="rect">
            <a:avLst/>
          </a:prstGeom>
          <a:noFill/>
          <a:ln/>
        </p:spPr>
        <p:txBody>
          <a:bodyPr wrap="square" lIns="0" tIns="0" rIns="0" bIns="0" rtlCol="0" anchor="ctr"/>
          <a:lstStyle/>
          <a:p>
            <a:pPr indent="0" marL="0">
              <a:buNone/>
            </a:pPr>
            <a:r>
              <a:rPr lang="en-US" sz="3200" b="1" dirty="0">
                <a:solidFill>
                  <a:srgbClr val="187A5E"/>
                </a:solidFill>
                <a:latin typeface="Cambria" pitchFamily="34" charset="0"/>
                <a:ea typeface="Cambria" pitchFamily="34" charset="-122"/>
                <a:cs typeface="Cambria" pitchFamily="34" charset="-120"/>
              </a:rPr>
              <a:t>$1,080</a:t>
            </a:r>
            <a:endParaRPr lang="en-US" sz="3200" dirty="0"/>
          </a:p>
        </p:txBody>
      </p:sp>
      <p:sp>
        <p:nvSpPr>
          <p:cNvPr id="14" name="Text 12"/>
          <p:cNvSpPr txBox="1"/>
          <p:nvPr/>
        </p:nvSpPr>
        <p:spPr>
          <a:xfrm>
            <a:off x="685800" y="3200400"/>
            <a:ext cx="3182112" cy="411480"/>
          </a:xfrm>
          <a:prstGeom prst="rect">
            <a:avLst/>
          </a:prstGeom>
          <a:noFill/>
          <a:ln/>
        </p:spPr>
        <p:txBody>
          <a:bodyPr wrap="square" lIns="0" tIns="0" rIns="0" bIns="0" rtlCol="0" anchor="t"/>
          <a:lstStyle/>
          <a:p>
            <a:pPr indent="0" marL="0">
              <a:buNone/>
            </a:pPr>
            <a:r>
              <a:rPr lang="en-US" sz="1100" dirty="0">
                <a:solidFill>
                  <a:srgbClr val="4A5563"/>
                </a:solidFill>
                <a:latin typeface="Calibri" pitchFamily="34" charset="0"/>
                <a:ea typeface="Calibri" pitchFamily="34" charset="-122"/>
                <a:cs typeface="Calibri" pitchFamily="34" charset="-120"/>
              </a:rPr>
              <a:t>agency fee / month (normally $1,200, 10% off)</a:t>
            </a:r>
            <a:endParaRPr lang="en-US" sz="1100" dirty="0"/>
          </a:p>
        </p:txBody>
      </p:sp>
      <p:sp>
        <p:nvSpPr>
          <p:cNvPr id="15" name="Text 13"/>
          <p:cNvSpPr txBox="1"/>
          <p:nvPr/>
        </p:nvSpPr>
        <p:spPr>
          <a:xfrm>
            <a:off x="685800" y="3657600"/>
            <a:ext cx="3182112" cy="16459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4A5563"/>
                </a:solidFill>
                <a:latin typeface="Calibri" pitchFamily="34" charset="0"/>
                <a:ea typeface="Calibri" pitchFamily="34" charset="-122"/>
                <a:cs typeface="Calibri" pitchFamily="34" charset="-120"/>
              </a:rPr>
              <a:t>Recruitment, payroll, health vouchers, incentives and HR support</a:t>
            </a:r>
            <a:endParaRPr lang="en-US" sz="1200" dirty="0"/>
          </a:p>
          <a:p>
            <a:pPr marL="342900" indent="-342900">
              <a:spcAft>
                <a:spcPts val="400"/>
              </a:spcAft>
              <a:buSzPct val="100000"/>
              <a:buChar char="•"/>
            </a:pPr>
            <a:r>
              <a:rPr lang="en-US" sz="1200" dirty="0">
                <a:solidFill>
                  <a:srgbClr val="4A5563"/>
                </a:solidFill>
                <a:latin typeface="Calibri" pitchFamily="34" charset="0"/>
                <a:ea typeface="Calibri" pitchFamily="34" charset="-122"/>
                <a:cs typeface="Calibri" pitchFamily="34" charset="-120"/>
              </a:rPr>
              <a:t>Your Account Manager plus the CAX team: check-ins and coaching</a:t>
            </a:r>
            <a:endParaRPr lang="en-US" sz="1200" dirty="0"/>
          </a:p>
          <a:p>
            <a:pPr marL="342900" indent="-342900">
              <a:spcAft>
                <a:spcPts val="400"/>
              </a:spcAft>
              <a:buSzPct val="100000"/>
              <a:buChar char="•"/>
            </a:pPr>
            <a:r>
              <a:rPr lang="en-US" sz="1200" dirty="0">
                <a:solidFill>
                  <a:srgbClr val="4A5563"/>
                </a:solidFill>
                <a:latin typeface="Calibri" pitchFamily="34" charset="0"/>
                <a:ea typeface="Calibri" pitchFamily="34" charset="-122"/>
                <a:cs typeface="Calibri" pitchFamily="34" charset="-120"/>
              </a:rPr>
              <a:t>Free replacement any time, with a 1-week trial</a:t>
            </a:r>
            <a:endParaRPr lang="en-US" sz="1200" dirty="0"/>
          </a:p>
        </p:txBody>
      </p:sp>
      <p:sp>
        <p:nvSpPr>
          <p:cNvPr id="16" name="Tick box: This is my package"/>
          <p:cNvSpPr txBox="1"/>
          <p:nvPr/>
        </p:nvSpPr>
        <p:spPr>
          <a:xfrm>
            <a:off x="685800" y="559612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7" name="Text 15"/>
          <p:cNvSpPr txBox="1"/>
          <p:nvPr/>
        </p:nvSpPr>
        <p:spPr>
          <a:xfrm>
            <a:off x="978408" y="5577840"/>
            <a:ext cx="2450592" cy="256032"/>
          </a:xfrm>
          <a:prstGeom prst="rect">
            <a:avLst/>
          </a:prstGeom>
          <a:noFill/>
          <a:ln/>
        </p:spPr>
        <p:txBody>
          <a:bodyPr wrap="square" lIns="0" tIns="0" rIns="0" bIns="0" rtlCol="0" anchor="ctr"/>
          <a:lstStyle/>
          <a:p>
            <a:pPr indent="0" marL="0">
              <a:buNone/>
            </a:pPr>
            <a:r>
              <a:rPr lang="en-US" sz="1300" dirty="0">
                <a:solidFill>
                  <a:srgbClr val="1B2430"/>
                </a:solidFill>
                <a:latin typeface="Calibri" pitchFamily="34" charset="0"/>
                <a:ea typeface="Calibri" pitchFamily="34" charset="-122"/>
                <a:cs typeface="Calibri" pitchFamily="34" charset="-120"/>
              </a:rPr>
              <a:t>This is my package</a:t>
            </a:r>
            <a:endParaRPr lang="en-US" sz="1300" dirty="0"/>
          </a:p>
        </p:txBody>
      </p:sp>
      <p:sp>
        <p:nvSpPr>
          <p:cNvPr id="18" name="Card"/>
          <p:cNvSpPr/>
          <p:nvPr/>
        </p:nvSpPr>
        <p:spPr>
          <a:xfrm>
            <a:off x="4261104" y="1783080"/>
            <a:ext cx="3639312" cy="4343400"/>
          </a:xfrm>
          <a:prstGeom prst="roundRect">
            <a:avLst>
              <a:gd name="adj" fmla="val 2010"/>
            </a:avLst>
          </a:prstGeom>
          <a:solidFill>
            <a:srgbClr val="FFFFFF"/>
          </a:solidFill>
          <a:ln w="9525">
            <a:solidFill>
              <a:srgbClr val="DDE4E0"/>
            </a:solidFill>
            <a:prstDash val="solid"/>
          </a:ln>
        </p:spPr>
      </p:sp>
      <p:sp>
        <p:nvSpPr>
          <p:cNvPr id="19" name="Text 17"/>
          <p:cNvSpPr txBox="1"/>
          <p:nvPr/>
        </p:nvSpPr>
        <p:spPr>
          <a:xfrm>
            <a:off x="4489704" y="1965960"/>
            <a:ext cx="3182112" cy="365760"/>
          </a:xfrm>
          <a:prstGeom prst="rect">
            <a:avLst/>
          </a:prstGeom>
          <a:noFill/>
          <a:ln/>
        </p:spPr>
        <p:txBody>
          <a:bodyPr wrap="square" lIns="0" tIns="0" rIns="0" bIns="0" rtlCol="0" anchor="ctr"/>
          <a:lstStyle/>
          <a:p>
            <a:pPr indent="0" marL="0">
              <a:buNone/>
            </a:pPr>
            <a:r>
              <a:rPr lang="en-US" sz="1800" b="1" dirty="0">
                <a:solidFill>
                  <a:srgbClr val="1B2430"/>
                </a:solidFill>
                <a:latin typeface="Cambria" pitchFamily="34" charset="0"/>
                <a:ea typeface="Cambria" pitchFamily="34" charset="-122"/>
                <a:cs typeface="Cambria" pitchFamily="34" charset="-120"/>
              </a:rPr>
              <a:t>Angel Essential</a:t>
            </a:r>
            <a:endParaRPr lang="en-US" sz="1800" dirty="0"/>
          </a:p>
        </p:txBody>
      </p:sp>
      <p:sp>
        <p:nvSpPr>
          <p:cNvPr id="20" name="Text 18"/>
          <p:cNvSpPr txBox="1"/>
          <p:nvPr/>
        </p:nvSpPr>
        <p:spPr>
          <a:xfrm>
            <a:off x="4489704" y="2331720"/>
            <a:ext cx="3182112" cy="274320"/>
          </a:xfrm>
          <a:prstGeom prst="rect">
            <a:avLst/>
          </a:prstGeom>
          <a:noFill/>
          <a:ln/>
        </p:spPr>
        <p:txBody>
          <a:bodyPr wrap="square" lIns="0" tIns="0" rIns="0" bIns="0" rtlCol="0" anchor="t"/>
          <a:lstStyle/>
          <a:p>
            <a:pPr indent="0" marL="0">
              <a:buNone/>
            </a:pPr>
            <a:r>
              <a:rPr lang="en-US" sz="1200" dirty="0">
                <a:solidFill>
                  <a:srgbClr val="6B7480"/>
                </a:solidFill>
                <a:latin typeface="Calibri" pitchFamily="34" charset="0"/>
                <a:ea typeface="Calibri" pitchFamily="34" charset="-122"/>
                <a:cs typeface="Calibri" pitchFamily="34" charset="-120"/>
              </a:rPr>
              <a:t>light management</a:t>
            </a:r>
            <a:endParaRPr lang="en-US" sz="1200" dirty="0"/>
          </a:p>
        </p:txBody>
      </p:sp>
      <p:sp>
        <p:nvSpPr>
          <p:cNvPr id="21" name="Text 19"/>
          <p:cNvSpPr txBox="1"/>
          <p:nvPr/>
        </p:nvSpPr>
        <p:spPr>
          <a:xfrm>
            <a:off x="4489704" y="2651760"/>
            <a:ext cx="3182112" cy="548640"/>
          </a:xfrm>
          <a:prstGeom prst="rect">
            <a:avLst/>
          </a:prstGeom>
          <a:noFill/>
          <a:ln/>
        </p:spPr>
        <p:txBody>
          <a:bodyPr wrap="square" lIns="0" tIns="0" rIns="0" bIns="0" rtlCol="0" anchor="ctr"/>
          <a:lstStyle/>
          <a:p>
            <a:pPr indent="0" marL="0">
              <a:buNone/>
            </a:pPr>
            <a:r>
              <a:rPr lang="en-US" sz="3200" b="1" dirty="0">
                <a:solidFill>
                  <a:srgbClr val="187A5E"/>
                </a:solidFill>
                <a:latin typeface="Cambria" pitchFamily="34" charset="0"/>
                <a:ea typeface="Cambria" pitchFamily="34" charset="-122"/>
                <a:cs typeface="Cambria" pitchFamily="34" charset="-120"/>
              </a:rPr>
              <a:t>$720</a:t>
            </a:r>
            <a:endParaRPr lang="en-US" sz="3200" dirty="0"/>
          </a:p>
        </p:txBody>
      </p:sp>
      <p:sp>
        <p:nvSpPr>
          <p:cNvPr id="22" name="Text 20"/>
          <p:cNvSpPr txBox="1"/>
          <p:nvPr/>
        </p:nvSpPr>
        <p:spPr>
          <a:xfrm>
            <a:off x="4489704" y="3200400"/>
            <a:ext cx="3182112" cy="411480"/>
          </a:xfrm>
          <a:prstGeom prst="rect">
            <a:avLst/>
          </a:prstGeom>
          <a:noFill/>
          <a:ln/>
        </p:spPr>
        <p:txBody>
          <a:bodyPr wrap="square" lIns="0" tIns="0" rIns="0" bIns="0" rtlCol="0" anchor="t"/>
          <a:lstStyle/>
          <a:p>
            <a:pPr indent="0" marL="0">
              <a:buNone/>
            </a:pPr>
            <a:r>
              <a:rPr lang="en-US" sz="1100" dirty="0">
                <a:solidFill>
                  <a:srgbClr val="4A5563"/>
                </a:solidFill>
                <a:latin typeface="Calibri" pitchFamily="34" charset="0"/>
                <a:ea typeface="Calibri" pitchFamily="34" charset="-122"/>
                <a:cs typeface="Calibri" pitchFamily="34" charset="-120"/>
              </a:rPr>
              <a:t>agency fee / month (normally $800, 10% off)</a:t>
            </a:r>
            <a:endParaRPr lang="en-US" sz="1100" dirty="0"/>
          </a:p>
        </p:txBody>
      </p:sp>
      <p:sp>
        <p:nvSpPr>
          <p:cNvPr id="23" name="Text 21"/>
          <p:cNvSpPr txBox="1"/>
          <p:nvPr/>
        </p:nvSpPr>
        <p:spPr>
          <a:xfrm>
            <a:off x="4489704" y="3657600"/>
            <a:ext cx="3182112" cy="16459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4A5563"/>
                </a:solidFill>
                <a:latin typeface="Calibri" pitchFamily="34" charset="0"/>
                <a:ea typeface="Calibri" pitchFamily="34" charset="-122"/>
                <a:cs typeface="Calibri" pitchFamily="34" charset="-120"/>
              </a:rPr>
              <a:t>Payroll and a project manager who checks in monthly</a:t>
            </a:r>
            <a:endParaRPr lang="en-US" sz="1200" dirty="0"/>
          </a:p>
          <a:p>
            <a:pPr marL="342900" indent="-342900">
              <a:spcAft>
                <a:spcPts val="400"/>
              </a:spcAft>
              <a:buSzPct val="100000"/>
              <a:buChar char="•"/>
            </a:pPr>
            <a:r>
              <a:rPr lang="en-US" sz="1200" dirty="0">
                <a:solidFill>
                  <a:srgbClr val="4A5563"/>
                </a:solidFill>
                <a:latin typeface="Calibri" pitchFamily="34" charset="0"/>
                <a:ea typeface="Calibri" pitchFamily="34" charset="-122"/>
                <a:cs typeface="Calibri" pitchFamily="34" charset="-120"/>
              </a:rPr>
              <a:t>Lighter support: no CAX team</a:t>
            </a:r>
            <a:endParaRPr lang="en-US" sz="1200" dirty="0"/>
          </a:p>
          <a:p>
            <a:pPr marL="342900" indent="-342900">
              <a:spcAft>
                <a:spcPts val="400"/>
              </a:spcAft>
              <a:buSzPct val="100000"/>
              <a:buChar char="•"/>
            </a:pPr>
            <a:r>
              <a:rPr lang="en-US" sz="1200" dirty="0">
                <a:solidFill>
                  <a:srgbClr val="4A5563"/>
                </a:solidFill>
                <a:latin typeface="Calibri" pitchFamily="34" charset="0"/>
                <a:ea typeface="Calibri" pitchFamily="34" charset="-122"/>
                <a:cs typeface="Calibri" pitchFamily="34" charset="-120"/>
              </a:rPr>
              <a:t>Free replacement within the 3-month minimum; a fee after that</a:t>
            </a:r>
            <a:endParaRPr lang="en-US" sz="1200" dirty="0"/>
          </a:p>
        </p:txBody>
      </p:sp>
      <p:sp>
        <p:nvSpPr>
          <p:cNvPr id="24" name="Tick box: This is my package"/>
          <p:cNvSpPr txBox="1"/>
          <p:nvPr/>
        </p:nvSpPr>
        <p:spPr>
          <a:xfrm>
            <a:off x="4489704" y="559612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5" name="Text 23"/>
          <p:cNvSpPr txBox="1"/>
          <p:nvPr/>
        </p:nvSpPr>
        <p:spPr>
          <a:xfrm>
            <a:off x="4782312" y="5577840"/>
            <a:ext cx="2450592" cy="256032"/>
          </a:xfrm>
          <a:prstGeom prst="rect">
            <a:avLst/>
          </a:prstGeom>
          <a:noFill/>
          <a:ln/>
        </p:spPr>
        <p:txBody>
          <a:bodyPr wrap="square" lIns="0" tIns="0" rIns="0" bIns="0" rtlCol="0" anchor="ctr"/>
          <a:lstStyle/>
          <a:p>
            <a:pPr indent="0" marL="0">
              <a:buNone/>
            </a:pPr>
            <a:r>
              <a:rPr lang="en-US" sz="1300" dirty="0">
                <a:solidFill>
                  <a:srgbClr val="1B2430"/>
                </a:solidFill>
                <a:latin typeface="Calibri" pitchFamily="34" charset="0"/>
                <a:ea typeface="Calibri" pitchFamily="34" charset="-122"/>
                <a:cs typeface="Calibri" pitchFamily="34" charset="-120"/>
              </a:rPr>
              <a:t>This is my package</a:t>
            </a:r>
            <a:endParaRPr lang="en-US" sz="1300" dirty="0"/>
          </a:p>
        </p:txBody>
      </p:sp>
      <p:sp>
        <p:nvSpPr>
          <p:cNvPr id="26" name="Card"/>
          <p:cNvSpPr/>
          <p:nvPr/>
        </p:nvSpPr>
        <p:spPr>
          <a:xfrm>
            <a:off x="8065008" y="1783080"/>
            <a:ext cx="3657600" cy="2057400"/>
          </a:xfrm>
          <a:prstGeom prst="roundRect">
            <a:avLst>
              <a:gd name="adj" fmla="val 3556"/>
            </a:avLst>
          </a:prstGeom>
          <a:solidFill>
            <a:srgbClr val="E4F2EC"/>
          </a:solidFill>
          <a:ln w="9525">
            <a:solidFill>
              <a:srgbClr val="E4F2EC"/>
            </a:solidFill>
            <a:prstDash val="solid"/>
          </a:ln>
        </p:spPr>
      </p:sp>
      <p:sp>
        <p:nvSpPr>
          <p:cNvPr id="27" name="Text 25"/>
          <p:cNvSpPr txBox="1"/>
          <p:nvPr/>
        </p:nvSpPr>
        <p:spPr>
          <a:xfrm>
            <a:off x="8275320" y="1920240"/>
            <a:ext cx="32004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PLUS YOUR VA’S RATE</a:t>
            </a:r>
            <a:endParaRPr lang="en-US" sz="1000" dirty="0"/>
          </a:p>
        </p:txBody>
      </p:sp>
      <p:sp>
        <p:nvSpPr>
          <p:cNvPr id="28" name="Text 26"/>
          <p:cNvSpPr txBox="1"/>
          <p:nvPr/>
        </p:nvSpPr>
        <p:spPr>
          <a:xfrm>
            <a:off x="8275320" y="2194560"/>
            <a:ext cx="3291840" cy="502920"/>
          </a:xfrm>
          <a:prstGeom prst="rect">
            <a:avLst/>
          </a:prstGeom>
          <a:noFill/>
          <a:ln/>
        </p:spPr>
        <p:txBody>
          <a:bodyPr wrap="square" lIns="0" tIns="0" rIns="0" bIns="0" rtlCol="0" anchor="ctr"/>
          <a:lstStyle/>
          <a:p>
            <a:pPr indent="0" marL="0">
              <a:buNone/>
            </a:pPr>
            <a:r>
              <a:rPr lang="en-US" sz="2400" b="1" dirty="0">
                <a:solidFill>
                  <a:srgbClr val="1B2430"/>
                </a:solidFill>
                <a:latin typeface="Cambria" pitchFamily="34" charset="0"/>
                <a:ea typeface="Cambria" pitchFamily="34" charset="-122"/>
                <a:cs typeface="Cambria" pitchFamily="34" charset="-120"/>
              </a:rPr>
              <a:t>$13–$16 / hr</a:t>
            </a:r>
            <a:endParaRPr lang="en-US" sz="2400" dirty="0"/>
          </a:p>
        </p:txBody>
      </p:sp>
      <p:sp>
        <p:nvSpPr>
          <p:cNvPr id="29" name="Text 27"/>
          <p:cNvSpPr txBox="1"/>
          <p:nvPr/>
        </p:nvSpPr>
        <p:spPr>
          <a:xfrm>
            <a:off x="8275320" y="2743200"/>
            <a:ext cx="3291840" cy="1005840"/>
          </a:xfrm>
          <a:prstGeom prst="rect">
            <a:avLst/>
          </a:prstGeom>
          <a:noFill/>
          <a:ln/>
        </p:spPr>
        <p:txBody>
          <a:bodyPr wrap="square" lIns="0" tIns="0" rIns="0" bIns="0" rtlCol="0" anchor="t"/>
          <a:lstStyle/>
          <a:p>
            <a:pPr indent="0" marL="0">
              <a:buNone/>
            </a:pPr>
            <a:r>
              <a:rPr lang="en-US" sz="1150" dirty="0">
                <a:solidFill>
                  <a:srgbClr val="1B2430"/>
                </a:solidFill>
                <a:latin typeface="Calibri" pitchFamily="34" charset="0"/>
                <a:ea typeface="Calibri" pitchFamily="34" charset="-122"/>
                <a:cs typeface="Calibri" pitchFamily="34" charset="-120"/>
              </a:rPr>
              <a:t>Indicative, 40 hrs/week. Each candidate’s own rate is on their profile and is paid to them in full. All prices AUD, excl. GST.</a:t>
            </a:r>
            <a:endParaRPr lang="en-US" sz="1150" dirty="0"/>
          </a:p>
        </p:txBody>
      </p:sp>
      <p:sp>
        <p:nvSpPr>
          <p:cNvPr id="30" name="Input: Questions about the investment"/>
          <p:cNvSpPr txBox="1"/>
          <p:nvPr/>
        </p:nvSpPr>
        <p:spPr>
          <a:xfrm>
            <a:off x="8065008" y="3977640"/>
            <a:ext cx="3657600" cy="214884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QUESTIONS ABOUT THE INVESTMENT</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Anything you’d like us to walk through again?</a:t>
            </a:r>
            <a:endParaRPr lang="en-US" sz="9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A  ·  11</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Timeline</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You’d like someone solid in place for November, ahead of Christmas.</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sp>
        <p:nvSpPr>
          <p:cNvPr id="10" name="Shape 8"/>
          <p:cNvSpPr/>
          <p:nvPr/>
        </p:nvSpPr>
        <p:spPr>
          <a:xfrm>
            <a:off x="1005840" y="2331720"/>
            <a:ext cx="10149840" cy="0"/>
          </a:xfrm>
          <a:prstGeom prst="line">
            <a:avLst/>
          </a:prstGeom>
          <a:noFill/>
          <a:ln w="38100">
            <a:solidFill>
              <a:srgbClr val="DDE4E0"/>
            </a:solidFill>
            <a:prstDash val="solid"/>
          </a:ln>
        </p:spPr>
      </p:sp>
      <p:sp>
        <p:nvSpPr>
          <p:cNvPr id="11" name="Shape 9"/>
          <p:cNvSpPr/>
          <p:nvPr/>
        </p:nvSpPr>
        <p:spPr>
          <a:xfrm>
            <a:off x="841248" y="2167128"/>
            <a:ext cx="329184" cy="329184"/>
          </a:xfrm>
          <a:prstGeom prst="ellipse">
            <a:avLst/>
          </a:prstGeom>
          <a:solidFill>
            <a:srgbClr val="187A5E"/>
          </a:solidFill>
          <a:ln w="25400">
            <a:solidFill>
              <a:srgbClr val="FFFFFF"/>
            </a:solidFill>
            <a:prstDash val="solid"/>
          </a:ln>
        </p:spPr>
      </p:sp>
      <p:sp>
        <p:nvSpPr>
          <p:cNvPr id="12" name="Text 10"/>
          <p:cNvSpPr txBox="1"/>
          <p:nvPr/>
        </p:nvSpPr>
        <p:spPr>
          <a:xfrm>
            <a:off x="274320" y="2606040"/>
            <a:ext cx="1463040" cy="320040"/>
          </a:xfrm>
          <a:prstGeom prst="rect">
            <a:avLst/>
          </a:prstGeom>
          <a:noFill/>
          <a:ln/>
        </p:spPr>
        <p:txBody>
          <a:bodyPr wrap="square" lIns="0" tIns="0" rIns="0" bIns="0" rtlCol="0" anchor="ctr"/>
          <a:lstStyle/>
          <a:p>
            <a:pPr algn="ctr" indent="0" marL="0">
              <a:buNone/>
            </a:pPr>
            <a:r>
              <a:rPr lang="en-US" sz="1500" b="1" dirty="0">
                <a:solidFill>
                  <a:srgbClr val="1B2430"/>
                </a:solidFill>
                <a:latin typeface="Cambria" pitchFamily="34" charset="0"/>
                <a:ea typeface="Cambria" pitchFamily="34" charset="-122"/>
                <a:cs typeface="Cambria" pitchFamily="34" charset="-120"/>
              </a:rPr>
              <a:t>Oct</a:t>
            </a:r>
            <a:endParaRPr lang="en-US" sz="1500" dirty="0"/>
          </a:p>
        </p:txBody>
      </p:sp>
      <p:sp>
        <p:nvSpPr>
          <p:cNvPr id="13" name="Text 11"/>
          <p:cNvSpPr txBox="1"/>
          <p:nvPr/>
        </p:nvSpPr>
        <p:spPr>
          <a:xfrm>
            <a:off x="274320" y="2926080"/>
            <a:ext cx="1463040" cy="548640"/>
          </a:xfrm>
          <a:prstGeom prst="rect">
            <a:avLst/>
          </a:prstGeom>
          <a:noFill/>
          <a:ln/>
        </p:spPr>
        <p:txBody>
          <a:bodyPr wrap="square" lIns="0" tIns="0" rIns="0" bIns="0" rtlCol="0" anchor="t"/>
          <a:lstStyle/>
          <a:p>
            <a:pPr algn="ctr" indent="0" marL="0">
              <a:buNone/>
            </a:pPr>
            <a:r>
              <a:rPr lang="en-US" sz="1200" dirty="0">
                <a:solidFill>
                  <a:srgbClr val="4A5563"/>
                </a:solidFill>
                <a:latin typeface="Calibri" pitchFamily="34" charset="0"/>
                <a:ea typeface="Calibri" pitchFamily="34" charset="-122"/>
                <a:cs typeface="Calibri" pitchFamily="34" charset="-120"/>
              </a:rPr>
              <a:t>Interviews &amp; choose your VA</a:t>
            </a:r>
            <a:endParaRPr lang="en-US" sz="1200" dirty="0"/>
          </a:p>
        </p:txBody>
      </p:sp>
      <p:sp>
        <p:nvSpPr>
          <p:cNvPr id="14" name="Shape 12"/>
          <p:cNvSpPr/>
          <p:nvPr/>
        </p:nvSpPr>
        <p:spPr>
          <a:xfrm>
            <a:off x="3383280" y="2167128"/>
            <a:ext cx="329184" cy="329184"/>
          </a:xfrm>
          <a:prstGeom prst="ellipse">
            <a:avLst/>
          </a:prstGeom>
          <a:solidFill>
            <a:srgbClr val="187A5E"/>
          </a:solidFill>
          <a:ln w="25400">
            <a:solidFill>
              <a:srgbClr val="FFFFFF"/>
            </a:solidFill>
            <a:prstDash val="solid"/>
          </a:ln>
        </p:spPr>
      </p:sp>
      <p:sp>
        <p:nvSpPr>
          <p:cNvPr id="15" name="Text 13"/>
          <p:cNvSpPr txBox="1"/>
          <p:nvPr/>
        </p:nvSpPr>
        <p:spPr>
          <a:xfrm>
            <a:off x="2816352" y="2606040"/>
            <a:ext cx="1463040" cy="320040"/>
          </a:xfrm>
          <a:prstGeom prst="rect">
            <a:avLst/>
          </a:prstGeom>
          <a:noFill/>
          <a:ln/>
        </p:spPr>
        <p:txBody>
          <a:bodyPr wrap="square" lIns="0" tIns="0" rIns="0" bIns="0" rtlCol="0" anchor="ctr"/>
          <a:lstStyle/>
          <a:p>
            <a:pPr algn="ctr" indent="0" marL="0">
              <a:buNone/>
            </a:pPr>
            <a:r>
              <a:rPr lang="en-US" sz="1500" b="1" dirty="0">
                <a:solidFill>
                  <a:srgbClr val="1B2430"/>
                </a:solidFill>
                <a:latin typeface="Cambria" pitchFamily="34" charset="0"/>
                <a:ea typeface="Cambria" pitchFamily="34" charset="-122"/>
                <a:cs typeface="Cambria" pitchFamily="34" charset="-120"/>
              </a:rPr>
              <a:t>Nov</a:t>
            </a:r>
            <a:endParaRPr lang="en-US" sz="1500" dirty="0"/>
          </a:p>
        </p:txBody>
      </p:sp>
      <p:sp>
        <p:nvSpPr>
          <p:cNvPr id="16" name="Text 14"/>
          <p:cNvSpPr txBox="1"/>
          <p:nvPr/>
        </p:nvSpPr>
        <p:spPr>
          <a:xfrm>
            <a:off x="2816352" y="2926080"/>
            <a:ext cx="1463040" cy="548640"/>
          </a:xfrm>
          <a:prstGeom prst="rect">
            <a:avLst/>
          </a:prstGeom>
          <a:noFill/>
          <a:ln/>
        </p:spPr>
        <p:txBody>
          <a:bodyPr wrap="square" lIns="0" tIns="0" rIns="0" bIns="0" rtlCol="0" anchor="t"/>
          <a:lstStyle/>
          <a:p>
            <a:pPr algn="ctr" indent="0" marL="0">
              <a:buNone/>
            </a:pPr>
            <a:r>
              <a:rPr lang="en-US" sz="1200" dirty="0">
                <a:solidFill>
                  <a:srgbClr val="4A5563"/>
                </a:solidFill>
                <a:latin typeface="Calibri" pitchFamily="34" charset="0"/>
                <a:ea typeface="Calibri" pitchFamily="34" charset="-122"/>
                <a:cs typeface="Calibri" pitchFamily="34" charset="-120"/>
              </a:rPr>
              <a:t>VA starts and learns</a:t>
            </a:r>
            <a:endParaRPr lang="en-US" sz="1200" dirty="0"/>
          </a:p>
        </p:txBody>
      </p:sp>
      <p:sp>
        <p:nvSpPr>
          <p:cNvPr id="17" name="Shape 15"/>
          <p:cNvSpPr/>
          <p:nvPr/>
        </p:nvSpPr>
        <p:spPr>
          <a:xfrm>
            <a:off x="5925312" y="2167128"/>
            <a:ext cx="329184" cy="329184"/>
          </a:xfrm>
          <a:prstGeom prst="ellipse">
            <a:avLst/>
          </a:prstGeom>
          <a:solidFill>
            <a:srgbClr val="B26B0E"/>
          </a:solidFill>
          <a:ln w="25400">
            <a:solidFill>
              <a:srgbClr val="FFFFFF"/>
            </a:solidFill>
            <a:prstDash val="solid"/>
          </a:ln>
        </p:spPr>
      </p:sp>
      <p:sp>
        <p:nvSpPr>
          <p:cNvPr id="18" name="Text 16"/>
          <p:cNvSpPr txBox="1"/>
          <p:nvPr/>
        </p:nvSpPr>
        <p:spPr>
          <a:xfrm>
            <a:off x="5358384" y="2606040"/>
            <a:ext cx="1463040" cy="320040"/>
          </a:xfrm>
          <a:prstGeom prst="rect">
            <a:avLst/>
          </a:prstGeom>
          <a:noFill/>
          <a:ln/>
        </p:spPr>
        <p:txBody>
          <a:bodyPr wrap="square" lIns="0" tIns="0" rIns="0" bIns="0" rtlCol="0" anchor="ctr"/>
          <a:lstStyle/>
          <a:p>
            <a:pPr algn="ctr" indent="0" marL="0">
              <a:buNone/>
            </a:pPr>
            <a:r>
              <a:rPr lang="en-US" sz="1500" b="1" dirty="0">
                <a:solidFill>
                  <a:srgbClr val="1B2430"/>
                </a:solidFill>
                <a:latin typeface="Cambria" pitchFamily="34" charset="0"/>
                <a:ea typeface="Cambria" pitchFamily="34" charset="-122"/>
                <a:cs typeface="Cambria" pitchFamily="34" charset="-120"/>
              </a:rPr>
              <a:t>Dec</a:t>
            </a:r>
            <a:endParaRPr lang="en-US" sz="1500" dirty="0"/>
          </a:p>
        </p:txBody>
      </p:sp>
      <p:sp>
        <p:nvSpPr>
          <p:cNvPr id="19" name="Text 17"/>
          <p:cNvSpPr txBox="1"/>
          <p:nvPr/>
        </p:nvSpPr>
        <p:spPr>
          <a:xfrm>
            <a:off x="5358384" y="2926080"/>
            <a:ext cx="1463040" cy="548640"/>
          </a:xfrm>
          <a:prstGeom prst="rect">
            <a:avLst/>
          </a:prstGeom>
          <a:noFill/>
          <a:ln/>
        </p:spPr>
        <p:txBody>
          <a:bodyPr wrap="square" lIns="0" tIns="0" rIns="0" bIns="0" rtlCol="0" anchor="t"/>
          <a:lstStyle/>
          <a:p>
            <a:pPr algn="ctr" indent="0" marL="0">
              <a:buNone/>
            </a:pPr>
            <a:r>
              <a:rPr lang="en-US" sz="1200" dirty="0">
                <a:solidFill>
                  <a:srgbClr val="4A5563"/>
                </a:solidFill>
                <a:latin typeface="Calibri" pitchFamily="34" charset="0"/>
                <a:ea typeface="Calibri" pitchFamily="34" charset="-122"/>
                <a:cs typeface="Calibri" pitchFamily="34" charset="-120"/>
              </a:rPr>
              <a:t>Christmas peak</a:t>
            </a:r>
            <a:endParaRPr lang="en-US" sz="1200" dirty="0"/>
          </a:p>
        </p:txBody>
      </p:sp>
      <p:sp>
        <p:nvSpPr>
          <p:cNvPr id="20" name="Shape 18"/>
          <p:cNvSpPr/>
          <p:nvPr/>
        </p:nvSpPr>
        <p:spPr>
          <a:xfrm>
            <a:off x="8467344" y="2167128"/>
            <a:ext cx="329184" cy="329184"/>
          </a:xfrm>
          <a:prstGeom prst="ellipse">
            <a:avLst/>
          </a:prstGeom>
          <a:solidFill>
            <a:srgbClr val="187A5E"/>
          </a:solidFill>
          <a:ln w="25400">
            <a:solidFill>
              <a:srgbClr val="FFFFFF"/>
            </a:solidFill>
            <a:prstDash val="solid"/>
          </a:ln>
        </p:spPr>
      </p:sp>
      <p:sp>
        <p:nvSpPr>
          <p:cNvPr id="21" name="Text 19"/>
          <p:cNvSpPr txBox="1"/>
          <p:nvPr/>
        </p:nvSpPr>
        <p:spPr>
          <a:xfrm>
            <a:off x="7900416" y="2606040"/>
            <a:ext cx="1463040" cy="320040"/>
          </a:xfrm>
          <a:prstGeom prst="rect">
            <a:avLst/>
          </a:prstGeom>
          <a:noFill/>
          <a:ln/>
        </p:spPr>
        <p:txBody>
          <a:bodyPr wrap="square" lIns="0" tIns="0" rIns="0" bIns="0" rtlCol="0" anchor="ctr"/>
          <a:lstStyle/>
          <a:p>
            <a:pPr algn="ctr" indent="0" marL="0">
              <a:buNone/>
            </a:pPr>
            <a:r>
              <a:rPr lang="en-US" sz="1500" b="1" dirty="0">
                <a:solidFill>
                  <a:srgbClr val="1B2430"/>
                </a:solidFill>
                <a:latin typeface="Cambria" pitchFamily="34" charset="0"/>
                <a:ea typeface="Cambria" pitchFamily="34" charset="-122"/>
                <a:cs typeface="Cambria" pitchFamily="34" charset="-120"/>
              </a:rPr>
              <a:t>Late Dec</a:t>
            </a:r>
            <a:endParaRPr lang="en-US" sz="1500" dirty="0"/>
          </a:p>
        </p:txBody>
      </p:sp>
      <p:sp>
        <p:nvSpPr>
          <p:cNvPr id="22" name="Text 20"/>
          <p:cNvSpPr txBox="1"/>
          <p:nvPr/>
        </p:nvSpPr>
        <p:spPr>
          <a:xfrm>
            <a:off x="7900416" y="2926080"/>
            <a:ext cx="1463040" cy="548640"/>
          </a:xfrm>
          <a:prstGeom prst="rect">
            <a:avLst/>
          </a:prstGeom>
          <a:noFill/>
          <a:ln/>
        </p:spPr>
        <p:txBody>
          <a:bodyPr wrap="square" lIns="0" tIns="0" rIns="0" bIns="0" rtlCol="0" anchor="t"/>
          <a:lstStyle/>
          <a:p>
            <a:pPr algn="ctr" indent="0" marL="0">
              <a:buNone/>
            </a:pPr>
            <a:r>
              <a:rPr lang="en-US" sz="1200" dirty="0">
                <a:solidFill>
                  <a:srgbClr val="4A5563"/>
                </a:solidFill>
                <a:latin typeface="Calibri" pitchFamily="34" charset="0"/>
                <a:ea typeface="Calibri" pitchFamily="34" charset="-122"/>
                <a:cs typeface="Calibri" pitchFamily="34" charset="-120"/>
              </a:rPr>
              <a:t>Quieter: refine processes</a:t>
            </a:r>
            <a:endParaRPr lang="en-US" sz="1200" dirty="0"/>
          </a:p>
        </p:txBody>
      </p:sp>
      <p:sp>
        <p:nvSpPr>
          <p:cNvPr id="23" name="Shape 21"/>
          <p:cNvSpPr/>
          <p:nvPr/>
        </p:nvSpPr>
        <p:spPr>
          <a:xfrm>
            <a:off x="11009376" y="2167128"/>
            <a:ext cx="329184" cy="329184"/>
          </a:xfrm>
          <a:prstGeom prst="ellipse">
            <a:avLst/>
          </a:prstGeom>
          <a:solidFill>
            <a:srgbClr val="187A5E"/>
          </a:solidFill>
          <a:ln w="25400">
            <a:solidFill>
              <a:srgbClr val="FFFFFF"/>
            </a:solidFill>
            <a:prstDash val="solid"/>
          </a:ln>
        </p:spPr>
      </p:sp>
      <p:sp>
        <p:nvSpPr>
          <p:cNvPr id="24" name="Text 22"/>
          <p:cNvSpPr txBox="1"/>
          <p:nvPr/>
        </p:nvSpPr>
        <p:spPr>
          <a:xfrm>
            <a:off x="10442448" y="2606040"/>
            <a:ext cx="1463040" cy="320040"/>
          </a:xfrm>
          <a:prstGeom prst="rect">
            <a:avLst/>
          </a:prstGeom>
          <a:noFill/>
          <a:ln/>
        </p:spPr>
        <p:txBody>
          <a:bodyPr wrap="square" lIns="0" tIns="0" rIns="0" bIns="0" rtlCol="0" anchor="ctr"/>
          <a:lstStyle/>
          <a:p>
            <a:pPr algn="ctr" indent="0" marL="0">
              <a:buNone/>
            </a:pPr>
            <a:r>
              <a:rPr lang="en-US" sz="1500" b="1" dirty="0">
                <a:solidFill>
                  <a:srgbClr val="1B2430"/>
                </a:solidFill>
                <a:latin typeface="Cambria" pitchFamily="34" charset="0"/>
                <a:ea typeface="Cambria" pitchFamily="34" charset="-122"/>
                <a:cs typeface="Cambria" pitchFamily="34" charset="-120"/>
              </a:rPr>
              <a:t>Jan</a:t>
            </a:r>
            <a:endParaRPr lang="en-US" sz="1500" dirty="0"/>
          </a:p>
        </p:txBody>
      </p:sp>
      <p:sp>
        <p:nvSpPr>
          <p:cNvPr id="25" name="Text 23"/>
          <p:cNvSpPr txBox="1"/>
          <p:nvPr/>
        </p:nvSpPr>
        <p:spPr>
          <a:xfrm>
            <a:off x="10442448" y="2926080"/>
            <a:ext cx="1463040" cy="548640"/>
          </a:xfrm>
          <a:prstGeom prst="rect">
            <a:avLst/>
          </a:prstGeom>
          <a:noFill/>
          <a:ln/>
        </p:spPr>
        <p:txBody>
          <a:bodyPr wrap="square" lIns="0" tIns="0" rIns="0" bIns="0" rtlCol="0" anchor="t"/>
          <a:lstStyle/>
          <a:p>
            <a:pPr algn="ctr" indent="0" marL="0">
              <a:buNone/>
            </a:pPr>
            <a:r>
              <a:rPr lang="en-US" sz="1200" dirty="0">
                <a:solidFill>
                  <a:srgbClr val="4A5563"/>
                </a:solidFill>
                <a:latin typeface="Calibri" pitchFamily="34" charset="0"/>
                <a:ea typeface="Calibri" pitchFamily="34" charset="-122"/>
                <a:cs typeface="Calibri" pitchFamily="34" charset="-120"/>
              </a:rPr>
              <a:t>Two-month review</a:t>
            </a:r>
            <a:endParaRPr lang="en-US" sz="1200" dirty="0"/>
          </a:p>
        </p:txBody>
      </p:sp>
      <p:sp>
        <p:nvSpPr>
          <p:cNvPr id="26" name="Input: Preferred start date"/>
          <p:cNvSpPr txBox="1"/>
          <p:nvPr/>
        </p:nvSpPr>
        <p:spPr>
          <a:xfrm>
            <a:off x="457200" y="3794760"/>
            <a:ext cx="3639312" cy="114300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PREFERRED START DATE</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e.g. Monday 3 November</a:t>
            </a:r>
            <a:endParaRPr lang="en-US" sz="900" dirty="0"/>
          </a:p>
        </p:txBody>
      </p:sp>
      <p:sp>
        <p:nvSpPr>
          <p:cNvPr id="27" name="Input: Best times for interviews"/>
          <p:cNvSpPr txBox="1"/>
          <p:nvPr/>
        </p:nvSpPr>
        <p:spPr>
          <a:xfrm>
            <a:off x="4261104" y="3794760"/>
            <a:ext cx="3639312" cy="114300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BEST TIMES FOR INTERVIEWS</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Days and times that suit you</a:t>
            </a:r>
            <a:endParaRPr lang="en-US" sz="900" dirty="0"/>
          </a:p>
        </p:txBody>
      </p:sp>
      <p:sp>
        <p:nvSpPr>
          <p:cNvPr id="28" name="Input: Two-month review date"/>
          <p:cNvSpPr txBox="1"/>
          <p:nvPr/>
        </p:nvSpPr>
        <p:spPr>
          <a:xfrm>
            <a:off x="8065008" y="3794760"/>
            <a:ext cx="3657600" cy="114300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TWO-MONTH REVIEW DATE</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We’ll book it in</a:t>
            </a:r>
            <a:endParaRPr lang="en-US" sz="900" dirty="0"/>
          </a:p>
        </p:txBody>
      </p:sp>
      <p:sp>
        <p:nvSpPr>
          <p:cNvPr id="29" name="Card"/>
          <p:cNvSpPr/>
          <p:nvPr/>
        </p:nvSpPr>
        <p:spPr>
          <a:xfrm>
            <a:off x="457200" y="5074920"/>
            <a:ext cx="11274552" cy="1051560"/>
          </a:xfrm>
          <a:prstGeom prst="roundRect">
            <a:avLst>
              <a:gd name="adj" fmla="val 6957"/>
            </a:avLst>
          </a:prstGeom>
          <a:solidFill>
            <a:srgbClr val="F1F4F2"/>
          </a:solidFill>
          <a:ln w="9525">
            <a:solidFill>
              <a:srgbClr val="F1F4F2"/>
            </a:solidFill>
            <a:prstDash val="solid"/>
          </a:ln>
        </p:spPr>
      </p:sp>
      <p:sp>
        <p:nvSpPr>
          <p:cNvPr id="30" name="Text 28"/>
          <p:cNvSpPr txBox="1"/>
          <p:nvPr/>
        </p:nvSpPr>
        <p:spPr>
          <a:xfrm>
            <a:off x="685800" y="5212080"/>
            <a:ext cx="7589520" cy="777240"/>
          </a:xfrm>
          <a:prstGeom prst="rect">
            <a:avLst/>
          </a:prstGeom>
          <a:noFill/>
          <a:ln/>
        </p:spPr>
        <p:txBody>
          <a:bodyPr wrap="square" lIns="0" tIns="0" rIns="0" bIns="0" rtlCol="0" anchor="t"/>
          <a:lstStyle/>
          <a:p>
            <a:pPr indent="0" marL="0">
              <a:buNone/>
            </a:pPr>
            <a:r>
              <a:rPr lang="en-US" sz="1250" i="1" dirty="0">
                <a:solidFill>
                  <a:srgbClr val="1B2430"/>
                </a:solidFill>
                <a:latin typeface="Calibri" pitchFamily="34" charset="0"/>
                <a:ea typeface="Calibri" pitchFamily="34" charset="-122"/>
                <a:cs typeface="Calibri" pitchFamily="34" charset="-120"/>
              </a:rPr>
              <a:t>Your words: “We’ll give that a try for almost two months… If it goes well, then we can go further, if not, then we just talk about how we can adjust it.”</a:t>
            </a:r>
            <a:endParaRPr lang="en-US" sz="1250" dirty="0"/>
          </a:p>
        </p:txBody>
      </p:sp>
      <p:sp>
        <p:nvSpPr>
          <p:cNvPr id="31" name="Tick box: Timeline works for me"/>
          <p:cNvSpPr txBox="1"/>
          <p:nvPr/>
        </p:nvSpPr>
        <p:spPr>
          <a:xfrm>
            <a:off x="8549640" y="541324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2" name="Text 30"/>
          <p:cNvSpPr txBox="1"/>
          <p:nvPr/>
        </p:nvSpPr>
        <p:spPr>
          <a:xfrm>
            <a:off x="8842248" y="5394960"/>
            <a:ext cx="263347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Timeline works for me</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B  ·  01</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Day 1 setup checklist</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Assign an owner and a date to each item. Type X when done.</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3840480"/>
                <a:gridCol w="1920240"/>
                <a:gridCol w="1463040"/>
                <a:gridCol w="1097280"/>
                <a:gridCol w="2953512"/>
              </a:tblGrid>
              <a:tr h="40233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Item</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Owner</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Done by</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Done (X)</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Notes</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r>
              <a:tr h="402336">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Company email for the VA</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402336">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Shopify staff account (right permissions)</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402336">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Order Mentor access</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402336">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WhatsApp, WeChat and Messenger access</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402336">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Product manual, templates and FAQs shared</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402336">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Password manager for shared logins</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402336">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Internet phone set up (if needed)</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402336">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Excel tracker for dormant customers</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bl>
          </a:graphicData>
        </a:graphic>
      </p:graphicFrame>
      <p:sp>
        <p:nvSpPr>
          <p:cNvPr id="11" name="Text 8"/>
          <p:cNvSpPr txBox="1"/>
          <p:nvPr/>
        </p:nvSpPr>
        <p:spPr>
          <a:xfrm>
            <a:off x="457200" y="5532120"/>
            <a:ext cx="11247120" cy="548640"/>
          </a:xfrm>
          <a:prstGeom prst="rect">
            <a:avLst/>
          </a:prstGeom>
          <a:noFill/>
          <a:ln/>
        </p:spPr>
        <p:txBody>
          <a:bodyPr wrap="square" lIns="0" tIns="0" rIns="0" bIns="0" rtlCol="0" anchor="t"/>
          <a:lstStyle/>
          <a:p>
            <a:pPr indent="0" marL="0">
              <a:buNone/>
            </a:pPr>
            <a:r>
              <a:rPr lang="en-US" sz="1200" dirty="0">
                <a:solidFill>
                  <a:srgbClr val="6B7480"/>
                </a:solidFill>
                <a:latin typeface="Calibri" pitchFamily="34" charset="0"/>
                <a:ea typeface="Calibri" pitchFamily="34" charset="-122"/>
                <a:cs typeface="Calibri" pitchFamily="34" charset="-120"/>
              </a:rPr>
              <a:t>You told us you already have templates and a product manual. Your VA will learn your processes first; you create them, and they document them.</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B  ·  02</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First 90 days</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Learning, then supporting, then operating independently. Set your own goal for each stage.</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sp>
        <p:nvSpPr>
          <p:cNvPr id="10" name="Card"/>
          <p:cNvSpPr/>
          <p:nvPr/>
        </p:nvSpPr>
        <p:spPr>
          <a:xfrm>
            <a:off x="457200" y="1783080"/>
            <a:ext cx="3639312" cy="4343400"/>
          </a:xfrm>
          <a:prstGeom prst="roundRect">
            <a:avLst>
              <a:gd name="adj" fmla="val 2010"/>
            </a:avLst>
          </a:prstGeom>
          <a:solidFill>
            <a:srgbClr val="FFFFFF"/>
          </a:solidFill>
          <a:ln w="9525">
            <a:solidFill>
              <a:srgbClr val="DDE4E0"/>
            </a:solidFill>
            <a:prstDash val="solid"/>
          </a:ln>
        </p:spPr>
      </p:sp>
      <p:sp>
        <p:nvSpPr>
          <p:cNvPr id="11" name="Text 9"/>
          <p:cNvSpPr txBox="1"/>
          <p:nvPr/>
        </p:nvSpPr>
        <p:spPr>
          <a:xfrm>
            <a:off x="685800" y="1920240"/>
            <a:ext cx="27432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DAYS 1–30</a:t>
            </a:r>
            <a:endParaRPr lang="en-US" sz="1000" dirty="0"/>
          </a:p>
        </p:txBody>
      </p:sp>
      <p:sp>
        <p:nvSpPr>
          <p:cNvPr id="12" name="Text 10"/>
          <p:cNvSpPr txBox="1"/>
          <p:nvPr/>
        </p:nvSpPr>
        <p:spPr>
          <a:xfrm>
            <a:off x="685800" y="2194560"/>
            <a:ext cx="3200400" cy="365760"/>
          </a:xfrm>
          <a:prstGeom prst="rect">
            <a:avLst/>
          </a:prstGeom>
          <a:noFill/>
          <a:ln/>
        </p:spPr>
        <p:txBody>
          <a:bodyPr wrap="square" lIns="0" tIns="0" rIns="0" bIns="0" rtlCol="0" anchor="ctr"/>
          <a:lstStyle/>
          <a:p>
            <a:pPr indent="0" marL="0">
              <a:buNone/>
            </a:pPr>
            <a:r>
              <a:rPr lang="en-US" sz="1700" b="1" dirty="0">
                <a:solidFill>
                  <a:srgbClr val="1B2430"/>
                </a:solidFill>
                <a:latin typeface="Cambria" pitchFamily="34" charset="0"/>
                <a:ea typeface="Cambria" pitchFamily="34" charset="-122"/>
                <a:cs typeface="Cambria" pitchFamily="34" charset="-120"/>
              </a:rPr>
              <a:t>Learn &amp; stabilise</a:t>
            </a:r>
            <a:endParaRPr lang="en-US" sz="1700" dirty="0"/>
          </a:p>
        </p:txBody>
      </p:sp>
      <p:sp>
        <p:nvSpPr>
          <p:cNvPr id="13" name="Text 11"/>
          <p:cNvSpPr txBox="1"/>
          <p:nvPr/>
        </p:nvSpPr>
        <p:spPr>
          <a:xfrm>
            <a:off x="685800" y="2651760"/>
            <a:ext cx="3200400" cy="1280160"/>
          </a:xfrm>
          <a:prstGeom prst="rect">
            <a:avLst/>
          </a:prstGeom>
          <a:noFill/>
          <a:ln/>
        </p:spPr>
        <p:txBody>
          <a:bodyPr wrap="square" lIns="0" tIns="0" rIns="0" bIns="0" rtlCol="0" anchor="t"/>
          <a:lstStyle/>
          <a:p>
            <a:pPr indent="0" marL="0">
              <a:buNone/>
            </a:pPr>
            <a:r>
              <a:rPr lang="en-US" sz="1250" dirty="0">
                <a:solidFill>
                  <a:srgbClr val="4A5563"/>
                </a:solidFill>
                <a:latin typeface="Calibri" pitchFamily="34" charset="0"/>
                <a:ea typeface="Calibri" pitchFamily="34" charset="-122"/>
                <a:cs typeface="Calibri" pitchFamily="34" charset="-120"/>
              </a:rPr>
              <a:t>Products, customers, channels, Shopify, Order Mentor, payment and delivery processes. Start answering enquiries within two hours.</a:t>
            </a:r>
            <a:endParaRPr lang="en-US" sz="1250" dirty="0"/>
          </a:p>
        </p:txBody>
      </p:sp>
      <p:sp>
        <p:nvSpPr>
          <p:cNvPr id="14" name="Input: Your goal for this stage"/>
          <p:cNvSpPr txBox="1"/>
          <p:nvPr/>
        </p:nvSpPr>
        <p:spPr>
          <a:xfrm>
            <a:off x="685800" y="4023360"/>
            <a:ext cx="3182112" cy="137160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YOUR GOAL FOR THIS STAGE</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What would make you happy by day 30?</a:t>
            </a:r>
            <a:endParaRPr lang="en-US" sz="900" dirty="0"/>
          </a:p>
        </p:txBody>
      </p:sp>
      <p:sp>
        <p:nvSpPr>
          <p:cNvPr id="15" name="Tick box: Achieved (tick at review)"/>
          <p:cNvSpPr txBox="1"/>
          <p:nvPr/>
        </p:nvSpPr>
        <p:spPr>
          <a:xfrm>
            <a:off x="685800" y="559612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6" name="Text 14"/>
          <p:cNvSpPr txBox="1"/>
          <p:nvPr/>
        </p:nvSpPr>
        <p:spPr>
          <a:xfrm>
            <a:off x="978408" y="5577840"/>
            <a:ext cx="281635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Achieved (tick at review)</a:t>
            </a:r>
            <a:endParaRPr lang="en-US" sz="1100" dirty="0"/>
          </a:p>
        </p:txBody>
      </p:sp>
      <p:sp>
        <p:nvSpPr>
          <p:cNvPr id="17" name="Card"/>
          <p:cNvSpPr/>
          <p:nvPr/>
        </p:nvSpPr>
        <p:spPr>
          <a:xfrm>
            <a:off x="4261104" y="1783080"/>
            <a:ext cx="3639312" cy="4343400"/>
          </a:xfrm>
          <a:prstGeom prst="roundRect">
            <a:avLst>
              <a:gd name="adj" fmla="val 2010"/>
            </a:avLst>
          </a:prstGeom>
          <a:solidFill>
            <a:srgbClr val="FFFFFF"/>
          </a:solidFill>
          <a:ln w="9525">
            <a:solidFill>
              <a:srgbClr val="DDE4E0"/>
            </a:solidFill>
            <a:prstDash val="solid"/>
          </a:ln>
        </p:spPr>
      </p:sp>
      <p:sp>
        <p:nvSpPr>
          <p:cNvPr id="18" name="Text 16"/>
          <p:cNvSpPr txBox="1"/>
          <p:nvPr/>
        </p:nvSpPr>
        <p:spPr>
          <a:xfrm>
            <a:off x="4489704" y="1920240"/>
            <a:ext cx="27432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DAYS 31–60</a:t>
            </a:r>
            <a:endParaRPr lang="en-US" sz="1000" dirty="0"/>
          </a:p>
        </p:txBody>
      </p:sp>
      <p:sp>
        <p:nvSpPr>
          <p:cNvPr id="19" name="Text 17"/>
          <p:cNvSpPr txBox="1"/>
          <p:nvPr/>
        </p:nvSpPr>
        <p:spPr>
          <a:xfrm>
            <a:off x="4489704" y="2194560"/>
            <a:ext cx="3200400" cy="365760"/>
          </a:xfrm>
          <a:prstGeom prst="rect">
            <a:avLst/>
          </a:prstGeom>
          <a:noFill/>
          <a:ln/>
        </p:spPr>
        <p:txBody>
          <a:bodyPr wrap="square" lIns="0" tIns="0" rIns="0" bIns="0" rtlCol="0" anchor="ctr"/>
          <a:lstStyle/>
          <a:p>
            <a:pPr indent="0" marL="0">
              <a:buNone/>
            </a:pPr>
            <a:r>
              <a:rPr lang="en-US" sz="1700" b="1" dirty="0">
                <a:solidFill>
                  <a:srgbClr val="1B2430"/>
                </a:solidFill>
                <a:latin typeface="Cambria" pitchFamily="34" charset="0"/>
                <a:ea typeface="Cambria" pitchFamily="34" charset="-122"/>
                <a:cs typeface="Cambria" pitchFamily="34" charset="-120"/>
              </a:rPr>
              <a:t>Take ownership</a:t>
            </a:r>
            <a:endParaRPr lang="en-US" sz="1700" dirty="0"/>
          </a:p>
        </p:txBody>
      </p:sp>
      <p:sp>
        <p:nvSpPr>
          <p:cNvPr id="20" name="Text 18"/>
          <p:cNvSpPr txBox="1"/>
          <p:nvPr/>
        </p:nvSpPr>
        <p:spPr>
          <a:xfrm>
            <a:off x="4489704" y="2651760"/>
            <a:ext cx="3200400" cy="1280160"/>
          </a:xfrm>
          <a:prstGeom prst="rect">
            <a:avLst/>
          </a:prstGeom>
          <a:noFill/>
          <a:ln/>
        </p:spPr>
        <p:txBody>
          <a:bodyPr wrap="square" lIns="0" tIns="0" rIns="0" bIns="0" rtlCol="0" anchor="t"/>
          <a:lstStyle/>
          <a:p>
            <a:pPr indent="0" marL="0">
              <a:buNone/>
            </a:pPr>
            <a:r>
              <a:rPr lang="en-US" sz="1250" dirty="0">
                <a:solidFill>
                  <a:srgbClr val="4A5563"/>
                </a:solidFill>
                <a:latin typeface="Calibri" pitchFamily="34" charset="0"/>
                <a:ea typeface="Calibri" pitchFamily="34" charset="-122"/>
                <a:cs typeface="Calibri" pitchFamily="34" charset="-120"/>
              </a:rPr>
              <a:t>Own enquiries and order entry. Support AR follow-up, watch open orders, start reactivation and send weekly reports.</a:t>
            </a:r>
            <a:endParaRPr lang="en-US" sz="1250" dirty="0"/>
          </a:p>
        </p:txBody>
      </p:sp>
      <p:sp>
        <p:nvSpPr>
          <p:cNvPr id="21" name="Input: Your goal for this stage"/>
          <p:cNvSpPr txBox="1"/>
          <p:nvPr/>
        </p:nvSpPr>
        <p:spPr>
          <a:xfrm>
            <a:off x="4489704" y="4023360"/>
            <a:ext cx="3182112" cy="137160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YOUR GOAL FOR THIS STAGE</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What would make you happy by day 60?</a:t>
            </a:r>
            <a:endParaRPr lang="en-US" sz="900" dirty="0"/>
          </a:p>
        </p:txBody>
      </p:sp>
      <p:sp>
        <p:nvSpPr>
          <p:cNvPr id="22" name="Tick box: Achieved (tick at review)"/>
          <p:cNvSpPr txBox="1"/>
          <p:nvPr/>
        </p:nvSpPr>
        <p:spPr>
          <a:xfrm>
            <a:off x="4489704" y="559612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3" name="Text 21"/>
          <p:cNvSpPr txBox="1"/>
          <p:nvPr/>
        </p:nvSpPr>
        <p:spPr>
          <a:xfrm>
            <a:off x="4782312" y="5577840"/>
            <a:ext cx="281635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Achieved (tick at review)</a:t>
            </a:r>
            <a:endParaRPr lang="en-US" sz="1100" dirty="0"/>
          </a:p>
        </p:txBody>
      </p:sp>
      <p:sp>
        <p:nvSpPr>
          <p:cNvPr id="24" name="Card"/>
          <p:cNvSpPr/>
          <p:nvPr/>
        </p:nvSpPr>
        <p:spPr>
          <a:xfrm>
            <a:off x="8065008" y="1783080"/>
            <a:ext cx="3639312" cy="4343400"/>
          </a:xfrm>
          <a:prstGeom prst="roundRect">
            <a:avLst>
              <a:gd name="adj" fmla="val 2010"/>
            </a:avLst>
          </a:prstGeom>
          <a:solidFill>
            <a:srgbClr val="FFFFFF"/>
          </a:solidFill>
          <a:ln w="9525">
            <a:solidFill>
              <a:srgbClr val="DDE4E0"/>
            </a:solidFill>
            <a:prstDash val="solid"/>
          </a:ln>
        </p:spPr>
      </p:sp>
      <p:sp>
        <p:nvSpPr>
          <p:cNvPr id="25" name="Text 23"/>
          <p:cNvSpPr txBox="1"/>
          <p:nvPr/>
        </p:nvSpPr>
        <p:spPr>
          <a:xfrm>
            <a:off x="8293608" y="1920240"/>
            <a:ext cx="27432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DAYS 61–90</a:t>
            </a:r>
            <a:endParaRPr lang="en-US" sz="1000" dirty="0"/>
          </a:p>
        </p:txBody>
      </p:sp>
      <p:sp>
        <p:nvSpPr>
          <p:cNvPr id="26" name="Text 24"/>
          <p:cNvSpPr txBox="1"/>
          <p:nvPr/>
        </p:nvSpPr>
        <p:spPr>
          <a:xfrm>
            <a:off x="8293608" y="2194560"/>
            <a:ext cx="3200400" cy="365760"/>
          </a:xfrm>
          <a:prstGeom prst="rect">
            <a:avLst/>
          </a:prstGeom>
          <a:noFill/>
          <a:ln/>
        </p:spPr>
        <p:txBody>
          <a:bodyPr wrap="square" lIns="0" tIns="0" rIns="0" bIns="0" rtlCol="0" anchor="ctr"/>
          <a:lstStyle/>
          <a:p>
            <a:pPr indent="0" marL="0">
              <a:buNone/>
            </a:pPr>
            <a:r>
              <a:rPr lang="en-US" sz="1700" b="1" dirty="0">
                <a:solidFill>
                  <a:srgbClr val="1B2430"/>
                </a:solidFill>
                <a:latin typeface="Cambria" pitchFamily="34" charset="0"/>
                <a:ea typeface="Cambria" pitchFamily="34" charset="-122"/>
                <a:cs typeface="Cambria" pitchFamily="34" charset="-120"/>
              </a:rPr>
              <a:t>Operate independently</a:t>
            </a:r>
            <a:endParaRPr lang="en-US" sz="1700" dirty="0"/>
          </a:p>
        </p:txBody>
      </p:sp>
      <p:sp>
        <p:nvSpPr>
          <p:cNvPr id="27" name="Text 25"/>
          <p:cNvSpPr txBox="1"/>
          <p:nvPr/>
        </p:nvSpPr>
        <p:spPr>
          <a:xfrm>
            <a:off x="8293608" y="2651760"/>
            <a:ext cx="3200400" cy="1280160"/>
          </a:xfrm>
          <a:prstGeom prst="rect">
            <a:avLst/>
          </a:prstGeom>
          <a:noFill/>
          <a:ln/>
        </p:spPr>
        <p:txBody>
          <a:bodyPr wrap="square" lIns="0" tIns="0" rIns="0" bIns="0" rtlCol="0" anchor="t"/>
          <a:lstStyle/>
          <a:p>
            <a:pPr indent="0" marL="0">
              <a:buNone/>
            </a:pPr>
            <a:r>
              <a:rPr lang="en-US" sz="1250" dirty="0">
                <a:solidFill>
                  <a:srgbClr val="4A5563"/>
                </a:solidFill>
                <a:latin typeface="Calibri" pitchFamily="34" charset="0"/>
                <a:ea typeface="Calibri" pitchFamily="34" charset="-122"/>
                <a:cs typeface="Calibri" pitchFamily="34" charset="-120"/>
              </a:rPr>
              <a:t>Most enquiries handled alone, routine AR managed, clear escalation, and steady progress to 15 reactivations a month.</a:t>
            </a:r>
            <a:endParaRPr lang="en-US" sz="1250" dirty="0"/>
          </a:p>
        </p:txBody>
      </p:sp>
      <p:sp>
        <p:nvSpPr>
          <p:cNvPr id="28" name="Input: Your goal for this stage"/>
          <p:cNvSpPr txBox="1"/>
          <p:nvPr/>
        </p:nvSpPr>
        <p:spPr>
          <a:xfrm>
            <a:off x="8293608" y="4023360"/>
            <a:ext cx="3182112" cy="137160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YOUR GOAL FOR THIS STAGE</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What would make you happy by day 90?</a:t>
            </a:r>
            <a:endParaRPr lang="en-US" sz="900" dirty="0"/>
          </a:p>
        </p:txBody>
      </p:sp>
      <p:sp>
        <p:nvSpPr>
          <p:cNvPr id="29" name="Tick box: Achieved (tick at review)"/>
          <p:cNvSpPr txBox="1"/>
          <p:nvPr/>
        </p:nvSpPr>
        <p:spPr>
          <a:xfrm>
            <a:off x="8293608" y="559612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0" name="Text 28"/>
          <p:cNvSpPr txBox="1"/>
          <p:nvPr/>
        </p:nvSpPr>
        <p:spPr>
          <a:xfrm>
            <a:off x="8586216" y="5577840"/>
            <a:ext cx="281635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Achieved (tick at review)</a:t>
            </a:r>
            <a:endParaRPr lang="en-US" sz="11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B  ·  03</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Working with Hank</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Fill this in together with your VA in Week 1. It becomes their guide to you.</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sp>
        <p:nvSpPr>
          <p:cNvPr id="10" name="Input: How you like updates"/>
          <p:cNvSpPr txBox="1"/>
          <p:nvPr/>
        </p:nvSpPr>
        <p:spPr>
          <a:xfrm>
            <a:off x="457200" y="1783080"/>
            <a:ext cx="3639312" cy="169164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HOW YOU LIKE UPDATES</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Format and time of day…</a:t>
            </a:r>
            <a:endParaRPr lang="en-US" sz="900" dirty="0"/>
          </a:p>
        </p:txBody>
      </p:sp>
      <p:sp>
        <p:nvSpPr>
          <p:cNvPr id="11" name="Input: When to interrupt you"/>
          <p:cNvSpPr txBox="1"/>
          <p:nvPr/>
        </p:nvSpPr>
        <p:spPr>
          <a:xfrm>
            <a:off x="4261104" y="1783080"/>
            <a:ext cx="3639312" cy="169164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WHEN TO INTERRUPT YOU</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And when to wait…</a:t>
            </a:r>
            <a:endParaRPr lang="en-US" sz="900" dirty="0"/>
          </a:p>
        </p:txBody>
      </p:sp>
      <p:sp>
        <p:nvSpPr>
          <p:cNvPr id="12" name="Input: Tone with customers"/>
          <p:cNvSpPr txBox="1"/>
          <p:nvPr/>
        </p:nvSpPr>
        <p:spPr>
          <a:xfrm>
            <a:off x="8065008" y="1783080"/>
            <a:ext cx="3639312" cy="169164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TONE WITH CUSTOMERS</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Sign-off, language, emojis?…</a:t>
            </a:r>
            <a:endParaRPr lang="en-US" sz="900" dirty="0"/>
          </a:p>
        </p:txBody>
      </p:sp>
      <p:sp>
        <p:nvSpPr>
          <p:cNvPr id="13" name="Input: Issues the VA can fix alone"/>
          <p:cNvSpPr txBox="1"/>
          <p:nvPr/>
        </p:nvSpPr>
        <p:spPr>
          <a:xfrm>
            <a:off x="457200" y="3611880"/>
            <a:ext cx="3639312" cy="169164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ISSUES THE VA CAN FIX ALONE</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Without asking you first…</a:t>
            </a:r>
            <a:endParaRPr lang="en-US" sz="900" dirty="0"/>
          </a:p>
        </p:txBody>
      </p:sp>
      <p:sp>
        <p:nvSpPr>
          <p:cNvPr id="14" name="Input: Pet peeves"/>
          <p:cNvSpPr txBox="1"/>
          <p:nvPr/>
        </p:nvSpPr>
        <p:spPr>
          <a:xfrm>
            <a:off x="4261104" y="3611880"/>
            <a:ext cx="3639312" cy="169164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PET PEEVES</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Things to always avoid…</a:t>
            </a:r>
            <a:endParaRPr lang="en-US" sz="900" dirty="0"/>
          </a:p>
        </p:txBody>
      </p:sp>
      <p:sp>
        <p:nvSpPr>
          <p:cNvPr id="15" name="Input: The VA’s own goals"/>
          <p:cNvSpPr txBox="1"/>
          <p:nvPr/>
        </p:nvSpPr>
        <p:spPr>
          <a:xfrm>
            <a:off x="8065008" y="3611880"/>
            <a:ext cx="3639312" cy="169164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THE VA’S OWN GOALS</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For their first 6 months…</a:t>
            </a:r>
            <a:endParaRPr lang="en-US" sz="900" dirty="0"/>
          </a:p>
        </p:txBody>
      </p:sp>
      <p:sp>
        <p:nvSpPr>
          <p:cNvPr id="16" name="Card"/>
          <p:cNvSpPr/>
          <p:nvPr/>
        </p:nvSpPr>
        <p:spPr>
          <a:xfrm>
            <a:off x="457200" y="5532120"/>
            <a:ext cx="11274552" cy="594360"/>
          </a:xfrm>
          <a:prstGeom prst="roundRect">
            <a:avLst>
              <a:gd name="adj" fmla="val 12308"/>
            </a:avLst>
          </a:prstGeom>
          <a:solidFill>
            <a:srgbClr val="E4F2EC"/>
          </a:solidFill>
          <a:ln w="9525">
            <a:solidFill>
              <a:srgbClr val="E4F2EC"/>
            </a:solidFill>
            <a:prstDash val="solid"/>
          </a:ln>
        </p:spPr>
      </p:sp>
      <p:sp>
        <p:nvSpPr>
          <p:cNvPr id="17" name="Text 15"/>
          <p:cNvSpPr txBox="1"/>
          <p:nvPr/>
        </p:nvSpPr>
        <p:spPr>
          <a:xfrm>
            <a:off x="685800" y="5623560"/>
            <a:ext cx="10789920" cy="41148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Already known: you manage the VA directly, you create the processes, and you want mistakes raised straight away.</a:t>
            </a:r>
            <a:endParaRPr lang="en-US" sz="125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B  ·  04</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Freedom Scorecard</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Fill this in together at each milestone review.</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4206240"/>
                <a:gridCol w="1371600"/>
                <a:gridCol w="1417320"/>
                <a:gridCol w="1417320"/>
                <a:gridCol w="1417320"/>
                <a:gridCol w="1444752"/>
              </a:tblGrid>
              <a:tr h="45720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Measure</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Start</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Day 30</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Day 90</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Month 6</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Month 12</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r>
              <a:tr h="457200">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Enquiries answered within 2 hours (%)</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457200">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Dormant customers reactivated this month (target 15)</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00" b="1" dirty="0">
                          <a:solidFill>
                            <a:srgbClr val="B26B0E"/>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457200">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Overdue accounts followed up on time (%)</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457200">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Orders corrected by fulfilment this month</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457200">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Freedom Stage (1–5)</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00" b="1" dirty="0">
                          <a:solidFill>
                            <a:srgbClr val="B26B0E"/>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457200">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VA self-rating (1–5)</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457200">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Hank’s satisfaction (1–5)</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bl>
          </a:graphicData>
        </a:graphic>
      </p:graphicFrame>
      <p:sp>
        <p:nvSpPr>
          <p:cNvPr id="11" name="Text 8"/>
          <p:cNvSpPr txBox="1"/>
          <p:nvPr/>
        </p:nvSpPr>
        <p:spPr>
          <a:xfrm>
            <a:off x="457200" y="5577840"/>
            <a:ext cx="10972800" cy="365760"/>
          </a:xfrm>
          <a:prstGeom prst="rect">
            <a:avLst/>
          </a:prstGeom>
          <a:noFill/>
          <a:ln/>
        </p:spPr>
        <p:txBody>
          <a:bodyPr wrap="square" lIns="0" tIns="0" rIns="0" bIns="0" rtlCol="0" anchor="t"/>
          <a:lstStyle/>
          <a:p>
            <a:pPr indent="0" marL="0">
              <a:buNone/>
            </a:pPr>
            <a:r>
              <a:rPr lang="en-US" sz="1200" dirty="0">
                <a:solidFill>
                  <a:srgbClr val="6B7480"/>
                </a:solidFill>
                <a:latin typeface="Calibri" pitchFamily="34" charset="0"/>
                <a:ea typeface="Calibri" pitchFamily="34" charset="-122"/>
                <a:cs typeface="Calibri" pitchFamily="34" charset="-120"/>
              </a:rPr>
              <a:t>Targets: Freedom Stage 3 (Outcome Owner) by Day 90 and 5 (Freedom) by Month 6.</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B  ·  05</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Monthly KPI check-in</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Once a month with your VA or Account Manager: type ✓ for met, ✗ for not yet.</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496312"/>
                <a:gridCol w="731520"/>
                <a:gridCol w="731520"/>
                <a:gridCol w="731520"/>
                <a:gridCol w="731520"/>
                <a:gridCol w="731520"/>
                <a:gridCol w="731520"/>
                <a:gridCol w="731520"/>
                <a:gridCol w="731520"/>
                <a:gridCol w="731520"/>
                <a:gridCol w="731520"/>
                <a:gridCol w="731520"/>
                <a:gridCol w="731520"/>
              </a:tblGrid>
              <a:tr h="50292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KPI</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M1</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M2</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M3</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M4</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M5</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M6</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M7</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M8</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M9</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M10</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M11</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M12</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r>
              <a:tr h="502920">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Response time</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502920">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Order accuracy</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502920">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Open orders &amp; AR</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502920">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Reactivation</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502920">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Weekly report</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bl>
          </a:graphicData>
        </a:graphic>
      </p:graphicFrame>
      <p:sp>
        <p:nvSpPr>
          <p:cNvPr id="11" name="Input: This month’s note"/>
          <p:cNvSpPr txBox="1"/>
          <p:nvPr/>
        </p:nvSpPr>
        <p:spPr>
          <a:xfrm>
            <a:off x="457200" y="4983480"/>
            <a:ext cx="7498080" cy="114300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THIS MONTH’S NOTE</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What went well, what to change, any support needed…</a:t>
            </a:r>
            <a:endParaRPr lang="en-US" sz="900" dirty="0"/>
          </a:p>
        </p:txBody>
      </p:sp>
      <p:sp>
        <p:nvSpPr>
          <p:cNvPr id="12" name="Card"/>
          <p:cNvSpPr/>
          <p:nvPr/>
        </p:nvSpPr>
        <p:spPr>
          <a:xfrm>
            <a:off x="8092440" y="4983480"/>
            <a:ext cx="3639312" cy="1143000"/>
          </a:xfrm>
          <a:prstGeom prst="roundRect">
            <a:avLst>
              <a:gd name="adj" fmla="val 6400"/>
            </a:avLst>
          </a:prstGeom>
          <a:solidFill>
            <a:srgbClr val="E4F2EC"/>
          </a:solidFill>
          <a:ln w="9525">
            <a:solidFill>
              <a:srgbClr val="E4F2EC"/>
            </a:solidFill>
            <a:prstDash val="solid"/>
          </a:ln>
        </p:spPr>
      </p:sp>
      <p:sp>
        <p:nvSpPr>
          <p:cNvPr id="13" name="Text 10"/>
          <p:cNvSpPr txBox="1"/>
          <p:nvPr/>
        </p:nvSpPr>
        <p:spPr>
          <a:xfrm>
            <a:off x="8275320" y="5074920"/>
            <a:ext cx="3291840" cy="960120"/>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Two “not yet” months in a row? Raise it with your Account Manager. We’ll coach, adjust the plan, or step in.</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B  ·  06</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Delegation board</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Move items across at each review by retyping them. Add new ones any time.</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sp>
        <p:nvSpPr>
          <p:cNvPr id="10" name="Card"/>
          <p:cNvSpPr/>
          <p:nvPr/>
        </p:nvSpPr>
        <p:spPr>
          <a:xfrm>
            <a:off x="457200" y="1783080"/>
            <a:ext cx="3639312" cy="4343400"/>
          </a:xfrm>
          <a:prstGeom prst="roundRect">
            <a:avLst>
              <a:gd name="adj" fmla="val 2010"/>
            </a:avLst>
          </a:prstGeom>
          <a:solidFill>
            <a:srgbClr val="E4F2EC"/>
          </a:solidFill>
          <a:ln w="9525">
            <a:solidFill>
              <a:srgbClr val="E4F2EC"/>
            </a:solidFill>
            <a:prstDash val="solid"/>
          </a:ln>
        </p:spPr>
      </p:sp>
      <p:sp>
        <p:nvSpPr>
          <p:cNvPr id="11" name="Text 9"/>
          <p:cNvSpPr txBox="1"/>
          <p:nvPr/>
        </p:nvSpPr>
        <p:spPr>
          <a:xfrm>
            <a:off x="685800" y="1920240"/>
            <a:ext cx="27432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DELEGATED</a:t>
            </a:r>
            <a:endParaRPr lang="en-US" sz="1000" dirty="0"/>
          </a:p>
        </p:txBody>
      </p:sp>
      <p:sp>
        <p:nvSpPr>
          <p:cNvPr id="12" name="Text 10"/>
          <p:cNvSpPr txBox="1"/>
          <p:nvPr/>
        </p:nvSpPr>
        <p:spPr>
          <a:xfrm>
            <a:off x="685800" y="2286000"/>
            <a:ext cx="3182112" cy="457200"/>
          </a:xfrm>
          <a:prstGeom prst="roundRect">
            <a:avLst>
              <a:gd name="adj" fmla="val 12000"/>
            </a:avLst>
          </a:prstGeom>
          <a:solidFill>
            <a:srgbClr val="FFFFFF"/>
          </a:solidFill>
          <a:ln w="9525">
            <a:solidFill>
              <a:srgbClr val="DDE4E0"/>
            </a:solidFill>
          </a:ln>
        </p:spPr>
        <p:txBody>
          <a:bodyPr wrap="square" lIns="0" tIns="101600" rIns="10160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Customer enquiries, all channels</a:t>
            </a:r>
            <a:endParaRPr lang="en-US" sz="1200" dirty="0"/>
          </a:p>
        </p:txBody>
      </p:sp>
      <p:sp>
        <p:nvSpPr>
          <p:cNvPr id="13" name="Text 11"/>
          <p:cNvSpPr txBox="1"/>
          <p:nvPr/>
        </p:nvSpPr>
        <p:spPr>
          <a:xfrm>
            <a:off x="685800" y="2852928"/>
            <a:ext cx="3182112" cy="457200"/>
          </a:xfrm>
          <a:prstGeom prst="roundRect">
            <a:avLst>
              <a:gd name="adj" fmla="val 12000"/>
            </a:avLst>
          </a:prstGeom>
          <a:solidFill>
            <a:srgbClr val="FFFFFF"/>
          </a:solidFill>
          <a:ln w="9525">
            <a:solidFill>
              <a:srgbClr val="DDE4E0"/>
            </a:solidFill>
          </a:ln>
        </p:spPr>
        <p:txBody>
          <a:bodyPr wrap="square" lIns="0" tIns="101600" rIns="10160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Order taking &amp; entry</a:t>
            </a:r>
            <a:endParaRPr lang="en-US" sz="1200" dirty="0"/>
          </a:p>
        </p:txBody>
      </p:sp>
      <p:sp>
        <p:nvSpPr>
          <p:cNvPr id="14" name="Text 12"/>
          <p:cNvSpPr txBox="1"/>
          <p:nvPr/>
        </p:nvSpPr>
        <p:spPr>
          <a:xfrm>
            <a:off x="685800" y="3419856"/>
            <a:ext cx="3182112" cy="457200"/>
          </a:xfrm>
          <a:prstGeom prst="roundRect">
            <a:avLst>
              <a:gd name="adj" fmla="val 12000"/>
            </a:avLst>
          </a:prstGeom>
          <a:solidFill>
            <a:srgbClr val="FFFFFF"/>
          </a:solidFill>
          <a:ln w="9525">
            <a:solidFill>
              <a:srgbClr val="DDE4E0"/>
            </a:solidFill>
          </a:ln>
        </p:spPr>
        <p:txBody>
          <a:bodyPr wrap="square" lIns="0" tIns="101600" rIns="10160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Delivery updates &amp; escalation</a:t>
            </a:r>
            <a:endParaRPr lang="en-US" sz="1200" dirty="0"/>
          </a:p>
        </p:txBody>
      </p:sp>
      <p:sp>
        <p:nvSpPr>
          <p:cNvPr id="15" name="Input: Add an item"/>
          <p:cNvSpPr txBox="1"/>
          <p:nvPr/>
        </p:nvSpPr>
        <p:spPr>
          <a:xfrm>
            <a:off x="685800" y="4069080"/>
            <a:ext cx="3182112" cy="86868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ADD AN ITEM</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Type a new task…</a:t>
            </a:r>
            <a:endParaRPr lang="en-US" sz="900" dirty="0"/>
          </a:p>
        </p:txBody>
      </p:sp>
      <p:sp>
        <p:nvSpPr>
          <p:cNvPr id="16" name="Input: Add an item"/>
          <p:cNvSpPr txBox="1"/>
          <p:nvPr/>
        </p:nvSpPr>
        <p:spPr>
          <a:xfrm>
            <a:off x="685800" y="5074920"/>
            <a:ext cx="3182112" cy="86868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ADD AN ITEM</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Type a new task…</a:t>
            </a:r>
            <a:endParaRPr lang="en-US" sz="900" dirty="0"/>
          </a:p>
        </p:txBody>
      </p:sp>
      <p:sp>
        <p:nvSpPr>
          <p:cNvPr id="17" name="Card"/>
          <p:cNvSpPr/>
          <p:nvPr/>
        </p:nvSpPr>
        <p:spPr>
          <a:xfrm>
            <a:off x="4261104" y="1783080"/>
            <a:ext cx="3639312" cy="4343400"/>
          </a:xfrm>
          <a:prstGeom prst="roundRect">
            <a:avLst>
              <a:gd name="adj" fmla="val 2010"/>
            </a:avLst>
          </a:prstGeom>
          <a:solidFill>
            <a:srgbClr val="F1F4F2"/>
          </a:solidFill>
          <a:ln w="9525">
            <a:solidFill>
              <a:srgbClr val="F1F4F2"/>
            </a:solidFill>
            <a:prstDash val="solid"/>
          </a:ln>
        </p:spPr>
      </p:sp>
      <p:sp>
        <p:nvSpPr>
          <p:cNvPr id="18" name="Text 16"/>
          <p:cNvSpPr txBox="1"/>
          <p:nvPr/>
        </p:nvSpPr>
        <p:spPr>
          <a:xfrm>
            <a:off x="4489704" y="1920240"/>
            <a:ext cx="27432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IN PROGRESS</a:t>
            </a:r>
            <a:endParaRPr lang="en-US" sz="1000" dirty="0"/>
          </a:p>
        </p:txBody>
      </p:sp>
      <p:sp>
        <p:nvSpPr>
          <p:cNvPr id="19" name="Text 17"/>
          <p:cNvSpPr txBox="1"/>
          <p:nvPr/>
        </p:nvSpPr>
        <p:spPr>
          <a:xfrm>
            <a:off x="4489704" y="2286000"/>
            <a:ext cx="3182112" cy="457200"/>
          </a:xfrm>
          <a:prstGeom prst="roundRect">
            <a:avLst>
              <a:gd name="adj" fmla="val 12000"/>
            </a:avLst>
          </a:prstGeom>
          <a:solidFill>
            <a:srgbClr val="FFFFFF"/>
          </a:solidFill>
          <a:ln w="9525">
            <a:solidFill>
              <a:srgbClr val="DDE4E0"/>
            </a:solidFill>
          </a:ln>
        </p:spPr>
        <p:txBody>
          <a:bodyPr wrap="square" lIns="0" tIns="101600" rIns="10160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Open order follow-up</a:t>
            </a:r>
            <a:endParaRPr lang="en-US" sz="1200" dirty="0"/>
          </a:p>
        </p:txBody>
      </p:sp>
      <p:sp>
        <p:nvSpPr>
          <p:cNvPr id="20" name="Text 18"/>
          <p:cNvSpPr txBox="1"/>
          <p:nvPr/>
        </p:nvSpPr>
        <p:spPr>
          <a:xfrm>
            <a:off x="4489704" y="2852928"/>
            <a:ext cx="3182112" cy="457200"/>
          </a:xfrm>
          <a:prstGeom prst="roundRect">
            <a:avLst>
              <a:gd name="adj" fmla="val 12000"/>
            </a:avLst>
          </a:prstGeom>
          <a:solidFill>
            <a:srgbClr val="FFFFFF"/>
          </a:solidFill>
          <a:ln w="9525">
            <a:solidFill>
              <a:srgbClr val="DDE4E0"/>
            </a:solidFill>
          </a:ln>
        </p:spPr>
        <p:txBody>
          <a:bodyPr wrap="square" lIns="0" tIns="101600" rIns="10160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AR follow-up</a:t>
            </a:r>
            <a:endParaRPr lang="en-US" sz="1200" dirty="0"/>
          </a:p>
        </p:txBody>
      </p:sp>
      <p:sp>
        <p:nvSpPr>
          <p:cNvPr id="21" name="Text 19"/>
          <p:cNvSpPr txBox="1"/>
          <p:nvPr/>
        </p:nvSpPr>
        <p:spPr>
          <a:xfrm>
            <a:off x="4489704" y="3419856"/>
            <a:ext cx="3182112" cy="457200"/>
          </a:xfrm>
          <a:prstGeom prst="roundRect">
            <a:avLst>
              <a:gd name="adj" fmla="val 12000"/>
            </a:avLst>
          </a:prstGeom>
          <a:solidFill>
            <a:srgbClr val="FFFFFF"/>
          </a:solidFill>
          <a:ln w="9525">
            <a:solidFill>
              <a:srgbClr val="DDE4E0"/>
            </a:solidFill>
          </a:ln>
        </p:spPr>
        <p:txBody>
          <a:bodyPr wrap="square" lIns="0" tIns="101600" rIns="10160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Dormant customer reactivation</a:t>
            </a:r>
            <a:endParaRPr lang="en-US" sz="1200" dirty="0"/>
          </a:p>
        </p:txBody>
      </p:sp>
      <p:sp>
        <p:nvSpPr>
          <p:cNvPr id="22" name="Input: Add an item"/>
          <p:cNvSpPr txBox="1"/>
          <p:nvPr/>
        </p:nvSpPr>
        <p:spPr>
          <a:xfrm>
            <a:off x="4489704" y="4069080"/>
            <a:ext cx="3182112" cy="86868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ADD AN ITEM</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Type a new task…</a:t>
            </a:r>
            <a:endParaRPr lang="en-US" sz="900" dirty="0"/>
          </a:p>
        </p:txBody>
      </p:sp>
      <p:sp>
        <p:nvSpPr>
          <p:cNvPr id="23" name="Input: Add an item"/>
          <p:cNvSpPr txBox="1"/>
          <p:nvPr/>
        </p:nvSpPr>
        <p:spPr>
          <a:xfrm>
            <a:off x="4489704" y="5074920"/>
            <a:ext cx="3182112" cy="86868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ADD AN ITEM</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Type a new task…</a:t>
            </a:r>
            <a:endParaRPr lang="en-US" sz="900" dirty="0"/>
          </a:p>
        </p:txBody>
      </p:sp>
      <p:sp>
        <p:nvSpPr>
          <p:cNvPr id="24" name="Card"/>
          <p:cNvSpPr/>
          <p:nvPr/>
        </p:nvSpPr>
        <p:spPr>
          <a:xfrm>
            <a:off x="8065008" y="1783080"/>
            <a:ext cx="3639312" cy="4343400"/>
          </a:xfrm>
          <a:prstGeom prst="roundRect">
            <a:avLst>
              <a:gd name="adj" fmla="val 2010"/>
            </a:avLst>
          </a:prstGeom>
          <a:solidFill>
            <a:srgbClr val="FFFFFF"/>
          </a:solidFill>
          <a:ln w="9525">
            <a:solidFill>
              <a:srgbClr val="DDE4E0"/>
            </a:solidFill>
            <a:prstDash val="solid"/>
          </a:ln>
        </p:spPr>
      </p:sp>
      <p:sp>
        <p:nvSpPr>
          <p:cNvPr id="25" name="Text 23"/>
          <p:cNvSpPr txBox="1"/>
          <p:nvPr/>
        </p:nvSpPr>
        <p:spPr>
          <a:xfrm>
            <a:off x="8293608" y="1920240"/>
            <a:ext cx="27432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NEXT TO DELEGATE</a:t>
            </a:r>
            <a:endParaRPr lang="en-US" sz="1000" dirty="0"/>
          </a:p>
        </p:txBody>
      </p:sp>
      <p:sp>
        <p:nvSpPr>
          <p:cNvPr id="26" name="Text 24"/>
          <p:cNvSpPr txBox="1"/>
          <p:nvPr/>
        </p:nvSpPr>
        <p:spPr>
          <a:xfrm>
            <a:off x="8293608" y="2286000"/>
            <a:ext cx="3182112" cy="457200"/>
          </a:xfrm>
          <a:prstGeom prst="roundRect">
            <a:avLst>
              <a:gd name="adj" fmla="val 12000"/>
            </a:avLst>
          </a:prstGeom>
          <a:solidFill>
            <a:srgbClr val="FFFFFF"/>
          </a:solidFill>
          <a:ln w="9525">
            <a:solidFill>
              <a:srgbClr val="DDE4E0"/>
            </a:solidFill>
          </a:ln>
        </p:spPr>
        <p:txBody>
          <a:bodyPr wrap="square" lIns="0" tIns="101600" rIns="10160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Weekly reporting &amp; insights</a:t>
            </a:r>
            <a:endParaRPr lang="en-US" sz="1200" dirty="0"/>
          </a:p>
        </p:txBody>
      </p:sp>
      <p:sp>
        <p:nvSpPr>
          <p:cNvPr id="27" name="Text 25"/>
          <p:cNvSpPr txBox="1"/>
          <p:nvPr/>
        </p:nvSpPr>
        <p:spPr>
          <a:xfrm>
            <a:off x="8293608" y="2852928"/>
            <a:ext cx="3182112" cy="457200"/>
          </a:xfrm>
          <a:prstGeom prst="roundRect">
            <a:avLst>
              <a:gd name="adj" fmla="val 12000"/>
            </a:avLst>
          </a:prstGeom>
          <a:solidFill>
            <a:srgbClr val="FFFFFF"/>
          </a:solidFill>
          <a:ln w="9525">
            <a:solidFill>
              <a:srgbClr val="DDE4E0"/>
            </a:solidFill>
          </a:ln>
        </p:spPr>
        <p:txBody>
          <a:bodyPr wrap="square" lIns="0" tIns="101600" rIns="10160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Phone and internet phone calls</a:t>
            </a:r>
            <a:endParaRPr lang="en-US" sz="1200" dirty="0"/>
          </a:p>
        </p:txBody>
      </p:sp>
      <p:sp>
        <p:nvSpPr>
          <p:cNvPr id="28" name="Text 26"/>
          <p:cNvSpPr txBox="1"/>
          <p:nvPr/>
        </p:nvSpPr>
        <p:spPr>
          <a:xfrm>
            <a:off x="8293608" y="3419856"/>
            <a:ext cx="3182112" cy="457200"/>
          </a:xfrm>
          <a:prstGeom prst="roundRect">
            <a:avLst>
              <a:gd name="adj" fmla="val 12000"/>
            </a:avLst>
          </a:prstGeom>
          <a:solidFill>
            <a:srgbClr val="FFFFFF"/>
          </a:solidFill>
          <a:ln w="9525">
            <a:solidFill>
              <a:srgbClr val="DDE4E0"/>
            </a:solidFill>
          </a:ln>
        </p:spPr>
        <p:txBody>
          <a:bodyPr wrap="square" lIns="0" tIns="101600" rIns="10160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Further reporting &amp; analysis</a:t>
            </a:r>
            <a:endParaRPr lang="en-US" sz="1200" dirty="0"/>
          </a:p>
        </p:txBody>
      </p:sp>
      <p:sp>
        <p:nvSpPr>
          <p:cNvPr id="29" name="Input: Add an item"/>
          <p:cNvSpPr txBox="1"/>
          <p:nvPr/>
        </p:nvSpPr>
        <p:spPr>
          <a:xfrm>
            <a:off x="8293608" y="4069080"/>
            <a:ext cx="3182112" cy="86868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ADD AN ITEM</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Type a new task…</a:t>
            </a:r>
            <a:endParaRPr lang="en-US" sz="900" dirty="0"/>
          </a:p>
        </p:txBody>
      </p:sp>
      <p:sp>
        <p:nvSpPr>
          <p:cNvPr id="30" name="Input: Add an item"/>
          <p:cNvSpPr txBox="1"/>
          <p:nvPr/>
        </p:nvSpPr>
        <p:spPr>
          <a:xfrm>
            <a:off x="8293608" y="5074920"/>
            <a:ext cx="3182112" cy="86868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ADD AN ITEM</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Type a new task…</a:t>
            </a:r>
            <a:endParaRPr lang="en-US" sz="9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OVER TO YOU  ·  01</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Open questions for Hank</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A few things we still need your answer on.</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sp>
        <p:nvSpPr>
          <p:cNvPr id="10" name="Card"/>
          <p:cNvSpPr/>
          <p:nvPr/>
        </p:nvSpPr>
        <p:spPr>
          <a:xfrm>
            <a:off x="457200" y="1783080"/>
            <a:ext cx="11274552" cy="768096"/>
          </a:xfrm>
          <a:prstGeom prst="roundRect">
            <a:avLst>
              <a:gd name="adj" fmla="val 9524"/>
            </a:avLst>
          </a:prstGeom>
          <a:solidFill>
            <a:srgbClr val="FFFFFF"/>
          </a:solidFill>
          <a:ln w="9525">
            <a:solidFill>
              <a:srgbClr val="DDE4E0"/>
            </a:solidFill>
            <a:prstDash val="solid"/>
          </a:ln>
        </p:spPr>
      </p:sp>
      <p:sp>
        <p:nvSpPr>
          <p:cNvPr id="11" name="Text 9"/>
          <p:cNvSpPr txBox="1"/>
          <p:nvPr/>
        </p:nvSpPr>
        <p:spPr>
          <a:xfrm>
            <a:off x="621792" y="1965960"/>
            <a:ext cx="384048" cy="384048"/>
          </a:xfrm>
          <a:prstGeom prst="ellipse">
            <a:avLst/>
          </a:prstGeom>
          <a:solidFill>
            <a:srgbClr val="B26B0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2" name="Text 10"/>
          <p:cNvSpPr txBox="1"/>
          <p:nvPr/>
        </p:nvSpPr>
        <p:spPr>
          <a:xfrm>
            <a:off x="1188720" y="1856232"/>
            <a:ext cx="4389120" cy="329184"/>
          </a:xfrm>
          <a:prstGeom prst="rect">
            <a:avLst/>
          </a:prstGeom>
          <a:noFill/>
          <a:ln/>
        </p:spPr>
        <p:txBody>
          <a:bodyPr wrap="square" lIns="0" tIns="0" rIns="0" bIns="0" rtlCol="0" anchor="ctr"/>
          <a:lstStyle/>
          <a:p>
            <a:pPr indent="0" marL="0">
              <a:buNone/>
            </a:pPr>
            <a:r>
              <a:rPr lang="en-US" sz="1400" b="1" dirty="0">
                <a:solidFill>
                  <a:srgbClr val="1B2430"/>
                </a:solidFill>
                <a:latin typeface="Cambria" pitchFamily="34" charset="0"/>
                <a:ea typeface="Cambria" pitchFamily="34" charset="-122"/>
                <a:cs typeface="Cambria" pitchFamily="34" charset="-120"/>
              </a:rPr>
              <a:t>Which package would you like?</a:t>
            </a:r>
            <a:endParaRPr lang="en-US" sz="1400" dirty="0"/>
          </a:p>
        </p:txBody>
      </p:sp>
      <p:sp>
        <p:nvSpPr>
          <p:cNvPr id="13" name="Text 11"/>
          <p:cNvSpPr txBox="1"/>
          <p:nvPr/>
        </p:nvSpPr>
        <p:spPr>
          <a:xfrm>
            <a:off x="1188720" y="2185416"/>
            <a:ext cx="4389120" cy="329184"/>
          </a:xfrm>
          <a:prstGeom prst="rect">
            <a:avLst/>
          </a:prstGeom>
          <a:noFill/>
          <a:ln/>
        </p:spPr>
        <p:txBody>
          <a:bodyPr wrap="square" lIns="0" tIns="0" rIns="0" bIns="0" rtlCol="0" anchor="ctr"/>
          <a:lstStyle/>
          <a:p>
            <a:pPr indent="0" marL="0">
              <a:buNone/>
            </a:pPr>
            <a:r>
              <a:rPr lang="en-US" sz="1100" dirty="0">
                <a:solidFill>
                  <a:srgbClr val="6B7480"/>
                </a:solidFill>
                <a:latin typeface="Calibri" pitchFamily="34" charset="0"/>
                <a:ea typeface="Calibri" pitchFamily="34" charset="-122"/>
                <a:cs typeface="Calibri" pitchFamily="34" charset="-120"/>
              </a:rPr>
              <a:t>Angel Managed or Angel Essential (see the Package slide).</a:t>
            </a:r>
            <a:pPr indent="0" marL="0">
              <a:buNone/>
            </a:pPr>
            <a:r>
              <a:rPr lang="en-US" sz="1100" b="1" u="sng" dirty="0">
                <a:solidFill>
                  <a:srgbClr val="187A5E"/>
                </a:solidFill>
                <a:latin typeface="Calibri" pitchFamily="34" charset="0"/>
                <a:ea typeface="Calibri" pitchFamily="34" charset="-122"/>
                <a:cs typeface="Calibri" pitchFamily="34" charset="-120"/>
                <a:hlinkClick r:id="rId6" action="ppaction://hlinksldjump" tooltip="Package slide">
                  <a:extLst>
                    <a:ext uri="{A12FA001-AC4F-418D-AE19-62706E023703}">
                      <ahyp:hlinkClr xmlns:ahyp="http://schemas.microsoft.com/office/drawing/2018/hyperlinkcolor" val="tx"/>
                    </a:ext>
                  </a:extLst>
                </a:hlinkClick>
              </a:rPr>
              <a:t>  Go to slide →</a:t>
            </a:r>
            <a:endParaRPr lang="en-US" sz="1100" dirty="0"/>
          </a:p>
        </p:txBody>
      </p:sp>
      <p:sp>
        <p:nvSpPr>
          <p:cNvPr id="14" name="Input: answer 1"/>
          <p:cNvSpPr txBox="1"/>
          <p:nvPr/>
        </p:nvSpPr>
        <p:spPr>
          <a:xfrm>
            <a:off x="5760720" y="1892808"/>
            <a:ext cx="5806440" cy="548640"/>
          </a:xfrm>
          <a:prstGeom prst="rect">
            <a:avLst/>
          </a:prstGeom>
          <a:solidFill>
            <a:srgbClr val="FFF6E8"/>
          </a:solidFill>
          <a:ln w="12700">
            <a:solidFill>
              <a:srgbClr val="B26B0E"/>
            </a:solidFill>
            <a:prstDash val="dash"/>
          </a:ln>
        </p:spPr>
        <p:txBody>
          <a:bodyPr wrap="square" lIns="50800" tIns="101600" rIns="101600" bIns="50800" rtlCol="0" anchor="ctr"/>
          <a:lstStyle/>
          <a:p>
            <a:pPr indent="0" marL="0">
              <a:buNone/>
            </a:pPr>
            <a:r>
              <a:rPr lang="en-US" sz="1200" b="1" dirty="0">
                <a:solidFill>
                  <a:srgbClr val="B26B0E"/>
                </a:solidFill>
                <a:latin typeface="Calibri" pitchFamily="34" charset="0"/>
                <a:ea typeface="Calibri" pitchFamily="34" charset="-122"/>
                <a:cs typeface="Calibri" pitchFamily="34" charset="-120"/>
              </a:rPr>
              <a:t>Your answer: </a:t>
            </a:r>
            <a:pPr indent="0" marL="0">
              <a:buNone/>
            </a:pPr>
            <a:r>
              <a:rPr lang="en-US" sz="1200" i="1" dirty="0">
                <a:solidFill>
                  <a:srgbClr val="9AA3AD"/>
                </a:solidFill>
                <a:latin typeface="Calibri" pitchFamily="34" charset="0"/>
                <a:ea typeface="Calibri" pitchFamily="34" charset="-122"/>
                <a:cs typeface="Calibri" pitchFamily="34" charset="-120"/>
              </a:rPr>
              <a:t>click and type…</a:t>
            </a:r>
            <a:endParaRPr lang="en-US" sz="1200" dirty="0"/>
          </a:p>
        </p:txBody>
      </p:sp>
      <p:sp>
        <p:nvSpPr>
          <p:cNvPr id="15" name="Card"/>
          <p:cNvSpPr/>
          <p:nvPr/>
        </p:nvSpPr>
        <p:spPr>
          <a:xfrm>
            <a:off x="457200" y="2660904"/>
            <a:ext cx="11274552" cy="768096"/>
          </a:xfrm>
          <a:prstGeom prst="roundRect">
            <a:avLst>
              <a:gd name="adj" fmla="val 9524"/>
            </a:avLst>
          </a:prstGeom>
          <a:solidFill>
            <a:srgbClr val="FFFFFF"/>
          </a:solidFill>
          <a:ln w="9525">
            <a:solidFill>
              <a:srgbClr val="DDE4E0"/>
            </a:solidFill>
            <a:prstDash val="solid"/>
          </a:ln>
        </p:spPr>
      </p:sp>
      <p:sp>
        <p:nvSpPr>
          <p:cNvPr id="16" name="Text 14"/>
          <p:cNvSpPr txBox="1"/>
          <p:nvPr/>
        </p:nvSpPr>
        <p:spPr>
          <a:xfrm>
            <a:off x="621792" y="2843784"/>
            <a:ext cx="384048" cy="384048"/>
          </a:xfrm>
          <a:prstGeom prst="ellipse">
            <a:avLst/>
          </a:prstGeom>
          <a:solidFill>
            <a:srgbClr val="B26B0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5"/>
          <p:cNvSpPr txBox="1"/>
          <p:nvPr/>
        </p:nvSpPr>
        <p:spPr>
          <a:xfrm>
            <a:off x="1188720" y="2734056"/>
            <a:ext cx="4389120" cy="329184"/>
          </a:xfrm>
          <a:prstGeom prst="rect">
            <a:avLst/>
          </a:prstGeom>
          <a:noFill/>
          <a:ln/>
        </p:spPr>
        <p:txBody>
          <a:bodyPr wrap="square" lIns="0" tIns="0" rIns="0" bIns="0" rtlCol="0" anchor="ctr"/>
          <a:lstStyle/>
          <a:p>
            <a:pPr indent="0" marL="0">
              <a:buNone/>
            </a:pPr>
            <a:r>
              <a:rPr lang="en-US" sz="1400" b="1" dirty="0">
                <a:solidFill>
                  <a:srgbClr val="1B2430"/>
                </a:solidFill>
                <a:latin typeface="Cambria" pitchFamily="34" charset="0"/>
                <a:ea typeface="Cambria" pitchFamily="34" charset="-122"/>
                <a:cs typeface="Cambria" pitchFamily="34" charset="-120"/>
              </a:rPr>
              <a:t>Do you need phone calls from Day 1?</a:t>
            </a:r>
            <a:endParaRPr lang="en-US" sz="1400" dirty="0"/>
          </a:p>
        </p:txBody>
      </p:sp>
      <p:sp>
        <p:nvSpPr>
          <p:cNvPr id="18" name="Text 16"/>
          <p:cNvSpPr txBox="1"/>
          <p:nvPr/>
        </p:nvSpPr>
        <p:spPr>
          <a:xfrm>
            <a:off x="1188720" y="3063240"/>
            <a:ext cx="4389120" cy="329184"/>
          </a:xfrm>
          <a:prstGeom prst="rect">
            <a:avLst/>
          </a:prstGeom>
          <a:noFill/>
          <a:ln/>
        </p:spPr>
        <p:txBody>
          <a:bodyPr wrap="square" lIns="0" tIns="0" rIns="0" bIns="0" rtlCol="0" anchor="ctr"/>
          <a:lstStyle/>
          <a:p>
            <a:pPr indent="0" marL="0">
              <a:buNone/>
            </a:pPr>
            <a:r>
              <a:rPr lang="en-US" sz="1100" dirty="0">
                <a:solidFill>
                  <a:srgbClr val="6B7480"/>
                </a:solidFill>
                <a:latin typeface="Calibri" pitchFamily="34" charset="0"/>
                <a:ea typeface="Calibri" pitchFamily="34" charset="-122"/>
                <a:cs typeface="Calibri" pitchFamily="34" charset="-120"/>
              </a:rPr>
              <a:t>You said phone “could be better” but isn’t used much yet.</a:t>
            </a:r>
            <a:endParaRPr lang="en-US" sz="1100" dirty="0"/>
          </a:p>
        </p:txBody>
      </p:sp>
      <p:sp>
        <p:nvSpPr>
          <p:cNvPr id="19" name="Input: answer 2"/>
          <p:cNvSpPr txBox="1"/>
          <p:nvPr/>
        </p:nvSpPr>
        <p:spPr>
          <a:xfrm>
            <a:off x="5760720" y="2770632"/>
            <a:ext cx="5806440" cy="548640"/>
          </a:xfrm>
          <a:prstGeom prst="rect">
            <a:avLst/>
          </a:prstGeom>
          <a:solidFill>
            <a:srgbClr val="FFF6E8"/>
          </a:solidFill>
          <a:ln w="12700">
            <a:solidFill>
              <a:srgbClr val="B26B0E"/>
            </a:solidFill>
            <a:prstDash val="dash"/>
          </a:ln>
        </p:spPr>
        <p:txBody>
          <a:bodyPr wrap="square" lIns="50800" tIns="101600" rIns="101600" bIns="50800" rtlCol="0" anchor="ctr"/>
          <a:lstStyle/>
          <a:p>
            <a:pPr indent="0" marL="0">
              <a:buNone/>
            </a:pPr>
            <a:r>
              <a:rPr lang="en-US" sz="1200" b="1" dirty="0">
                <a:solidFill>
                  <a:srgbClr val="B26B0E"/>
                </a:solidFill>
                <a:latin typeface="Calibri" pitchFamily="34" charset="0"/>
                <a:ea typeface="Calibri" pitchFamily="34" charset="-122"/>
                <a:cs typeface="Calibri" pitchFamily="34" charset="-120"/>
              </a:rPr>
              <a:t>Your answer: </a:t>
            </a:r>
            <a:pPr indent="0" marL="0">
              <a:buNone/>
            </a:pPr>
            <a:r>
              <a:rPr lang="en-US" sz="1200" i="1" dirty="0">
                <a:solidFill>
                  <a:srgbClr val="9AA3AD"/>
                </a:solidFill>
                <a:latin typeface="Calibri" pitchFamily="34" charset="0"/>
                <a:ea typeface="Calibri" pitchFamily="34" charset="-122"/>
                <a:cs typeface="Calibri" pitchFamily="34" charset="-120"/>
              </a:rPr>
              <a:t>click and type…</a:t>
            </a:r>
            <a:endParaRPr lang="en-US" sz="1200" dirty="0"/>
          </a:p>
        </p:txBody>
      </p:sp>
      <p:sp>
        <p:nvSpPr>
          <p:cNvPr id="20" name="Card"/>
          <p:cNvSpPr/>
          <p:nvPr/>
        </p:nvSpPr>
        <p:spPr>
          <a:xfrm>
            <a:off x="457200" y="3538728"/>
            <a:ext cx="11274552" cy="768096"/>
          </a:xfrm>
          <a:prstGeom prst="roundRect">
            <a:avLst>
              <a:gd name="adj" fmla="val 9524"/>
            </a:avLst>
          </a:prstGeom>
          <a:solidFill>
            <a:srgbClr val="FFFFFF"/>
          </a:solidFill>
          <a:ln w="9525">
            <a:solidFill>
              <a:srgbClr val="DDE4E0"/>
            </a:solidFill>
            <a:prstDash val="solid"/>
          </a:ln>
        </p:spPr>
      </p:sp>
      <p:sp>
        <p:nvSpPr>
          <p:cNvPr id="21" name="Text 19"/>
          <p:cNvSpPr txBox="1"/>
          <p:nvPr/>
        </p:nvSpPr>
        <p:spPr>
          <a:xfrm>
            <a:off x="621792" y="3721608"/>
            <a:ext cx="384048" cy="384048"/>
          </a:xfrm>
          <a:prstGeom prst="ellipse">
            <a:avLst/>
          </a:prstGeom>
          <a:solidFill>
            <a:srgbClr val="B26B0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20"/>
          <p:cNvSpPr txBox="1"/>
          <p:nvPr/>
        </p:nvSpPr>
        <p:spPr>
          <a:xfrm>
            <a:off x="1188720" y="3611880"/>
            <a:ext cx="4389120" cy="329184"/>
          </a:xfrm>
          <a:prstGeom prst="rect">
            <a:avLst/>
          </a:prstGeom>
          <a:noFill/>
          <a:ln/>
        </p:spPr>
        <p:txBody>
          <a:bodyPr wrap="square" lIns="0" tIns="0" rIns="0" bIns="0" rtlCol="0" anchor="ctr"/>
          <a:lstStyle/>
          <a:p>
            <a:pPr indent="0" marL="0">
              <a:buNone/>
            </a:pPr>
            <a:r>
              <a:rPr lang="en-US" sz="1400" b="1" dirty="0">
                <a:solidFill>
                  <a:srgbClr val="1B2430"/>
                </a:solidFill>
                <a:latin typeface="Cambria" pitchFamily="34" charset="0"/>
                <a:ea typeface="Cambria" pitchFamily="34" charset="-122"/>
                <a:cs typeface="Cambria" pitchFamily="34" charset="-120"/>
              </a:rPr>
              <a:t>Should the VA use your CRM?</a:t>
            </a:r>
            <a:endParaRPr lang="en-US" sz="1400" dirty="0"/>
          </a:p>
        </p:txBody>
      </p:sp>
      <p:sp>
        <p:nvSpPr>
          <p:cNvPr id="23" name="Text 21"/>
          <p:cNvSpPr txBox="1"/>
          <p:nvPr/>
        </p:nvSpPr>
        <p:spPr>
          <a:xfrm>
            <a:off x="1188720" y="3941064"/>
            <a:ext cx="4389120" cy="329184"/>
          </a:xfrm>
          <a:prstGeom prst="rect">
            <a:avLst/>
          </a:prstGeom>
          <a:noFill/>
          <a:ln/>
        </p:spPr>
        <p:txBody>
          <a:bodyPr wrap="square" lIns="0" tIns="0" rIns="0" bIns="0" rtlCol="0" anchor="ctr"/>
          <a:lstStyle/>
          <a:p>
            <a:pPr indent="0" marL="0">
              <a:buNone/>
            </a:pPr>
            <a:r>
              <a:rPr lang="en-US" sz="1100" dirty="0">
                <a:solidFill>
                  <a:srgbClr val="6B7480"/>
                </a:solidFill>
                <a:latin typeface="Calibri" pitchFamily="34" charset="0"/>
                <a:ea typeface="Calibri" pitchFamily="34" charset="-122"/>
                <a:cs typeface="Calibri" pitchFamily="34" charset="-120"/>
              </a:rPr>
              <a:t>You’ve built one in Unleashed but the team isn’t using it yet. Or start with the Excel tracker?</a:t>
            </a:r>
            <a:endParaRPr lang="en-US" sz="1100" dirty="0"/>
          </a:p>
        </p:txBody>
      </p:sp>
      <p:sp>
        <p:nvSpPr>
          <p:cNvPr id="24" name="Input: answer 3"/>
          <p:cNvSpPr txBox="1"/>
          <p:nvPr/>
        </p:nvSpPr>
        <p:spPr>
          <a:xfrm>
            <a:off x="5760720" y="3648456"/>
            <a:ext cx="5806440" cy="548640"/>
          </a:xfrm>
          <a:prstGeom prst="rect">
            <a:avLst/>
          </a:prstGeom>
          <a:solidFill>
            <a:srgbClr val="FFF6E8"/>
          </a:solidFill>
          <a:ln w="12700">
            <a:solidFill>
              <a:srgbClr val="B26B0E"/>
            </a:solidFill>
            <a:prstDash val="dash"/>
          </a:ln>
        </p:spPr>
        <p:txBody>
          <a:bodyPr wrap="square" lIns="50800" tIns="101600" rIns="101600" bIns="50800" rtlCol="0" anchor="ctr"/>
          <a:lstStyle/>
          <a:p>
            <a:pPr indent="0" marL="0">
              <a:buNone/>
            </a:pPr>
            <a:r>
              <a:rPr lang="en-US" sz="1200" b="1" dirty="0">
                <a:solidFill>
                  <a:srgbClr val="B26B0E"/>
                </a:solidFill>
                <a:latin typeface="Calibri" pitchFamily="34" charset="0"/>
                <a:ea typeface="Calibri" pitchFamily="34" charset="-122"/>
                <a:cs typeface="Calibri" pitchFamily="34" charset="-120"/>
              </a:rPr>
              <a:t>Your answer: </a:t>
            </a:r>
            <a:pPr indent="0" marL="0">
              <a:buNone/>
            </a:pPr>
            <a:r>
              <a:rPr lang="en-US" sz="1200" i="1" dirty="0">
                <a:solidFill>
                  <a:srgbClr val="9AA3AD"/>
                </a:solidFill>
                <a:latin typeface="Calibri" pitchFamily="34" charset="0"/>
                <a:ea typeface="Calibri" pitchFamily="34" charset="-122"/>
                <a:cs typeface="Calibri" pitchFamily="34" charset="-120"/>
              </a:rPr>
              <a:t>click and type…</a:t>
            </a:r>
            <a:endParaRPr lang="en-US" sz="1200" dirty="0"/>
          </a:p>
        </p:txBody>
      </p:sp>
      <p:sp>
        <p:nvSpPr>
          <p:cNvPr id="25" name="Card"/>
          <p:cNvSpPr/>
          <p:nvPr/>
        </p:nvSpPr>
        <p:spPr>
          <a:xfrm>
            <a:off x="457200" y="4416552"/>
            <a:ext cx="11274552" cy="768096"/>
          </a:xfrm>
          <a:prstGeom prst="roundRect">
            <a:avLst>
              <a:gd name="adj" fmla="val 9524"/>
            </a:avLst>
          </a:prstGeom>
          <a:solidFill>
            <a:srgbClr val="FFFFFF"/>
          </a:solidFill>
          <a:ln w="9525">
            <a:solidFill>
              <a:srgbClr val="DDE4E0"/>
            </a:solidFill>
            <a:prstDash val="solid"/>
          </a:ln>
        </p:spPr>
      </p:sp>
      <p:sp>
        <p:nvSpPr>
          <p:cNvPr id="26" name="Text 24"/>
          <p:cNvSpPr txBox="1"/>
          <p:nvPr/>
        </p:nvSpPr>
        <p:spPr>
          <a:xfrm>
            <a:off x="621792" y="4599432"/>
            <a:ext cx="384048" cy="384048"/>
          </a:xfrm>
          <a:prstGeom prst="ellipse">
            <a:avLst/>
          </a:prstGeom>
          <a:solidFill>
            <a:srgbClr val="B26B0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7" name="Text 25"/>
          <p:cNvSpPr txBox="1"/>
          <p:nvPr/>
        </p:nvSpPr>
        <p:spPr>
          <a:xfrm>
            <a:off x="1188720" y="4489704"/>
            <a:ext cx="4389120" cy="329184"/>
          </a:xfrm>
          <a:prstGeom prst="rect">
            <a:avLst/>
          </a:prstGeom>
          <a:noFill/>
          <a:ln/>
        </p:spPr>
        <p:txBody>
          <a:bodyPr wrap="square" lIns="0" tIns="0" rIns="0" bIns="0" rtlCol="0" anchor="ctr"/>
          <a:lstStyle/>
          <a:p>
            <a:pPr indent="0" marL="0">
              <a:buNone/>
            </a:pPr>
            <a:r>
              <a:rPr lang="en-US" sz="1400" b="1" dirty="0">
                <a:solidFill>
                  <a:srgbClr val="1B2430"/>
                </a:solidFill>
                <a:latin typeface="Cambria" pitchFamily="34" charset="0"/>
                <a:ea typeface="Cambria" pitchFamily="34" charset="-122"/>
                <a:cs typeface="Cambria" pitchFamily="34" charset="-120"/>
              </a:rPr>
              <a:t>Who is the VA’s backup contact?</a:t>
            </a:r>
            <a:endParaRPr lang="en-US" sz="1400" dirty="0"/>
          </a:p>
        </p:txBody>
      </p:sp>
      <p:sp>
        <p:nvSpPr>
          <p:cNvPr id="28" name="Text 26"/>
          <p:cNvSpPr txBox="1"/>
          <p:nvPr/>
        </p:nvSpPr>
        <p:spPr>
          <a:xfrm>
            <a:off x="1188720" y="4818888"/>
            <a:ext cx="4389120" cy="329184"/>
          </a:xfrm>
          <a:prstGeom prst="rect">
            <a:avLst/>
          </a:prstGeom>
          <a:noFill/>
          <a:ln/>
        </p:spPr>
        <p:txBody>
          <a:bodyPr wrap="square" lIns="0" tIns="0" rIns="0" bIns="0" rtlCol="0" anchor="ctr"/>
          <a:lstStyle/>
          <a:p>
            <a:pPr indent="0" marL="0">
              <a:buNone/>
            </a:pPr>
            <a:r>
              <a:rPr lang="en-US" sz="1100" dirty="0">
                <a:solidFill>
                  <a:srgbClr val="6B7480"/>
                </a:solidFill>
                <a:latin typeface="Calibri" pitchFamily="34" charset="0"/>
                <a:ea typeface="Calibri" pitchFamily="34" charset="-122"/>
                <a:cs typeface="Calibri" pitchFamily="34" charset="-120"/>
              </a:rPr>
              <a:t>Your fulfilment team member covers customer service today.</a:t>
            </a:r>
            <a:endParaRPr lang="en-US" sz="1100" dirty="0"/>
          </a:p>
        </p:txBody>
      </p:sp>
      <p:sp>
        <p:nvSpPr>
          <p:cNvPr id="29" name="Input: answer 4"/>
          <p:cNvSpPr txBox="1"/>
          <p:nvPr/>
        </p:nvSpPr>
        <p:spPr>
          <a:xfrm>
            <a:off x="5760720" y="4526280"/>
            <a:ext cx="5806440" cy="548640"/>
          </a:xfrm>
          <a:prstGeom prst="rect">
            <a:avLst/>
          </a:prstGeom>
          <a:solidFill>
            <a:srgbClr val="FFF6E8"/>
          </a:solidFill>
          <a:ln w="12700">
            <a:solidFill>
              <a:srgbClr val="B26B0E"/>
            </a:solidFill>
            <a:prstDash val="dash"/>
          </a:ln>
        </p:spPr>
        <p:txBody>
          <a:bodyPr wrap="square" lIns="50800" tIns="101600" rIns="101600" bIns="50800" rtlCol="0" anchor="ctr"/>
          <a:lstStyle/>
          <a:p>
            <a:pPr indent="0" marL="0">
              <a:buNone/>
            </a:pPr>
            <a:r>
              <a:rPr lang="en-US" sz="1200" b="1" dirty="0">
                <a:solidFill>
                  <a:srgbClr val="B26B0E"/>
                </a:solidFill>
                <a:latin typeface="Calibri" pitchFamily="34" charset="0"/>
                <a:ea typeface="Calibri" pitchFamily="34" charset="-122"/>
                <a:cs typeface="Calibri" pitchFamily="34" charset="-120"/>
              </a:rPr>
              <a:t>Your answer: </a:t>
            </a:r>
            <a:pPr indent="0" marL="0">
              <a:buNone/>
            </a:pPr>
            <a:r>
              <a:rPr lang="en-US" sz="1200" i="1" dirty="0">
                <a:solidFill>
                  <a:srgbClr val="9AA3AD"/>
                </a:solidFill>
                <a:latin typeface="Calibri" pitchFamily="34" charset="0"/>
                <a:ea typeface="Calibri" pitchFamily="34" charset="-122"/>
                <a:cs typeface="Calibri" pitchFamily="34" charset="-120"/>
              </a:rPr>
              <a:t>click and type…</a:t>
            </a:r>
            <a:endParaRPr lang="en-US" sz="1200" dirty="0"/>
          </a:p>
        </p:txBody>
      </p:sp>
      <p:sp>
        <p:nvSpPr>
          <p:cNvPr id="30" name="Card"/>
          <p:cNvSpPr/>
          <p:nvPr/>
        </p:nvSpPr>
        <p:spPr>
          <a:xfrm>
            <a:off x="457200" y="5294376"/>
            <a:ext cx="11274552" cy="768096"/>
          </a:xfrm>
          <a:prstGeom prst="roundRect">
            <a:avLst>
              <a:gd name="adj" fmla="val 9524"/>
            </a:avLst>
          </a:prstGeom>
          <a:solidFill>
            <a:srgbClr val="FFFFFF"/>
          </a:solidFill>
          <a:ln w="9525">
            <a:solidFill>
              <a:srgbClr val="DDE4E0"/>
            </a:solidFill>
            <a:prstDash val="solid"/>
          </a:ln>
        </p:spPr>
      </p:sp>
      <p:sp>
        <p:nvSpPr>
          <p:cNvPr id="31" name="Text 29"/>
          <p:cNvSpPr txBox="1"/>
          <p:nvPr/>
        </p:nvSpPr>
        <p:spPr>
          <a:xfrm>
            <a:off x="621792" y="5477256"/>
            <a:ext cx="384048" cy="384048"/>
          </a:xfrm>
          <a:prstGeom prst="ellipse">
            <a:avLst/>
          </a:prstGeom>
          <a:solidFill>
            <a:srgbClr val="B26B0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2" name="Text 30"/>
          <p:cNvSpPr txBox="1"/>
          <p:nvPr/>
        </p:nvSpPr>
        <p:spPr>
          <a:xfrm>
            <a:off x="1188720" y="5367528"/>
            <a:ext cx="4389120" cy="329184"/>
          </a:xfrm>
          <a:prstGeom prst="rect">
            <a:avLst/>
          </a:prstGeom>
          <a:noFill/>
          <a:ln/>
        </p:spPr>
        <p:txBody>
          <a:bodyPr wrap="square" lIns="0" tIns="0" rIns="0" bIns="0" rtlCol="0" anchor="ctr"/>
          <a:lstStyle/>
          <a:p>
            <a:pPr indent="0" marL="0">
              <a:buNone/>
            </a:pPr>
            <a:r>
              <a:rPr lang="en-US" sz="1400" b="1" dirty="0">
                <a:solidFill>
                  <a:srgbClr val="1B2430"/>
                </a:solidFill>
                <a:latin typeface="Cambria" pitchFamily="34" charset="0"/>
                <a:ea typeface="Cambria" pitchFamily="34" charset="-122"/>
                <a:cs typeface="Cambria" pitchFamily="34" charset="-120"/>
              </a:rPr>
              <a:t>Any special language needs?</a:t>
            </a:r>
            <a:endParaRPr lang="en-US" sz="1400" dirty="0"/>
          </a:p>
        </p:txBody>
      </p:sp>
      <p:sp>
        <p:nvSpPr>
          <p:cNvPr id="33" name="Text 31"/>
          <p:cNvSpPr txBox="1"/>
          <p:nvPr/>
        </p:nvSpPr>
        <p:spPr>
          <a:xfrm>
            <a:off x="1188720" y="5696712"/>
            <a:ext cx="4389120" cy="329184"/>
          </a:xfrm>
          <a:prstGeom prst="rect">
            <a:avLst/>
          </a:prstGeom>
          <a:noFill/>
          <a:ln/>
        </p:spPr>
        <p:txBody>
          <a:bodyPr wrap="square" lIns="0" tIns="0" rIns="0" bIns="0" rtlCol="0" anchor="ctr"/>
          <a:lstStyle/>
          <a:p>
            <a:pPr indent="0" marL="0">
              <a:buNone/>
            </a:pPr>
            <a:r>
              <a:rPr lang="en-US" sz="1100" dirty="0">
                <a:solidFill>
                  <a:srgbClr val="6B7480"/>
                </a:solidFill>
                <a:latin typeface="Calibri" pitchFamily="34" charset="0"/>
                <a:ea typeface="Calibri" pitchFamily="34" charset="-122"/>
                <a:cs typeface="Calibri" pitchFamily="34" charset="-120"/>
              </a:rPr>
              <a:t>For example, Mandarin for WeChat customers.</a:t>
            </a:r>
            <a:endParaRPr lang="en-US" sz="1100" dirty="0"/>
          </a:p>
        </p:txBody>
      </p:sp>
      <p:sp>
        <p:nvSpPr>
          <p:cNvPr id="34" name="Input: answer 5"/>
          <p:cNvSpPr txBox="1"/>
          <p:nvPr/>
        </p:nvSpPr>
        <p:spPr>
          <a:xfrm>
            <a:off x="5760720" y="5404104"/>
            <a:ext cx="5806440" cy="548640"/>
          </a:xfrm>
          <a:prstGeom prst="rect">
            <a:avLst/>
          </a:prstGeom>
          <a:solidFill>
            <a:srgbClr val="FFF6E8"/>
          </a:solidFill>
          <a:ln w="12700">
            <a:solidFill>
              <a:srgbClr val="B26B0E"/>
            </a:solidFill>
            <a:prstDash val="dash"/>
          </a:ln>
        </p:spPr>
        <p:txBody>
          <a:bodyPr wrap="square" lIns="50800" tIns="101600" rIns="101600" bIns="50800" rtlCol="0" anchor="ctr"/>
          <a:lstStyle/>
          <a:p>
            <a:pPr indent="0" marL="0">
              <a:buNone/>
            </a:pPr>
            <a:r>
              <a:rPr lang="en-US" sz="1200" b="1" dirty="0">
                <a:solidFill>
                  <a:srgbClr val="B26B0E"/>
                </a:solidFill>
                <a:latin typeface="Calibri" pitchFamily="34" charset="0"/>
                <a:ea typeface="Calibri" pitchFamily="34" charset="-122"/>
                <a:cs typeface="Calibri" pitchFamily="34" charset="-120"/>
              </a:rPr>
              <a:t>Your answer: </a:t>
            </a:r>
            <a:pPr indent="0" marL="0">
              <a:buNone/>
            </a:pPr>
            <a:r>
              <a:rPr lang="en-US" sz="1200" i="1" dirty="0">
                <a:solidFill>
                  <a:srgbClr val="9AA3AD"/>
                </a:solidFill>
                <a:latin typeface="Calibri" pitchFamily="34" charset="0"/>
                <a:ea typeface="Calibri" pitchFamily="34" charset="-122"/>
                <a:cs typeface="Calibri" pitchFamily="34" charset="-120"/>
              </a:rPr>
              <a:t>click and type…</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OVER TO YOU  ·  02</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Your feedback on this plan</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Rate each part from 1 (not right yet) to 5 (spot on). Type X in one box per row.</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sp>
        <p:nvSpPr>
          <p:cNvPr id="10" name="Card"/>
          <p:cNvSpPr/>
          <p:nvPr/>
        </p:nvSpPr>
        <p:spPr>
          <a:xfrm>
            <a:off x="457200" y="1783080"/>
            <a:ext cx="5852160" cy="3063240"/>
          </a:xfrm>
          <a:prstGeom prst="roundRect">
            <a:avLst>
              <a:gd name="adj" fmla="val 2388"/>
            </a:avLst>
          </a:prstGeom>
          <a:solidFill>
            <a:srgbClr val="FFFFFF"/>
          </a:solidFill>
          <a:ln w="9525">
            <a:solidFill>
              <a:srgbClr val="DDE4E0"/>
            </a:solidFill>
            <a:prstDash val="solid"/>
          </a:ln>
        </p:spPr>
      </p:sp>
      <p:sp>
        <p:nvSpPr>
          <p:cNvPr id="11" name="Text 9"/>
          <p:cNvSpPr txBox="1"/>
          <p:nvPr/>
        </p:nvSpPr>
        <p:spPr>
          <a:xfrm>
            <a:off x="685800" y="1965960"/>
            <a:ext cx="3108960" cy="292608"/>
          </a:xfrm>
          <a:prstGeom prst="rect">
            <a:avLst/>
          </a:prstGeom>
          <a:noFill/>
          <a:ln/>
        </p:spPr>
        <p:txBody>
          <a:bodyPr wrap="square" lIns="0" tIns="0" rIns="0" bIns="0" rtlCol="0" anchor="ctr"/>
          <a:lstStyle/>
          <a:p>
            <a:pPr indent="0" marL="0">
              <a:buNone/>
            </a:pPr>
            <a:r>
              <a:rPr lang="en-US" sz="1300" dirty="0">
                <a:solidFill>
                  <a:srgbClr val="1B2430"/>
                </a:solidFill>
                <a:latin typeface="Calibri" pitchFamily="34" charset="0"/>
                <a:ea typeface="Calibri" pitchFamily="34" charset="-122"/>
                <a:cs typeface="Calibri" pitchFamily="34" charset="-120"/>
              </a:rPr>
              <a:t>What we heard</a:t>
            </a:r>
            <a:endParaRPr lang="en-US" sz="1300" dirty="0"/>
          </a:p>
        </p:txBody>
      </p:sp>
      <p:sp>
        <p:nvSpPr>
          <p:cNvPr id="12" name="Rating What we heard 1"/>
          <p:cNvSpPr txBox="1"/>
          <p:nvPr/>
        </p:nvSpPr>
        <p:spPr>
          <a:xfrm>
            <a:off x="3886200" y="199339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3" name="Text 11"/>
          <p:cNvSpPr txBox="1"/>
          <p:nvPr/>
        </p:nvSpPr>
        <p:spPr>
          <a:xfrm>
            <a:off x="4133088" y="198424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1</a:t>
            </a:r>
            <a:endParaRPr lang="en-US" sz="1000" dirty="0"/>
          </a:p>
        </p:txBody>
      </p:sp>
      <p:sp>
        <p:nvSpPr>
          <p:cNvPr id="14" name="Rating What we heard 2"/>
          <p:cNvSpPr txBox="1"/>
          <p:nvPr/>
        </p:nvSpPr>
        <p:spPr>
          <a:xfrm>
            <a:off x="4343400" y="199339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5" name="Text 13"/>
          <p:cNvSpPr txBox="1"/>
          <p:nvPr/>
        </p:nvSpPr>
        <p:spPr>
          <a:xfrm>
            <a:off x="4590288" y="198424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2</a:t>
            </a:r>
            <a:endParaRPr lang="en-US" sz="1000" dirty="0"/>
          </a:p>
        </p:txBody>
      </p:sp>
      <p:sp>
        <p:nvSpPr>
          <p:cNvPr id="16" name="Rating What we heard 3"/>
          <p:cNvSpPr txBox="1"/>
          <p:nvPr/>
        </p:nvSpPr>
        <p:spPr>
          <a:xfrm>
            <a:off x="4800600" y="199339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7" name="Text 15"/>
          <p:cNvSpPr txBox="1"/>
          <p:nvPr/>
        </p:nvSpPr>
        <p:spPr>
          <a:xfrm>
            <a:off x="5047488" y="198424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3</a:t>
            </a:r>
            <a:endParaRPr lang="en-US" sz="1000" dirty="0"/>
          </a:p>
        </p:txBody>
      </p:sp>
      <p:sp>
        <p:nvSpPr>
          <p:cNvPr id="18" name="Rating What we heard 4"/>
          <p:cNvSpPr txBox="1"/>
          <p:nvPr/>
        </p:nvSpPr>
        <p:spPr>
          <a:xfrm>
            <a:off x="5257800" y="199339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9" name="Text 17"/>
          <p:cNvSpPr txBox="1"/>
          <p:nvPr/>
        </p:nvSpPr>
        <p:spPr>
          <a:xfrm>
            <a:off x="5504688" y="198424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4</a:t>
            </a:r>
            <a:endParaRPr lang="en-US" sz="1000" dirty="0"/>
          </a:p>
        </p:txBody>
      </p:sp>
      <p:sp>
        <p:nvSpPr>
          <p:cNvPr id="20" name="Rating What we heard 5"/>
          <p:cNvSpPr txBox="1"/>
          <p:nvPr/>
        </p:nvSpPr>
        <p:spPr>
          <a:xfrm>
            <a:off x="5715000" y="199339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1" name="Text 19"/>
          <p:cNvSpPr txBox="1"/>
          <p:nvPr/>
        </p:nvSpPr>
        <p:spPr>
          <a:xfrm>
            <a:off x="5961888" y="198424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5</a:t>
            </a:r>
            <a:endParaRPr lang="en-US" sz="1000" dirty="0"/>
          </a:p>
        </p:txBody>
      </p:sp>
      <p:sp>
        <p:nvSpPr>
          <p:cNvPr id="22" name="Text 20"/>
          <p:cNvSpPr txBox="1"/>
          <p:nvPr/>
        </p:nvSpPr>
        <p:spPr>
          <a:xfrm>
            <a:off x="685800" y="2514600"/>
            <a:ext cx="3108960" cy="292608"/>
          </a:xfrm>
          <a:prstGeom prst="rect">
            <a:avLst/>
          </a:prstGeom>
          <a:noFill/>
          <a:ln/>
        </p:spPr>
        <p:txBody>
          <a:bodyPr wrap="square" lIns="0" tIns="0" rIns="0" bIns="0" rtlCol="0" anchor="ctr"/>
          <a:lstStyle/>
          <a:p>
            <a:pPr indent="0" marL="0">
              <a:buNone/>
            </a:pPr>
            <a:r>
              <a:rPr lang="en-US" sz="1300" dirty="0">
                <a:solidFill>
                  <a:srgbClr val="1B2430"/>
                </a:solidFill>
                <a:latin typeface="Calibri" pitchFamily="34" charset="0"/>
                <a:ea typeface="Calibri" pitchFamily="34" charset="-122"/>
                <a:cs typeface="Calibri" pitchFamily="34" charset="-120"/>
              </a:rPr>
              <a:t>The role and three jobs</a:t>
            </a:r>
            <a:endParaRPr lang="en-US" sz="1300" dirty="0"/>
          </a:p>
        </p:txBody>
      </p:sp>
      <p:sp>
        <p:nvSpPr>
          <p:cNvPr id="23" name="Rating The role and three jobs 1"/>
          <p:cNvSpPr txBox="1"/>
          <p:nvPr/>
        </p:nvSpPr>
        <p:spPr>
          <a:xfrm>
            <a:off x="3886200" y="254203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4" name="Text 22"/>
          <p:cNvSpPr txBox="1"/>
          <p:nvPr/>
        </p:nvSpPr>
        <p:spPr>
          <a:xfrm>
            <a:off x="4133088" y="253288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1</a:t>
            </a:r>
            <a:endParaRPr lang="en-US" sz="1000" dirty="0"/>
          </a:p>
        </p:txBody>
      </p:sp>
      <p:sp>
        <p:nvSpPr>
          <p:cNvPr id="25" name="Rating The role and three jobs 2"/>
          <p:cNvSpPr txBox="1"/>
          <p:nvPr/>
        </p:nvSpPr>
        <p:spPr>
          <a:xfrm>
            <a:off x="4343400" y="254203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6" name="Text 24"/>
          <p:cNvSpPr txBox="1"/>
          <p:nvPr/>
        </p:nvSpPr>
        <p:spPr>
          <a:xfrm>
            <a:off x="4590288" y="253288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2</a:t>
            </a:r>
            <a:endParaRPr lang="en-US" sz="1000" dirty="0"/>
          </a:p>
        </p:txBody>
      </p:sp>
      <p:sp>
        <p:nvSpPr>
          <p:cNvPr id="27" name="Rating The role and three jobs 3"/>
          <p:cNvSpPr txBox="1"/>
          <p:nvPr/>
        </p:nvSpPr>
        <p:spPr>
          <a:xfrm>
            <a:off x="4800600" y="254203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8" name="Text 26"/>
          <p:cNvSpPr txBox="1"/>
          <p:nvPr/>
        </p:nvSpPr>
        <p:spPr>
          <a:xfrm>
            <a:off x="5047488" y="253288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3</a:t>
            </a:r>
            <a:endParaRPr lang="en-US" sz="1000" dirty="0"/>
          </a:p>
        </p:txBody>
      </p:sp>
      <p:sp>
        <p:nvSpPr>
          <p:cNvPr id="29" name="Rating The role and three jobs 4"/>
          <p:cNvSpPr txBox="1"/>
          <p:nvPr/>
        </p:nvSpPr>
        <p:spPr>
          <a:xfrm>
            <a:off x="5257800" y="254203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0" name="Text 28"/>
          <p:cNvSpPr txBox="1"/>
          <p:nvPr/>
        </p:nvSpPr>
        <p:spPr>
          <a:xfrm>
            <a:off x="5504688" y="253288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4</a:t>
            </a:r>
            <a:endParaRPr lang="en-US" sz="1000" dirty="0"/>
          </a:p>
        </p:txBody>
      </p:sp>
      <p:sp>
        <p:nvSpPr>
          <p:cNvPr id="31" name="Rating The role and three jobs 5"/>
          <p:cNvSpPr txBox="1"/>
          <p:nvPr/>
        </p:nvSpPr>
        <p:spPr>
          <a:xfrm>
            <a:off x="5715000" y="254203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2" name="Text 30"/>
          <p:cNvSpPr txBox="1"/>
          <p:nvPr/>
        </p:nvSpPr>
        <p:spPr>
          <a:xfrm>
            <a:off x="5961888" y="253288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5</a:t>
            </a:r>
            <a:endParaRPr lang="en-US" sz="1000" dirty="0"/>
          </a:p>
        </p:txBody>
      </p:sp>
      <p:sp>
        <p:nvSpPr>
          <p:cNvPr id="33" name="Text 31"/>
          <p:cNvSpPr txBox="1"/>
          <p:nvPr/>
        </p:nvSpPr>
        <p:spPr>
          <a:xfrm>
            <a:off x="685800" y="3063240"/>
            <a:ext cx="3108960" cy="292608"/>
          </a:xfrm>
          <a:prstGeom prst="rect">
            <a:avLst/>
          </a:prstGeom>
          <a:noFill/>
          <a:ln/>
        </p:spPr>
        <p:txBody>
          <a:bodyPr wrap="square" lIns="0" tIns="0" rIns="0" bIns="0" rtlCol="0" anchor="ctr"/>
          <a:lstStyle/>
          <a:p>
            <a:pPr indent="0" marL="0">
              <a:buNone/>
            </a:pPr>
            <a:r>
              <a:rPr lang="en-US" sz="1300" dirty="0">
                <a:solidFill>
                  <a:srgbClr val="1B2430"/>
                </a:solidFill>
                <a:latin typeface="Calibri" pitchFamily="34" charset="0"/>
                <a:ea typeface="Calibri" pitchFamily="34" charset="-122"/>
                <a:cs typeface="Calibri" pitchFamily="34" charset="-120"/>
              </a:rPr>
              <a:t>Success measures</a:t>
            </a:r>
            <a:endParaRPr lang="en-US" sz="1300" dirty="0"/>
          </a:p>
        </p:txBody>
      </p:sp>
      <p:sp>
        <p:nvSpPr>
          <p:cNvPr id="34" name="Rating Success measures 1"/>
          <p:cNvSpPr txBox="1"/>
          <p:nvPr/>
        </p:nvSpPr>
        <p:spPr>
          <a:xfrm>
            <a:off x="3886200" y="309067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5" name="Text 33"/>
          <p:cNvSpPr txBox="1"/>
          <p:nvPr/>
        </p:nvSpPr>
        <p:spPr>
          <a:xfrm>
            <a:off x="4133088" y="308152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1</a:t>
            </a:r>
            <a:endParaRPr lang="en-US" sz="1000" dirty="0"/>
          </a:p>
        </p:txBody>
      </p:sp>
      <p:sp>
        <p:nvSpPr>
          <p:cNvPr id="36" name="Rating Success measures 2"/>
          <p:cNvSpPr txBox="1"/>
          <p:nvPr/>
        </p:nvSpPr>
        <p:spPr>
          <a:xfrm>
            <a:off x="4343400" y="309067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7" name="Text 35"/>
          <p:cNvSpPr txBox="1"/>
          <p:nvPr/>
        </p:nvSpPr>
        <p:spPr>
          <a:xfrm>
            <a:off x="4590288" y="308152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2</a:t>
            </a:r>
            <a:endParaRPr lang="en-US" sz="1000" dirty="0"/>
          </a:p>
        </p:txBody>
      </p:sp>
      <p:sp>
        <p:nvSpPr>
          <p:cNvPr id="38" name="Rating Success measures 3"/>
          <p:cNvSpPr txBox="1"/>
          <p:nvPr/>
        </p:nvSpPr>
        <p:spPr>
          <a:xfrm>
            <a:off x="4800600" y="309067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9" name="Text 37"/>
          <p:cNvSpPr txBox="1"/>
          <p:nvPr/>
        </p:nvSpPr>
        <p:spPr>
          <a:xfrm>
            <a:off x="5047488" y="308152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3</a:t>
            </a:r>
            <a:endParaRPr lang="en-US" sz="1000" dirty="0"/>
          </a:p>
        </p:txBody>
      </p:sp>
      <p:sp>
        <p:nvSpPr>
          <p:cNvPr id="40" name="Rating Success measures 4"/>
          <p:cNvSpPr txBox="1"/>
          <p:nvPr/>
        </p:nvSpPr>
        <p:spPr>
          <a:xfrm>
            <a:off x="5257800" y="309067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41" name="Text 39"/>
          <p:cNvSpPr txBox="1"/>
          <p:nvPr/>
        </p:nvSpPr>
        <p:spPr>
          <a:xfrm>
            <a:off x="5504688" y="308152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4</a:t>
            </a:r>
            <a:endParaRPr lang="en-US" sz="1000" dirty="0"/>
          </a:p>
        </p:txBody>
      </p:sp>
      <p:sp>
        <p:nvSpPr>
          <p:cNvPr id="42" name="Rating Success measures 5"/>
          <p:cNvSpPr txBox="1"/>
          <p:nvPr/>
        </p:nvSpPr>
        <p:spPr>
          <a:xfrm>
            <a:off x="5715000" y="309067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43" name="Text 41"/>
          <p:cNvSpPr txBox="1"/>
          <p:nvPr/>
        </p:nvSpPr>
        <p:spPr>
          <a:xfrm>
            <a:off x="5961888" y="308152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5</a:t>
            </a:r>
            <a:endParaRPr lang="en-US" sz="1000" dirty="0"/>
          </a:p>
        </p:txBody>
      </p:sp>
      <p:sp>
        <p:nvSpPr>
          <p:cNvPr id="44" name="Text 42"/>
          <p:cNvSpPr txBox="1"/>
          <p:nvPr/>
        </p:nvSpPr>
        <p:spPr>
          <a:xfrm>
            <a:off x="685800" y="3611880"/>
            <a:ext cx="3108960" cy="292608"/>
          </a:xfrm>
          <a:prstGeom prst="rect">
            <a:avLst/>
          </a:prstGeom>
          <a:noFill/>
          <a:ln/>
        </p:spPr>
        <p:txBody>
          <a:bodyPr wrap="square" lIns="0" tIns="0" rIns="0" bIns="0" rtlCol="0" anchor="ctr"/>
          <a:lstStyle/>
          <a:p>
            <a:pPr indent="0" marL="0">
              <a:buNone/>
            </a:pPr>
            <a:r>
              <a:rPr lang="en-US" sz="1300" dirty="0">
                <a:solidFill>
                  <a:srgbClr val="1B2430"/>
                </a:solidFill>
                <a:latin typeface="Calibri" pitchFamily="34" charset="0"/>
                <a:ea typeface="Calibri" pitchFamily="34" charset="-122"/>
                <a:cs typeface="Calibri" pitchFamily="34" charset="-120"/>
              </a:rPr>
              <a:t>Timeline</a:t>
            </a:r>
            <a:endParaRPr lang="en-US" sz="1300" dirty="0"/>
          </a:p>
        </p:txBody>
      </p:sp>
      <p:sp>
        <p:nvSpPr>
          <p:cNvPr id="45" name="Rating Timeline 1"/>
          <p:cNvSpPr txBox="1"/>
          <p:nvPr/>
        </p:nvSpPr>
        <p:spPr>
          <a:xfrm>
            <a:off x="3886200" y="363931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46" name="Text 44"/>
          <p:cNvSpPr txBox="1"/>
          <p:nvPr/>
        </p:nvSpPr>
        <p:spPr>
          <a:xfrm>
            <a:off x="4133088" y="363016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1</a:t>
            </a:r>
            <a:endParaRPr lang="en-US" sz="1000" dirty="0"/>
          </a:p>
        </p:txBody>
      </p:sp>
      <p:sp>
        <p:nvSpPr>
          <p:cNvPr id="47" name="Rating Timeline 2"/>
          <p:cNvSpPr txBox="1"/>
          <p:nvPr/>
        </p:nvSpPr>
        <p:spPr>
          <a:xfrm>
            <a:off x="4343400" y="363931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48" name="Text 46"/>
          <p:cNvSpPr txBox="1"/>
          <p:nvPr/>
        </p:nvSpPr>
        <p:spPr>
          <a:xfrm>
            <a:off x="4590288" y="363016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2</a:t>
            </a:r>
            <a:endParaRPr lang="en-US" sz="1000" dirty="0"/>
          </a:p>
        </p:txBody>
      </p:sp>
      <p:sp>
        <p:nvSpPr>
          <p:cNvPr id="49" name="Rating Timeline 3"/>
          <p:cNvSpPr txBox="1"/>
          <p:nvPr/>
        </p:nvSpPr>
        <p:spPr>
          <a:xfrm>
            <a:off x="4800600" y="363931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50" name="Text 48"/>
          <p:cNvSpPr txBox="1"/>
          <p:nvPr/>
        </p:nvSpPr>
        <p:spPr>
          <a:xfrm>
            <a:off x="5047488" y="363016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3</a:t>
            </a:r>
            <a:endParaRPr lang="en-US" sz="1000" dirty="0"/>
          </a:p>
        </p:txBody>
      </p:sp>
      <p:sp>
        <p:nvSpPr>
          <p:cNvPr id="51" name="Rating Timeline 4"/>
          <p:cNvSpPr txBox="1"/>
          <p:nvPr/>
        </p:nvSpPr>
        <p:spPr>
          <a:xfrm>
            <a:off x="5257800" y="363931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52" name="Text 50"/>
          <p:cNvSpPr txBox="1"/>
          <p:nvPr/>
        </p:nvSpPr>
        <p:spPr>
          <a:xfrm>
            <a:off x="5504688" y="363016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4</a:t>
            </a:r>
            <a:endParaRPr lang="en-US" sz="1000" dirty="0"/>
          </a:p>
        </p:txBody>
      </p:sp>
      <p:sp>
        <p:nvSpPr>
          <p:cNvPr id="53" name="Rating Timeline 5"/>
          <p:cNvSpPr txBox="1"/>
          <p:nvPr/>
        </p:nvSpPr>
        <p:spPr>
          <a:xfrm>
            <a:off x="5715000" y="363931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54" name="Text 52"/>
          <p:cNvSpPr txBox="1"/>
          <p:nvPr/>
        </p:nvSpPr>
        <p:spPr>
          <a:xfrm>
            <a:off x="5961888" y="363016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5</a:t>
            </a:r>
            <a:endParaRPr lang="en-US" sz="1000" dirty="0"/>
          </a:p>
        </p:txBody>
      </p:sp>
      <p:sp>
        <p:nvSpPr>
          <p:cNvPr id="55" name="Text 53"/>
          <p:cNvSpPr txBox="1"/>
          <p:nvPr/>
        </p:nvSpPr>
        <p:spPr>
          <a:xfrm>
            <a:off x="685800" y="4160520"/>
            <a:ext cx="3108960" cy="292608"/>
          </a:xfrm>
          <a:prstGeom prst="rect">
            <a:avLst/>
          </a:prstGeom>
          <a:noFill/>
          <a:ln/>
        </p:spPr>
        <p:txBody>
          <a:bodyPr wrap="square" lIns="0" tIns="0" rIns="0" bIns="0" rtlCol="0" anchor="ctr"/>
          <a:lstStyle/>
          <a:p>
            <a:pPr indent="0" marL="0">
              <a:buNone/>
            </a:pPr>
            <a:r>
              <a:rPr lang="en-US" sz="1300" dirty="0">
                <a:solidFill>
                  <a:srgbClr val="1B2430"/>
                </a:solidFill>
                <a:latin typeface="Calibri" pitchFamily="34" charset="0"/>
                <a:ea typeface="Calibri" pitchFamily="34" charset="-122"/>
                <a:cs typeface="Calibri" pitchFamily="34" charset="-120"/>
              </a:rPr>
              <a:t>Overall, does this feel like your business?</a:t>
            </a:r>
            <a:endParaRPr lang="en-US" sz="1300" dirty="0"/>
          </a:p>
        </p:txBody>
      </p:sp>
      <p:sp>
        <p:nvSpPr>
          <p:cNvPr id="56" name="Rating Overall, does this feel like your business? 1"/>
          <p:cNvSpPr txBox="1"/>
          <p:nvPr/>
        </p:nvSpPr>
        <p:spPr>
          <a:xfrm>
            <a:off x="3886200" y="418795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57" name="Text 55"/>
          <p:cNvSpPr txBox="1"/>
          <p:nvPr/>
        </p:nvSpPr>
        <p:spPr>
          <a:xfrm>
            <a:off x="4133088" y="417880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1</a:t>
            </a:r>
            <a:endParaRPr lang="en-US" sz="1000" dirty="0"/>
          </a:p>
        </p:txBody>
      </p:sp>
      <p:sp>
        <p:nvSpPr>
          <p:cNvPr id="58" name="Rating Overall, does this feel like your business? 2"/>
          <p:cNvSpPr txBox="1"/>
          <p:nvPr/>
        </p:nvSpPr>
        <p:spPr>
          <a:xfrm>
            <a:off x="4343400" y="418795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59" name="Text 57"/>
          <p:cNvSpPr txBox="1"/>
          <p:nvPr/>
        </p:nvSpPr>
        <p:spPr>
          <a:xfrm>
            <a:off x="4590288" y="417880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2</a:t>
            </a:r>
            <a:endParaRPr lang="en-US" sz="1000" dirty="0"/>
          </a:p>
        </p:txBody>
      </p:sp>
      <p:sp>
        <p:nvSpPr>
          <p:cNvPr id="60" name="Rating Overall, does this feel like your business? 3"/>
          <p:cNvSpPr txBox="1"/>
          <p:nvPr/>
        </p:nvSpPr>
        <p:spPr>
          <a:xfrm>
            <a:off x="4800600" y="418795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61" name="Text 59"/>
          <p:cNvSpPr txBox="1"/>
          <p:nvPr/>
        </p:nvSpPr>
        <p:spPr>
          <a:xfrm>
            <a:off x="5047488" y="417880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3</a:t>
            </a:r>
            <a:endParaRPr lang="en-US" sz="1000" dirty="0"/>
          </a:p>
        </p:txBody>
      </p:sp>
      <p:sp>
        <p:nvSpPr>
          <p:cNvPr id="62" name="Rating Overall, does this feel like your business? 4"/>
          <p:cNvSpPr txBox="1"/>
          <p:nvPr/>
        </p:nvSpPr>
        <p:spPr>
          <a:xfrm>
            <a:off x="5257800" y="418795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63" name="Text 61"/>
          <p:cNvSpPr txBox="1"/>
          <p:nvPr/>
        </p:nvSpPr>
        <p:spPr>
          <a:xfrm>
            <a:off x="5504688" y="417880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4</a:t>
            </a:r>
            <a:endParaRPr lang="en-US" sz="1000" dirty="0"/>
          </a:p>
        </p:txBody>
      </p:sp>
      <p:sp>
        <p:nvSpPr>
          <p:cNvPr id="64" name="Rating Overall, does this feel like your business? 5"/>
          <p:cNvSpPr txBox="1"/>
          <p:nvPr/>
        </p:nvSpPr>
        <p:spPr>
          <a:xfrm>
            <a:off x="5715000" y="418795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65" name="Text 63"/>
          <p:cNvSpPr txBox="1"/>
          <p:nvPr/>
        </p:nvSpPr>
        <p:spPr>
          <a:xfrm>
            <a:off x="5961888" y="417880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5</a:t>
            </a:r>
            <a:endParaRPr lang="en-US" sz="1000" dirty="0"/>
          </a:p>
        </p:txBody>
      </p:sp>
      <p:sp>
        <p:nvSpPr>
          <p:cNvPr id="66" name="Input: What would you change?"/>
          <p:cNvSpPr txBox="1"/>
          <p:nvPr/>
        </p:nvSpPr>
        <p:spPr>
          <a:xfrm>
            <a:off x="6492240" y="1783080"/>
            <a:ext cx="5239512" cy="146304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WHAT WOULD YOU CHANGE?</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Anything that doesn’t fit how Hanks Tea works…</a:t>
            </a:r>
            <a:endParaRPr lang="en-US" sz="900" dirty="0"/>
          </a:p>
        </p:txBody>
      </p:sp>
      <p:sp>
        <p:nvSpPr>
          <p:cNvPr id="67" name="Input: What did we miss?"/>
          <p:cNvSpPr txBox="1"/>
          <p:nvPr/>
        </p:nvSpPr>
        <p:spPr>
          <a:xfrm>
            <a:off x="6492240" y="3383280"/>
            <a:ext cx="5239512" cy="146304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WHAT DID WE MISS?</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Tasks, tools, people or busy periods…</a:t>
            </a:r>
            <a:endParaRPr lang="en-US" sz="900" dirty="0"/>
          </a:p>
        </p:txBody>
      </p:sp>
      <p:sp>
        <p:nvSpPr>
          <p:cNvPr id="68" name="Card"/>
          <p:cNvSpPr/>
          <p:nvPr/>
        </p:nvSpPr>
        <p:spPr>
          <a:xfrm>
            <a:off x="457200" y="4983480"/>
            <a:ext cx="5852160" cy="1143000"/>
          </a:xfrm>
          <a:prstGeom prst="roundRect">
            <a:avLst>
              <a:gd name="adj" fmla="val 6400"/>
            </a:avLst>
          </a:prstGeom>
          <a:solidFill>
            <a:srgbClr val="E4F2EC"/>
          </a:solidFill>
          <a:ln w="9525">
            <a:solidFill>
              <a:srgbClr val="E4F2EC"/>
            </a:solidFill>
            <a:prstDash val="solid"/>
          </a:ln>
        </p:spPr>
      </p:sp>
      <p:sp>
        <p:nvSpPr>
          <p:cNvPr id="69" name="Text 67"/>
          <p:cNvSpPr txBox="1"/>
          <p:nvPr/>
        </p:nvSpPr>
        <p:spPr>
          <a:xfrm>
            <a:off x="685800" y="5093208"/>
            <a:ext cx="27432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READY TO GO?</a:t>
            </a:r>
            <a:endParaRPr lang="en-US" sz="1000" dirty="0"/>
          </a:p>
        </p:txBody>
      </p:sp>
      <p:sp>
        <p:nvSpPr>
          <p:cNvPr id="70" name="Tick box: Yes, let’s proceed"/>
          <p:cNvSpPr txBox="1"/>
          <p:nvPr/>
        </p:nvSpPr>
        <p:spPr>
          <a:xfrm>
            <a:off x="685800" y="541324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71" name="Text 69"/>
          <p:cNvSpPr txBox="1"/>
          <p:nvPr/>
        </p:nvSpPr>
        <p:spPr>
          <a:xfrm>
            <a:off x="978408" y="5394960"/>
            <a:ext cx="208483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Yes, let’s proceed</a:t>
            </a:r>
            <a:endParaRPr lang="en-US" sz="1200" dirty="0"/>
          </a:p>
        </p:txBody>
      </p:sp>
      <p:sp>
        <p:nvSpPr>
          <p:cNvPr id="72" name="Tick box: Let’s talk first"/>
          <p:cNvSpPr txBox="1"/>
          <p:nvPr/>
        </p:nvSpPr>
        <p:spPr>
          <a:xfrm>
            <a:off x="3200400" y="541324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73" name="Text 71"/>
          <p:cNvSpPr txBox="1"/>
          <p:nvPr/>
        </p:nvSpPr>
        <p:spPr>
          <a:xfrm>
            <a:off x="3493008" y="5394960"/>
            <a:ext cx="208483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Let’s talk first</a:t>
            </a:r>
            <a:endParaRPr lang="en-US" sz="1200" dirty="0"/>
          </a:p>
        </p:txBody>
      </p:sp>
      <p:sp>
        <p:nvSpPr>
          <p:cNvPr id="74" name="Input: Your name"/>
          <p:cNvSpPr txBox="1"/>
          <p:nvPr/>
        </p:nvSpPr>
        <p:spPr>
          <a:xfrm>
            <a:off x="6492240" y="4983480"/>
            <a:ext cx="2560320" cy="114300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YOUR NAME</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Hank Chu</a:t>
            </a:r>
            <a:endParaRPr lang="en-US" sz="900" dirty="0"/>
          </a:p>
        </p:txBody>
      </p:sp>
      <p:sp>
        <p:nvSpPr>
          <p:cNvPr id="75" name="Input: Date"/>
          <p:cNvSpPr txBox="1"/>
          <p:nvPr/>
        </p:nvSpPr>
        <p:spPr>
          <a:xfrm>
            <a:off x="9189720" y="4983480"/>
            <a:ext cx="2542032" cy="114300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DATE</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dd / mm / yyyy</a:t>
            </a:r>
            <a:endParaRPr lang="en-US" sz="9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9692640" y="-1097280"/>
            <a:ext cx="3657600" cy="3657600"/>
          </a:xfrm>
          <a:prstGeom prst="ellipse">
            <a:avLst/>
          </a:prstGeom>
          <a:solidFill>
            <a:srgbClr val="243041"/>
          </a:solidFill>
          <a:ln w="12700">
            <a:solidFill>
              <a:srgbClr val="243041"/>
            </a:solidFill>
            <a:prstDash val="solid"/>
          </a:ln>
        </p:spPr>
      </p:sp>
      <p:sp>
        <p:nvSpPr>
          <p:cNvPr id="3" name="Text 1"/>
          <p:cNvSpPr txBox="1"/>
          <p:nvPr/>
        </p:nvSpPr>
        <p:spPr>
          <a:xfrm>
            <a:off x="731520" y="1463040"/>
            <a:ext cx="5486400" cy="320040"/>
          </a:xfrm>
          <a:prstGeom prst="rect">
            <a:avLst/>
          </a:prstGeom>
          <a:noFill/>
          <a:ln/>
        </p:spPr>
        <p:txBody>
          <a:bodyPr wrap="square" lIns="0" tIns="0" rIns="0" bIns="0" rtlCol="0" anchor="ctr"/>
          <a:lstStyle/>
          <a:p>
            <a:pPr indent="0" marL="0">
              <a:buNone/>
            </a:pPr>
            <a:r>
              <a:rPr lang="en-US" sz="1200" b="1" spc="400" kern="0" dirty="0">
                <a:solidFill>
                  <a:srgbClr val="3CC29A"/>
                </a:solidFill>
                <a:latin typeface="Calibri" pitchFamily="34" charset="0"/>
                <a:ea typeface="Calibri" pitchFamily="34" charset="-122"/>
                <a:cs typeface="Calibri" pitchFamily="34" charset="-120"/>
              </a:rPr>
              <a:t>THE GOAL</a:t>
            </a:r>
            <a:endParaRPr lang="en-US" sz="1200" dirty="0"/>
          </a:p>
        </p:txBody>
      </p:sp>
      <p:sp>
        <p:nvSpPr>
          <p:cNvPr id="4" name="Text 2"/>
          <p:cNvSpPr txBox="1"/>
          <p:nvPr/>
        </p:nvSpPr>
        <p:spPr>
          <a:xfrm>
            <a:off x="731520" y="1874520"/>
            <a:ext cx="9601200" cy="1097280"/>
          </a:xfrm>
          <a:prstGeom prst="rect">
            <a:avLst/>
          </a:prstGeom>
          <a:noFill/>
          <a:ln/>
        </p:spPr>
        <p:txBody>
          <a:bodyPr wrap="square" lIns="0" tIns="0" rIns="0" bIns="0" rtlCol="0" anchor="ctr"/>
          <a:lstStyle/>
          <a:p>
            <a:pPr indent="0" marL="0">
              <a:buNone/>
            </a:pPr>
            <a:r>
              <a:rPr lang="en-US" sz="4000" b="1" dirty="0">
                <a:solidFill>
                  <a:srgbClr val="F4F6F3"/>
                </a:solidFill>
                <a:latin typeface="Cambria" pitchFamily="34" charset="0"/>
                <a:ea typeface="Cambria" pitchFamily="34" charset="-122"/>
                <a:cs typeface="Cambria" pitchFamily="34" charset="-120"/>
              </a:rPr>
              <a:t>One accountable owner for every customer</a:t>
            </a:r>
            <a:endParaRPr lang="en-US" sz="4000" dirty="0"/>
          </a:p>
        </p:txBody>
      </p:sp>
      <p:sp>
        <p:nvSpPr>
          <p:cNvPr id="5" name="Text 3"/>
          <p:cNvSpPr txBox="1"/>
          <p:nvPr/>
        </p:nvSpPr>
        <p:spPr>
          <a:xfrm>
            <a:off x="731520" y="3154680"/>
            <a:ext cx="8229600" cy="914400"/>
          </a:xfrm>
          <a:prstGeom prst="rect">
            <a:avLst/>
          </a:prstGeom>
          <a:noFill/>
          <a:ln/>
        </p:spPr>
        <p:txBody>
          <a:bodyPr wrap="square" lIns="0" tIns="0" rIns="0" bIns="0" rtlCol="0" anchor="t"/>
          <a:lstStyle/>
          <a:p>
            <a:pPr indent="0" marL="0">
              <a:buNone/>
            </a:pPr>
            <a:r>
              <a:rPr lang="en-US" sz="1600" dirty="0">
                <a:solidFill>
                  <a:srgbClr val="BFC9D3"/>
                </a:solidFill>
                <a:latin typeface="Calibri" pitchFamily="34" charset="0"/>
                <a:ea typeface="Calibri" pitchFamily="34" charset="-122"/>
                <a:cs typeface="Calibri" pitchFamily="34" charset="-120"/>
              </a:rPr>
              <a:t>Save this file with your notes and email it back to Gail, or bring it to our next call. We’ll turn your answers into the final plan and your VA’s job description.</a:t>
            </a:r>
            <a:endParaRPr lang="en-US" sz="1600" dirty="0"/>
          </a:p>
        </p:txBody>
      </p:sp>
      <p:sp>
        <p:nvSpPr>
          <p:cNvPr id="6" name="Text 4"/>
          <p:cNvSpPr txBox="1"/>
          <p:nvPr/>
        </p:nvSpPr>
        <p:spPr>
          <a:xfrm>
            <a:off x="731520" y="4343400"/>
            <a:ext cx="2194560" cy="457200"/>
          </a:xfrm>
          <a:prstGeom prst="roundRect">
            <a:avLst>
              <a:gd name="adj" fmla="val 50000"/>
            </a:avLst>
          </a:prstGeom>
          <a:solidFill>
            <a:srgbClr val="187A5E"/>
          </a:solidFill>
          <a:ln/>
        </p:spPr>
        <p:txBody>
          <a:bodyPr wrap="square" lIns="0" tIns="0" rIns="0" bIns="0" rtlCol="0" anchor="ctr"/>
          <a:lstStyle/>
          <a:p>
            <a:pPr algn="ctr" indent="0" marL="0">
              <a:buNone/>
            </a:pPr>
            <a:r>
              <a:rPr lang="en-US" sz="1400" b="1" u="sng" dirty="0">
                <a:solidFill>
                  <a:srgbClr val="FFFFFF"/>
                </a:solidFill>
                <a:latin typeface="Calibri" pitchFamily="34" charset="0"/>
                <a:ea typeface="Calibri" pitchFamily="34" charset="-122"/>
                <a:cs typeface="Calibri" pitchFamily="34" charset="-120"/>
                <a:hlinkClick r:id="rId1" action="ppaction://hlinksldjump" tooltip="Menu">
                  <a:extLst>
                    <a:ext uri="{A12FA001-AC4F-418D-AE19-62706E023703}">
                      <ahyp:hlinkClr xmlns:ahyp="http://schemas.microsoft.com/office/drawing/2018/hyperlinkcolor" val="tx"/>
                    </a:ext>
                  </a:extLst>
                </a:hlinkClick>
              </a:rPr>
              <a:t>Back to the menu</a:t>
            </a:r>
            <a:endParaRPr lang="en-US" sz="1400" dirty="0"/>
          </a:p>
        </p:txBody>
      </p:sp>
      <p:sp>
        <p:nvSpPr>
          <p:cNvPr id="7" name="Text 5"/>
          <p:cNvSpPr txBox="1"/>
          <p:nvPr/>
        </p:nvSpPr>
        <p:spPr>
          <a:xfrm>
            <a:off x="3108960" y="4343400"/>
            <a:ext cx="2194560" cy="457200"/>
          </a:xfrm>
          <a:prstGeom prst="roundRect">
            <a:avLst>
              <a:gd name="adj" fmla="val 50000"/>
            </a:avLst>
          </a:prstGeom>
          <a:solidFill>
            <a:srgbClr val="243041"/>
          </a:solidFill>
          <a:ln/>
        </p:spPr>
        <p:txBody>
          <a:bodyPr wrap="square" lIns="0" tIns="0" rIns="0" bIns="0" rtlCol="0" anchor="ctr"/>
          <a:lstStyle/>
          <a:p>
            <a:pPr algn="ctr" indent="0" marL="0">
              <a:buNone/>
            </a:pPr>
            <a:r>
              <a:rPr lang="en-US" sz="1400" u="sng" dirty="0">
                <a:solidFill>
                  <a:srgbClr val="F4F6F3"/>
                </a:solidFill>
                <a:latin typeface="Calibri" pitchFamily="34" charset="0"/>
                <a:ea typeface="Calibri" pitchFamily="34" charset="-122"/>
                <a:cs typeface="Calibri" pitchFamily="34" charset="-120"/>
                <a:hlinkClick r:id="rId2" action="ppaction://hlinksldjump" tooltip="Feedback">
                  <a:extLst>
                    <a:ext uri="{A12FA001-AC4F-418D-AE19-62706E023703}">
                      <ahyp:hlinkClr xmlns:ahyp="http://schemas.microsoft.com/office/drawing/2018/hyperlinkcolor" val="tx"/>
                    </a:ext>
                  </a:extLst>
                </a:hlinkClick>
              </a:rPr>
              <a:t>Give feedback</a:t>
            </a:r>
            <a:endParaRPr lang="en-US" sz="1400" dirty="0"/>
          </a:p>
        </p:txBody>
      </p:sp>
    </p:spTree>
  </p:cSld>
  <p:clrMapOvr>
    <a:masterClrMapping/>
  </p:clrMapOvr>
</p:sld>
</file>

<file path=ppt/theme/theme1.xml><?xml version="1.0" encoding="utf-8"?>
<a:theme xmlns:a="http://schemas.openxmlformats.org/drawingml/2006/main" name="Outsourcing Angel Interactive">
  <a:themeElements>
    <a:clrScheme name="Outsourcing Angel Interactive">
      <a:dk1>
        <a:srgbClr val="1B2430"/>
      </a:dk1>
      <a:lt1>
        <a:srgbClr val="FAFBF9"/>
      </a:lt1>
      <a:dk2>
        <a:srgbClr val="4A5563"/>
      </a:dk2>
      <a:lt2>
        <a:srgbClr val="E4F2EC"/>
      </a:lt2>
      <a:accent1>
        <a:srgbClr val="187A5E"/>
      </a:accent1>
      <a:accent2>
        <a:srgbClr val="B26B0E"/>
      </a:accent2>
      <a:accent3>
        <a:srgbClr val="11604A"/>
      </a:accent3>
      <a:accent4>
        <a:srgbClr val="3CC29A"/>
      </a:accent4>
      <a:accent5>
        <a:srgbClr val="6B7480"/>
      </a:accent5>
      <a:accent6>
        <a:srgbClr val="DDE4E0"/>
      </a:accent6>
      <a:hlink>
        <a:srgbClr val="187A5E"/>
      </a:hlink>
      <a:folHlink>
        <a:srgbClr val="11604A"/>
      </a:folHlink>
    </a:clrScheme>
    <a:fontScheme name="Outsourcing Angel Interactiv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Outsourcing Angel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Hank Chu – Interactive Freedom Plan</dc:title>
  <dc:subject>PptxGenJS Presentation</dc:subject>
  <dc:creator>Gail Galima-Mendoza, Outsourcing Angel</dc:creator>
  <cp:lastModifiedBy>Gail Galima-Mendoza, Outsourcing Angel</cp:lastModifiedBy>
  <cp:revision>1</cp:revision>
  <dcterms:created xsi:type="dcterms:W3CDTF">2026-10-20T03:28:49Z</dcterms:created>
  <dcterms:modified xsi:type="dcterms:W3CDTF">2026-10-20T03:28:49Z</dcterms:modified>
</cp:coreProperties>
</file>