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ver" id="{417e0172-c641-9f94-7c44-aaac5bea8d6c}">
          <p14:sldIdLst>
            <p14:sldId id="256"/>
          </p14:sldIdLst>
        </p14:section>
        <p14:section name="Getting oriented" id="{fb90ef12-b11e-0163-bfcc-ebd09ec4c9f1}">
          <p14:sldIdLst>
            <p14:sldId id="257"/>
          </p14:sldIdLst>
        </p14:section>
        <p14:section name="Part A: Our Recommendation" id="{44ac627f-39ca-05da-1752-eb783245ef15}">
          <p14:sldIdLst>
            <p14:sldId id="258"/>
            <p14:sldId id="259"/>
            <p14:sldId id="260"/>
            <p14:sldId id="261"/>
            <p14:sldId id="262"/>
            <p14:sldId id="263"/>
            <p14:sldId id="264"/>
            <p14:sldId id="265"/>
            <p14:sldId id="266"/>
          </p14:sldIdLst>
        </p14:section>
        <p14:section name="Part B: Your Freedom Playbook" id="{ed8888ad-7452-6a93-a7f1-06a5ab604da6}">
          <p14:sldIdLst>
            <p14:sldId id="267"/>
            <p14:sldId id="268"/>
            <p14:sldId id="269"/>
            <p14:sldId id="270"/>
            <p14:sldId id="271"/>
            <p14:sldId id="272"/>
            <p14:sldId id="273"/>
            <p14:sldId id="274"/>
            <p14:sldId id="275"/>
            <p14:sldId id="276"/>
            <p14:sldId id="277"/>
            <p14:sldId id="278"/>
            <p14:sldId id="279"/>
            <p14:sldId id="280"/>
            <p14:sldId id="281"/>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1 of Hank Chu’s Freedom Plan for the Customer Service &amp; Sales Support VA role at Hanks Tea, built from the 16 September 2026 Freedom Audit, the 6 October 2026 Alignment Session and the agreed job description.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short ‘user manual’ for working with Hank. The first column is pre-filled from the Freedom Audit and Alignment Session; the rest is completed together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P Cover">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P Divider">
    <p:bg>
      <p:bgPr>
        <a:solidFill>
          <a:schemeClr val="tx2"/>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rgbClr val="AEB9BD"/>
                </a:solidFill>
              </a:rPr>
              <a:t>OUTSOURCING ANGEL  ·  THE FREEDOM PLAN™</a:t>
            </a:r>
            <a:endParaRPr lang="en-US" sz="800" dirty="0"/>
          </a:p>
        </p:txBody>
      </p:sp>
      <p:sp>
        <p:nvSpPr>
          <p:cNvPr id="3" name="Text 1"/>
          <p:cNvSpPr/>
          <p:nvPr>
            <p:ph idx="101" type="body" hasCustomPrompt="1"/>
          </p:nvPr>
        </p:nvSpPr>
        <p:spPr>
          <a:xfrm>
            <a:off x="630936" y="2148840"/>
            <a:ext cx="8229600" cy="320040"/>
          </a:xfrm>
          <a:prstGeom prst="rect">
            <a:avLst/>
          </a:prstGeom>
          <a:noFill/>
          <a:ln/>
        </p:spPr>
        <p:txBody>
          <a:bodyPr wrap="square" rtlCol="0"/>
          <a:lstStyle>
            <a:lvl1pPr indent="0" marL="0">
              <a:buNone/>
              <a:defRPr lang="en-US" sz="1200" b="1" spc="300" kern="0" dirty="0">
                <a:solidFill>
                  <a:srgbClr val="7FE0C2"/>
                </a:solidFill>
              </a:defRPr>
            </a:lvl1pPr>
          </a:lstStyle>
          <a:p>
            <a:pPr indent="0" marL="0">
              <a:buNone/>
            </a:pPr>
            <a:endParaRPr lang="en-US" sz="1200" dirty="0"/>
          </a:p>
        </p:txBody>
      </p:sp>
      <p:sp>
        <p:nvSpPr>
          <p:cNvPr id="4" name="Text 1"/>
          <p:cNvSpPr/>
          <p:nvPr>
            <p:ph idx="102" type="title" hasCustomPrompt="1"/>
          </p:nvPr>
        </p:nvSpPr>
        <p:spPr>
          <a:xfrm>
            <a:off x="630936" y="2560320"/>
            <a:ext cx="9144000" cy="91440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5" name="Text 1"/>
          <p:cNvSpPr/>
          <p:nvPr>
            <p:ph idx="103" type="body" hasCustomPrompt="1"/>
          </p:nvPr>
        </p:nvSpPr>
        <p:spPr>
          <a:xfrm>
            <a:off x="630936" y="3611880"/>
            <a:ext cx="7863840" cy="1005840"/>
          </a:xfrm>
          <a:prstGeom prst="rect">
            <a:avLst/>
          </a:prstGeom>
          <a:noFill/>
          <a:ln/>
        </p:spPr>
        <p:txBody>
          <a:bodyPr wrap="square" rtlCol="0"/>
          <a:lstStyle>
            <a:lvl1pPr indent="0" marL="0">
              <a:buNone/>
              <a:defRPr lang="en-US" sz="1500" dirty="0">
                <a:solidFill>
                  <a:srgbClr val="DBE3E6"/>
                </a:solidFill>
              </a:defRPr>
            </a:lvl1pPr>
          </a:lstStyle>
          <a:p>
            <a:pPr indent="0" marL="0">
              <a:buNone/>
            </a:pP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P Content">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630936" y="6446520"/>
            <a:ext cx="5486400" cy="228600"/>
          </a:xfrm>
          <a:prstGeom prst="rect">
            <a:avLst/>
          </a:prstGeom>
          <a:noFill/>
          <a:ln/>
        </p:spPr>
        <p:txBody>
          <a:bodyPr wrap="square" lIns="0" tIns="0" rIns="0" bIns="0" rtlCol="0" anchor="ctr"/>
          <a:lstStyle/>
          <a:p>
            <a:pPr indent="0" marL="0">
              <a:buNone/>
            </a:pPr>
            <a:r>
              <a:rPr lang="en-US" sz="800" spc="200" kern="0" dirty="0">
                <a:solidFill>
                  <a:schemeClr val="accent3"/>
                </a:solidFill>
              </a:rPr>
              <a:t>OUTSOURCING ANGEL  ·  THE FREEDOM PLAN™</a:t>
            </a:r>
            <a:endParaRPr lang="en-US" sz="800" dirty="0"/>
          </a:p>
        </p:txBody>
      </p:sp>
      <p:sp>
        <p:nvSpPr>
          <p:cNvPr id="3" name="Text 1"/>
          <p:cNvSpPr/>
          <p:nvPr>
            <p:ph idx="101" type="body" hasCustomPrompt="1"/>
          </p:nvPr>
        </p:nvSpPr>
        <p:spPr>
          <a:xfrm>
            <a:off x="630936" y="411480"/>
            <a:ext cx="100584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4" name="Text 1"/>
          <p:cNvSpPr/>
          <p:nvPr>
            <p:ph idx="102" type="title" hasCustomPrompt="1"/>
          </p:nvPr>
        </p:nvSpPr>
        <p:spPr>
          <a:xfrm>
            <a:off x="630936" y="731520"/>
            <a:ext cx="10515600" cy="594360"/>
          </a:xfrm>
          <a:prstGeom prst="rect">
            <a:avLst/>
          </a:prstGeom>
          <a:noFill/>
          <a:ln/>
        </p:spPr>
        <p:txBody>
          <a:bodyPr wrap="square" rtlCol="0"/>
          <a:lstStyle>
            <a:lvl1pPr algn="l" indent="0" marL="0">
              <a:buNone/>
              <a:defRPr lang="en-US" sz="30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4.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over circle top"/>
          <p:cNvSpPr/>
          <p:nvPr/>
        </p:nvSpPr>
        <p:spPr>
          <a:xfrm>
            <a:off x="9966960" y="-1463040"/>
            <a:ext cx="4023360" cy="4023360"/>
          </a:xfrm>
          <a:prstGeom prst="ellipse">
            <a:avLst/>
          </a:prstGeom>
          <a:solidFill>
            <a:srgbClr val="263240"/>
          </a:solidFill>
          <a:ln/>
        </p:spPr>
      </p:sp>
      <p:sp>
        <p:nvSpPr>
          <p:cNvPr id="3" name="cover circle"/>
          <p:cNvSpPr/>
          <p:nvPr/>
        </p:nvSpPr>
        <p:spPr>
          <a:xfrm>
            <a:off x="-1280160" y="4937760"/>
            <a:ext cx="3291840" cy="3291840"/>
          </a:xfrm>
          <a:prstGeom prst="ellipse">
            <a:avLst/>
          </a:prstGeom>
          <a:solidFill>
            <a:srgbClr val="263240"/>
          </a:solidFill>
          <a:ln/>
        </p:spPr>
      </p:sp>
      <p:sp>
        <p:nvSpPr>
          <p:cNvPr id="4" name="logo plate"/>
          <p:cNvSpPr/>
          <p:nvPr/>
        </p:nvSpPr>
        <p:spPr>
          <a:xfrm>
            <a:off x="630936" y="566928"/>
            <a:ext cx="2468880" cy="502920"/>
          </a:xfrm>
          <a:prstGeom prst="roundRect">
            <a:avLst>
              <a:gd name="adj" fmla="val 14545"/>
            </a:avLst>
          </a:prstGeom>
          <a:solidFill>
            <a:schemeClr val="bg1"/>
          </a:solidFill>
          <a:ln/>
        </p:spPr>
      </p:sp>
      <p:sp>
        <p:nvSpPr>
          <p:cNvPr id="5" name="Text 3"/>
          <p:cNvSpPr txBox="1"/>
          <p:nvPr/>
        </p:nvSpPr>
        <p:spPr>
          <a:xfrm>
            <a:off x="630936" y="566928"/>
            <a:ext cx="2468880" cy="502920"/>
          </a:xfrm>
          <a:prstGeom prst="rect">
            <a:avLst/>
          </a:prstGeom>
          <a:noFill/>
          <a:ln/>
        </p:spPr>
        <p:txBody>
          <a:bodyPr wrap="square" lIns="0" tIns="0" rIns="0" bIns="0" rtlCol="0" anchor="ctr"/>
          <a:lstStyle/>
          <a:p>
            <a:pPr algn="ctr" indent="0" marL="0">
              <a:buNone/>
            </a:pPr>
            <a:r>
              <a:rPr lang="en-US" sz="1300" b="1" dirty="0">
                <a:solidFill>
                  <a:schemeClr val="accent1"/>
                </a:solidFill>
              </a:rPr>
              <a:t>OUTSOURCING</a:t>
            </a:r>
            <a:pPr algn="ctr" indent="0" marL="0">
              <a:buNone/>
            </a:pPr>
            <a:r>
              <a:rPr lang="en-US" sz="1300" b="1" dirty="0">
                <a:solidFill>
                  <a:schemeClr val="tx1"/>
                </a:solidFill>
              </a:rPr>
              <a:t>ANGEL</a:t>
            </a:r>
            <a:endParaRPr lang="en-US" sz="1300" dirty="0"/>
          </a:p>
        </p:txBody>
      </p:sp>
      <p:sp>
        <p:nvSpPr>
          <p:cNvPr id="6" name="Text 4"/>
          <p:cNvSpPr txBox="1"/>
          <p:nvPr/>
        </p:nvSpPr>
        <p:spPr>
          <a:xfrm>
            <a:off x="630936" y="1417320"/>
            <a:ext cx="7315200" cy="274320"/>
          </a:xfrm>
          <a:prstGeom prst="rect">
            <a:avLst/>
          </a:prstGeom>
          <a:noFill/>
          <a:ln/>
        </p:spPr>
        <p:txBody>
          <a:bodyPr wrap="square" lIns="0" tIns="0" rIns="0" bIns="0" rtlCol="0" anchor="ctr"/>
          <a:lstStyle/>
          <a:p>
            <a:pPr indent="0" marL="0">
              <a:buNone/>
            </a:pPr>
            <a:r>
              <a:rPr lang="en-US" sz="1200" b="1" spc="300" kern="0" dirty="0">
                <a:solidFill>
                  <a:srgbClr val="7FE0C2"/>
                </a:solidFill>
              </a:rPr>
              <a:t>A LIVING DOCUMENT  ·  VERSION 1</a:t>
            </a:r>
            <a:endParaRPr lang="en-US" sz="1200" dirty="0"/>
          </a:p>
        </p:txBody>
      </p:sp>
      <p:sp>
        <p:nvSpPr>
          <p:cNvPr id="7" name="Text 5"/>
          <p:cNvSpPr txBox="1"/>
          <p:nvPr/>
        </p:nvSpPr>
        <p:spPr>
          <a:xfrm>
            <a:off x="630936" y="1783080"/>
            <a:ext cx="7315200" cy="1417320"/>
          </a:xfrm>
          <a:prstGeom prst="rect">
            <a:avLst/>
          </a:prstGeom>
          <a:noFill/>
          <a:ln/>
        </p:spPr>
        <p:txBody>
          <a:bodyPr wrap="square" lIns="0" tIns="0" rIns="0" bIns="0" rtlCol="0" anchor="t"/>
          <a:lstStyle/>
          <a:p>
            <a:pPr indent="0" marL="0">
              <a:buNone/>
            </a:pPr>
            <a:r>
              <a:rPr lang="en-US" sz="4800" b="1" dirty="0">
                <a:solidFill>
                  <a:schemeClr val="bg1"/>
                </a:solidFill>
                <a:latin typeface="Cambria" pitchFamily="34" charset="0"/>
                <a:ea typeface="Cambria" pitchFamily="34" charset="-122"/>
                <a:cs typeface="Cambria" pitchFamily="34" charset="-120"/>
              </a:rPr>
              <a:t>THE FREEDOM</a:t>
            </a:r>
            <a:endParaRPr lang="en-US" sz="4800" dirty="0"/>
          </a:p>
          <a:p>
            <a:pPr indent="0" marL="0">
              <a:buNone/>
            </a:pPr>
            <a:r>
              <a:rPr lang="en-US" sz="4800" b="1" dirty="0">
                <a:solidFill>
                  <a:schemeClr val="accent2"/>
                </a:solidFill>
                <a:latin typeface="Cambria" pitchFamily="34" charset="0"/>
                <a:ea typeface="Cambria" pitchFamily="34" charset="-122"/>
                <a:cs typeface="Cambria" pitchFamily="34" charset="-120"/>
              </a:rPr>
              <a:t>PLAN™</a:t>
            </a:r>
            <a:endParaRPr lang="en-US" sz="4800" dirty="0"/>
          </a:p>
        </p:txBody>
      </p:sp>
      <p:sp>
        <p:nvSpPr>
          <p:cNvPr id="8" name="Text 6"/>
          <p:cNvSpPr txBox="1"/>
          <p:nvPr/>
        </p:nvSpPr>
        <p:spPr>
          <a:xfrm>
            <a:off x="630936" y="3383280"/>
            <a:ext cx="8229600" cy="365760"/>
          </a:xfrm>
          <a:prstGeom prst="rect">
            <a:avLst/>
          </a:prstGeom>
          <a:noFill/>
          <a:ln/>
        </p:spPr>
        <p:txBody>
          <a:bodyPr wrap="square" lIns="0" tIns="0" rIns="0" bIns="0" rtlCol="0" anchor="ctr"/>
          <a:lstStyle/>
          <a:p>
            <a:pPr indent="0" marL="0">
              <a:buNone/>
            </a:pPr>
            <a:r>
              <a:rPr lang="en-US" sz="1700" dirty="0">
                <a:solidFill>
                  <a:schemeClr val="bg1"/>
                </a:solidFill>
              </a:rPr>
              <a:t>Prepared for </a:t>
            </a:r>
            <a:pPr indent="0" marL="0">
              <a:buNone/>
            </a:pPr>
            <a:r>
              <a:rPr lang="en-US" sz="1700" b="1" dirty="0">
                <a:solidFill>
                  <a:schemeClr val="bg1"/>
                </a:solidFill>
              </a:rPr>
              <a:t>Hank Chu</a:t>
            </a:r>
            <a:pPr indent="0" marL="0">
              <a:buNone/>
            </a:pPr>
            <a:r>
              <a:rPr lang="en-US" sz="1700" dirty="0">
                <a:solidFill>
                  <a:schemeClr val="bg1"/>
                </a:solidFill>
              </a:rPr>
              <a:t>  |  </a:t>
            </a:r>
            <a:pPr indent="0" marL="0">
              <a:buNone/>
            </a:pPr>
            <a:r>
              <a:rPr lang="en-US" sz="1700" b="1" dirty="0">
                <a:solidFill>
                  <a:schemeClr val="bg1"/>
                </a:solidFill>
              </a:rPr>
              <a:t>Hanks Tea</a:t>
            </a:r>
            <a:endParaRPr lang="en-US" sz="1700" dirty="0"/>
          </a:p>
        </p:txBody>
      </p:sp>
      <p:sp>
        <p:nvSpPr>
          <p:cNvPr id="9" name="Text 7"/>
          <p:cNvSpPr txBox="1"/>
          <p:nvPr/>
        </p:nvSpPr>
        <p:spPr>
          <a:xfrm>
            <a:off x="630936" y="3931920"/>
            <a:ext cx="7589520" cy="914400"/>
          </a:xfrm>
          <a:prstGeom prst="rect">
            <a:avLst/>
          </a:prstGeom>
          <a:noFill/>
          <a:ln/>
        </p:spPr>
        <p:txBody>
          <a:bodyPr wrap="square" lIns="0" tIns="0" rIns="0" bIns="0" rtlCol="0" anchor="t"/>
          <a:lstStyle/>
          <a:p>
            <a:pPr indent="0" marL="0">
              <a:buNone/>
            </a:pPr>
            <a:r>
              <a:rPr lang="en-US" sz="1300" dirty="0">
                <a:solidFill>
                  <a:srgbClr val="AEB9BD"/>
                </a:solidFill>
              </a:rPr>
              <a:t>Your plan for building a trusted Customer Service &amp; Sales Support VA through Outsourcing Angel’s 5D Freedom Staffing System™. Part A is our recommendation. Part B is your Freedom Playbook: the part you, your VA and our team keep using for the whole relationship.</a:t>
            </a:r>
            <a:endParaRPr lang="en-US" sz="1300" dirty="0"/>
          </a:p>
        </p:txBody>
      </p:sp>
      <p:sp>
        <p:nvSpPr>
          <p:cNvPr id="10" name="Text 8"/>
          <p:cNvSpPr txBox="1"/>
          <p:nvPr/>
        </p:nvSpPr>
        <p:spPr>
          <a:xfrm>
            <a:off x="630936" y="6263640"/>
            <a:ext cx="8229600" cy="274320"/>
          </a:xfrm>
          <a:prstGeom prst="rect">
            <a:avLst/>
          </a:prstGeom>
          <a:noFill/>
          <a:ln/>
        </p:spPr>
        <p:txBody>
          <a:bodyPr wrap="square" lIns="0" tIns="0" rIns="0" bIns="0" rtlCol="0" anchor="ctr"/>
          <a:lstStyle/>
          <a:p>
            <a:pPr indent="0" marL="0">
              <a:buNone/>
            </a:pPr>
            <a:r>
              <a:rPr lang="en-US" sz="1000" dirty="0">
                <a:solidFill>
                  <a:srgbClr val="AEB9BD"/>
                </a:solidFill>
              </a:rPr>
              <a:t>Version 1  ·  October 2026  ·  Prepared by Gail Galima-Mendoza, Outsourcing Angel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GETTING ORIENTED</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use your Freedom Plan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Built from your Freedom Audit: your time, your bottlenecks and your goals. It has two parts, and one of them grows with you.</a:t>
            </a:r>
            <a:endParaRPr lang="en-US" sz="1300" dirty="0"/>
          </a:p>
        </p:txBody>
      </p:sp>
      <p:sp>
        <p:nvSpPr>
          <p:cNvPr id="5" name="card"/>
          <p:cNvSpPr/>
          <p:nvPr/>
        </p:nvSpPr>
        <p:spPr>
          <a:xfrm>
            <a:off x="630936" y="1965960"/>
            <a:ext cx="5327752" cy="1965960"/>
          </a:xfrm>
          <a:prstGeom prst="roundRect">
            <a:avLst>
              <a:gd name="adj" fmla="val 3721"/>
            </a:avLst>
          </a:prstGeom>
          <a:solidFill>
            <a:schemeClr val="bg1"/>
          </a:solidFill>
          <a:ln w="12700">
            <a:solidFill>
              <a:schemeClr val="accent5"/>
            </a:solidFill>
            <a:prstDash val="solid"/>
          </a:ln>
        </p:spPr>
      </p:sp>
      <p:sp>
        <p:nvSpPr>
          <p:cNvPr id="6" name="Text 4"/>
          <p:cNvSpPr txBox="1"/>
          <p:nvPr/>
        </p:nvSpPr>
        <p:spPr>
          <a:xfrm>
            <a:off x="950976"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A</a:t>
            </a:r>
            <a:endParaRPr lang="en-US" sz="1050" dirty="0"/>
          </a:p>
        </p:txBody>
      </p:sp>
      <p:sp>
        <p:nvSpPr>
          <p:cNvPr id="7" name="Text 5"/>
          <p:cNvSpPr txBox="1"/>
          <p:nvPr/>
        </p:nvSpPr>
        <p:spPr>
          <a:xfrm>
            <a:off x="950976"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Our Recommendation</a:t>
            </a:r>
            <a:endParaRPr lang="en-US" sz="2000" dirty="0"/>
          </a:p>
        </p:txBody>
      </p:sp>
      <p:sp>
        <p:nvSpPr>
          <p:cNvPr id="8" name="Text 6"/>
          <p:cNvSpPr txBox="1"/>
          <p:nvPr/>
        </p:nvSpPr>
        <p:spPr>
          <a:xfrm>
            <a:off x="950976"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What we heard, the role we recommend, and the investment. Read it once, use it to decide.</a:t>
            </a:r>
            <a:endParaRPr lang="en-US" sz="1250" dirty="0"/>
          </a:p>
        </p:txBody>
      </p:sp>
      <p:sp>
        <p:nvSpPr>
          <p:cNvPr id="9" name="Text 7"/>
          <p:cNvSpPr txBox="1"/>
          <p:nvPr/>
        </p:nvSpPr>
        <p:spPr>
          <a:xfrm>
            <a:off x="950976"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once, before you hire</a:t>
            </a:r>
            <a:endParaRPr lang="en-US" sz="1150" dirty="0"/>
          </a:p>
        </p:txBody>
      </p:sp>
      <p:sp>
        <p:nvSpPr>
          <p:cNvPr id="10" name="card"/>
          <p:cNvSpPr/>
          <p:nvPr/>
        </p:nvSpPr>
        <p:spPr>
          <a:xfrm>
            <a:off x="6233008" y="1965960"/>
            <a:ext cx="5327752" cy="1965960"/>
          </a:xfrm>
          <a:prstGeom prst="roundRect">
            <a:avLst>
              <a:gd name="adj" fmla="val 3721"/>
            </a:avLst>
          </a:prstGeom>
          <a:solidFill>
            <a:schemeClr val="accent4"/>
          </a:solidFill>
          <a:ln/>
        </p:spPr>
      </p:sp>
      <p:sp>
        <p:nvSpPr>
          <p:cNvPr id="11" name="Text 9"/>
          <p:cNvSpPr txBox="1"/>
          <p:nvPr/>
        </p:nvSpPr>
        <p:spPr>
          <a:xfrm>
            <a:off x="6553048" y="219456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PART B</a:t>
            </a:r>
            <a:endParaRPr lang="en-US" sz="1050" dirty="0"/>
          </a:p>
        </p:txBody>
      </p:sp>
      <p:sp>
        <p:nvSpPr>
          <p:cNvPr id="12" name="Text 10"/>
          <p:cNvSpPr txBox="1"/>
          <p:nvPr/>
        </p:nvSpPr>
        <p:spPr>
          <a:xfrm>
            <a:off x="6553048" y="2468880"/>
            <a:ext cx="4687672" cy="45720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Your Freedom Playbook</a:t>
            </a:r>
            <a:endParaRPr lang="en-US" sz="2000" dirty="0"/>
          </a:p>
        </p:txBody>
      </p:sp>
      <p:sp>
        <p:nvSpPr>
          <p:cNvPr id="13" name="Text 11"/>
          <p:cNvSpPr txBox="1"/>
          <p:nvPr/>
        </p:nvSpPr>
        <p:spPr>
          <a:xfrm>
            <a:off x="6553048" y="2971800"/>
            <a:ext cx="4687672" cy="548640"/>
          </a:xfrm>
          <a:prstGeom prst="rect">
            <a:avLst/>
          </a:prstGeom>
          <a:noFill/>
          <a:ln/>
        </p:spPr>
        <p:txBody>
          <a:bodyPr wrap="square" lIns="0" tIns="0" rIns="0" bIns="0" rtlCol="0" anchor="t"/>
          <a:lstStyle/>
          <a:p>
            <a:pPr indent="0" marL="0">
              <a:buNone/>
            </a:pPr>
            <a:r>
              <a:rPr lang="en-US" sz="1250" dirty="0">
                <a:solidFill>
                  <a:schemeClr val="accent3"/>
                </a:solidFill>
              </a:rPr>
              <a:t>A first-time starter pack, your 12-month journey, scorecard, KPIs, delegation list, SOP library and wins.</a:t>
            </a:r>
            <a:endParaRPr lang="en-US" sz="1250" dirty="0"/>
          </a:p>
        </p:txBody>
      </p:sp>
      <p:sp>
        <p:nvSpPr>
          <p:cNvPr id="14" name="Text 12"/>
          <p:cNvSpPr txBox="1"/>
          <p:nvPr/>
        </p:nvSpPr>
        <p:spPr>
          <a:xfrm>
            <a:off x="6553048" y="3520440"/>
            <a:ext cx="4687672" cy="274320"/>
          </a:xfrm>
          <a:prstGeom prst="rect">
            <a:avLst/>
          </a:prstGeom>
          <a:noFill/>
          <a:ln/>
        </p:spPr>
        <p:txBody>
          <a:bodyPr wrap="square" lIns="0" tIns="0" rIns="0" bIns="0" rtlCol="0" anchor="ctr"/>
          <a:lstStyle/>
          <a:p>
            <a:pPr indent="0" marL="0">
              <a:buNone/>
            </a:pPr>
            <a:r>
              <a:rPr lang="en-US" sz="1150" b="1" dirty="0">
                <a:solidFill>
                  <a:schemeClr val="accent1"/>
                </a:solidFill>
              </a:rPr>
              <a:t>Used for the whole relationship</a:t>
            </a:r>
            <a:endParaRPr lang="en-US" sz="1150" dirty="0"/>
          </a:p>
        </p:txBody>
      </p:sp>
      <p:sp>
        <p:nvSpPr>
          <p:cNvPr id="15" name="Text 13"/>
          <p:cNvSpPr txBox="1"/>
          <p:nvPr/>
        </p:nvSpPr>
        <p:spPr>
          <a:xfrm>
            <a:off x="630936" y="420624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WHO KEEPS IT ALIVE</a:t>
            </a:r>
            <a:endParaRPr lang="en-US" sz="1050" dirty="0"/>
          </a:p>
        </p:txBody>
      </p:sp>
      <p:sp>
        <p:nvSpPr>
          <p:cNvPr id="16" name="who 1 circle"/>
          <p:cNvSpPr/>
          <p:nvPr/>
        </p:nvSpPr>
        <p:spPr>
          <a:xfrm>
            <a:off x="630936" y="4572000"/>
            <a:ext cx="457200" cy="457200"/>
          </a:xfrm>
          <a:prstGeom prst="ellipse">
            <a:avLst/>
          </a:prstGeom>
          <a:solidFill>
            <a:schemeClr val="accent1"/>
          </a:solidFill>
          <a:ln/>
        </p:spPr>
      </p:sp>
      <p:pic>
        <p:nvPicPr>
          <p:cNvPr id="17" name="who 1" descr="who 1">    </p:cNvPr>
          <p:cNvPicPr>
            <a:picLocks noChangeAspect="1"/>
          </p:cNvPicPr>
          <p:nvPr/>
        </p:nvPicPr>
        <p:blipFill>
          <a:blip r:embed="rId1"/>
          <a:stretch>
            <a:fillRect/>
          </a:stretch>
        </p:blipFill>
        <p:spPr>
          <a:xfrm>
            <a:off x="745236" y="4686300"/>
            <a:ext cx="228600" cy="228600"/>
          </a:xfrm>
          <a:prstGeom prst="rect">
            <a:avLst/>
          </a:prstGeom>
        </p:spPr>
      </p:pic>
      <p:sp>
        <p:nvSpPr>
          <p:cNvPr id="18" name="Text 15"/>
          <p:cNvSpPr txBox="1"/>
          <p:nvPr/>
        </p:nvSpPr>
        <p:spPr>
          <a:xfrm>
            <a:off x="1225296"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Hank</a:t>
            </a:r>
            <a:endParaRPr lang="en-US" sz="1300" dirty="0"/>
          </a:p>
        </p:txBody>
      </p:sp>
      <p:sp>
        <p:nvSpPr>
          <p:cNvPr id="19" name="Text 16"/>
          <p:cNvSpPr txBox="1"/>
          <p:nvPr/>
        </p:nvSpPr>
        <p:spPr>
          <a:xfrm>
            <a:off x="1225296"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Brings it to every check-in and adds to the “Next to delegate” list</a:t>
            </a:r>
            <a:endParaRPr lang="en-US" sz="1150" dirty="0"/>
          </a:p>
        </p:txBody>
      </p:sp>
      <p:sp>
        <p:nvSpPr>
          <p:cNvPr id="20" name="who 2 circle"/>
          <p:cNvSpPr/>
          <p:nvPr/>
        </p:nvSpPr>
        <p:spPr>
          <a:xfrm>
            <a:off x="4319930" y="4572000"/>
            <a:ext cx="457200" cy="457200"/>
          </a:xfrm>
          <a:prstGeom prst="ellipse">
            <a:avLst/>
          </a:prstGeom>
          <a:solidFill>
            <a:schemeClr val="accent1"/>
          </a:solidFill>
          <a:ln/>
        </p:spPr>
      </p:sp>
      <p:pic>
        <p:nvPicPr>
          <p:cNvPr id="21" name="who 2" descr="who 2">    </p:cNvPr>
          <p:cNvPicPr>
            <a:picLocks noChangeAspect="1"/>
          </p:cNvPicPr>
          <p:nvPr/>
        </p:nvPicPr>
        <p:blipFill>
          <a:blip r:embed="rId2"/>
          <a:stretch>
            <a:fillRect/>
          </a:stretch>
        </p:blipFill>
        <p:spPr>
          <a:xfrm>
            <a:off x="4434230" y="4686300"/>
            <a:ext cx="228600" cy="228600"/>
          </a:xfrm>
          <a:prstGeom prst="rect">
            <a:avLst/>
          </a:prstGeom>
        </p:spPr>
      </p:pic>
      <p:sp>
        <p:nvSpPr>
          <p:cNvPr id="22" name="Text 18"/>
          <p:cNvSpPr txBox="1"/>
          <p:nvPr/>
        </p:nvSpPr>
        <p:spPr>
          <a:xfrm>
            <a:off x="4914290"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Your VA</a:t>
            </a:r>
            <a:endParaRPr lang="en-US" sz="1300" dirty="0"/>
          </a:p>
        </p:txBody>
      </p:sp>
      <p:sp>
        <p:nvSpPr>
          <p:cNvPr id="23" name="Text 19"/>
          <p:cNvSpPr txBox="1"/>
          <p:nvPr/>
        </p:nvSpPr>
        <p:spPr>
          <a:xfrm>
            <a:off x="4914290"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Updates the SOP library and wins log, and self-assesses at each review</a:t>
            </a:r>
            <a:endParaRPr lang="en-US" sz="1150" dirty="0"/>
          </a:p>
        </p:txBody>
      </p:sp>
      <p:sp>
        <p:nvSpPr>
          <p:cNvPr id="24" name="who 3 circle"/>
          <p:cNvSpPr/>
          <p:nvPr/>
        </p:nvSpPr>
        <p:spPr>
          <a:xfrm>
            <a:off x="8008925" y="4572000"/>
            <a:ext cx="457200" cy="457200"/>
          </a:xfrm>
          <a:prstGeom prst="ellipse">
            <a:avLst/>
          </a:prstGeom>
          <a:solidFill>
            <a:schemeClr val="accent1"/>
          </a:solidFill>
          <a:ln/>
        </p:spPr>
      </p:sp>
      <p:pic>
        <p:nvPicPr>
          <p:cNvPr id="25" name="who 3" descr="who 3">    </p:cNvPr>
          <p:cNvPicPr>
            <a:picLocks noChangeAspect="1"/>
          </p:cNvPicPr>
          <p:nvPr/>
        </p:nvPicPr>
        <p:blipFill>
          <a:blip r:embed="rId3"/>
          <a:stretch>
            <a:fillRect/>
          </a:stretch>
        </p:blipFill>
        <p:spPr>
          <a:xfrm>
            <a:off x="8123225" y="4686300"/>
            <a:ext cx="228600" cy="228600"/>
          </a:xfrm>
          <a:prstGeom prst="rect">
            <a:avLst/>
          </a:prstGeom>
        </p:spPr>
      </p:pic>
      <p:sp>
        <p:nvSpPr>
          <p:cNvPr id="26" name="Text 21"/>
          <p:cNvSpPr txBox="1"/>
          <p:nvPr/>
        </p:nvSpPr>
        <p:spPr>
          <a:xfrm>
            <a:off x="8603285" y="4553712"/>
            <a:ext cx="2866034" cy="274320"/>
          </a:xfrm>
          <a:prstGeom prst="rect">
            <a:avLst/>
          </a:prstGeom>
          <a:noFill/>
          <a:ln/>
        </p:spPr>
        <p:txBody>
          <a:bodyPr wrap="square" lIns="0" tIns="0" rIns="0" bIns="0" rtlCol="0" anchor="ctr"/>
          <a:lstStyle/>
          <a:p>
            <a:pPr indent="0" marL="0">
              <a:buNone/>
            </a:pPr>
            <a:r>
              <a:rPr lang="en-US" sz="1300" b="1" dirty="0">
                <a:solidFill>
                  <a:schemeClr val="tx1"/>
                </a:solidFill>
              </a:rPr>
              <a:t>Outsourcing Angel</a:t>
            </a:r>
            <a:endParaRPr lang="en-US" sz="1300" dirty="0"/>
          </a:p>
        </p:txBody>
      </p:sp>
      <p:sp>
        <p:nvSpPr>
          <p:cNvPr id="27" name="Text 22"/>
          <p:cNvSpPr txBox="1"/>
          <p:nvPr/>
        </p:nvSpPr>
        <p:spPr>
          <a:xfrm>
            <a:off x="8603285" y="4846320"/>
            <a:ext cx="2866034" cy="685800"/>
          </a:xfrm>
          <a:prstGeom prst="rect">
            <a:avLst/>
          </a:prstGeom>
          <a:noFill/>
          <a:ln/>
        </p:spPr>
        <p:txBody>
          <a:bodyPr wrap="square" lIns="0" tIns="0" rIns="0" bIns="0" rtlCol="0" anchor="t"/>
          <a:lstStyle/>
          <a:p>
            <a:pPr indent="0" marL="0">
              <a:buNone/>
            </a:pPr>
            <a:r>
              <a:rPr lang="en-US" sz="1150" dirty="0">
                <a:solidFill>
                  <a:schemeClr val="accent3"/>
                </a:solidFill>
              </a:rPr>
              <a:t>Leads the Day 30, Day 90, Month 6 and Month 12 reviews and updates the scorecard</a:t>
            </a:r>
            <a:endParaRPr lang="en-US" sz="1150" dirty="0"/>
          </a:p>
        </p:txBody>
      </p:sp>
      <p:sp>
        <p:nvSpPr>
          <p:cNvPr id="28" name="callout"/>
          <p:cNvSpPr/>
          <p:nvPr/>
        </p:nvSpPr>
        <p:spPr>
          <a:xfrm>
            <a:off x="630936" y="5669280"/>
            <a:ext cx="10929823" cy="502920"/>
          </a:xfrm>
          <a:prstGeom prst="roundRect">
            <a:avLst>
              <a:gd name="adj" fmla="val 14545"/>
            </a:avLst>
          </a:prstGeom>
          <a:solidFill>
            <a:schemeClr val="accent4"/>
          </a:solidFill>
          <a:ln/>
        </p:spPr>
      </p:sp>
      <p:sp>
        <p:nvSpPr>
          <p:cNvPr id="29" name="Text 24"/>
          <p:cNvSpPr txBox="1"/>
          <p:nvPr/>
        </p:nvSpPr>
        <p:spPr>
          <a:xfrm>
            <a:off x="859536" y="5669280"/>
            <a:ext cx="10472623" cy="502920"/>
          </a:xfrm>
          <a:prstGeom prst="rect">
            <a:avLst/>
          </a:prstGeom>
          <a:noFill/>
          <a:ln/>
        </p:spPr>
        <p:txBody>
          <a:bodyPr wrap="square" lIns="0" tIns="0" rIns="0" bIns="0" rtlCol="0" anchor="ctr"/>
          <a:lstStyle/>
          <a:p>
            <a:pPr indent="0" marL="0">
              <a:buNone/>
            </a:pPr>
            <a:r>
              <a:rPr lang="en-US" sz="1250" b="1" dirty="0">
                <a:solidFill>
                  <a:schemeClr val="accent1"/>
                </a:solidFill>
              </a:rPr>
              <a:t>Your live copy sits in a shared folder that you, your VA and your Outsourcing Angel team can all open and update.</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A</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Our Recommendation</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What we heard in your Freedom Audit, the role we recommend, and how we’ll find the right person. Use this part to decide.</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Key Observations</a:t>
            </a:r>
            <a:endParaRPr lang="en-US" sz="3000" dirty="0"/>
          </a:p>
        </p:txBody>
      </p:sp>
      <p:sp>
        <p:nvSpPr>
          <p:cNvPr id="4" name="Text 2"/>
          <p:cNvSpPr txBox="1"/>
          <p:nvPr/>
        </p:nvSpPr>
        <p:spPr>
          <a:xfrm>
            <a:off x="630936" y="1417320"/>
            <a:ext cx="10929823" cy="960120"/>
          </a:xfrm>
          <a:prstGeom prst="rect">
            <a:avLst/>
          </a:prstGeom>
          <a:noFill/>
          <a:ln/>
        </p:spPr>
        <p:txBody>
          <a:bodyPr wrap="square" lIns="0" tIns="0" rIns="0" bIns="0" rtlCol="0" anchor="t"/>
          <a:lstStyle/>
          <a:p>
            <a:pPr indent="0" marL="0">
              <a:buNone/>
            </a:pPr>
            <a:r>
              <a:rPr lang="en-US" sz="1350" dirty="0">
                <a:solidFill>
                  <a:schemeClr val="accent3"/>
                </a:solidFill>
              </a:rPr>
              <a:t>Hanks Tea supplies wholesale materials to cafés, bubble tea stores and other food and beverage businesses, with about 100–150 active customers. Customer service and sales already happen, but they’re spread across a small team who all juggle other work; the person running order fulfilment also covers customer service. As the business grows, Hank wants one accountable owner.</a:t>
            </a:r>
            <a:endParaRPr lang="en-US" sz="1350" dirty="0"/>
          </a:p>
        </p:txBody>
      </p:sp>
      <p:sp>
        <p:nvSpPr>
          <p:cNvPr id="5" name="card"/>
          <p:cNvSpPr/>
          <p:nvPr/>
        </p:nvSpPr>
        <p:spPr>
          <a:xfrm>
            <a:off x="630936" y="2560320"/>
            <a:ext cx="5327752" cy="2057400"/>
          </a:xfrm>
          <a:prstGeom prst="roundRect">
            <a:avLst>
              <a:gd name="adj" fmla="val 3556"/>
            </a:avLst>
          </a:prstGeom>
          <a:solidFill>
            <a:schemeClr val="bg1"/>
          </a:solidFill>
          <a:ln w="12700">
            <a:solidFill>
              <a:schemeClr val="accent5"/>
            </a:solidFill>
            <a:prstDash val="solid"/>
          </a:ln>
        </p:spPr>
      </p:sp>
      <p:sp>
        <p:nvSpPr>
          <p:cNvPr id="6" name="Text 4"/>
          <p:cNvSpPr txBox="1"/>
          <p:nvPr/>
        </p:nvSpPr>
        <p:spPr>
          <a:xfrm>
            <a:off x="905256"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WE HEARD</a:t>
            </a:r>
            <a:endParaRPr lang="en-US" sz="1050" dirty="0"/>
          </a:p>
        </p:txBody>
      </p:sp>
      <p:sp>
        <p:nvSpPr>
          <p:cNvPr id="7" name="Text 5"/>
          <p:cNvSpPr txBox="1"/>
          <p:nvPr/>
        </p:nvSpPr>
        <p:spPr>
          <a:xfrm>
            <a:off x="905256"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Enquiries arrive across WhatsApp, Messenger, WeChat, email, Shopify Inbox, Order Mentor and phone · repeat orders are entered by hand · about 10 credit customers need AR follow-up · 500–600 dormant customers sit untouched.</a:t>
            </a:r>
            <a:endParaRPr lang="en-US" sz="1250" dirty="0"/>
          </a:p>
        </p:txBody>
      </p:sp>
      <p:sp>
        <p:nvSpPr>
          <p:cNvPr id="8" name="card"/>
          <p:cNvSpPr/>
          <p:nvPr/>
        </p:nvSpPr>
        <p:spPr>
          <a:xfrm>
            <a:off x="6233008" y="2560320"/>
            <a:ext cx="5327752" cy="2057400"/>
          </a:xfrm>
          <a:prstGeom prst="roundRect">
            <a:avLst>
              <a:gd name="adj" fmla="val 3556"/>
            </a:avLst>
          </a:prstGeom>
          <a:solidFill>
            <a:schemeClr val="bg1"/>
          </a:solidFill>
          <a:ln w="12700">
            <a:solidFill>
              <a:schemeClr val="accent5"/>
            </a:solidFill>
            <a:prstDash val="solid"/>
          </a:ln>
        </p:spPr>
      </p:sp>
      <p:sp>
        <p:nvSpPr>
          <p:cNvPr id="9" name="Text 7"/>
          <p:cNvSpPr txBox="1"/>
          <p:nvPr/>
        </p:nvSpPr>
        <p:spPr>
          <a:xfrm>
            <a:off x="6507328" y="2743200"/>
            <a:ext cx="477911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HIRING INSIGHT</a:t>
            </a:r>
            <a:endParaRPr lang="en-US" sz="1050" dirty="0"/>
          </a:p>
        </p:txBody>
      </p:sp>
      <p:sp>
        <p:nvSpPr>
          <p:cNvPr id="10" name="Text 8"/>
          <p:cNvSpPr txBox="1"/>
          <p:nvPr/>
        </p:nvSpPr>
        <p:spPr>
          <a:xfrm>
            <a:off x="6507328" y="3063240"/>
            <a:ext cx="4779112" cy="1463040"/>
          </a:xfrm>
          <a:prstGeom prst="rect">
            <a:avLst/>
          </a:prstGeom>
          <a:noFill/>
          <a:ln/>
        </p:spPr>
        <p:txBody>
          <a:bodyPr wrap="square" lIns="0" tIns="0" rIns="0" bIns="0" rtlCol="0" anchor="t"/>
          <a:lstStyle/>
          <a:p>
            <a:pPr indent="0" marL="0">
              <a:buNone/>
            </a:pPr>
            <a:r>
              <a:rPr lang="en-US" sz="1250" dirty="0">
                <a:solidFill>
                  <a:schemeClr val="accent3"/>
                </a:solidFill>
              </a:rPr>
              <a:t>Hank manages the VA directly. He’s the outward face of the business, so he wants someone careful and patient who catches the details, including what the customer actually needs. He’d like them in place by November, ahead of the Christmas rush.</a:t>
            </a:r>
            <a:endParaRPr lang="en-US" sz="1250" dirty="0"/>
          </a:p>
        </p:txBody>
      </p:sp>
      <p:sp>
        <p:nvSpPr>
          <p:cNvPr id="11" name="callout"/>
          <p:cNvSpPr/>
          <p:nvPr/>
        </p:nvSpPr>
        <p:spPr>
          <a:xfrm>
            <a:off x="630936" y="4846320"/>
            <a:ext cx="10929823" cy="868680"/>
          </a:xfrm>
          <a:prstGeom prst="roundRect">
            <a:avLst>
              <a:gd name="adj" fmla="val 8421"/>
            </a:avLst>
          </a:prstGeom>
          <a:solidFill>
            <a:schemeClr val="accent4"/>
          </a:solidFill>
          <a:ln/>
        </p:spPr>
      </p:sp>
      <p:sp>
        <p:nvSpPr>
          <p:cNvPr id="12" name="Text 10"/>
          <p:cNvSpPr txBox="1"/>
          <p:nvPr/>
        </p:nvSpPr>
        <p:spPr>
          <a:xfrm>
            <a:off x="859536" y="484632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Our recommendation: a dedicated Customer Service &amp; Sales Support VA who owns every customer conversation, order entry, open-order and AR follow-up, and the reactivation of dormant customers, so Hank can focus on growing the business.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Leverage Gap Analysis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Hanks Tea’s biggest leverage point: one accountable person for customers, instead of tasks spread across the team.</a:t>
            </a:r>
            <a:endParaRPr lang="en-US" sz="1300" dirty="0"/>
          </a:p>
        </p:txBody>
      </p:sp>
      <p:sp>
        <p:nvSpPr>
          <p:cNvPr id="5" name="card"/>
          <p:cNvSpPr/>
          <p:nvPr/>
        </p:nvSpPr>
        <p:spPr>
          <a:xfrm>
            <a:off x="630936" y="2011680"/>
            <a:ext cx="5327752" cy="3566160"/>
          </a:xfrm>
          <a:prstGeom prst="roundRect">
            <a:avLst>
              <a:gd name="adj" fmla="val 2051"/>
            </a:avLst>
          </a:prstGeom>
          <a:solidFill>
            <a:schemeClr val="bg1"/>
          </a:solidFill>
          <a:ln w="12700">
            <a:solidFill>
              <a:schemeClr val="accent5"/>
            </a:solidFill>
            <a:prstDash val="solid"/>
          </a:ln>
        </p:spPr>
      </p:sp>
      <p:sp>
        <p:nvSpPr>
          <p:cNvPr id="6" name="Text 4"/>
          <p:cNvSpPr txBox="1"/>
          <p:nvPr/>
        </p:nvSpPr>
        <p:spPr>
          <a:xfrm>
            <a:off x="950976"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TODAY</a:t>
            </a:r>
            <a:endParaRPr lang="en-US" sz="1050" dirty="0"/>
          </a:p>
        </p:txBody>
      </p:sp>
      <p:sp>
        <p:nvSpPr>
          <p:cNvPr id="7" name="Text 5"/>
          <p:cNvSpPr txBox="1"/>
          <p:nvPr/>
        </p:nvSpPr>
        <p:spPr>
          <a:xfrm>
            <a:off x="950976"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accent3"/>
                </a:solidFill>
              </a:rPr>
              <a:t>Customer service spread across a small team who all have other jobs</a:t>
            </a:r>
            <a:endParaRPr lang="en-US" sz="1350" dirty="0"/>
          </a:p>
          <a:p>
            <a:pPr marL="203200" indent="-203200">
              <a:spcAft>
                <a:spcPts val="1400"/>
              </a:spcAft>
              <a:buSzPct val="100000"/>
              <a:buChar char="•"/>
            </a:pPr>
            <a:r>
              <a:rPr lang="en-US" sz="1350" dirty="0">
                <a:solidFill>
                  <a:schemeClr val="accent3"/>
                </a:solidFill>
              </a:rPr>
              <a:t>Enquiries split across seven channels, with no single owner</a:t>
            </a:r>
            <a:endParaRPr lang="en-US" sz="1350" dirty="0"/>
          </a:p>
          <a:p>
            <a:pPr marL="203200" indent="-203200">
              <a:spcAft>
                <a:spcPts val="1400"/>
              </a:spcAft>
              <a:buSzPct val="100000"/>
              <a:buChar char="•"/>
            </a:pPr>
            <a:r>
              <a:rPr lang="en-US" sz="1350" dirty="0">
                <a:solidFill>
                  <a:schemeClr val="accent3"/>
                </a:solidFill>
              </a:rPr>
              <a:t>500–600 dormant customers in the database, not yet contacted</a:t>
            </a:r>
            <a:endParaRPr lang="en-US" sz="1350" dirty="0"/>
          </a:p>
        </p:txBody>
      </p:sp>
      <p:sp>
        <p:nvSpPr>
          <p:cNvPr id="8" name="card"/>
          <p:cNvSpPr/>
          <p:nvPr/>
        </p:nvSpPr>
        <p:spPr>
          <a:xfrm>
            <a:off x="6233008" y="2011680"/>
            <a:ext cx="5327752" cy="3566160"/>
          </a:xfrm>
          <a:prstGeom prst="roundRect">
            <a:avLst>
              <a:gd name="adj" fmla="val 2051"/>
            </a:avLst>
          </a:prstGeom>
          <a:solidFill>
            <a:schemeClr val="accent4"/>
          </a:solidFill>
          <a:ln/>
        </p:spPr>
      </p:sp>
      <p:sp>
        <p:nvSpPr>
          <p:cNvPr id="9" name="Text 7"/>
          <p:cNvSpPr txBox="1"/>
          <p:nvPr/>
        </p:nvSpPr>
        <p:spPr>
          <a:xfrm>
            <a:off x="6553048" y="224028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WHERE WE’RE GOING</a:t>
            </a:r>
            <a:endParaRPr lang="en-US" sz="1050" dirty="0"/>
          </a:p>
        </p:txBody>
      </p:sp>
      <p:sp>
        <p:nvSpPr>
          <p:cNvPr id="10" name="Text 8"/>
          <p:cNvSpPr txBox="1"/>
          <p:nvPr/>
        </p:nvSpPr>
        <p:spPr>
          <a:xfrm>
            <a:off x="6553048" y="2606040"/>
            <a:ext cx="4687672" cy="2743200"/>
          </a:xfrm>
          <a:prstGeom prst="rect">
            <a:avLst/>
          </a:prstGeom>
          <a:noFill/>
          <a:ln/>
        </p:spPr>
        <p:txBody>
          <a:bodyPr wrap="square" lIns="0" tIns="0" rIns="0" bIns="0" rtlCol="0" anchor="t"/>
          <a:lstStyle/>
          <a:p>
            <a:pPr marL="203200" indent="-203200">
              <a:spcAft>
                <a:spcPts val="1400"/>
              </a:spcAft>
              <a:buSzPct val="100000"/>
              <a:buChar char="•"/>
            </a:pPr>
            <a:r>
              <a:rPr lang="en-US" sz="1350" dirty="0">
                <a:solidFill>
                  <a:schemeClr val="tx1"/>
                </a:solidFill>
              </a:rPr>
              <a:t>One VA answers every enquiry within two hours, on every channel</a:t>
            </a:r>
            <a:endParaRPr lang="en-US" sz="1350" dirty="0"/>
          </a:p>
          <a:p>
            <a:pPr marL="203200" indent="-203200">
              <a:spcAft>
                <a:spcPts val="1400"/>
              </a:spcAft>
              <a:buSzPct val="100000"/>
              <a:buChar char="•"/>
            </a:pPr>
            <a:r>
              <a:rPr lang="en-US" sz="1350" dirty="0">
                <a:solidFill>
                  <a:schemeClr val="tx1"/>
                </a:solidFill>
              </a:rPr>
              <a:t>Orders entered accurately; open orders and overdue accounts followed up</a:t>
            </a:r>
            <a:endParaRPr lang="en-US" sz="1350" dirty="0"/>
          </a:p>
          <a:p>
            <a:pPr marL="203200" indent="-203200">
              <a:spcAft>
                <a:spcPts val="1400"/>
              </a:spcAft>
              <a:buSzPct val="100000"/>
              <a:buChar char="•"/>
            </a:pPr>
            <a:r>
              <a:rPr lang="en-US" sz="1350" dirty="0">
                <a:solidFill>
                  <a:schemeClr val="tx1"/>
                </a:solidFill>
              </a:rPr>
              <a:t>10–15 dormant customers reactivated each month, tracked in a simple CRM</a:t>
            </a:r>
            <a:endParaRPr lang="en-US" sz="13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Freedom Stage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Where the business is today, and the path this plan takes. We revisit this at every review in Part B.</a:t>
            </a:r>
            <a:endParaRPr lang="en-US" sz="1300" dirty="0"/>
          </a:p>
        </p:txBody>
      </p:sp>
      <p:sp>
        <p:nvSpPr>
          <p:cNvPr id="5" name="stage line"/>
          <p:cNvSpPr/>
          <p:nvPr/>
        </p:nvSpPr>
        <p:spPr>
          <a:xfrm>
            <a:off x="1088136" y="3063240"/>
            <a:ext cx="10015423" cy="0"/>
          </a:xfrm>
          <a:prstGeom prst="line">
            <a:avLst/>
          </a:prstGeom>
          <a:noFill/>
          <a:ln w="38100">
            <a:solidFill>
              <a:schemeClr val="accent5"/>
            </a:solidFill>
            <a:prstDash val="solid"/>
          </a:ln>
        </p:spPr>
      </p:sp>
      <p:sp>
        <p:nvSpPr>
          <p:cNvPr id="6" name="stage 1"/>
          <p:cNvSpPr/>
          <p:nvPr/>
        </p:nvSpPr>
        <p:spPr>
          <a:xfrm>
            <a:off x="768096" y="2743200"/>
            <a:ext cx="640080" cy="640080"/>
          </a:xfrm>
          <a:prstGeom prst="ellipse">
            <a:avLst/>
          </a:prstGeom>
          <a:solidFill>
            <a:schemeClr val="tx1"/>
          </a:solidFill>
          <a:ln w="25400">
            <a:solidFill>
              <a:schemeClr val="tx1"/>
            </a:solidFill>
            <a:prstDash val="solid"/>
          </a:ln>
        </p:spPr>
      </p:sp>
      <p:sp>
        <p:nvSpPr>
          <p:cNvPr id="7" name="Text 5"/>
          <p:cNvSpPr txBox="1"/>
          <p:nvPr/>
        </p:nvSpPr>
        <p:spPr>
          <a:xfrm>
            <a:off x="768096"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8" name="Text 6"/>
          <p:cNvSpPr txBox="1"/>
          <p:nvPr/>
        </p:nvSpPr>
        <p:spPr>
          <a:xfrm>
            <a:off x="173736"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Task Delegator</a:t>
            </a:r>
            <a:endParaRPr lang="en-US" sz="1300" dirty="0"/>
          </a:p>
        </p:txBody>
      </p:sp>
      <p:sp>
        <p:nvSpPr>
          <p:cNvPr id="9" name="Text 7"/>
          <p:cNvSpPr txBox="1"/>
          <p:nvPr/>
        </p:nvSpPr>
        <p:spPr>
          <a:xfrm>
            <a:off x="173736"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3"/>
                </a:solidFill>
              </a:rPr>
              <a:t>TODAY</a:t>
            </a:r>
            <a:endParaRPr lang="en-US" sz="1000" dirty="0"/>
          </a:p>
        </p:txBody>
      </p:sp>
      <p:sp>
        <p:nvSpPr>
          <p:cNvPr id="10" name="stage 2"/>
          <p:cNvSpPr/>
          <p:nvPr/>
        </p:nvSpPr>
        <p:spPr>
          <a:xfrm>
            <a:off x="3271952" y="2743200"/>
            <a:ext cx="640080" cy="640080"/>
          </a:xfrm>
          <a:prstGeom prst="ellipse">
            <a:avLst/>
          </a:prstGeom>
          <a:solidFill>
            <a:schemeClr val="bg1"/>
          </a:solidFill>
          <a:ln w="25400">
            <a:solidFill>
              <a:schemeClr val="accent5"/>
            </a:solidFill>
            <a:prstDash val="solid"/>
          </a:ln>
        </p:spPr>
      </p:sp>
      <p:sp>
        <p:nvSpPr>
          <p:cNvPr id="11" name="Text 9"/>
          <p:cNvSpPr txBox="1"/>
          <p:nvPr/>
        </p:nvSpPr>
        <p:spPr>
          <a:xfrm>
            <a:off x="3271952"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2</a:t>
            </a:r>
            <a:endParaRPr lang="en-US" sz="1600" dirty="0"/>
          </a:p>
        </p:txBody>
      </p:sp>
      <p:sp>
        <p:nvSpPr>
          <p:cNvPr id="12" name="Text 10"/>
          <p:cNvSpPr txBox="1"/>
          <p:nvPr/>
        </p:nvSpPr>
        <p:spPr>
          <a:xfrm>
            <a:off x="2677592"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Process Builder</a:t>
            </a:r>
            <a:endParaRPr lang="en-US" sz="1300" dirty="0"/>
          </a:p>
        </p:txBody>
      </p:sp>
      <p:sp>
        <p:nvSpPr>
          <p:cNvPr id="13" name="stage 3"/>
          <p:cNvSpPr/>
          <p:nvPr/>
        </p:nvSpPr>
        <p:spPr>
          <a:xfrm>
            <a:off x="5775808" y="2743200"/>
            <a:ext cx="640080" cy="640080"/>
          </a:xfrm>
          <a:prstGeom prst="ellipse">
            <a:avLst/>
          </a:prstGeom>
          <a:solidFill>
            <a:schemeClr val="accent2"/>
          </a:solidFill>
          <a:ln w="25400">
            <a:solidFill>
              <a:schemeClr val="accent2"/>
            </a:solidFill>
            <a:prstDash val="solid"/>
          </a:ln>
        </p:spPr>
      </p:sp>
      <p:sp>
        <p:nvSpPr>
          <p:cNvPr id="14" name="Text 12"/>
          <p:cNvSpPr txBox="1"/>
          <p:nvPr/>
        </p:nvSpPr>
        <p:spPr>
          <a:xfrm>
            <a:off x="5775808"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5" name="Text 13"/>
          <p:cNvSpPr txBox="1"/>
          <p:nvPr/>
        </p:nvSpPr>
        <p:spPr>
          <a:xfrm>
            <a:off x="5181448"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Outcome Owner</a:t>
            </a:r>
            <a:endParaRPr lang="en-US" sz="1300" dirty="0"/>
          </a:p>
        </p:txBody>
      </p:sp>
      <p:sp>
        <p:nvSpPr>
          <p:cNvPr id="16" name="Text 14"/>
          <p:cNvSpPr txBox="1"/>
          <p:nvPr/>
        </p:nvSpPr>
        <p:spPr>
          <a:xfrm>
            <a:off x="5181448"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DAY 90 TARGET</a:t>
            </a:r>
            <a:endParaRPr lang="en-US" sz="1000" dirty="0"/>
          </a:p>
        </p:txBody>
      </p:sp>
      <p:sp>
        <p:nvSpPr>
          <p:cNvPr id="17" name="stage 4"/>
          <p:cNvSpPr/>
          <p:nvPr/>
        </p:nvSpPr>
        <p:spPr>
          <a:xfrm>
            <a:off x="8279663" y="2743200"/>
            <a:ext cx="640080" cy="640080"/>
          </a:xfrm>
          <a:prstGeom prst="ellipse">
            <a:avLst/>
          </a:prstGeom>
          <a:solidFill>
            <a:schemeClr val="bg1"/>
          </a:solidFill>
          <a:ln w="25400">
            <a:solidFill>
              <a:schemeClr val="accent5"/>
            </a:solidFill>
            <a:prstDash val="solid"/>
          </a:ln>
        </p:spPr>
      </p:sp>
      <p:sp>
        <p:nvSpPr>
          <p:cNvPr id="18" name="Text 16"/>
          <p:cNvSpPr txBox="1"/>
          <p:nvPr/>
        </p:nvSpPr>
        <p:spPr>
          <a:xfrm>
            <a:off x="8279663" y="2743200"/>
            <a:ext cx="640080" cy="640080"/>
          </a:xfrm>
          <a:prstGeom prst="rect">
            <a:avLst/>
          </a:prstGeom>
          <a:noFill/>
          <a:ln/>
        </p:spPr>
        <p:txBody>
          <a:bodyPr wrap="square" lIns="0" tIns="0" rIns="0" bIns="0" rtlCol="0" anchor="ctr"/>
          <a:lstStyle/>
          <a:p>
            <a:pPr algn="ctr" indent="0" marL="0">
              <a:buNone/>
            </a:pPr>
            <a:r>
              <a:rPr lang="en-US" sz="1600" b="1" dirty="0">
                <a:solidFill>
                  <a:schemeClr val="accent3"/>
                </a:solidFill>
              </a:rPr>
              <a:t>4</a:t>
            </a:r>
            <a:endParaRPr lang="en-US" sz="1600" dirty="0"/>
          </a:p>
        </p:txBody>
      </p:sp>
      <p:sp>
        <p:nvSpPr>
          <p:cNvPr id="19" name="Text 17"/>
          <p:cNvSpPr txBox="1"/>
          <p:nvPr/>
        </p:nvSpPr>
        <p:spPr>
          <a:xfrm>
            <a:off x="7685303"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Operator</a:t>
            </a:r>
            <a:endParaRPr lang="en-US" sz="1300" dirty="0"/>
          </a:p>
        </p:txBody>
      </p:sp>
      <p:sp>
        <p:nvSpPr>
          <p:cNvPr id="20" name="stage 5"/>
          <p:cNvSpPr/>
          <p:nvPr/>
        </p:nvSpPr>
        <p:spPr>
          <a:xfrm>
            <a:off x="10783519" y="2743200"/>
            <a:ext cx="640080" cy="640080"/>
          </a:xfrm>
          <a:prstGeom prst="ellipse">
            <a:avLst/>
          </a:prstGeom>
          <a:solidFill>
            <a:schemeClr val="accent1"/>
          </a:solidFill>
          <a:ln w="25400">
            <a:solidFill>
              <a:schemeClr val="accent1"/>
            </a:solidFill>
            <a:prstDash val="solid"/>
          </a:ln>
        </p:spPr>
      </p:sp>
      <p:sp>
        <p:nvSpPr>
          <p:cNvPr id="21" name="Text 19"/>
          <p:cNvSpPr txBox="1"/>
          <p:nvPr/>
        </p:nvSpPr>
        <p:spPr>
          <a:xfrm>
            <a:off x="10783519" y="2743200"/>
            <a:ext cx="640080" cy="6400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2" name="Text 20"/>
          <p:cNvSpPr txBox="1"/>
          <p:nvPr/>
        </p:nvSpPr>
        <p:spPr>
          <a:xfrm>
            <a:off x="10189159" y="3520440"/>
            <a:ext cx="1828800" cy="274320"/>
          </a:xfrm>
          <a:prstGeom prst="rect">
            <a:avLst/>
          </a:prstGeom>
          <a:noFill/>
          <a:ln/>
        </p:spPr>
        <p:txBody>
          <a:bodyPr wrap="square" lIns="0" tIns="0" rIns="0" bIns="0" rtlCol="0" anchor="ctr"/>
          <a:lstStyle/>
          <a:p>
            <a:pPr algn="ctr" indent="0" marL="0">
              <a:buNone/>
            </a:pPr>
            <a:r>
              <a:rPr lang="en-US" sz="1300" b="1" dirty="0">
                <a:solidFill>
                  <a:schemeClr val="tx1"/>
                </a:solidFill>
              </a:rPr>
              <a:t>Freedom</a:t>
            </a:r>
            <a:endParaRPr lang="en-US" sz="1300" dirty="0"/>
          </a:p>
        </p:txBody>
      </p:sp>
      <p:sp>
        <p:nvSpPr>
          <p:cNvPr id="23" name="Text 21"/>
          <p:cNvSpPr txBox="1"/>
          <p:nvPr/>
        </p:nvSpPr>
        <p:spPr>
          <a:xfrm>
            <a:off x="10189159" y="3813048"/>
            <a:ext cx="1828800" cy="256032"/>
          </a:xfrm>
          <a:prstGeom prst="rect">
            <a:avLst/>
          </a:prstGeom>
          <a:noFill/>
          <a:ln/>
        </p:spPr>
        <p:txBody>
          <a:bodyPr wrap="square" lIns="0" tIns="0" rIns="0" bIns="0" rtlCol="0" anchor="ctr"/>
          <a:lstStyle/>
          <a:p>
            <a:pPr algn="ctr" indent="0" marL="0">
              <a:buNone/>
            </a:pPr>
            <a:r>
              <a:rPr lang="en-US" sz="1000" b="1" spc="100" kern="0" dirty="0">
                <a:solidFill>
                  <a:schemeClr val="accent1"/>
                </a:solidFill>
              </a:rPr>
              <a:t>MONTH 6 TARGET</a:t>
            </a:r>
            <a:endParaRPr lang="en-US" sz="1000" dirty="0"/>
          </a:p>
        </p:txBody>
      </p:sp>
      <p:sp>
        <p:nvSpPr>
          <p:cNvPr id="24" name="callout"/>
          <p:cNvSpPr/>
          <p:nvPr/>
        </p:nvSpPr>
        <p:spPr>
          <a:xfrm>
            <a:off x="630936" y="4572000"/>
            <a:ext cx="10929823" cy="868680"/>
          </a:xfrm>
          <a:prstGeom prst="roundRect">
            <a:avLst>
              <a:gd name="adj" fmla="val 8421"/>
            </a:avLst>
          </a:prstGeom>
          <a:solidFill>
            <a:schemeClr val="accent4"/>
          </a:solidFill>
          <a:ln/>
        </p:spPr>
      </p:sp>
      <p:sp>
        <p:nvSpPr>
          <p:cNvPr id="25" name="Text 23"/>
          <p:cNvSpPr txBox="1"/>
          <p:nvPr/>
        </p:nvSpPr>
        <p:spPr>
          <a:xfrm>
            <a:off x="859536" y="4572000"/>
            <a:ext cx="10472623" cy="868680"/>
          </a:xfrm>
          <a:prstGeom prst="rect">
            <a:avLst/>
          </a:prstGeom>
          <a:noFill/>
          <a:ln/>
        </p:spPr>
        <p:txBody>
          <a:bodyPr wrap="square" lIns="0" tIns="0" rIns="0" bIns="0" rtlCol="0" anchor="ctr"/>
          <a:lstStyle/>
          <a:p>
            <a:pPr indent="0" marL="0">
              <a:buNone/>
            </a:pPr>
            <a:r>
              <a:rPr lang="en-US" sz="1250" b="1" dirty="0">
                <a:solidFill>
                  <a:schemeClr val="accent1"/>
                </a:solidFill>
              </a:rPr>
              <a:t>Hank expects a progression from learning, to supporting, to operating independently. We aim for Outcome Owner by Day 90 and Freedom by Month 6: a VA who owns customers, orders, AR and reactivation, escalating only what needs the team.</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04  ·  DESIGN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Role We Recommend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Customer Service &amp; Sales Support VA who owns six areas, so every customer has one accountable point of contact.</a:t>
            </a:r>
            <a:endParaRPr lang="en-US" sz="1300" dirty="0"/>
          </a:p>
        </p:txBody>
      </p:sp>
      <p:sp>
        <p:nvSpPr>
          <p:cNvPr id="5" name="card"/>
          <p:cNvSpPr/>
          <p:nvPr/>
        </p:nvSpPr>
        <p:spPr>
          <a:xfrm>
            <a:off x="630936" y="1965960"/>
            <a:ext cx="3521354" cy="1874520"/>
          </a:xfrm>
          <a:prstGeom prst="roundRect">
            <a:avLst>
              <a:gd name="adj" fmla="val 3902"/>
            </a:avLst>
          </a:prstGeom>
          <a:solidFill>
            <a:schemeClr val="bg2"/>
          </a:solidFill>
          <a:ln/>
        </p:spPr>
      </p:sp>
      <p:sp>
        <p:nvSpPr>
          <p:cNvPr id="6" name="area 1 circle"/>
          <p:cNvSpPr/>
          <p:nvPr/>
        </p:nvSpPr>
        <p:spPr>
          <a:xfrm>
            <a:off x="905256" y="2240280"/>
            <a:ext cx="502920" cy="502920"/>
          </a:xfrm>
          <a:prstGeom prst="ellipse">
            <a:avLst/>
          </a:prstGeom>
          <a:solidFill>
            <a:schemeClr val="accent1"/>
          </a:solidFill>
          <a:ln/>
        </p:spPr>
      </p:sp>
      <p:pic>
        <p:nvPicPr>
          <p:cNvPr id="7" name="area 1" descr="area 1">    </p:cNvPr>
          <p:cNvPicPr>
            <a:picLocks noChangeAspect="1"/>
          </p:cNvPicPr>
          <p:nvPr/>
        </p:nvPicPr>
        <p:blipFill>
          <a:blip r:embed="rId1"/>
          <a:stretch>
            <a:fillRect/>
          </a:stretch>
        </p:blipFill>
        <p:spPr>
          <a:xfrm>
            <a:off x="1030986" y="2366010"/>
            <a:ext cx="251460" cy="251460"/>
          </a:xfrm>
          <a:prstGeom prst="rect">
            <a:avLst/>
          </a:prstGeom>
        </p:spPr>
      </p:pic>
      <p:sp>
        <p:nvSpPr>
          <p:cNvPr id="8" name="Text 5"/>
          <p:cNvSpPr txBox="1"/>
          <p:nvPr/>
        </p:nvSpPr>
        <p:spPr>
          <a:xfrm>
            <a:off x="1545336"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Customer Enquiries</a:t>
            </a:r>
            <a:endParaRPr lang="en-US" sz="1400" dirty="0"/>
          </a:p>
        </p:txBody>
      </p:sp>
      <p:sp>
        <p:nvSpPr>
          <p:cNvPr id="9" name="Text 6"/>
          <p:cNvSpPr txBox="1"/>
          <p:nvPr/>
        </p:nvSpPr>
        <p:spPr>
          <a:xfrm>
            <a:off x="905256"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Answering every enquiry within two hours, across WhatsApp, WeChat, email and more.</a:t>
            </a:r>
            <a:endParaRPr lang="en-US" sz="1200" dirty="0"/>
          </a:p>
        </p:txBody>
      </p:sp>
      <p:sp>
        <p:nvSpPr>
          <p:cNvPr id="10" name="card"/>
          <p:cNvSpPr/>
          <p:nvPr/>
        </p:nvSpPr>
        <p:spPr>
          <a:xfrm>
            <a:off x="4335170" y="1965960"/>
            <a:ext cx="3521354" cy="1874520"/>
          </a:xfrm>
          <a:prstGeom prst="roundRect">
            <a:avLst>
              <a:gd name="adj" fmla="val 3902"/>
            </a:avLst>
          </a:prstGeom>
          <a:solidFill>
            <a:schemeClr val="bg2"/>
          </a:solidFill>
          <a:ln/>
        </p:spPr>
      </p:sp>
      <p:sp>
        <p:nvSpPr>
          <p:cNvPr id="11" name="area 2 circle"/>
          <p:cNvSpPr/>
          <p:nvPr/>
        </p:nvSpPr>
        <p:spPr>
          <a:xfrm>
            <a:off x="4609490" y="2240280"/>
            <a:ext cx="502920" cy="502920"/>
          </a:xfrm>
          <a:prstGeom prst="ellipse">
            <a:avLst/>
          </a:prstGeom>
          <a:solidFill>
            <a:schemeClr val="accent1"/>
          </a:solidFill>
          <a:ln/>
        </p:spPr>
      </p:sp>
      <p:pic>
        <p:nvPicPr>
          <p:cNvPr id="12" name="area 2" descr="area 2">    </p:cNvPr>
          <p:cNvPicPr>
            <a:picLocks noChangeAspect="1"/>
          </p:cNvPicPr>
          <p:nvPr/>
        </p:nvPicPr>
        <p:blipFill>
          <a:blip r:embed="rId2"/>
          <a:stretch>
            <a:fillRect/>
          </a:stretch>
        </p:blipFill>
        <p:spPr>
          <a:xfrm>
            <a:off x="4735220" y="2366010"/>
            <a:ext cx="251460" cy="251460"/>
          </a:xfrm>
          <a:prstGeom prst="rect">
            <a:avLst/>
          </a:prstGeom>
        </p:spPr>
      </p:pic>
      <p:sp>
        <p:nvSpPr>
          <p:cNvPr id="13" name="Text 9"/>
          <p:cNvSpPr txBox="1"/>
          <p:nvPr/>
        </p:nvSpPr>
        <p:spPr>
          <a:xfrm>
            <a:off x="5249570"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Order Taking &amp; Entry</a:t>
            </a:r>
            <a:endParaRPr lang="en-US" sz="1400" dirty="0"/>
          </a:p>
        </p:txBody>
      </p:sp>
      <p:sp>
        <p:nvSpPr>
          <p:cNvPr id="14" name="Text 10"/>
          <p:cNvSpPr txBox="1"/>
          <p:nvPr/>
        </p:nvSpPr>
        <p:spPr>
          <a:xfrm>
            <a:off x="4609490"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Entering orders accurately in Shopify or Order Mentor and confirming payment.</a:t>
            </a:r>
            <a:endParaRPr lang="en-US" sz="1200" dirty="0"/>
          </a:p>
        </p:txBody>
      </p:sp>
      <p:sp>
        <p:nvSpPr>
          <p:cNvPr id="15" name="card"/>
          <p:cNvSpPr/>
          <p:nvPr/>
        </p:nvSpPr>
        <p:spPr>
          <a:xfrm>
            <a:off x="8039405" y="1965960"/>
            <a:ext cx="3521354" cy="1874520"/>
          </a:xfrm>
          <a:prstGeom prst="roundRect">
            <a:avLst>
              <a:gd name="adj" fmla="val 3902"/>
            </a:avLst>
          </a:prstGeom>
          <a:solidFill>
            <a:schemeClr val="bg2"/>
          </a:solidFill>
          <a:ln/>
        </p:spPr>
      </p:sp>
      <p:sp>
        <p:nvSpPr>
          <p:cNvPr id="16" name="area 3 circle"/>
          <p:cNvSpPr/>
          <p:nvPr/>
        </p:nvSpPr>
        <p:spPr>
          <a:xfrm>
            <a:off x="8313725" y="2240280"/>
            <a:ext cx="502920" cy="502920"/>
          </a:xfrm>
          <a:prstGeom prst="ellipse">
            <a:avLst/>
          </a:prstGeom>
          <a:solidFill>
            <a:schemeClr val="accent1"/>
          </a:solidFill>
          <a:ln/>
        </p:spPr>
      </p:sp>
      <p:pic>
        <p:nvPicPr>
          <p:cNvPr id="17" name="area 3" descr="area 3">    </p:cNvPr>
          <p:cNvPicPr>
            <a:picLocks noChangeAspect="1"/>
          </p:cNvPicPr>
          <p:nvPr/>
        </p:nvPicPr>
        <p:blipFill>
          <a:blip r:embed="rId3"/>
          <a:stretch>
            <a:fillRect/>
          </a:stretch>
        </p:blipFill>
        <p:spPr>
          <a:xfrm>
            <a:off x="8439455" y="2366010"/>
            <a:ext cx="251460" cy="251460"/>
          </a:xfrm>
          <a:prstGeom prst="rect">
            <a:avLst/>
          </a:prstGeom>
        </p:spPr>
      </p:pic>
      <p:sp>
        <p:nvSpPr>
          <p:cNvPr id="18" name="Text 13"/>
          <p:cNvSpPr txBox="1"/>
          <p:nvPr/>
        </p:nvSpPr>
        <p:spPr>
          <a:xfrm>
            <a:off x="8953805" y="22402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Delivery &amp; Escalation</a:t>
            </a:r>
            <a:endParaRPr lang="en-US" sz="1400" dirty="0"/>
          </a:p>
        </p:txBody>
      </p:sp>
      <p:sp>
        <p:nvSpPr>
          <p:cNvPr id="19" name="Text 14"/>
          <p:cNvSpPr txBox="1"/>
          <p:nvPr/>
        </p:nvSpPr>
        <p:spPr>
          <a:xfrm>
            <a:off x="8313725" y="28803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Chasing the right team member, then updating the customer and closing the loop.</a:t>
            </a:r>
            <a:endParaRPr lang="en-US" sz="1200" dirty="0"/>
          </a:p>
        </p:txBody>
      </p:sp>
      <p:sp>
        <p:nvSpPr>
          <p:cNvPr id="20" name="card"/>
          <p:cNvSpPr/>
          <p:nvPr/>
        </p:nvSpPr>
        <p:spPr>
          <a:xfrm>
            <a:off x="630936" y="4023360"/>
            <a:ext cx="3521354" cy="1874520"/>
          </a:xfrm>
          <a:prstGeom prst="roundRect">
            <a:avLst>
              <a:gd name="adj" fmla="val 3902"/>
            </a:avLst>
          </a:prstGeom>
          <a:solidFill>
            <a:schemeClr val="bg2"/>
          </a:solidFill>
          <a:ln/>
        </p:spPr>
      </p:sp>
      <p:sp>
        <p:nvSpPr>
          <p:cNvPr id="21" name="area 4 circle"/>
          <p:cNvSpPr/>
          <p:nvPr/>
        </p:nvSpPr>
        <p:spPr>
          <a:xfrm>
            <a:off x="905256" y="4297680"/>
            <a:ext cx="502920" cy="502920"/>
          </a:xfrm>
          <a:prstGeom prst="ellipse">
            <a:avLst/>
          </a:prstGeom>
          <a:solidFill>
            <a:schemeClr val="accent1"/>
          </a:solidFill>
          <a:ln/>
        </p:spPr>
      </p:sp>
      <p:pic>
        <p:nvPicPr>
          <p:cNvPr id="22" name="area 4" descr="area 4">    </p:cNvPr>
          <p:cNvPicPr>
            <a:picLocks noChangeAspect="1"/>
          </p:cNvPicPr>
          <p:nvPr/>
        </p:nvPicPr>
        <p:blipFill>
          <a:blip r:embed="rId4"/>
          <a:stretch>
            <a:fillRect/>
          </a:stretch>
        </p:blipFill>
        <p:spPr>
          <a:xfrm>
            <a:off x="1030986" y="4423410"/>
            <a:ext cx="251460" cy="251460"/>
          </a:xfrm>
          <a:prstGeom prst="rect">
            <a:avLst/>
          </a:prstGeom>
        </p:spPr>
      </p:pic>
      <p:sp>
        <p:nvSpPr>
          <p:cNvPr id="23" name="Text 17"/>
          <p:cNvSpPr txBox="1"/>
          <p:nvPr/>
        </p:nvSpPr>
        <p:spPr>
          <a:xfrm>
            <a:off x="1545336"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Open Orders &amp; AR</a:t>
            </a:r>
            <a:endParaRPr lang="en-US" sz="1400" dirty="0"/>
          </a:p>
        </p:txBody>
      </p:sp>
      <p:sp>
        <p:nvSpPr>
          <p:cNvPr id="24" name="Text 18"/>
          <p:cNvSpPr txBox="1"/>
          <p:nvPr/>
        </p:nvSpPr>
        <p:spPr>
          <a:xfrm>
            <a:off x="905256"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Following up open orders, and overdue accounts three days after they fall due.</a:t>
            </a:r>
            <a:endParaRPr lang="en-US" sz="1200" dirty="0"/>
          </a:p>
        </p:txBody>
      </p:sp>
      <p:sp>
        <p:nvSpPr>
          <p:cNvPr id="25" name="card"/>
          <p:cNvSpPr/>
          <p:nvPr/>
        </p:nvSpPr>
        <p:spPr>
          <a:xfrm>
            <a:off x="4335170" y="4023360"/>
            <a:ext cx="3521354" cy="1874520"/>
          </a:xfrm>
          <a:prstGeom prst="roundRect">
            <a:avLst>
              <a:gd name="adj" fmla="val 3902"/>
            </a:avLst>
          </a:prstGeom>
          <a:solidFill>
            <a:schemeClr val="bg2"/>
          </a:solidFill>
          <a:ln/>
        </p:spPr>
      </p:sp>
      <p:sp>
        <p:nvSpPr>
          <p:cNvPr id="26" name="area 5 circle"/>
          <p:cNvSpPr/>
          <p:nvPr/>
        </p:nvSpPr>
        <p:spPr>
          <a:xfrm>
            <a:off x="4609490" y="4297680"/>
            <a:ext cx="502920" cy="502920"/>
          </a:xfrm>
          <a:prstGeom prst="ellipse">
            <a:avLst/>
          </a:prstGeom>
          <a:solidFill>
            <a:schemeClr val="accent1"/>
          </a:solidFill>
          <a:ln/>
        </p:spPr>
      </p:sp>
      <p:pic>
        <p:nvPicPr>
          <p:cNvPr id="27" name="area 5" descr="area 5">    </p:cNvPr>
          <p:cNvPicPr>
            <a:picLocks noChangeAspect="1"/>
          </p:cNvPicPr>
          <p:nvPr/>
        </p:nvPicPr>
        <p:blipFill>
          <a:blip r:embed="rId5"/>
          <a:stretch>
            <a:fillRect/>
          </a:stretch>
        </p:blipFill>
        <p:spPr>
          <a:xfrm>
            <a:off x="4735220" y="4423410"/>
            <a:ext cx="251460" cy="251460"/>
          </a:xfrm>
          <a:prstGeom prst="rect">
            <a:avLst/>
          </a:prstGeom>
        </p:spPr>
      </p:pic>
      <p:sp>
        <p:nvSpPr>
          <p:cNvPr id="28" name="Text 21"/>
          <p:cNvSpPr txBox="1"/>
          <p:nvPr/>
        </p:nvSpPr>
        <p:spPr>
          <a:xfrm>
            <a:off x="5249570"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Customer Reactivation</a:t>
            </a:r>
            <a:endParaRPr lang="en-US" sz="1400" dirty="0"/>
          </a:p>
        </p:txBody>
      </p:sp>
      <p:sp>
        <p:nvSpPr>
          <p:cNvPr id="29" name="Text 22"/>
          <p:cNvSpPr txBox="1"/>
          <p:nvPr/>
        </p:nvSpPr>
        <p:spPr>
          <a:xfrm>
            <a:off x="4609490"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Re-engaging dormant customers, aiming for 15 back ordering each month.</a:t>
            </a:r>
            <a:endParaRPr lang="en-US" sz="1200" dirty="0"/>
          </a:p>
        </p:txBody>
      </p:sp>
      <p:sp>
        <p:nvSpPr>
          <p:cNvPr id="30" name="card"/>
          <p:cNvSpPr/>
          <p:nvPr/>
        </p:nvSpPr>
        <p:spPr>
          <a:xfrm>
            <a:off x="8039405" y="4023360"/>
            <a:ext cx="3521354" cy="1874520"/>
          </a:xfrm>
          <a:prstGeom prst="roundRect">
            <a:avLst>
              <a:gd name="adj" fmla="val 3902"/>
            </a:avLst>
          </a:prstGeom>
          <a:solidFill>
            <a:schemeClr val="bg2"/>
          </a:solidFill>
          <a:ln/>
        </p:spPr>
      </p:sp>
      <p:sp>
        <p:nvSpPr>
          <p:cNvPr id="31" name="area 6 circle"/>
          <p:cNvSpPr/>
          <p:nvPr/>
        </p:nvSpPr>
        <p:spPr>
          <a:xfrm>
            <a:off x="8313725" y="4297680"/>
            <a:ext cx="502920" cy="502920"/>
          </a:xfrm>
          <a:prstGeom prst="ellipse">
            <a:avLst/>
          </a:prstGeom>
          <a:solidFill>
            <a:schemeClr val="accent1"/>
          </a:solidFill>
          <a:ln/>
        </p:spPr>
      </p:sp>
      <p:pic>
        <p:nvPicPr>
          <p:cNvPr id="32" name="area 6" descr="area 6">    </p:cNvPr>
          <p:cNvPicPr>
            <a:picLocks noChangeAspect="1"/>
          </p:cNvPicPr>
          <p:nvPr/>
        </p:nvPicPr>
        <p:blipFill>
          <a:blip r:embed="rId6"/>
          <a:stretch>
            <a:fillRect/>
          </a:stretch>
        </p:blipFill>
        <p:spPr>
          <a:xfrm>
            <a:off x="8439455" y="4423410"/>
            <a:ext cx="251460" cy="251460"/>
          </a:xfrm>
          <a:prstGeom prst="rect">
            <a:avLst/>
          </a:prstGeom>
        </p:spPr>
      </p:pic>
      <p:sp>
        <p:nvSpPr>
          <p:cNvPr id="33" name="Text 25"/>
          <p:cNvSpPr txBox="1"/>
          <p:nvPr/>
        </p:nvSpPr>
        <p:spPr>
          <a:xfrm>
            <a:off x="8953805" y="4297680"/>
            <a:ext cx="2424074" cy="502920"/>
          </a:xfrm>
          <a:prstGeom prst="rect">
            <a:avLst/>
          </a:prstGeom>
          <a:noFill/>
          <a:ln/>
        </p:spPr>
        <p:txBody>
          <a:bodyPr wrap="square" lIns="0" tIns="0" rIns="0" bIns="0" rtlCol="0" anchor="ctr"/>
          <a:lstStyle/>
          <a:p>
            <a:pPr indent="0" marL="0">
              <a:buNone/>
            </a:pPr>
            <a:r>
              <a:rPr lang="en-US" sz="1400" b="1" dirty="0">
                <a:solidFill>
                  <a:schemeClr val="tx1"/>
                </a:solidFill>
              </a:rPr>
              <a:t>Tracking &amp; Weekly Report</a:t>
            </a:r>
            <a:endParaRPr lang="en-US" sz="1400" dirty="0"/>
          </a:p>
        </p:txBody>
      </p:sp>
      <p:sp>
        <p:nvSpPr>
          <p:cNvPr id="34" name="Text 26"/>
          <p:cNvSpPr txBox="1"/>
          <p:nvPr/>
        </p:nvSpPr>
        <p:spPr>
          <a:xfrm>
            <a:off x="8313725" y="4937760"/>
            <a:ext cx="2972714" cy="822960"/>
          </a:xfrm>
          <a:prstGeom prst="rect">
            <a:avLst/>
          </a:prstGeom>
          <a:noFill/>
          <a:ln/>
        </p:spPr>
        <p:txBody>
          <a:bodyPr wrap="square" lIns="0" tIns="0" rIns="0" bIns="0" rtlCol="0" anchor="t"/>
          <a:lstStyle/>
          <a:p>
            <a:pPr indent="0" marL="0">
              <a:buNone/>
            </a:pPr>
            <a:r>
              <a:rPr lang="en-US" sz="1200" dirty="0">
                <a:solidFill>
                  <a:schemeClr val="accent3"/>
                </a:solidFill>
              </a:rPr>
              <a:t>A simple customer tracker, plus a weekly enquiry, AR and reactivation report.</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05  ·  DISCOVER</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Securing the Right Hire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Recommended role: Customer Service &amp; Sales Support VA (full-time, 40 hrs/week, Mon–Fri 8am–5pm Sydney time)</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Text 4"/>
          <p:cNvSpPr txBox="1"/>
          <p:nvPr/>
        </p:nvSpPr>
        <p:spPr>
          <a:xfrm>
            <a:off x="905256"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EXPERIENCE</a:t>
            </a:r>
            <a:endParaRPr lang="en-US" sz="1050" dirty="0"/>
          </a:p>
        </p:txBody>
      </p:sp>
      <p:sp>
        <p:nvSpPr>
          <p:cNvPr id="7" name="Text 5"/>
          <p:cNvSpPr txBox="1"/>
          <p:nvPr/>
        </p:nvSpPr>
        <p:spPr>
          <a:xfrm>
            <a:off x="905256"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Customer service, account management, sales support or order processing. B2B or wholesale experience is a bonus, not a must.</a:t>
            </a:r>
            <a:endParaRPr lang="en-US" sz="1250" dirty="0"/>
          </a:p>
        </p:txBody>
      </p:sp>
      <p:sp>
        <p:nvSpPr>
          <p:cNvPr id="8"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9" name="Text 7"/>
          <p:cNvSpPr txBox="1"/>
          <p:nvPr/>
        </p:nvSpPr>
        <p:spPr>
          <a:xfrm>
            <a:off x="6461608" y="219456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KEY SKILLS</a:t>
            </a:r>
            <a:endParaRPr lang="en-US" sz="1050" dirty="0"/>
          </a:p>
        </p:txBody>
      </p:sp>
      <p:sp>
        <p:nvSpPr>
          <p:cNvPr id="10" name="Text 8"/>
          <p:cNvSpPr txBox="1"/>
          <p:nvPr/>
        </p:nvSpPr>
        <p:spPr>
          <a:xfrm>
            <a:off x="6461608" y="251460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Clear written and spoken communication; careful, accurate order entry; confident follow-up on payments and dormant customers; knows when to escalate.</a:t>
            </a:r>
            <a:endParaRPr lang="en-US" sz="1250" dirty="0"/>
          </a:p>
        </p:txBody>
      </p:sp>
      <p:sp>
        <p:nvSpPr>
          <p:cNvPr id="11"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2" name="Text 10"/>
          <p:cNvSpPr txBox="1"/>
          <p:nvPr/>
        </p:nvSpPr>
        <p:spPr>
          <a:xfrm>
            <a:off x="905256"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TOOLS &amp; SYSTEMS</a:t>
            </a:r>
            <a:endParaRPr lang="en-US" sz="1050" dirty="0"/>
          </a:p>
        </p:txBody>
      </p:sp>
      <p:sp>
        <p:nvSpPr>
          <p:cNvPr id="13" name="Text 11"/>
          <p:cNvSpPr txBox="1"/>
          <p:nvPr/>
        </p:nvSpPr>
        <p:spPr>
          <a:xfrm>
            <a:off x="905256"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Shopify and Shopify Inbox, Order Mentor, WhatsApp, Messenger, WeChat, email, internet phone and a simple Excel tracker.</a:t>
            </a:r>
            <a:endParaRPr lang="en-US" sz="1250" dirty="0"/>
          </a:p>
        </p:txBody>
      </p:sp>
      <p:sp>
        <p:nvSpPr>
          <p:cNvPr id="14"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15" name="Text 13"/>
          <p:cNvSpPr txBox="1"/>
          <p:nvPr/>
        </p:nvSpPr>
        <p:spPr>
          <a:xfrm>
            <a:off x="6461608" y="406908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PERSONALITY &amp; CULTURE FIT</a:t>
            </a:r>
            <a:endParaRPr lang="en-US" sz="1050" dirty="0"/>
          </a:p>
        </p:txBody>
      </p:sp>
      <p:sp>
        <p:nvSpPr>
          <p:cNvPr id="16" name="Text 14"/>
          <p:cNvSpPr txBox="1"/>
          <p:nvPr/>
        </p:nvSpPr>
        <p:spPr>
          <a:xfrm>
            <a:off x="6461608" y="4389120"/>
            <a:ext cx="4824832" cy="1051560"/>
          </a:xfrm>
          <a:prstGeom prst="rect">
            <a:avLst/>
          </a:prstGeom>
          <a:noFill/>
          <a:ln/>
        </p:spPr>
        <p:txBody>
          <a:bodyPr wrap="square" lIns="0" tIns="0" rIns="0" bIns="0" rtlCol="0" anchor="t"/>
          <a:lstStyle/>
          <a:p>
            <a:pPr indent="0" marL="0">
              <a:buNone/>
            </a:pPr>
            <a:r>
              <a:rPr lang="en-US" sz="1250" dirty="0">
                <a:solidFill>
                  <a:schemeClr val="accent3"/>
                </a:solidFill>
              </a:rPr>
              <a:t>Accountable, patient and detail-oriented. Makes sure each customer’s question is actually answered, not just acknowledged, and follows up without reminders.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Investment Overview</a:t>
            </a:r>
            <a:endParaRPr lang="en-US" sz="3000" dirty="0"/>
          </a:p>
        </p:txBody>
      </p:sp>
      <p:sp>
        <p:nvSpPr>
          <p:cNvPr id="4" name="card"/>
          <p:cNvSpPr/>
          <p:nvPr/>
        </p:nvSpPr>
        <p:spPr>
          <a:xfrm>
            <a:off x="630936" y="1508760"/>
            <a:ext cx="5327752" cy="1737360"/>
          </a:xfrm>
          <a:prstGeom prst="roundRect">
            <a:avLst>
              <a:gd name="adj" fmla="val 4211"/>
            </a:avLst>
          </a:prstGeom>
          <a:solidFill>
            <a:schemeClr val="bg1"/>
          </a:solidFill>
          <a:ln w="12700">
            <a:solidFill>
              <a:schemeClr val="accent1"/>
            </a:solidFill>
            <a:prstDash val="solid"/>
          </a:ln>
        </p:spPr>
      </p:sp>
      <p:sp>
        <p:nvSpPr>
          <p:cNvPr id="5" name="Text 3"/>
          <p:cNvSpPr txBox="1"/>
          <p:nvPr/>
        </p:nvSpPr>
        <p:spPr>
          <a:xfrm>
            <a:off x="950976"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ANGEL MANAGED  ·  10% DISCOUNT</a:t>
            </a:r>
            <a:endParaRPr lang="en-US" sz="1050" dirty="0"/>
          </a:p>
        </p:txBody>
      </p:sp>
      <p:sp>
        <p:nvSpPr>
          <p:cNvPr id="6" name="Text 4"/>
          <p:cNvSpPr txBox="1"/>
          <p:nvPr/>
        </p:nvSpPr>
        <p:spPr>
          <a:xfrm>
            <a:off x="950976" y="2057400"/>
            <a:ext cx="4687672" cy="64008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$1,080</a:t>
            </a:r>
            <a:endParaRPr lang="en-US" sz="3200" dirty="0"/>
          </a:p>
        </p:txBody>
      </p:sp>
      <p:sp>
        <p:nvSpPr>
          <p:cNvPr id="7" name="Text 5"/>
          <p:cNvSpPr txBox="1"/>
          <p:nvPr/>
        </p:nvSpPr>
        <p:spPr>
          <a:xfrm>
            <a:off x="950976"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month agency fee  ·  excl. GST</a:t>
            </a:r>
            <a:endParaRPr lang="en-US" sz="1250" dirty="0"/>
          </a:p>
        </p:txBody>
      </p:sp>
      <p:sp>
        <p:nvSpPr>
          <p:cNvPr id="8" name="card"/>
          <p:cNvSpPr/>
          <p:nvPr/>
        </p:nvSpPr>
        <p:spPr>
          <a:xfrm>
            <a:off x="6233008" y="1508760"/>
            <a:ext cx="5327752" cy="1737360"/>
          </a:xfrm>
          <a:prstGeom prst="roundRect">
            <a:avLst>
              <a:gd name="adj" fmla="val 4211"/>
            </a:avLst>
          </a:prstGeom>
          <a:solidFill>
            <a:schemeClr val="bg2"/>
          </a:solidFill>
          <a:ln/>
        </p:spPr>
      </p:sp>
      <p:sp>
        <p:nvSpPr>
          <p:cNvPr id="9" name="Text 7"/>
          <p:cNvSpPr txBox="1"/>
          <p:nvPr/>
        </p:nvSpPr>
        <p:spPr>
          <a:xfrm>
            <a:off x="6553048" y="1737360"/>
            <a:ext cx="468767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PLUS YOUR VA’S RATE  ·  FULL-TIME</a:t>
            </a:r>
            <a:endParaRPr lang="en-US" sz="1050" dirty="0"/>
          </a:p>
        </p:txBody>
      </p:sp>
      <p:sp>
        <p:nvSpPr>
          <p:cNvPr id="10" name="Text 8"/>
          <p:cNvSpPr txBox="1"/>
          <p:nvPr/>
        </p:nvSpPr>
        <p:spPr>
          <a:xfrm>
            <a:off x="6553048" y="2057400"/>
            <a:ext cx="4687672" cy="64008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$13 – $16</a:t>
            </a:r>
            <a:endParaRPr lang="en-US" sz="3200" dirty="0"/>
          </a:p>
        </p:txBody>
      </p:sp>
      <p:sp>
        <p:nvSpPr>
          <p:cNvPr id="11" name="Text 9"/>
          <p:cNvSpPr txBox="1"/>
          <p:nvPr/>
        </p:nvSpPr>
        <p:spPr>
          <a:xfrm>
            <a:off x="6553048" y="2697480"/>
            <a:ext cx="4687672" cy="320040"/>
          </a:xfrm>
          <a:prstGeom prst="rect">
            <a:avLst/>
          </a:prstGeom>
          <a:noFill/>
          <a:ln/>
        </p:spPr>
        <p:txBody>
          <a:bodyPr wrap="square" lIns="0" tIns="0" rIns="0" bIns="0" rtlCol="0" anchor="ctr"/>
          <a:lstStyle/>
          <a:p>
            <a:pPr indent="0" marL="0">
              <a:buNone/>
            </a:pPr>
            <a:r>
              <a:rPr lang="en-US" sz="1250" dirty="0">
                <a:solidFill>
                  <a:schemeClr val="accent3"/>
                </a:solidFill>
              </a:rPr>
              <a:t>AUD / hour  ·  40 hrs/week  ·  indicative</a:t>
            </a:r>
            <a:endParaRPr lang="en-US" sz="1250" dirty="0"/>
          </a:p>
        </p:txBody>
      </p:sp>
      <p:sp>
        <p:nvSpPr>
          <p:cNvPr id="12" name="card"/>
          <p:cNvSpPr/>
          <p:nvPr/>
        </p:nvSpPr>
        <p:spPr>
          <a:xfrm>
            <a:off x="630936" y="3474720"/>
            <a:ext cx="10929823" cy="1051560"/>
          </a:xfrm>
          <a:prstGeom prst="roundRect">
            <a:avLst>
              <a:gd name="adj" fmla="val 6957"/>
            </a:avLst>
          </a:prstGeom>
          <a:solidFill>
            <a:schemeClr val="bg2"/>
          </a:solidFill>
          <a:ln/>
        </p:spPr>
      </p:sp>
      <p:sp>
        <p:nvSpPr>
          <p:cNvPr id="13" name="Text 11"/>
          <p:cNvSpPr txBox="1"/>
          <p:nvPr/>
        </p:nvSpPr>
        <p:spPr>
          <a:xfrm>
            <a:off x="950976" y="3474720"/>
            <a:ext cx="10289743" cy="1051560"/>
          </a:xfrm>
          <a:prstGeom prst="rect">
            <a:avLst/>
          </a:prstGeom>
          <a:noFill/>
          <a:ln/>
        </p:spPr>
        <p:txBody>
          <a:bodyPr wrap="square" lIns="0" tIns="0" rIns="0" bIns="0" rtlCol="0" anchor="ctr"/>
          <a:lstStyle/>
          <a:p>
            <a:pPr indent="0" marL="0">
              <a:buNone/>
            </a:pPr>
            <a:r>
              <a:rPr lang="en-US" sz="1250" b="1" dirty="0">
                <a:solidFill>
                  <a:schemeClr val="tx1"/>
                </a:solidFill>
              </a:rPr>
              <a:t>Breakdown: </a:t>
            </a:r>
            <a:pPr indent="0" marL="0">
              <a:buNone/>
            </a:pPr>
            <a:r>
              <a:rPr lang="en-US" sz="1250" dirty="0">
                <a:solidFill>
                  <a:schemeClr val="accent3"/>
                </a:solidFill>
              </a:rPr>
              <a:t>the agency fee (normally $1,200) covers recruitment, payroll, health vouchers, incentives, bonuses, meet-ups and HR support. Your VA’s hourly rate is paid to them in full; you see each candidate’s asking rate on their profile.</a:t>
            </a:r>
            <a:endParaRPr lang="en-US" sz="1250" dirty="0"/>
          </a:p>
        </p:txBody>
      </p:sp>
      <p:sp>
        <p:nvSpPr>
          <p:cNvPr id="14" name="card"/>
          <p:cNvSpPr/>
          <p:nvPr/>
        </p:nvSpPr>
        <p:spPr>
          <a:xfrm>
            <a:off x="630936" y="4709160"/>
            <a:ext cx="10929823" cy="1051560"/>
          </a:xfrm>
          <a:prstGeom prst="roundRect">
            <a:avLst>
              <a:gd name="adj" fmla="val 6957"/>
            </a:avLst>
          </a:prstGeom>
          <a:solidFill>
            <a:schemeClr val="accent4"/>
          </a:solidFill>
          <a:ln/>
        </p:spPr>
      </p:sp>
      <p:sp>
        <p:nvSpPr>
          <p:cNvPr id="15" name="Text 13"/>
          <p:cNvSpPr txBox="1"/>
          <p:nvPr/>
        </p:nvSpPr>
        <p:spPr>
          <a:xfrm>
            <a:off x="950976" y="4709160"/>
            <a:ext cx="10289743" cy="1051560"/>
          </a:xfrm>
          <a:prstGeom prst="rect">
            <a:avLst/>
          </a:prstGeom>
          <a:noFill/>
          <a:ln/>
        </p:spPr>
        <p:txBody>
          <a:bodyPr wrap="square" lIns="0" tIns="0" rIns="0" bIns="0" rtlCol="0" anchor="ctr"/>
          <a:lstStyle/>
          <a:p>
            <a:pPr indent="0" marL="0">
              <a:buNone/>
            </a:pPr>
            <a:r>
              <a:rPr lang="en-US" sz="1250" b="1" dirty="0">
                <a:solidFill>
                  <a:schemeClr val="accent1"/>
                </a:solidFill>
              </a:rPr>
              <a:t>Terms discussed: </a:t>
            </a:r>
            <a:pPr indent="0" marL="0">
              <a:buNone/>
            </a:pPr>
            <a:r>
              <a:rPr lang="en-US" sz="1250" dirty="0">
                <a:solidFill>
                  <a:schemeClr val="tx1"/>
                </a:solidFill>
              </a:rPr>
              <a:t>$500 refundable deposit (paid 30 September) · 3-month minimum, then 30-day notice · free replacement any time, with a 1-week trial and no billing until you’re happy · first review after two months.</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A  ·  07</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Next Steps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We check in at every stage. If something isn’t working, we adjust. If it’s working, we build on it.</a:t>
            </a:r>
            <a:endParaRPr lang="en-US" sz="1300" dirty="0"/>
          </a:p>
        </p:txBody>
      </p:sp>
      <p:sp>
        <p:nvSpPr>
          <p:cNvPr id="5" name="card"/>
          <p:cNvSpPr/>
          <p:nvPr/>
        </p:nvSpPr>
        <p:spPr>
          <a:xfrm>
            <a:off x="630936" y="2011680"/>
            <a:ext cx="10929823" cy="640080"/>
          </a:xfrm>
          <a:prstGeom prst="roundRect">
            <a:avLst>
              <a:gd name="adj" fmla="val 11429"/>
            </a:avLst>
          </a:prstGeom>
          <a:solidFill>
            <a:schemeClr val="bg1"/>
          </a:solidFill>
          <a:ln w="12700">
            <a:solidFill>
              <a:schemeClr val="accent5"/>
            </a:solidFill>
            <a:prstDash val="solid"/>
          </a:ln>
        </p:spPr>
      </p:sp>
      <p:sp>
        <p:nvSpPr>
          <p:cNvPr id="6" name="number 1"/>
          <p:cNvSpPr/>
          <p:nvPr/>
        </p:nvSpPr>
        <p:spPr>
          <a:xfrm>
            <a:off x="859536" y="2139696"/>
            <a:ext cx="384048" cy="384048"/>
          </a:xfrm>
          <a:prstGeom prst="ellipse">
            <a:avLst/>
          </a:prstGeom>
          <a:solidFill>
            <a:schemeClr val="accent1"/>
          </a:solidFill>
          <a:ln/>
        </p:spPr>
      </p:sp>
      <p:sp>
        <p:nvSpPr>
          <p:cNvPr id="7" name="Text 5"/>
          <p:cNvSpPr txBox="1"/>
          <p:nvPr/>
        </p:nvSpPr>
        <p:spPr>
          <a:xfrm>
            <a:off x="859536" y="213969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011680"/>
            <a:ext cx="9832543" cy="640080"/>
          </a:xfrm>
          <a:prstGeom prst="rect">
            <a:avLst/>
          </a:prstGeom>
          <a:noFill/>
          <a:ln/>
        </p:spPr>
        <p:txBody>
          <a:bodyPr wrap="square" lIns="0" tIns="0" rIns="0" bIns="0" rtlCol="0" anchor="ctr"/>
          <a:lstStyle/>
          <a:p>
            <a:pPr indent="0" marL="0">
              <a:buNone/>
            </a:pPr>
            <a:r>
              <a:rPr lang="en-US" sz="1400" dirty="0">
                <a:solidFill>
                  <a:schemeClr val="tx1"/>
                </a:solidFill>
              </a:rPr>
              <a:t>Deposit paid (30 September) and Alignment Session held (6 October)</a:t>
            </a:r>
            <a:endParaRPr lang="en-US" sz="1400" dirty="0"/>
          </a:p>
        </p:txBody>
      </p:sp>
      <p:sp>
        <p:nvSpPr>
          <p:cNvPr id="9" name="card"/>
          <p:cNvSpPr/>
          <p:nvPr/>
        </p:nvSpPr>
        <p:spPr>
          <a:xfrm>
            <a:off x="630936" y="2788920"/>
            <a:ext cx="10929823" cy="640080"/>
          </a:xfrm>
          <a:prstGeom prst="roundRect">
            <a:avLst>
              <a:gd name="adj" fmla="val 11429"/>
            </a:avLst>
          </a:prstGeom>
          <a:solidFill>
            <a:schemeClr val="bg1"/>
          </a:solidFill>
          <a:ln w="12700">
            <a:solidFill>
              <a:schemeClr val="accent5"/>
            </a:solidFill>
            <a:prstDash val="solid"/>
          </a:ln>
        </p:spPr>
      </p:sp>
      <p:sp>
        <p:nvSpPr>
          <p:cNvPr id="10" name="number 2"/>
          <p:cNvSpPr/>
          <p:nvPr/>
        </p:nvSpPr>
        <p:spPr>
          <a:xfrm>
            <a:off x="859536" y="2916936"/>
            <a:ext cx="384048" cy="384048"/>
          </a:xfrm>
          <a:prstGeom prst="ellipse">
            <a:avLst/>
          </a:prstGeom>
          <a:solidFill>
            <a:schemeClr val="accent1"/>
          </a:solidFill>
          <a:ln/>
        </p:spPr>
      </p:sp>
      <p:sp>
        <p:nvSpPr>
          <p:cNvPr id="11" name="Text 9"/>
          <p:cNvSpPr txBox="1"/>
          <p:nvPr/>
        </p:nvSpPr>
        <p:spPr>
          <a:xfrm>
            <a:off x="859536" y="291693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53896" y="2788920"/>
            <a:ext cx="9832543" cy="640080"/>
          </a:xfrm>
          <a:prstGeom prst="rect">
            <a:avLst/>
          </a:prstGeom>
          <a:noFill/>
          <a:ln/>
        </p:spPr>
        <p:txBody>
          <a:bodyPr wrap="square" lIns="0" tIns="0" rIns="0" bIns="0" rtlCol="0" anchor="ctr"/>
          <a:lstStyle/>
          <a:p>
            <a:pPr indent="0" marL="0">
              <a:buNone/>
            </a:pPr>
            <a:r>
              <a:rPr lang="en-US" sz="1400" dirty="0">
                <a:solidFill>
                  <a:schemeClr val="tx1"/>
                </a:solidFill>
              </a:rPr>
              <a:t>Candidate profiles shared (14 October) and interviews booked</a:t>
            </a:r>
            <a:endParaRPr lang="en-US" sz="1400" dirty="0"/>
          </a:p>
        </p:txBody>
      </p:sp>
      <p:sp>
        <p:nvSpPr>
          <p:cNvPr id="13" name="card"/>
          <p:cNvSpPr/>
          <p:nvPr/>
        </p:nvSpPr>
        <p:spPr>
          <a:xfrm>
            <a:off x="630936" y="3566160"/>
            <a:ext cx="10929823" cy="640080"/>
          </a:xfrm>
          <a:prstGeom prst="roundRect">
            <a:avLst>
              <a:gd name="adj" fmla="val 11429"/>
            </a:avLst>
          </a:prstGeom>
          <a:solidFill>
            <a:schemeClr val="bg1"/>
          </a:solidFill>
          <a:ln w="12700">
            <a:solidFill>
              <a:schemeClr val="accent5"/>
            </a:solidFill>
            <a:prstDash val="solid"/>
          </a:ln>
        </p:spPr>
      </p:sp>
      <p:sp>
        <p:nvSpPr>
          <p:cNvPr id="14" name="number 3"/>
          <p:cNvSpPr/>
          <p:nvPr/>
        </p:nvSpPr>
        <p:spPr>
          <a:xfrm>
            <a:off x="859536" y="3694176"/>
            <a:ext cx="384048" cy="384048"/>
          </a:xfrm>
          <a:prstGeom prst="ellipse">
            <a:avLst/>
          </a:prstGeom>
          <a:solidFill>
            <a:schemeClr val="accent1"/>
          </a:solidFill>
          <a:ln/>
        </p:spPr>
      </p:sp>
      <p:sp>
        <p:nvSpPr>
          <p:cNvPr id="15" name="Text 13"/>
          <p:cNvSpPr txBox="1"/>
          <p:nvPr/>
        </p:nvSpPr>
        <p:spPr>
          <a:xfrm>
            <a:off x="859536" y="369417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6" name="Text 14"/>
          <p:cNvSpPr txBox="1"/>
          <p:nvPr/>
        </p:nvSpPr>
        <p:spPr>
          <a:xfrm>
            <a:off x="1453896" y="3566160"/>
            <a:ext cx="9832543" cy="640080"/>
          </a:xfrm>
          <a:prstGeom prst="rect">
            <a:avLst/>
          </a:prstGeom>
          <a:noFill/>
          <a:ln/>
        </p:spPr>
        <p:txBody>
          <a:bodyPr wrap="square" lIns="0" tIns="0" rIns="0" bIns="0" rtlCol="0" anchor="ctr"/>
          <a:lstStyle/>
          <a:p>
            <a:pPr indent="0" marL="0">
              <a:buNone/>
            </a:pPr>
            <a:r>
              <a:rPr lang="en-US" sz="1400" dirty="0">
                <a:solidFill>
                  <a:schemeClr val="tx1"/>
                </a:solidFill>
              </a:rPr>
              <a:t>Hank interviews and selects his VA, with an optional skills test first</a:t>
            </a:r>
            <a:endParaRPr lang="en-US" sz="1400" dirty="0"/>
          </a:p>
        </p:txBody>
      </p:sp>
      <p:sp>
        <p:nvSpPr>
          <p:cNvPr id="17" name="card"/>
          <p:cNvSpPr/>
          <p:nvPr/>
        </p:nvSpPr>
        <p:spPr>
          <a:xfrm>
            <a:off x="630936" y="4343400"/>
            <a:ext cx="10929823" cy="640080"/>
          </a:xfrm>
          <a:prstGeom prst="roundRect">
            <a:avLst>
              <a:gd name="adj" fmla="val 11429"/>
            </a:avLst>
          </a:prstGeom>
          <a:solidFill>
            <a:schemeClr val="bg1"/>
          </a:solidFill>
          <a:ln w="12700">
            <a:solidFill>
              <a:schemeClr val="accent5"/>
            </a:solidFill>
            <a:prstDash val="solid"/>
          </a:ln>
        </p:spPr>
      </p:sp>
      <p:sp>
        <p:nvSpPr>
          <p:cNvPr id="18" name="number 4"/>
          <p:cNvSpPr/>
          <p:nvPr/>
        </p:nvSpPr>
        <p:spPr>
          <a:xfrm>
            <a:off x="859536" y="4471416"/>
            <a:ext cx="384048" cy="384048"/>
          </a:xfrm>
          <a:prstGeom prst="ellipse">
            <a:avLst/>
          </a:prstGeom>
          <a:solidFill>
            <a:schemeClr val="accent1"/>
          </a:solidFill>
          <a:ln/>
        </p:spPr>
      </p:sp>
      <p:sp>
        <p:nvSpPr>
          <p:cNvPr id="19" name="Text 17"/>
          <p:cNvSpPr txBox="1"/>
          <p:nvPr/>
        </p:nvSpPr>
        <p:spPr>
          <a:xfrm>
            <a:off x="859536" y="4471416"/>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0" name="Text 18"/>
          <p:cNvSpPr txBox="1"/>
          <p:nvPr/>
        </p:nvSpPr>
        <p:spPr>
          <a:xfrm>
            <a:off x="1453896" y="4343400"/>
            <a:ext cx="9832543" cy="640080"/>
          </a:xfrm>
          <a:prstGeom prst="rect">
            <a:avLst/>
          </a:prstGeom>
          <a:noFill/>
          <a:ln/>
        </p:spPr>
        <p:txBody>
          <a:bodyPr wrap="square" lIns="0" tIns="0" rIns="0" bIns="0" rtlCol="0" anchor="ctr"/>
          <a:lstStyle/>
          <a:p>
            <a:pPr indent="0" marL="0">
              <a:buNone/>
            </a:pPr>
            <a:r>
              <a:rPr lang="en-US" sz="1400" b="1" dirty="0">
                <a:solidFill>
                  <a:schemeClr val="tx1"/>
                </a:solidFill>
              </a:rPr>
              <a:t>Kick-off: confirm KPIs and escalation rules, and start Part B together</a:t>
            </a:r>
            <a:endParaRPr lang="en-US" sz="1400" dirty="0"/>
          </a:p>
        </p:txBody>
      </p:sp>
      <p:sp>
        <p:nvSpPr>
          <p:cNvPr id="21" name="callout"/>
          <p:cNvSpPr/>
          <p:nvPr/>
        </p:nvSpPr>
        <p:spPr>
          <a:xfrm>
            <a:off x="630936" y="5257800"/>
            <a:ext cx="10929823" cy="548640"/>
          </a:xfrm>
          <a:prstGeom prst="roundRect">
            <a:avLst>
              <a:gd name="adj" fmla="val 13333"/>
            </a:avLst>
          </a:prstGeom>
          <a:solidFill>
            <a:schemeClr val="accent4"/>
          </a:solidFill>
          <a:ln/>
        </p:spPr>
      </p:sp>
      <p:sp>
        <p:nvSpPr>
          <p:cNvPr id="22" name="Text 20"/>
          <p:cNvSpPr txBox="1"/>
          <p:nvPr/>
        </p:nvSpPr>
        <p:spPr>
          <a:xfrm>
            <a:off x="859536" y="525780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From kick-off onwards, Part B becomes your working plan.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PART B</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Your Freedom Playbook</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The part you keep. Use it at every check-in with your VA and your Outsourcing Angel team, from Day 1 to Month 12 and beyond.</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1 OF 4  ·  FIRST-TIME CLIENTS</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Get Ready for Day 1</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Hiring your first offshore team member? These four pages help you start strong. Worked with a VA before? Skim them.</a:t>
            </a:r>
            <a:endParaRPr lang="en-US" sz="1300" dirty="0"/>
          </a:p>
        </p:txBody>
      </p:sp>
      <p:sp>
        <p:nvSpPr>
          <p:cNvPr id="5" name="card"/>
          <p:cNvSpPr/>
          <p:nvPr/>
        </p:nvSpPr>
        <p:spPr>
          <a:xfrm>
            <a:off x="630936" y="1965960"/>
            <a:ext cx="5669280" cy="4160520"/>
          </a:xfrm>
          <a:prstGeom prst="roundRect">
            <a:avLst>
              <a:gd name="adj" fmla="val 1758"/>
            </a:avLst>
          </a:prstGeom>
          <a:solidFill>
            <a:schemeClr val="bg1"/>
          </a:solidFill>
          <a:ln w="12700">
            <a:solidFill>
              <a:schemeClr val="accent5"/>
            </a:solidFill>
            <a:prstDash val="solid"/>
          </a:ln>
        </p:spPr>
      </p:sp>
      <p:sp>
        <p:nvSpPr>
          <p:cNvPr id="6" name="Text 4"/>
          <p:cNvSpPr txBox="1"/>
          <p:nvPr/>
        </p:nvSpPr>
        <p:spPr>
          <a:xfrm>
            <a:off x="905256" y="2148840"/>
            <a:ext cx="512064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SETUP CHECKLIST: BEFORE DAY 1</a:t>
            </a:r>
            <a:endParaRPr lang="en-US" sz="1050" dirty="0"/>
          </a:p>
        </p:txBody>
      </p:sp>
      <p:sp>
        <p:nvSpPr>
          <p:cNvPr id="7" name="Text 5"/>
          <p:cNvSpPr txBox="1"/>
          <p:nvPr/>
        </p:nvSpPr>
        <p:spPr>
          <a:xfrm>
            <a:off x="905256" y="254203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8" name="Text 6"/>
          <p:cNvSpPr txBox="1"/>
          <p:nvPr/>
        </p:nvSpPr>
        <p:spPr>
          <a:xfrm>
            <a:off x="1316736" y="2542032"/>
            <a:ext cx="4754880" cy="365760"/>
          </a:xfrm>
          <a:prstGeom prst="rect">
            <a:avLst/>
          </a:prstGeom>
          <a:noFill/>
          <a:ln/>
        </p:spPr>
        <p:txBody>
          <a:bodyPr wrap="square" lIns="0" tIns="0" rIns="0" bIns="0" rtlCol="0" anchor="ctr"/>
          <a:lstStyle/>
          <a:p>
            <a:pPr indent="0" marL="0">
              <a:buNone/>
            </a:pPr>
            <a:r>
              <a:rPr lang="en-US" sz="1300" dirty="0">
                <a:solidFill>
                  <a:schemeClr val="tx1"/>
                </a:solidFill>
              </a:rPr>
              <a:t>Company email and Shopify staff account set up</a:t>
            </a:r>
            <a:endParaRPr lang="en-US" sz="1300" dirty="0"/>
          </a:p>
        </p:txBody>
      </p:sp>
      <p:sp>
        <p:nvSpPr>
          <p:cNvPr id="9" name="Text 7"/>
          <p:cNvSpPr txBox="1"/>
          <p:nvPr/>
        </p:nvSpPr>
        <p:spPr>
          <a:xfrm>
            <a:off x="905256" y="303580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0" name="Text 8"/>
          <p:cNvSpPr txBox="1"/>
          <p:nvPr/>
        </p:nvSpPr>
        <p:spPr>
          <a:xfrm>
            <a:off x="1316736" y="3035808"/>
            <a:ext cx="4754880" cy="365760"/>
          </a:xfrm>
          <a:prstGeom prst="rect">
            <a:avLst/>
          </a:prstGeom>
          <a:noFill/>
          <a:ln/>
        </p:spPr>
        <p:txBody>
          <a:bodyPr wrap="square" lIns="0" tIns="0" rIns="0" bIns="0" rtlCol="0" anchor="ctr"/>
          <a:lstStyle/>
          <a:p>
            <a:pPr indent="0" marL="0">
              <a:buNone/>
            </a:pPr>
            <a:r>
              <a:rPr lang="en-US" sz="1300" dirty="0">
                <a:solidFill>
                  <a:schemeClr val="tx1"/>
                </a:solidFill>
              </a:rPr>
              <a:t>Order Mentor access, with the right permissions</a:t>
            </a:r>
            <a:endParaRPr lang="en-US" sz="1300" dirty="0"/>
          </a:p>
        </p:txBody>
      </p:sp>
      <p:sp>
        <p:nvSpPr>
          <p:cNvPr id="11" name="Text 9"/>
          <p:cNvSpPr txBox="1"/>
          <p:nvPr/>
        </p:nvSpPr>
        <p:spPr>
          <a:xfrm>
            <a:off x="905256" y="3529584"/>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2" name="Text 10"/>
          <p:cNvSpPr txBox="1"/>
          <p:nvPr/>
        </p:nvSpPr>
        <p:spPr>
          <a:xfrm>
            <a:off x="1316736" y="3529584"/>
            <a:ext cx="4754880" cy="365760"/>
          </a:xfrm>
          <a:prstGeom prst="rect">
            <a:avLst/>
          </a:prstGeom>
          <a:noFill/>
          <a:ln/>
        </p:spPr>
        <p:txBody>
          <a:bodyPr wrap="square" lIns="0" tIns="0" rIns="0" bIns="0" rtlCol="0" anchor="ctr"/>
          <a:lstStyle/>
          <a:p>
            <a:pPr indent="0" marL="0">
              <a:buNone/>
            </a:pPr>
            <a:r>
              <a:rPr lang="en-US" sz="1300" dirty="0">
                <a:solidFill>
                  <a:schemeClr val="tx1"/>
                </a:solidFill>
              </a:rPr>
              <a:t>A password manager to share logins safely</a:t>
            </a:r>
            <a:endParaRPr lang="en-US" sz="1300" dirty="0"/>
          </a:p>
        </p:txBody>
      </p:sp>
      <p:sp>
        <p:nvSpPr>
          <p:cNvPr id="13" name="Text 11"/>
          <p:cNvSpPr txBox="1"/>
          <p:nvPr/>
        </p:nvSpPr>
        <p:spPr>
          <a:xfrm>
            <a:off x="905256" y="4023360"/>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4" name="Text 12"/>
          <p:cNvSpPr txBox="1"/>
          <p:nvPr/>
        </p:nvSpPr>
        <p:spPr>
          <a:xfrm>
            <a:off x="1316736" y="4023360"/>
            <a:ext cx="4754880" cy="365760"/>
          </a:xfrm>
          <a:prstGeom prst="rect">
            <a:avLst/>
          </a:prstGeom>
          <a:noFill/>
          <a:ln/>
        </p:spPr>
        <p:txBody>
          <a:bodyPr wrap="square" lIns="0" tIns="0" rIns="0" bIns="0" rtlCol="0" anchor="ctr"/>
          <a:lstStyle/>
          <a:p>
            <a:pPr indent="0" marL="0">
              <a:buNone/>
            </a:pPr>
            <a:r>
              <a:rPr lang="en-US" sz="1300" dirty="0">
                <a:solidFill>
                  <a:schemeClr val="tx1"/>
                </a:solidFill>
              </a:rPr>
              <a:t>Two-factor authentication switched on</a:t>
            </a:r>
            <a:endParaRPr lang="en-US" sz="1300" dirty="0"/>
          </a:p>
        </p:txBody>
      </p:sp>
      <p:sp>
        <p:nvSpPr>
          <p:cNvPr id="15" name="Text 13"/>
          <p:cNvSpPr txBox="1"/>
          <p:nvPr/>
        </p:nvSpPr>
        <p:spPr>
          <a:xfrm>
            <a:off x="905256" y="4517136"/>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6" name="Text 14"/>
          <p:cNvSpPr txBox="1"/>
          <p:nvPr/>
        </p:nvSpPr>
        <p:spPr>
          <a:xfrm>
            <a:off x="1316736" y="4517136"/>
            <a:ext cx="4754880" cy="365760"/>
          </a:xfrm>
          <a:prstGeom prst="rect">
            <a:avLst/>
          </a:prstGeom>
          <a:noFill/>
          <a:ln/>
        </p:spPr>
        <p:txBody>
          <a:bodyPr wrap="square" lIns="0" tIns="0" rIns="0" bIns="0" rtlCol="0" anchor="ctr"/>
          <a:lstStyle/>
          <a:p>
            <a:pPr indent="0" marL="0">
              <a:buNone/>
            </a:pPr>
            <a:r>
              <a:rPr lang="en-US" sz="1300" dirty="0">
                <a:solidFill>
                  <a:schemeClr val="tx1"/>
                </a:solidFill>
              </a:rPr>
              <a:t>Templates, product manual and FAQs shared</a:t>
            </a:r>
            <a:endParaRPr lang="en-US" sz="1300" dirty="0"/>
          </a:p>
        </p:txBody>
      </p:sp>
      <p:sp>
        <p:nvSpPr>
          <p:cNvPr id="17" name="Text 15"/>
          <p:cNvSpPr txBox="1"/>
          <p:nvPr/>
        </p:nvSpPr>
        <p:spPr>
          <a:xfrm>
            <a:off x="905256" y="5010912"/>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18" name="Text 16"/>
          <p:cNvSpPr txBox="1"/>
          <p:nvPr/>
        </p:nvSpPr>
        <p:spPr>
          <a:xfrm>
            <a:off x="1316736" y="5010912"/>
            <a:ext cx="4754880" cy="365760"/>
          </a:xfrm>
          <a:prstGeom prst="rect">
            <a:avLst/>
          </a:prstGeom>
          <a:noFill/>
          <a:ln/>
        </p:spPr>
        <p:txBody>
          <a:bodyPr wrap="square" lIns="0" tIns="0" rIns="0" bIns="0" rtlCol="0" anchor="ctr"/>
          <a:lstStyle/>
          <a:p>
            <a:pPr indent="0" marL="0">
              <a:buNone/>
            </a:pPr>
            <a:r>
              <a:rPr lang="en-US" sz="1300" dirty="0">
                <a:solidFill>
                  <a:schemeClr val="tx1"/>
                </a:solidFill>
              </a:rPr>
              <a:t>WhatsApp, WeChat and Messenger access sorted</a:t>
            </a:r>
            <a:endParaRPr lang="en-US" sz="1300" dirty="0"/>
          </a:p>
        </p:txBody>
      </p:sp>
      <p:sp>
        <p:nvSpPr>
          <p:cNvPr id="19" name="Text 17"/>
          <p:cNvSpPr txBox="1"/>
          <p:nvPr/>
        </p:nvSpPr>
        <p:spPr>
          <a:xfrm>
            <a:off x="905256" y="5504688"/>
            <a:ext cx="320040" cy="365760"/>
          </a:xfrm>
          <a:prstGeom prst="rect">
            <a:avLst/>
          </a:prstGeom>
          <a:noFill/>
          <a:ln/>
        </p:spPr>
        <p:txBody>
          <a:bodyPr wrap="square" lIns="0" tIns="0" rIns="0" bIns="0" rtlCol="0" anchor="ctr"/>
          <a:lstStyle/>
          <a:p>
            <a:pPr indent="0" marL="0">
              <a:buNone/>
            </a:pPr>
            <a:r>
              <a:rPr lang="en-US" sz="1600" dirty="0">
                <a:solidFill>
                  <a:schemeClr val="accent1"/>
                </a:solidFill>
              </a:rPr>
              <a:t>☐</a:t>
            </a:r>
            <a:endParaRPr lang="en-US" sz="1600" dirty="0"/>
          </a:p>
        </p:txBody>
      </p:sp>
      <p:sp>
        <p:nvSpPr>
          <p:cNvPr id="20" name="Text 18"/>
          <p:cNvSpPr txBox="1"/>
          <p:nvPr/>
        </p:nvSpPr>
        <p:spPr>
          <a:xfrm>
            <a:off x="1316736" y="5504688"/>
            <a:ext cx="4754880" cy="365760"/>
          </a:xfrm>
          <a:prstGeom prst="rect">
            <a:avLst/>
          </a:prstGeom>
          <a:noFill/>
          <a:ln/>
        </p:spPr>
        <p:txBody>
          <a:bodyPr wrap="square" lIns="0" tIns="0" rIns="0" bIns="0" rtlCol="0" anchor="ctr"/>
          <a:lstStyle/>
          <a:p>
            <a:pPr indent="0" marL="0">
              <a:buNone/>
            </a:pPr>
            <a:r>
              <a:rPr lang="en-US" sz="1300" dirty="0">
                <a:solidFill>
                  <a:schemeClr val="tx1"/>
                </a:solidFill>
              </a:rPr>
              <a:t>Confidentiality agreement signed</a:t>
            </a:r>
            <a:endParaRPr lang="en-US" sz="1300" dirty="0"/>
          </a:p>
        </p:txBody>
      </p:sp>
      <p:sp>
        <p:nvSpPr>
          <p:cNvPr id="21" name="card"/>
          <p:cNvSpPr/>
          <p:nvPr/>
        </p:nvSpPr>
        <p:spPr>
          <a:xfrm>
            <a:off x="6528816" y="1965960"/>
            <a:ext cx="5031943" cy="1920240"/>
          </a:xfrm>
          <a:prstGeom prst="roundRect">
            <a:avLst>
              <a:gd name="adj" fmla="val 3810"/>
            </a:avLst>
          </a:prstGeom>
          <a:solidFill>
            <a:schemeClr val="accent4"/>
          </a:solidFill>
          <a:ln/>
        </p:spPr>
      </p:sp>
      <p:sp>
        <p:nvSpPr>
          <p:cNvPr id="22" name="Text 20"/>
          <p:cNvSpPr txBox="1"/>
          <p:nvPr/>
        </p:nvSpPr>
        <p:spPr>
          <a:xfrm>
            <a:off x="6803136" y="214884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TIME COMMITMENT</a:t>
            </a:r>
            <a:endParaRPr lang="en-US" sz="1050" dirty="0"/>
          </a:p>
        </p:txBody>
      </p:sp>
      <p:sp>
        <p:nvSpPr>
          <p:cNvPr id="23" name="Text 21"/>
          <p:cNvSpPr txBox="1"/>
          <p:nvPr/>
        </p:nvSpPr>
        <p:spPr>
          <a:xfrm>
            <a:off x="6803136" y="2468880"/>
            <a:ext cx="4483303" cy="502920"/>
          </a:xfrm>
          <a:prstGeom prst="rect">
            <a:avLst/>
          </a:prstGeom>
          <a:noFill/>
          <a:ln/>
        </p:spPr>
        <p:txBody>
          <a:bodyPr wrap="square" lIns="0" tIns="0" rIns="0" bIns="0" rtlCol="0" anchor="ctr"/>
          <a:lstStyle/>
          <a:p>
            <a:pPr indent="0" marL="0">
              <a:buNone/>
            </a:pPr>
            <a:r>
              <a:rPr lang="en-US" sz="2400" b="1" dirty="0">
                <a:solidFill>
                  <a:schemeClr val="accent1"/>
                </a:solidFill>
                <a:latin typeface="Cambria" pitchFamily="34" charset="0"/>
                <a:ea typeface="Cambria" pitchFamily="34" charset="-122"/>
                <a:cs typeface="Cambria" pitchFamily="34" charset="-120"/>
              </a:rPr>
              <a:t>30 minutes a day</a:t>
            </a:r>
            <a:endParaRPr lang="en-US" sz="2400" dirty="0"/>
          </a:p>
        </p:txBody>
      </p:sp>
      <p:sp>
        <p:nvSpPr>
          <p:cNvPr id="24" name="Text 22"/>
          <p:cNvSpPr txBox="1"/>
          <p:nvPr/>
        </p:nvSpPr>
        <p:spPr>
          <a:xfrm>
            <a:off x="6803136" y="3017520"/>
            <a:ext cx="4483303" cy="731520"/>
          </a:xfrm>
          <a:prstGeom prst="rect">
            <a:avLst/>
          </a:prstGeom>
          <a:noFill/>
          <a:ln/>
        </p:spPr>
        <p:txBody>
          <a:bodyPr wrap="square" lIns="0" tIns="0" rIns="0" bIns="0" rtlCol="0" anchor="t"/>
          <a:lstStyle/>
          <a:p>
            <a:pPr indent="0" marL="0">
              <a:buNone/>
            </a:pPr>
            <a:r>
              <a:rPr lang="en-US" sz="1250" dirty="0">
                <a:solidFill>
                  <a:schemeClr val="tx1"/>
                </a:solidFill>
              </a:rPr>
              <a:t>for the first 2 weeks: briefing, answering questions and reviewing work. It pays back many times over.</a:t>
            </a:r>
            <a:endParaRPr lang="en-US" sz="1250" dirty="0"/>
          </a:p>
        </p:txBody>
      </p:sp>
      <p:sp>
        <p:nvSpPr>
          <p:cNvPr id="25" name="card"/>
          <p:cNvSpPr/>
          <p:nvPr/>
        </p:nvSpPr>
        <p:spPr>
          <a:xfrm>
            <a:off x="6528816" y="4069080"/>
            <a:ext cx="5031943" cy="2057400"/>
          </a:xfrm>
          <a:prstGeom prst="roundRect">
            <a:avLst>
              <a:gd name="adj" fmla="val 3556"/>
            </a:avLst>
          </a:prstGeom>
          <a:solidFill>
            <a:schemeClr val="bg1"/>
          </a:solidFill>
          <a:ln w="12700">
            <a:solidFill>
              <a:schemeClr val="accent5"/>
            </a:solidFill>
            <a:prstDash val="solid"/>
          </a:ln>
        </p:spPr>
      </p:sp>
      <p:sp>
        <p:nvSpPr>
          <p:cNvPr id="26" name="Text 24"/>
          <p:cNvSpPr txBox="1"/>
          <p:nvPr/>
        </p:nvSpPr>
        <p:spPr>
          <a:xfrm>
            <a:off x="6803136" y="4251960"/>
            <a:ext cx="448330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HOURS, TIME ZONES &amp; LEAVE</a:t>
            </a:r>
            <a:endParaRPr lang="en-US" sz="1050" dirty="0"/>
          </a:p>
        </p:txBody>
      </p:sp>
      <p:sp>
        <p:nvSpPr>
          <p:cNvPr id="27" name="Text 25"/>
          <p:cNvSpPr txBox="1"/>
          <p:nvPr/>
        </p:nvSpPr>
        <p:spPr>
          <a:xfrm>
            <a:off x="6803136" y="4572000"/>
            <a:ext cx="4483303" cy="822960"/>
          </a:xfrm>
          <a:prstGeom prst="rect">
            <a:avLst/>
          </a:prstGeom>
          <a:noFill/>
          <a:ln/>
        </p:spPr>
        <p:txBody>
          <a:bodyPr wrap="square" lIns="0" tIns="0" rIns="0" bIns="0" rtlCol="0" anchor="t"/>
          <a:lstStyle/>
          <a:p>
            <a:pPr indent="0" marL="0">
              <a:buNone/>
            </a:pPr>
            <a:r>
              <a:rPr lang="en-US" sz="1250" dirty="0">
                <a:solidFill>
                  <a:schemeClr val="accent3"/>
                </a:solidFill>
              </a:rPr>
              <a:t>Shift: Mon–Fri, 8am–5pm Sydney time, with a 1-hour unpaid lunch. Check Philippine public holidays, and plan leave cover for the Christmas peak with your Account Manager.</a:t>
            </a:r>
            <a:endParaRPr lang="en-US" sz="1250" dirty="0"/>
          </a:p>
        </p:txBody>
      </p:sp>
      <p:sp>
        <p:nvSpPr>
          <p:cNvPr id="28" name="Text 26"/>
          <p:cNvSpPr txBox="1"/>
          <p:nvPr/>
        </p:nvSpPr>
        <p:spPr>
          <a:xfrm>
            <a:off x="6803136" y="5577840"/>
            <a:ext cx="4483303" cy="320040"/>
          </a:xfrm>
          <a:prstGeom prst="rect">
            <a:avLst/>
          </a:prstGeom>
          <a:noFill/>
          <a:ln/>
        </p:spPr>
        <p:txBody>
          <a:bodyPr wrap="square" lIns="0" tIns="0" rIns="0" bIns="0" rtlCol="0" anchor="ctr"/>
          <a:lstStyle/>
          <a:p>
            <a:pPr indent="0" marL="0">
              <a:buNone/>
            </a:pPr>
            <a:r>
              <a:rPr lang="en-US" sz="1200" b="1" dirty="0">
                <a:solidFill>
                  <a:schemeClr val="tx1"/>
                </a:solidFill>
              </a:rPr>
              <a:t>Lunch break: </a:t>
            </a:r>
            <a:pPr indent="0" marL="0">
              <a:buNone/>
            </a:pPr>
            <a:r>
              <a:rPr lang="en-US" sz="1200" dirty="0">
                <a:solidFill>
                  <a:schemeClr val="accent3"/>
                </a:solidFill>
              </a:rPr>
              <a:t>________________     </a:t>
            </a:r>
            <a:pPr indent="0" marL="0">
              <a:buNone/>
            </a:pPr>
            <a:r>
              <a:rPr lang="en-US" sz="1200" b="1" dirty="0">
                <a:solidFill>
                  <a:schemeClr val="tx1"/>
                </a:solidFill>
              </a:rPr>
              <a:t>Escalate to: </a:t>
            </a:r>
            <a:pPr indent="0" marL="0">
              <a:buNone/>
            </a:pPr>
            <a:r>
              <a:rPr lang="en-US" sz="1200" dirty="0">
                <a:solidFill>
                  <a:schemeClr val="accent3"/>
                </a:solidFill>
              </a:rPr>
              <a:t>____________</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2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to Delegate</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Clear briefs are the single biggest factor in a great first month.</a:t>
            </a:r>
            <a:endParaRPr lang="en-US" sz="1300" dirty="0"/>
          </a:p>
        </p:txBody>
      </p:sp>
      <p:sp>
        <p:nvSpPr>
          <p:cNvPr id="5" name="card"/>
          <p:cNvSpPr/>
          <p:nvPr/>
        </p:nvSpPr>
        <p:spPr>
          <a:xfrm>
            <a:off x="630936" y="1920240"/>
            <a:ext cx="5120640" cy="3383280"/>
          </a:xfrm>
          <a:prstGeom prst="roundRect">
            <a:avLst>
              <a:gd name="adj" fmla="val 2162"/>
            </a:avLst>
          </a:prstGeom>
          <a:solidFill>
            <a:schemeClr val="bg1"/>
          </a:solidFill>
          <a:ln w="12700">
            <a:solidFill>
              <a:schemeClr val="accent5"/>
            </a:solidFill>
            <a:prstDash val="solid"/>
          </a:ln>
        </p:spPr>
      </p:sp>
      <p:sp>
        <p:nvSpPr>
          <p:cNvPr id="6" name="Text 4"/>
          <p:cNvSpPr txBox="1"/>
          <p:nvPr/>
        </p:nvSpPr>
        <p:spPr>
          <a:xfrm>
            <a:off x="905256" y="2103120"/>
            <a:ext cx="45720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5-PART BRIEF: USE IT FOR EVERY TASK</a:t>
            </a:r>
            <a:endParaRPr lang="en-US" sz="1050" dirty="0"/>
          </a:p>
        </p:txBody>
      </p:sp>
      <p:sp>
        <p:nvSpPr>
          <p:cNvPr id="7" name="number 1"/>
          <p:cNvSpPr/>
          <p:nvPr/>
        </p:nvSpPr>
        <p:spPr>
          <a:xfrm>
            <a:off x="905256" y="2514600"/>
            <a:ext cx="365760" cy="365760"/>
          </a:xfrm>
          <a:prstGeom prst="ellipse">
            <a:avLst/>
          </a:prstGeom>
          <a:solidFill>
            <a:schemeClr val="accent1"/>
          </a:solidFill>
          <a:ln/>
        </p:spPr>
      </p:sp>
      <p:sp>
        <p:nvSpPr>
          <p:cNvPr id="8" name="Text 6"/>
          <p:cNvSpPr txBox="1"/>
          <p:nvPr/>
        </p:nvSpPr>
        <p:spPr>
          <a:xfrm>
            <a:off x="905256" y="251460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9" name="Text 7"/>
          <p:cNvSpPr txBox="1"/>
          <p:nvPr/>
        </p:nvSpPr>
        <p:spPr>
          <a:xfrm>
            <a:off x="1408176" y="251460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Outcome: </a:t>
            </a:r>
            <a:pPr indent="0" marL="0">
              <a:buNone/>
            </a:pPr>
            <a:r>
              <a:rPr lang="en-US" sz="1300" dirty="0">
                <a:solidFill>
                  <a:schemeClr val="accent3"/>
                </a:solidFill>
              </a:rPr>
              <a:t>what “done” looks like</a:t>
            </a:r>
            <a:endParaRPr lang="en-US" sz="1300" dirty="0"/>
          </a:p>
        </p:txBody>
      </p:sp>
      <p:sp>
        <p:nvSpPr>
          <p:cNvPr id="10" name="number 2"/>
          <p:cNvSpPr/>
          <p:nvPr/>
        </p:nvSpPr>
        <p:spPr>
          <a:xfrm>
            <a:off x="905256" y="3063240"/>
            <a:ext cx="365760" cy="365760"/>
          </a:xfrm>
          <a:prstGeom prst="ellipse">
            <a:avLst/>
          </a:prstGeom>
          <a:solidFill>
            <a:schemeClr val="accent1"/>
          </a:solidFill>
          <a:ln/>
        </p:spPr>
      </p:sp>
      <p:sp>
        <p:nvSpPr>
          <p:cNvPr id="11" name="Text 9"/>
          <p:cNvSpPr txBox="1"/>
          <p:nvPr/>
        </p:nvSpPr>
        <p:spPr>
          <a:xfrm>
            <a:off x="905256" y="306324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2" name="Text 10"/>
          <p:cNvSpPr txBox="1"/>
          <p:nvPr/>
        </p:nvSpPr>
        <p:spPr>
          <a:xfrm>
            <a:off x="1408176" y="306324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Context: </a:t>
            </a:r>
            <a:pPr indent="0" marL="0">
              <a:buNone/>
            </a:pPr>
            <a:r>
              <a:rPr lang="en-US" sz="1300" dirty="0">
                <a:solidFill>
                  <a:schemeClr val="accent3"/>
                </a:solidFill>
              </a:rPr>
              <a:t>why it matters</a:t>
            </a:r>
            <a:endParaRPr lang="en-US" sz="1300" dirty="0"/>
          </a:p>
        </p:txBody>
      </p:sp>
      <p:sp>
        <p:nvSpPr>
          <p:cNvPr id="13" name="number 3"/>
          <p:cNvSpPr/>
          <p:nvPr/>
        </p:nvSpPr>
        <p:spPr>
          <a:xfrm>
            <a:off x="905256" y="3611880"/>
            <a:ext cx="365760" cy="365760"/>
          </a:xfrm>
          <a:prstGeom prst="ellipse">
            <a:avLst/>
          </a:prstGeom>
          <a:solidFill>
            <a:schemeClr val="accent1"/>
          </a:solidFill>
          <a:ln/>
        </p:spPr>
      </p:sp>
      <p:sp>
        <p:nvSpPr>
          <p:cNvPr id="14" name="Text 12"/>
          <p:cNvSpPr txBox="1"/>
          <p:nvPr/>
        </p:nvSpPr>
        <p:spPr>
          <a:xfrm>
            <a:off x="905256" y="361188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15" name="Text 13"/>
          <p:cNvSpPr txBox="1"/>
          <p:nvPr/>
        </p:nvSpPr>
        <p:spPr>
          <a:xfrm>
            <a:off x="1408176" y="361188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Deadline: </a:t>
            </a:r>
            <a:pPr indent="0" marL="0">
              <a:buNone/>
            </a:pPr>
            <a:r>
              <a:rPr lang="en-US" sz="1300" dirty="0">
                <a:solidFill>
                  <a:schemeClr val="accent3"/>
                </a:solidFill>
              </a:rPr>
              <a:t>when you need it</a:t>
            </a:r>
            <a:endParaRPr lang="en-US" sz="1300" dirty="0"/>
          </a:p>
        </p:txBody>
      </p:sp>
      <p:sp>
        <p:nvSpPr>
          <p:cNvPr id="16" name="number 4"/>
          <p:cNvSpPr/>
          <p:nvPr/>
        </p:nvSpPr>
        <p:spPr>
          <a:xfrm>
            <a:off x="905256" y="4160520"/>
            <a:ext cx="365760" cy="365760"/>
          </a:xfrm>
          <a:prstGeom prst="ellipse">
            <a:avLst/>
          </a:prstGeom>
          <a:solidFill>
            <a:schemeClr val="accent1"/>
          </a:solidFill>
          <a:ln/>
        </p:spPr>
      </p:sp>
      <p:sp>
        <p:nvSpPr>
          <p:cNvPr id="17" name="Text 15"/>
          <p:cNvSpPr txBox="1"/>
          <p:nvPr/>
        </p:nvSpPr>
        <p:spPr>
          <a:xfrm>
            <a:off x="905256" y="416052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18" name="Text 16"/>
          <p:cNvSpPr txBox="1"/>
          <p:nvPr/>
        </p:nvSpPr>
        <p:spPr>
          <a:xfrm>
            <a:off x="1408176" y="416052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accent3"/>
                </a:solidFill>
              </a:rPr>
              <a:t>show what good looks like</a:t>
            </a:r>
            <a:endParaRPr lang="en-US" sz="1300" dirty="0"/>
          </a:p>
        </p:txBody>
      </p:sp>
      <p:sp>
        <p:nvSpPr>
          <p:cNvPr id="19" name="number 5"/>
          <p:cNvSpPr/>
          <p:nvPr/>
        </p:nvSpPr>
        <p:spPr>
          <a:xfrm>
            <a:off x="905256" y="4709160"/>
            <a:ext cx="365760" cy="365760"/>
          </a:xfrm>
          <a:prstGeom prst="ellipse">
            <a:avLst/>
          </a:prstGeom>
          <a:solidFill>
            <a:schemeClr val="accent1"/>
          </a:solidFill>
          <a:ln/>
        </p:spPr>
      </p:sp>
      <p:sp>
        <p:nvSpPr>
          <p:cNvPr id="20" name="Text 18"/>
          <p:cNvSpPr txBox="1"/>
          <p:nvPr/>
        </p:nvSpPr>
        <p:spPr>
          <a:xfrm>
            <a:off x="905256" y="47091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sp>
        <p:nvSpPr>
          <p:cNvPr id="21" name="Text 19"/>
          <p:cNvSpPr txBox="1"/>
          <p:nvPr/>
        </p:nvSpPr>
        <p:spPr>
          <a:xfrm>
            <a:off x="1408176" y="4709160"/>
            <a:ext cx="4114800" cy="365760"/>
          </a:xfrm>
          <a:prstGeom prst="rect">
            <a:avLst/>
          </a:prstGeom>
          <a:noFill/>
          <a:ln/>
        </p:spPr>
        <p:txBody>
          <a:bodyPr wrap="square" lIns="0" tIns="0" rIns="0" bIns="0" rtlCol="0" anchor="ctr"/>
          <a:lstStyle/>
          <a:p>
            <a:pPr indent="0" marL="0">
              <a:buNone/>
            </a:pPr>
            <a:r>
              <a:rPr lang="en-US" sz="1300" b="1" dirty="0">
                <a:solidFill>
                  <a:schemeClr val="tx1"/>
                </a:solidFill>
              </a:rPr>
              <a:t>Who to ask: </a:t>
            </a:r>
            <a:pPr indent="0" marL="0">
              <a:buNone/>
            </a:pPr>
            <a:r>
              <a:rPr lang="en-US" sz="1300" dirty="0">
                <a:solidFill>
                  <a:schemeClr val="accent3"/>
                </a:solidFill>
              </a:rPr>
              <a:t>if they get stuck</a:t>
            </a:r>
            <a:endParaRPr lang="en-US" sz="1300" dirty="0"/>
          </a:p>
        </p:txBody>
      </p:sp>
      <p:sp>
        <p:nvSpPr>
          <p:cNvPr id="22" name="callout"/>
          <p:cNvSpPr/>
          <p:nvPr/>
        </p:nvSpPr>
        <p:spPr>
          <a:xfrm>
            <a:off x="630936" y="5440680"/>
            <a:ext cx="5120640" cy="731520"/>
          </a:xfrm>
          <a:prstGeom prst="roundRect">
            <a:avLst>
              <a:gd name="adj" fmla="val 10000"/>
            </a:avLst>
          </a:prstGeom>
          <a:solidFill>
            <a:schemeClr val="accent4"/>
          </a:solidFill>
          <a:ln/>
        </p:spPr>
      </p:sp>
      <p:sp>
        <p:nvSpPr>
          <p:cNvPr id="23" name="Text 21"/>
          <p:cNvSpPr txBox="1"/>
          <p:nvPr/>
        </p:nvSpPr>
        <p:spPr>
          <a:xfrm>
            <a:off x="859536" y="5440680"/>
            <a:ext cx="4663440" cy="731520"/>
          </a:xfrm>
          <a:prstGeom prst="rect">
            <a:avLst/>
          </a:prstGeom>
          <a:noFill/>
          <a:ln/>
        </p:spPr>
        <p:txBody>
          <a:bodyPr wrap="square" lIns="0" tIns="0" rIns="0" bIns="0" rtlCol="0" anchor="ctr"/>
          <a:lstStyle/>
          <a:p>
            <a:pPr indent="0" marL="0">
              <a:buNone/>
            </a:pPr>
            <a:r>
              <a:rPr lang="en-US" sz="1250" b="1" dirty="0">
                <a:solidFill>
                  <a:schemeClr val="accent1"/>
                </a:solidFill>
              </a:rPr>
              <a:t>Golden rule: record yourself doing a task once (Loom or a screen recording). Your VA turns it into an SOP for your library.</a:t>
            </a:r>
            <a:endParaRPr lang="en-US" sz="1250" dirty="0"/>
          </a:p>
        </p:txBody>
      </p:sp>
      <p:sp>
        <p:nvSpPr>
          <p:cNvPr id="24" name="card"/>
          <p:cNvSpPr/>
          <p:nvPr/>
        </p:nvSpPr>
        <p:spPr>
          <a:xfrm>
            <a:off x="5980176" y="1920240"/>
            <a:ext cx="5580583" cy="4251960"/>
          </a:xfrm>
          <a:prstGeom prst="roundRect">
            <a:avLst>
              <a:gd name="adj" fmla="val 1720"/>
            </a:avLst>
          </a:prstGeom>
          <a:solidFill>
            <a:schemeClr val="bg2"/>
          </a:solidFill>
          <a:ln/>
        </p:spPr>
      </p:sp>
      <p:sp>
        <p:nvSpPr>
          <p:cNvPr id="25" name="Text 23"/>
          <p:cNvSpPr txBox="1"/>
          <p:nvPr/>
        </p:nvSpPr>
        <p:spPr>
          <a:xfrm>
            <a:off x="6254496" y="2103120"/>
            <a:ext cx="503194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FIRST 10 TASKS: QUICK WINS FOR WEEK 1</a:t>
            </a:r>
            <a:endParaRPr lang="en-US" sz="1050" dirty="0"/>
          </a:p>
        </p:txBody>
      </p:sp>
      <p:sp>
        <p:nvSpPr>
          <p:cNvPr id="26" name="task 1"/>
          <p:cNvSpPr/>
          <p:nvPr/>
        </p:nvSpPr>
        <p:spPr>
          <a:xfrm>
            <a:off x="6254496" y="2514600"/>
            <a:ext cx="2424532" cy="603504"/>
          </a:xfrm>
          <a:prstGeom prst="roundRect">
            <a:avLst>
              <a:gd name="adj" fmla="val 12121"/>
            </a:avLst>
          </a:prstGeom>
          <a:solidFill>
            <a:schemeClr val="bg1"/>
          </a:solidFill>
          <a:ln w="12700">
            <a:solidFill>
              <a:schemeClr val="accent5"/>
            </a:solidFill>
            <a:prstDash val="solid"/>
          </a:ln>
        </p:spPr>
      </p:sp>
      <p:sp>
        <p:nvSpPr>
          <p:cNvPr id="27" name="Text 25"/>
          <p:cNvSpPr txBox="1"/>
          <p:nvPr/>
        </p:nvSpPr>
        <p:spPr>
          <a:xfrm>
            <a:off x="6364224"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a:t>
            </a:r>
            <a:endParaRPr lang="en-US" sz="1400" dirty="0"/>
          </a:p>
        </p:txBody>
      </p:sp>
      <p:sp>
        <p:nvSpPr>
          <p:cNvPr id="28" name="Text 26"/>
          <p:cNvSpPr txBox="1"/>
          <p:nvPr/>
        </p:nvSpPr>
        <p:spPr>
          <a:xfrm>
            <a:off x="6711696"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Read the product manual and FAQ templates</a:t>
            </a:r>
            <a:endParaRPr lang="en-US" sz="1150" dirty="0"/>
          </a:p>
        </p:txBody>
      </p:sp>
      <p:sp>
        <p:nvSpPr>
          <p:cNvPr id="29" name="task 2"/>
          <p:cNvSpPr/>
          <p:nvPr/>
        </p:nvSpPr>
        <p:spPr>
          <a:xfrm>
            <a:off x="6254496" y="3227832"/>
            <a:ext cx="2424532" cy="603504"/>
          </a:xfrm>
          <a:prstGeom prst="roundRect">
            <a:avLst>
              <a:gd name="adj" fmla="val 12121"/>
            </a:avLst>
          </a:prstGeom>
          <a:solidFill>
            <a:schemeClr val="bg1"/>
          </a:solidFill>
          <a:ln w="12700">
            <a:solidFill>
              <a:schemeClr val="accent5"/>
            </a:solidFill>
            <a:prstDash val="solid"/>
          </a:ln>
        </p:spPr>
      </p:sp>
      <p:sp>
        <p:nvSpPr>
          <p:cNvPr id="30" name="Text 28"/>
          <p:cNvSpPr txBox="1"/>
          <p:nvPr/>
        </p:nvSpPr>
        <p:spPr>
          <a:xfrm>
            <a:off x="6364224"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2</a:t>
            </a:r>
            <a:endParaRPr lang="en-US" sz="1400" dirty="0"/>
          </a:p>
        </p:txBody>
      </p:sp>
      <p:sp>
        <p:nvSpPr>
          <p:cNvPr id="31" name="Text 29"/>
          <p:cNvSpPr txBox="1"/>
          <p:nvPr/>
        </p:nvSpPr>
        <p:spPr>
          <a:xfrm>
            <a:off x="6711696"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Shadow a day of enquiries on every channel</a:t>
            </a:r>
            <a:endParaRPr lang="en-US" sz="1150" dirty="0"/>
          </a:p>
        </p:txBody>
      </p:sp>
      <p:sp>
        <p:nvSpPr>
          <p:cNvPr id="32" name="task 3"/>
          <p:cNvSpPr/>
          <p:nvPr/>
        </p:nvSpPr>
        <p:spPr>
          <a:xfrm>
            <a:off x="6254496" y="3941064"/>
            <a:ext cx="2424532" cy="603504"/>
          </a:xfrm>
          <a:prstGeom prst="roundRect">
            <a:avLst>
              <a:gd name="adj" fmla="val 12121"/>
            </a:avLst>
          </a:prstGeom>
          <a:solidFill>
            <a:schemeClr val="bg1"/>
          </a:solidFill>
          <a:ln w="12700">
            <a:solidFill>
              <a:schemeClr val="accent5"/>
            </a:solidFill>
            <a:prstDash val="solid"/>
          </a:ln>
        </p:spPr>
      </p:sp>
      <p:sp>
        <p:nvSpPr>
          <p:cNvPr id="33" name="Text 31"/>
          <p:cNvSpPr txBox="1"/>
          <p:nvPr/>
        </p:nvSpPr>
        <p:spPr>
          <a:xfrm>
            <a:off x="6364224"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3</a:t>
            </a:r>
            <a:endParaRPr lang="en-US" sz="1400" dirty="0"/>
          </a:p>
        </p:txBody>
      </p:sp>
      <p:sp>
        <p:nvSpPr>
          <p:cNvPr id="34" name="Text 32"/>
          <p:cNvSpPr txBox="1"/>
          <p:nvPr/>
        </p:nvSpPr>
        <p:spPr>
          <a:xfrm>
            <a:off x="6711696"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every open enquiry and its status</a:t>
            </a:r>
            <a:endParaRPr lang="en-US" sz="1150" dirty="0"/>
          </a:p>
        </p:txBody>
      </p:sp>
      <p:sp>
        <p:nvSpPr>
          <p:cNvPr id="35" name="task 4"/>
          <p:cNvSpPr/>
          <p:nvPr/>
        </p:nvSpPr>
        <p:spPr>
          <a:xfrm>
            <a:off x="6254496" y="4654296"/>
            <a:ext cx="2424532" cy="603504"/>
          </a:xfrm>
          <a:prstGeom prst="roundRect">
            <a:avLst>
              <a:gd name="adj" fmla="val 12121"/>
            </a:avLst>
          </a:prstGeom>
          <a:solidFill>
            <a:schemeClr val="bg1"/>
          </a:solidFill>
          <a:ln w="12700">
            <a:solidFill>
              <a:schemeClr val="accent5"/>
            </a:solidFill>
            <a:prstDash val="solid"/>
          </a:ln>
        </p:spPr>
      </p:sp>
      <p:sp>
        <p:nvSpPr>
          <p:cNvPr id="36" name="Text 34"/>
          <p:cNvSpPr txBox="1"/>
          <p:nvPr/>
        </p:nvSpPr>
        <p:spPr>
          <a:xfrm>
            <a:off x="6364224"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4</a:t>
            </a:r>
            <a:endParaRPr lang="en-US" sz="1400" dirty="0"/>
          </a:p>
        </p:txBody>
      </p:sp>
      <p:sp>
        <p:nvSpPr>
          <p:cNvPr id="37" name="Text 35"/>
          <p:cNvSpPr txBox="1"/>
          <p:nvPr/>
        </p:nvSpPr>
        <p:spPr>
          <a:xfrm>
            <a:off x="6711696"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Draft replies to routine enquiries for review</a:t>
            </a:r>
            <a:endParaRPr lang="en-US" sz="1150" dirty="0"/>
          </a:p>
        </p:txBody>
      </p:sp>
      <p:sp>
        <p:nvSpPr>
          <p:cNvPr id="38" name="task 5"/>
          <p:cNvSpPr/>
          <p:nvPr/>
        </p:nvSpPr>
        <p:spPr>
          <a:xfrm>
            <a:off x="6254496" y="5367528"/>
            <a:ext cx="2424532" cy="603504"/>
          </a:xfrm>
          <a:prstGeom prst="roundRect">
            <a:avLst>
              <a:gd name="adj" fmla="val 12121"/>
            </a:avLst>
          </a:prstGeom>
          <a:solidFill>
            <a:schemeClr val="bg1"/>
          </a:solidFill>
          <a:ln w="12700">
            <a:solidFill>
              <a:schemeClr val="accent5"/>
            </a:solidFill>
            <a:prstDash val="solid"/>
          </a:ln>
        </p:spPr>
      </p:sp>
      <p:sp>
        <p:nvSpPr>
          <p:cNvPr id="39" name="Text 37"/>
          <p:cNvSpPr txBox="1"/>
          <p:nvPr/>
        </p:nvSpPr>
        <p:spPr>
          <a:xfrm>
            <a:off x="6364224"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5</a:t>
            </a:r>
            <a:endParaRPr lang="en-US" sz="1400" dirty="0"/>
          </a:p>
        </p:txBody>
      </p:sp>
      <p:sp>
        <p:nvSpPr>
          <p:cNvPr id="40" name="Text 38"/>
          <p:cNvSpPr txBox="1"/>
          <p:nvPr/>
        </p:nvSpPr>
        <p:spPr>
          <a:xfrm>
            <a:off x="6711696"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Enter practice orders in Shopify and Order Mentor</a:t>
            </a:r>
            <a:endParaRPr lang="en-US" sz="1150" dirty="0"/>
          </a:p>
        </p:txBody>
      </p:sp>
      <p:sp>
        <p:nvSpPr>
          <p:cNvPr id="41" name="task 6"/>
          <p:cNvSpPr/>
          <p:nvPr/>
        </p:nvSpPr>
        <p:spPr>
          <a:xfrm>
            <a:off x="8861908" y="2514600"/>
            <a:ext cx="2424532" cy="603504"/>
          </a:xfrm>
          <a:prstGeom prst="roundRect">
            <a:avLst>
              <a:gd name="adj" fmla="val 12121"/>
            </a:avLst>
          </a:prstGeom>
          <a:solidFill>
            <a:schemeClr val="bg1"/>
          </a:solidFill>
          <a:ln w="12700">
            <a:solidFill>
              <a:schemeClr val="accent5"/>
            </a:solidFill>
            <a:prstDash val="solid"/>
          </a:ln>
        </p:spPr>
      </p:sp>
      <p:sp>
        <p:nvSpPr>
          <p:cNvPr id="42" name="Text 40"/>
          <p:cNvSpPr txBox="1"/>
          <p:nvPr/>
        </p:nvSpPr>
        <p:spPr>
          <a:xfrm>
            <a:off x="8971636" y="2514600"/>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6</a:t>
            </a:r>
            <a:endParaRPr lang="en-US" sz="1400" dirty="0"/>
          </a:p>
        </p:txBody>
      </p:sp>
      <p:sp>
        <p:nvSpPr>
          <p:cNvPr id="43" name="Text 41"/>
          <p:cNvSpPr txBox="1"/>
          <p:nvPr/>
        </p:nvSpPr>
        <p:spPr>
          <a:xfrm>
            <a:off x="9319108" y="2514600"/>
            <a:ext cx="1875892" cy="603504"/>
          </a:xfrm>
          <a:prstGeom prst="rect">
            <a:avLst/>
          </a:prstGeom>
          <a:noFill/>
          <a:ln/>
        </p:spPr>
        <p:txBody>
          <a:bodyPr wrap="square" lIns="0" tIns="0" rIns="0" bIns="0" rtlCol="0" anchor="ctr"/>
          <a:lstStyle/>
          <a:p>
            <a:pPr indent="0" marL="0">
              <a:buNone/>
            </a:pPr>
            <a:r>
              <a:rPr lang="en-US" sz="1150" dirty="0">
                <a:solidFill>
                  <a:schemeClr val="tx1"/>
                </a:solidFill>
              </a:rPr>
              <a:t>Meet the fulfilment team and agree the hand-off</a:t>
            </a:r>
            <a:endParaRPr lang="en-US" sz="1150" dirty="0"/>
          </a:p>
        </p:txBody>
      </p:sp>
      <p:sp>
        <p:nvSpPr>
          <p:cNvPr id="44" name="task 7"/>
          <p:cNvSpPr/>
          <p:nvPr/>
        </p:nvSpPr>
        <p:spPr>
          <a:xfrm>
            <a:off x="8861908" y="3227832"/>
            <a:ext cx="2424532" cy="603504"/>
          </a:xfrm>
          <a:prstGeom prst="roundRect">
            <a:avLst>
              <a:gd name="adj" fmla="val 12121"/>
            </a:avLst>
          </a:prstGeom>
          <a:solidFill>
            <a:schemeClr val="bg1"/>
          </a:solidFill>
          <a:ln w="12700">
            <a:solidFill>
              <a:schemeClr val="accent5"/>
            </a:solidFill>
            <a:prstDash val="solid"/>
          </a:ln>
        </p:spPr>
      </p:sp>
      <p:sp>
        <p:nvSpPr>
          <p:cNvPr id="45" name="Text 43"/>
          <p:cNvSpPr txBox="1"/>
          <p:nvPr/>
        </p:nvSpPr>
        <p:spPr>
          <a:xfrm>
            <a:off x="8971636" y="3227832"/>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7</a:t>
            </a:r>
            <a:endParaRPr lang="en-US" sz="1400" dirty="0"/>
          </a:p>
        </p:txBody>
      </p:sp>
      <p:sp>
        <p:nvSpPr>
          <p:cNvPr id="46" name="Text 44"/>
          <p:cNvSpPr txBox="1"/>
          <p:nvPr/>
        </p:nvSpPr>
        <p:spPr>
          <a:xfrm>
            <a:off x="9319108" y="3227832"/>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open orders and overdue accounts to chase</a:t>
            </a:r>
            <a:endParaRPr lang="en-US" sz="1150" dirty="0"/>
          </a:p>
        </p:txBody>
      </p:sp>
      <p:sp>
        <p:nvSpPr>
          <p:cNvPr id="47" name="task 8"/>
          <p:cNvSpPr/>
          <p:nvPr/>
        </p:nvSpPr>
        <p:spPr>
          <a:xfrm>
            <a:off x="8861908" y="3941064"/>
            <a:ext cx="2424532" cy="603504"/>
          </a:xfrm>
          <a:prstGeom prst="roundRect">
            <a:avLst>
              <a:gd name="adj" fmla="val 12121"/>
            </a:avLst>
          </a:prstGeom>
          <a:solidFill>
            <a:schemeClr val="bg1"/>
          </a:solidFill>
          <a:ln w="12700">
            <a:solidFill>
              <a:schemeClr val="accent5"/>
            </a:solidFill>
            <a:prstDash val="solid"/>
          </a:ln>
        </p:spPr>
      </p:sp>
      <p:sp>
        <p:nvSpPr>
          <p:cNvPr id="48" name="Text 46"/>
          <p:cNvSpPr txBox="1"/>
          <p:nvPr/>
        </p:nvSpPr>
        <p:spPr>
          <a:xfrm>
            <a:off x="8971636" y="3941064"/>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8</a:t>
            </a:r>
            <a:endParaRPr lang="en-US" sz="1400" dirty="0"/>
          </a:p>
        </p:txBody>
      </p:sp>
      <p:sp>
        <p:nvSpPr>
          <p:cNvPr id="49" name="Text 47"/>
          <p:cNvSpPr txBox="1"/>
          <p:nvPr/>
        </p:nvSpPr>
        <p:spPr>
          <a:xfrm>
            <a:off x="9319108" y="3941064"/>
            <a:ext cx="1875892" cy="603504"/>
          </a:xfrm>
          <a:prstGeom prst="rect">
            <a:avLst/>
          </a:prstGeom>
          <a:noFill/>
          <a:ln/>
        </p:spPr>
        <p:txBody>
          <a:bodyPr wrap="square" lIns="0" tIns="0" rIns="0" bIns="0" rtlCol="0" anchor="ctr"/>
          <a:lstStyle/>
          <a:p>
            <a:pPr indent="0" marL="0">
              <a:buNone/>
            </a:pPr>
            <a:r>
              <a:rPr lang="en-US" sz="1150" dirty="0">
                <a:solidFill>
                  <a:schemeClr val="tx1"/>
                </a:solidFill>
              </a:rPr>
              <a:t>Set up the dormant customer tracker</a:t>
            </a:r>
            <a:endParaRPr lang="en-US" sz="1150" dirty="0"/>
          </a:p>
        </p:txBody>
      </p:sp>
      <p:sp>
        <p:nvSpPr>
          <p:cNvPr id="50" name="task 9"/>
          <p:cNvSpPr/>
          <p:nvPr/>
        </p:nvSpPr>
        <p:spPr>
          <a:xfrm>
            <a:off x="8861908" y="4654296"/>
            <a:ext cx="2424532" cy="603504"/>
          </a:xfrm>
          <a:prstGeom prst="roundRect">
            <a:avLst>
              <a:gd name="adj" fmla="val 12121"/>
            </a:avLst>
          </a:prstGeom>
          <a:solidFill>
            <a:schemeClr val="bg1"/>
          </a:solidFill>
          <a:ln w="12700">
            <a:solidFill>
              <a:schemeClr val="accent5"/>
            </a:solidFill>
            <a:prstDash val="solid"/>
          </a:ln>
        </p:spPr>
      </p:sp>
      <p:sp>
        <p:nvSpPr>
          <p:cNvPr id="51" name="Text 49"/>
          <p:cNvSpPr txBox="1"/>
          <p:nvPr/>
        </p:nvSpPr>
        <p:spPr>
          <a:xfrm>
            <a:off x="8971636" y="4654296"/>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9</a:t>
            </a:r>
            <a:endParaRPr lang="en-US" sz="1400" dirty="0"/>
          </a:p>
        </p:txBody>
      </p:sp>
      <p:sp>
        <p:nvSpPr>
          <p:cNvPr id="52" name="Text 50"/>
          <p:cNvSpPr txBox="1"/>
          <p:nvPr/>
        </p:nvSpPr>
        <p:spPr>
          <a:xfrm>
            <a:off x="9319108" y="4654296"/>
            <a:ext cx="1875892" cy="603504"/>
          </a:xfrm>
          <a:prstGeom prst="rect">
            <a:avLst/>
          </a:prstGeom>
          <a:noFill/>
          <a:ln/>
        </p:spPr>
        <p:txBody>
          <a:bodyPr wrap="square" lIns="0" tIns="0" rIns="0" bIns="0" rtlCol="0" anchor="ctr"/>
          <a:lstStyle/>
          <a:p>
            <a:pPr indent="0" marL="0">
              <a:buNone/>
            </a:pPr>
            <a:r>
              <a:rPr lang="en-US" sz="1150" dirty="0">
                <a:solidFill>
                  <a:schemeClr val="tx1"/>
                </a:solidFill>
              </a:rPr>
              <a:t>Agree escalation rules with Hank</a:t>
            </a:r>
            <a:endParaRPr lang="en-US" sz="1150" dirty="0"/>
          </a:p>
        </p:txBody>
      </p:sp>
      <p:sp>
        <p:nvSpPr>
          <p:cNvPr id="53" name="task 10"/>
          <p:cNvSpPr/>
          <p:nvPr/>
        </p:nvSpPr>
        <p:spPr>
          <a:xfrm>
            <a:off x="8861908" y="5367528"/>
            <a:ext cx="2424532" cy="603504"/>
          </a:xfrm>
          <a:prstGeom prst="roundRect">
            <a:avLst>
              <a:gd name="adj" fmla="val 12121"/>
            </a:avLst>
          </a:prstGeom>
          <a:solidFill>
            <a:schemeClr val="bg1"/>
          </a:solidFill>
          <a:ln w="12700">
            <a:solidFill>
              <a:schemeClr val="accent5"/>
            </a:solidFill>
            <a:prstDash val="solid"/>
          </a:ln>
        </p:spPr>
      </p:sp>
      <p:sp>
        <p:nvSpPr>
          <p:cNvPr id="54" name="Text 52"/>
          <p:cNvSpPr txBox="1"/>
          <p:nvPr/>
        </p:nvSpPr>
        <p:spPr>
          <a:xfrm>
            <a:off x="8971636" y="5367528"/>
            <a:ext cx="320040" cy="603504"/>
          </a:xfrm>
          <a:prstGeom prst="rect">
            <a:avLst/>
          </a:prstGeom>
          <a:noFill/>
          <a:ln/>
        </p:spPr>
        <p:txBody>
          <a:bodyPr wrap="square" lIns="0" tIns="0" rIns="0" bIns="0" rtlCol="0" anchor="ctr"/>
          <a:lstStyle/>
          <a:p>
            <a:pPr indent="0" marL="0">
              <a:buNone/>
            </a:pPr>
            <a:r>
              <a:rPr lang="en-US" sz="1400" b="1" dirty="0">
                <a:solidFill>
                  <a:schemeClr val="accent1"/>
                </a:solidFill>
                <a:latin typeface="Cambria" pitchFamily="34" charset="0"/>
                <a:ea typeface="Cambria" pitchFamily="34" charset="-122"/>
                <a:cs typeface="Cambria" pitchFamily="34" charset="-120"/>
              </a:rPr>
              <a:t>10</a:t>
            </a:r>
            <a:endParaRPr lang="en-US" sz="1400" dirty="0"/>
          </a:p>
        </p:txBody>
      </p:sp>
      <p:sp>
        <p:nvSpPr>
          <p:cNvPr id="55" name="Text 53"/>
          <p:cNvSpPr txBox="1"/>
          <p:nvPr/>
        </p:nvSpPr>
        <p:spPr>
          <a:xfrm>
            <a:off x="9319108" y="5367528"/>
            <a:ext cx="1875892" cy="603504"/>
          </a:xfrm>
          <a:prstGeom prst="rect">
            <a:avLst/>
          </a:prstGeom>
          <a:noFill/>
          <a:ln/>
        </p:spPr>
        <p:txBody>
          <a:bodyPr wrap="square" lIns="0" tIns="0" rIns="0" bIns="0" rtlCol="0" anchor="ctr"/>
          <a:lstStyle/>
          <a:p>
            <a:pPr indent="0" marL="0">
              <a:buNone/>
            </a:pPr>
            <a:r>
              <a:rPr lang="en-US" sz="1150" dirty="0">
                <a:solidFill>
                  <a:schemeClr val="tx1"/>
                </a:solidFill>
              </a:rPr>
              <a:t>List recurring tasks to turn into SOPs</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3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First Month</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to expect, how to read your daily report, and how to give feedback.</a:t>
            </a:r>
            <a:endParaRPr lang="en-US" sz="1300" dirty="0"/>
          </a:p>
        </p:txBody>
      </p:sp>
      <p:sp>
        <p:nvSpPr>
          <p:cNvPr id="5" name="Text 3"/>
          <p:cNvSpPr txBox="1"/>
          <p:nvPr/>
        </p:nvSpPr>
        <p:spPr>
          <a:xfrm>
            <a:off x="630936" y="1828800"/>
            <a:ext cx="54864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THE HONEST FIRST MONTH</a:t>
            </a:r>
            <a:endParaRPr lang="en-US" sz="1050" dirty="0"/>
          </a:p>
        </p:txBody>
      </p:sp>
      <p:sp>
        <p:nvSpPr>
          <p:cNvPr id="6" name="card"/>
          <p:cNvSpPr/>
          <p:nvPr/>
        </p:nvSpPr>
        <p:spPr>
          <a:xfrm>
            <a:off x="630936" y="2148840"/>
            <a:ext cx="3521354" cy="1417320"/>
          </a:xfrm>
          <a:prstGeom prst="roundRect">
            <a:avLst>
              <a:gd name="adj" fmla="val 5161"/>
            </a:avLst>
          </a:prstGeom>
          <a:solidFill>
            <a:schemeClr val="bg1"/>
          </a:solidFill>
          <a:ln w="12700">
            <a:solidFill>
              <a:schemeClr val="accent5"/>
            </a:solidFill>
            <a:prstDash val="solid"/>
          </a:ln>
        </p:spPr>
      </p:sp>
      <p:sp>
        <p:nvSpPr>
          <p:cNvPr id="7" name="Text 5"/>
          <p:cNvSpPr txBox="1"/>
          <p:nvPr/>
        </p:nvSpPr>
        <p:spPr>
          <a:xfrm>
            <a:off x="905256"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8" name="Text 6"/>
          <p:cNvSpPr txBox="1"/>
          <p:nvPr/>
        </p:nvSpPr>
        <p:spPr>
          <a:xfrm>
            <a:off x="905256"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Exciting</a:t>
            </a:r>
            <a:endParaRPr lang="en-US" sz="1500" dirty="0"/>
          </a:p>
        </p:txBody>
      </p:sp>
      <p:sp>
        <p:nvSpPr>
          <p:cNvPr id="9" name="Text 7"/>
          <p:cNvSpPr txBox="1"/>
          <p:nvPr/>
        </p:nvSpPr>
        <p:spPr>
          <a:xfrm>
            <a:off x="905256"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New energy, lots of setup and learning your style.</a:t>
            </a:r>
            <a:endParaRPr lang="en-US" sz="1150" dirty="0"/>
          </a:p>
        </p:txBody>
      </p:sp>
      <p:sp>
        <p:nvSpPr>
          <p:cNvPr id="10" name="card"/>
          <p:cNvSpPr/>
          <p:nvPr/>
        </p:nvSpPr>
        <p:spPr>
          <a:xfrm>
            <a:off x="4335170" y="2423160"/>
            <a:ext cx="3521354" cy="1417320"/>
          </a:xfrm>
          <a:prstGeom prst="roundRect">
            <a:avLst>
              <a:gd name="adj" fmla="val 5161"/>
            </a:avLst>
          </a:prstGeom>
          <a:solidFill>
            <a:schemeClr val="bg2"/>
          </a:solidFill>
          <a:ln/>
        </p:spPr>
      </p:sp>
      <p:sp>
        <p:nvSpPr>
          <p:cNvPr id="11" name="Text 9"/>
          <p:cNvSpPr txBox="1"/>
          <p:nvPr/>
        </p:nvSpPr>
        <p:spPr>
          <a:xfrm>
            <a:off x="4609490" y="256032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WEEKS 2–3</a:t>
            </a:r>
            <a:endParaRPr lang="en-US" sz="1050" dirty="0"/>
          </a:p>
        </p:txBody>
      </p:sp>
      <p:sp>
        <p:nvSpPr>
          <p:cNvPr id="12" name="Text 10"/>
          <p:cNvSpPr txBox="1"/>
          <p:nvPr/>
        </p:nvSpPr>
        <p:spPr>
          <a:xfrm>
            <a:off x="4609490" y="283464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Feels slower. That’s normal!</a:t>
            </a:r>
            <a:endParaRPr lang="en-US" sz="1500" dirty="0"/>
          </a:p>
        </p:txBody>
      </p:sp>
      <p:sp>
        <p:nvSpPr>
          <p:cNvPr id="13" name="Text 11"/>
          <p:cNvSpPr txBox="1"/>
          <p:nvPr/>
        </p:nvSpPr>
        <p:spPr>
          <a:xfrm>
            <a:off x="4609490" y="322783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Briefing takes time and it can feel quicker to do it yourself. Stick with it.</a:t>
            </a:r>
            <a:endParaRPr lang="en-US" sz="1150" dirty="0"/>
          </a:p>
        </p:txBody>
      </p:sp>
      <p:sp>
        <p:nvSpPr>
          <p:cNvPr id="14" name="card"/>
          <p:cNvSpPr/>
          <p:nvPr/>
        </p:nvSpPr>
        <p:spPr>
          <a:xfrm>
            <a:off x="8039405" y="2148840"/>
            <a:ext cx="3521354" cy="1417320"/>
          </a:xfrm>
          <a:prstGeom prst="roundRect">
            <a:avLst>
              <a:gd name="adj" fmla="val 5161"/>
            </a:avLst>
          </a:prstGeom>
          <a:solidFill>
            <a:schemeClr val="accent4"/>
          </a:solidFill>
          <a:ln/>
        </p:spPr>
      </p:sp>
      <p:sp>
        <p:nvSpPr>
          <p:cNvPr id="15" name="Text 13"/>
          <p:cNvSpPr txBox="1"/>
          <p:nvPr/>
        </p:nvSpPr>
        <p:spPr>
          <a:xfrm>
            <a:off x="8313725" y="228600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6" name="Text 14"/>
          <p:cNvSpPr txBox="1"/>
          <p:nvPr/>
        </p:nvSpPr>
        <p:spPr>
          <a:xfrm>
            <a:off x="8313725" y="2560320"/>
            <a:ext cx="2972714" cy="365760"/>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It starts to click</a:t>
            </a:r>
            <a:endParaRPr lang="en-US" sz="1500" dirty="0"/>
          </a:p>
        </p:txBody>
      </p:sp>
      <p:sp>
        <p:nvSpPr>
          <p:cNvPr id="17" name="Text 15"/>
          <p:cNvSpPr txBox="1"/>
          <p:nvPr/>
        </p:nvSpPr>
        <p:spPr>
          <a:xfrm>
            <a:off x="8313725" y="2953512"/>
            <a:ext cx="2972714" cy="548640"/>
          </a:xfrm>
          <a:prstGeom prst="rect">
            <a:avLst/>
          </a:prstGeom>
          <a:noFill/>
          <a:ln/>
        </p:spPr>
        <p:txBody>
          <a:bodyPr wrap="square" lIns="0" tIns="0" rIns="0" bIns="0" rtlCol="0" anchor="t"/>
          <a:lstStyle/>
          <a:p>
            <a:pPr indent="0" marL="0">
              <a:buNone/>
            </a:pPr>
            <a:r>
              <a:rPr lang="en-US" sz="1150" dirty="0">
                <a:solidFill>
                  <a:schemeClr val="accent3"/>
                </a:solidFill>
              </a:rPr>
              <a:t>Routines form, briefs get shorter, and time starts coming back.</a:t>
            </a:r>
            <a:endParaRPr lang="en-US" sz="1150" dirty="0"/>
          </a:p>
        </p:txBody>
      </p:sp>
      <p:sp>
        <p:nvSpPr>
          <p:cNvPr id="18" name="card"/>
          <p:cNvSpPr/>
          <p:nvPr/>
        </p:nvSpPr>
        <p:spPr>
          <a:xfrm>
            <a:off x="630936" y="4069080"/>
            <a:ext cx="5373472" cy="2103120"/>
          </a:xfrm>
          <a:prstGeom prst="roundRect">
            <a:avLst>
              <a:gd name="adj" fmla="val 3478"/>
            </a:avLst>
          </a:prstGeom>
          <a:solidFill>
            <a:schemeClr val="bg1"/>
          </a:solidFill>
          <a:ln w="12700">
            <a:solidFill>
              <a:schemeClr val="accent5"/>
            </a:solidFill>
            <a:prstDash val="solid"/>
          </a:ln>
        </p:spPr>
      </p:sp>
      <p:sp>
        <p:nvSpPr>
          <p:cNvPr id="19" name="Text 17"/>
          <p:cNvSpPr txBox="1"/>
          <p:nvPr/>
        </p:nvSpPr>
        <p:spPr>
          <a:xfrm>
            <a:off x="905256"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READING YOUR DAILY EOD REPORT</a:t>
            </a:r>
            <a:endParaRPr lang="en-US" sz="1050" dirty="0"/>
          </a:p>
        </p:txBody>
      </p:sp>
      <p:sp>
        <p:nvSpPr>
          <p:cNvPr id="20" name="Text 18"/>
          <p:cNvSpPr txBox="1"/>
          <p:nvPr/>
        </p:nvSpPr>
        <p:spPr>
          <a:xfrm>
            <a:off x="905256" y="4498848"/>
            <a:ext cx="4824832" cy="274320"/>
          </a:xfrm>
          <a:prstGeom prst="rect">
            <a:avLst/>
          </a:prstGeom>
          <a:noFill/>
          <a:ln/>
        </p:spPr>
        <p:txBody>
          <a:bodyPr wrap="square" lIns="0" tIns="0" rIns="0" bIns="0" rtlCol="0" anchor="ctr"/>
          <a:lstStyle/>
          <a:p>
            <a:pPr indent="0" marL="0">
              <a:buNone/>
            </a:pPr>
            <a:r>
              <a:rPr lang="en-US" sz="1200" dirty="0">
                <a:solidFill>
                  <a:schemeClr val="accent3"/>
                </a:solidFill>
              </a:rPr>
              <a:t>Your VA sends one every working day:</a:t>
            </a:r>
            <a:endParaRPr lang="en-US" sz="1200" dirty="0"/>
          </a:p>
        </p:txBody>
      </p:sp>
      <p:sp>
        <p:nvSpPr>
          <p:cNvPr id="21" name="Text 19"/>
          <p:cNvSpPr txBox="1"/>
          <p:nvPr/>
        </p:nvSpPr>
        <p:spPr>
          <a:xfrm>
            <a:off x="905256"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Done today</a:t>
            </a:r>
            <a:endParaRPr lang="en-US" sz="1150" dirty="0"/>
          </a:p>
          <a:p>
            <a:pPr indent="0" marL="0">
              <a:buNone/>
            </a:pPr>
            <a:r>
              <a:rPr lang="en-US" sz="1150" dirty="0">
                <a:solidFill>
                  <a:schemeClr val="accent3"/>
                </a:solidFill>
              </a:rPr>
              <a:t>check it matches priorities</a:t>
            </a:r>
            <a:endParaRPr lang="en-US" sz="1150" dirty="0"/>
          </a:p>
        </p:txBody>
      </p:sp>
      <p:sp>
        <p:nvSpPr>
          <p:cNvPr id="22" name="Text 20"/>
          <p:cNvSpPr txBox="1"/>
          <p:nvPr/>
        </p:nvSpPr>
        <p:spPr>
          <a:xfrm>
            <a:off x="3317672" y="484632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In progress</a:t>
            </a:r>
            <a:endParaRPr lang="en-US" sz="1150" dirty="0"/>
          </a:p>
          <a:p>
            <a:pPr indent="0" marL="0">
              <a:buNone/>
            </a:pPr>
            <a:r>
              <a:rPr lang="en-US" sz="1150" dirty="0">
                <a:solidFill>
                  <a:schemeClr val="accent3"/>
                </a:solidFill>
              </a:rPr>
              <a:t>spot anything stuck</a:t>
            </a:r>
            <a:endParaRPr lang="en-US" sz="1150" dirty="0"/>
          </a:p>
        </p:txBody>
      </p:sp>
      <p:sp>
        <p:nvSpPr>
          <p:cNvPr id="23" name="Text 21"/>
          <p:cNvSpPr txBox="1"/>
          <p:nvPr/>
        </p:nvSpPr>
        <p:spPr>
          <a:xfrm>
            <a:off x="905256"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Questions</a:t>
            </a:r>
            <a:endParaRPr lang="en-US" sz="1150" dirty="0"/>
          </a:p>
          <a:p>
            <a:pPr indent="0" marL="0">
              <a:buNone/>
            </a:pPr>
            <a:r>
              <a:rPr lang="en-US" sz="1150" dirty="0">
                <a:solidFill>
                  <a:schemeClr val="accent3"/>
                </a:solidFill>
              </a:rPr>
              <a:t>reply within 24 hours</a:t>
            </a:r>
            <a:endParaRPr lang="en-US" sz="1150" dirty="0"/>
          </a:p>
        </p:txBody>
      </p:sp>
      <p:sp>
        <p:nvSpPr>
          <p:cNvPr id="24" name="Text 22"/>
          <p:cNvSpPr txBox="1"/>
          <p:nvPr/>
        </p:nvSpPr>
        <p:spPr>
          <a:xfrm>
            <a:off x="3317672" y="5394960"/>
            <a:ext cx="2320976" cy="502920"/>
          </a:xfrm>
          <a:prstGeom prst="rect">
            <a:avLst/>
          </a:prstGeom>
          <a:noFill/>
          <a:ln/>
        </p:spPr>
        <p:txBody>
          <a:bodyPr wrap="square" lIns="0" tIns="0" rIns="0" bIns="0" rtlCol="0" anchor="t"/>
          <a:lstStyle/>
          <a:p>
            <a:pPr indent="0" marL="0">
              <a:buNone/>
            </a:pPr>
            <a:r>
              <a:rPr lang="en-US" sz="1150" b="1" dirty="0">
                <a:solidFill>
                  <a:schemeClr val="accent1"/>
                </a:solidFill>
              </a:rPr>
              <a:t>Tomorrow</a:t>
            </a:r>
            <a:endParaRPr lang="en-US" sz="1150" dirty="0"/>
          </a:p>
          <a:p>
            <a:pPr indent="0" marL="0">
              <a:buNone/>
            </a:pPr>
            <a:r>
              <a:rPr lang="en-US" sz="1150" dirty="0">
                <a:solidFill>
                  <a:schemeClr val="accent3"/>
                </a:solidFill>
              </a:rPr>
              <a:t>adjust if priorities changed</a:t>
            </a:r>
            <a:endParaRPr lang="en-US" sz="1150" dirty="0"/>
          </a:p>
        </p:txBody>
      </p:sp>
      <p:sp>
        <p:nvSpPr>
          <p:cNvPr id="25" name="card"/>
          <p:cNvSpPr/>
          <p:nvPr/>
        </p:nvSpPr>
        <p:spPr>
          <a:xfrm>
            <a:off x="6187288" y="4069080"/>
            <a:ext cx="5373472" cy="2103120"/>
          </a:xfrm>
          <a:prstGeom prst="roundRect">
            <a:avLst>
              <a:gd name="adj" fmla="val 3478"/>
            </a:avLst>
          </a:prstGeom>
          <a:solidFill>
            <a:schemeClr val="accent4"/>
          </a:solidFill>
          <a:ln/>
        </p:spPr>
      </p:sp>
      <p:sp>
        <p:nvSpPr>
          <p:cNvPr id="26" name="Text 24"/>
          <p:cNvSpPr txBox="1"/>
          <p:nvPr/>
        </p:nvSpPr>
        <p:spPr>
          <a:xfrm>
            <a:off x="6461608" y="4206240"/>
            <a:ext cx="4824832"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GIVING FEEDBACK: 3 STEPS</a:t>
            </a:r>
            <a:endParaRPr lang="en-US" sz="1050" dirty="0"/>
          </a:p>
        </p:txBody>
      </p:sp>
      <p:sp>
        <p:nvSpPr>
          <p:cNvPr id="27" name="number 1"/>
          <p:cNvSpPr/>
          <p:nvPr/>
        </p:nvSpPr>
        <p:spPr>
          <a:xfrm>
            <a:off x="6461608" y="4572000"/>
            <a:ext cx="329184" cy="329184"/>
          </a:xfrm>
          <a:prstGeom prst="ellipse">
            <a:avLst/>
          </a:prstGeom>
          <a:solidFill>
            <a:schemeClr val="accent1"/>
          </a:solidFill>
          <a:ln/>
        </p:spPr>
      </p:sp>
      <p:sp>
        <p:nvSpPr>
          <p:cNvPr id="28" name="Text 26"/>
          <p:cNvSpPr txBox="1"/>
          <p:nvPr/>
        </p:nvSpPr>
        <p:spPr>
          <a:xfrm>
            <a:off x="6461608" y="457200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29" name="Text 27"/>
          <p:cNvSpPr txBox="1"/>
          <p:nvPr/>
        </p:nvSpPr>
        <p:spPr>
          <a:xfrm>
            <a:off x="6918808" y="4572000"/>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worked</a:t>
            </a:r>
            <a:endParaRPr lang="en-US" sz="1300" dirty="0"/>
          </a:p>
        </p:txBody>
      </p:sp>
      <p:sp>
        <p:nvSpPr>
          <p:cNvPr id="30" name="number 2"/>
          <p:cNvSpPr/>
          <p:nvPr/>
        </p:nvSpPr>
        <p:spPr>
          <a:xfrm>
            <a:off x="6461608" y="5001768"/>
            <a:ext cx="329184" cy="329184"/>
          </a:xfrm>
          <a:prstGeom prst="ellipse">
            <a:avLst/>
          </a:prstGeom>
          <a:solidFill>
            <a:schemeClr val="accent1"/>
          </a:solidFill>
          <a:ln/>
        </p:spPr>
      </p:sp>
      <p:sp>
        <p:nvSpPr>
          <p:cNvPr id="31" name="Text 29"/>
          <p:cNvSpPr txBox="1"/>
          <p:nvPr/>
        </p:nvSpPr>
        <p:spPr>
          <a:xfrm>
            <a:off x="6461608" y="5001768"/>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32" name="Text 30"/>
          <p:cNvSpPr txBox="1"/>
          <p:nvPr/>
        </p:nvSpPr>
        <p:spPr>
          <a:xfrm>
            <a:off x="6918808" y="5001768"/>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Say what to change</a:t>
            </a:r>
            <a:endParaRPr lang="en-US" sz="1300" dirty="0"/>
          </a:p>
        </p:txBody>
      </p:sp>
      <p:sp>
        <p:nvSpPr>
          <p:cNvPr id="33" name="number 3"/>
          <p:cNvSpPr/>
          <p:nvPr/>
        </p:nvSpPr>
        <p:spPr>
          <a:xfrm>
            <a:off x="6461608" y="5431536"/>
            <a:ext cx="329184" cy="329184"/>
          </a:xfrm>
          <a:prstGeom prst="ellipse">
            <a:avLst/>
          </a:prstGeom>
          <a:solidFill>
            <a:schemeClr val="accent1"/>
          </a:solidFill>
          <a:ln/>
        </p:spPr>
      </p:sp>
      <p:sp>
        <p:nvSpPr>
          <p:cNvPr id="34" name="Text 32"/>
          <p:cNvSpPr txBox="1"/>
          <p:nvPr/>
        </p:nvSpPr>
        <p:spPr>
          <a:xfrm>
            <a:off x="6461608" y="5431536"/>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35" name="Text 33"/>
          <p:cNvSpPr txBox="1"/>
          <p:nvPr/>
        </p:nvSpPr>
        <p:spPr>
          <a:xfrm>
            <a:off x="6918808" y="5431536"/>
            <a:ext cx="4367632" cy="329184"/>
          </a:xfrm>
          <a:prstGeom prst="rect">
            <a:avLst/>
          </a:prstGeom>
          <a:noFill/>
          <a:ln/>
        </p:spPr>
        <p:txBody>
          <a:bodyPr wrap="square" lIns="0" tIns="0" rIns="0" bIns="0" rtlCol="0" anchor="ctr"/>
          <a:lstStyle/>
          <a:p>
            <a:pPr indent="0" marL="0">
              <a:buNone/>
            </a:pPr>
            <a:r>
              <a:rPr lang="en-US" sz="1300" b="1" dirty="0">
                <a:solidFill>
                  <a:schemeClr val="tx1"/>
                </a:solidFill>
              </a:rPr>
              <a:t>Agree the next step</a:t>
            </a:r>
            <a:endParaRPr lang="en-US" sz="1300" dirty="0"/>
          </a:p>
        </p:txBody>
      </p:sp>
      <p:sp>
        <p:nvSpPr>
          <p:cNvPr id="36" name="Text 34"/>
          <p:cNvSpPr txBox="1"/>
          <p:nvPr/>
        </p:nvSpPr>
        <p:spPr>
          <a:xfrm>
            <a:off x="6461608" y="5833872"/>
            <a:ext cx="4824832" cy="274320"/>
          </a:xfrm>
          <a:prstGeom prst="rect">
            <a:avLst/>
          </a:prstGeom>
          <a:noFill/>
          <a:ln/>
        </p:spPr>
        <p:txBody>
          <a:bodyPr wrap="square" lIns="0" tIns="0" rIns="0" bIns="0" rtlCol="0" anchor="ctr"/>
          <a:lstStyle/>
          <a:p>
            <a:pPr indent="0" marL="0">
              <a:buNone/>
            </a:pPr>
            <a:r>
              <a:rPr lang="en-US" sz="1150" b="1" dirty="0">
                <a:solidFill>
                  <a:schemeClr val="accent1"/>
                </a:solidFill>
              </a:rPr>
              <a:t>Give feedback early and often. Stuck? Bring in your CAX team.</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STARTER PACK  ·  4 OF 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Well Together</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Small habits that build a great long-term relationship, plus quick answers for the moments that worry first-time clients.</a:t>
            </a:r>
            <a:endParaRPr lang="en-US" sz="1300" dirty="0"/>
          </a:p>
        </p:txBody>
      </p:sp>
      <p:sp>
        <p:nvSpPr>
          <p:cNvPr id="5" name="card"/>
          <p:cNvSpPr/>
          <p:nvPr/>
        </p:nvSpPr>
        <p:spPr>
          <a:xfrm>
            <a:off x="630936" y="1965960"/>
            <a:ext cx="3521354" cy="4206240"/>
          </a:xfrm>
          <a:prstGeom prst="roundRect">
            <a:avLst>
              <a:gd name="adj" fmla="val 2077"/>
            </a:avLst>
          </a:prstGeom>
          <a:solidFill>
            <a:schemeClr val="accent4"/>
          </a:solidFill>
          <a:ln/>
        </p:spPr>
      </p:sp>
      <p:sp>
        <p:nvSpPr>
          <p:cNvPr id="6" name="Text 4"/>
          <p:cNvSpPr txBox="1"/>
          <p:nvPr/>
        </p:nvSpPr>
        <p:spPr>
          <a:xfrm>
            <a:off x="905256"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WORKING WELL WITH YOUR ANGEL</a:t>
            </a:r>
            <a:endParaRPr lang="en-US" sz="1050" dirty="0"/>
          </a:p>
        </p:txBody>
      </p:sp>
      <p:sp>
        <p:nvSpPr>
          <p:cNvPr id="7" name="Text 5"/>
          <p:cNvSpPr txBox="1"/>
          <p:nvPr/>
        </p:nvSpPr>
        <p:spPr>
          <a:xfrm>
            <a:off x="905256" y="2560320"/>
            <a:ext cx="2972714" cy="777240"/>
          </a:xfrm>
          <a:prstGeom prst="rect">
            <a:avLst/>
          </a:prstGeom>
          <a:noFill/>
          <a:ln/>
        </p:spPr>
        <p:txBody>
          <a:bodyPr wrap="square" lIns="0" tIns="0" rIns="0" bIns="0" rtlCol="0" anchor="t"/>
          <a:lstStyle/>
          <a:p>
            <a:pPr indent="0" marL="0">
              <a:buNone/>
            </a:pPr>
            <a:r>
              <a:rPr lang="en-US" sz="1250" b="1" dirty="0">
                <a:solidFill>
                  <a:schemeClr val="tx1"/>
                </a:solidFill>
              </a:rPr>
              <a:t>Invite questions. </a:t>
            </a:r>
            <a:pPr indent="0" marL="0">
              <a:buNone/>
            </a:pPr>
            <a:r>
              <a:rPr lang="en-US" sz="1250" dirty="0">
                <a:solidFill>
                  <a:schemeClr val="accent3"/>
                </a:solidFill>
              </a:rPr>
              <a:t>Many Angels won’t say “I don’t understand” unless asked.</a:t>
            </a:r>
            <a:endParaRPr lang="en-US" sz="1250" dirty="0"/>
          </a:p>
        </p:txBody>
      </p:sp>
      <p:sp>
        <p:nvSpPr>
          <p:cNvPr id="8" name="Text 6"/>
          <p:cNvSpPr txBox="1"/>
          <p:nvPr/>
        </p:nvSpPr>
        <p:spPr>
          <a:xfrm>
            <a:off x="905256" y="3429000"/>
            <a:ext cx="2972714" cy="777240"/>
          </a:xfrm>
          <a:prstGeom prst="rect">
            <a:avLst/>
          </a:prstGeom>
          <a:noFill/>
          <a:ln/>
        </p:spPr>
        <p:txBody>
          <a:bodyPr wrap="square" lIns="0" tIns="0" rIns="0" bIns="0" rtlCol="0" anchor="t"/>
          <a:lstStyle/>
          <a:p>
            <a:pPr indent="0" marL="0">
              <a:buNone/>
            </a:pPr>
            <a:r>
              <a:rPr lang="en-US" sz="1250" b="1" dirty="0">
                <a:solidFill>
                  <a:schemeClr val="tx1"/>
                </a:solidFill>
              </a:rPr>
              <a:t>Ask open questions. </a:t>
            </a:r>
            <a:pPr indent="0" marL="0">
              <a:buNone/>
            </a:pPr>
            <a:r>
              <a:rPr lang="en-US" sz="1250" dirty="0">
                <a:solidFill>
                  <a:schemeClr val="accent3"/>
                </a:solidFill>
              </a:rPr>
              <a:t>“How would you approach this?” beats “Is that okay?”</a:t>
            </a:r>
            <a:endParaRPr lang="en-US" sz="1250" dirty="0"/>
          </a:p>
        </p:txBody>
      </p:sp>
      <p:sp>
        <p:nvSpPr>
          <p:cNvPr id="9" name="Text 7"/>
          <p:cNvSpPr txBox="1"/>
          <p:nvPr/>
        </p:nvSpPr>
        <p:spPr>
          <a:xfrm>
            <a:off x="905256" y="4297680"/>
            <a:ext cx="2972714" cy="777240"/>
          </a:xfrm>
          <a:prstGeom prst="rect">
            <a:avLst/>
          </a:prstGeom>
          <a:noFill/>
          <a:ln/>
        </p:spPr>
        <p:txBody>
          <a:bodyPr wrap="square" lIns="0" tIns="0" rIns="0" bIns="0" rtlCol="0" anchor="t"/>
          <a:lstStyle/>
          <a:p>
            <a:pPr indent="0" marL="0">
              <a:buNone/>
            </a:pPr>
            <a:r>
              <a:rPr lang="en-US" sz="1250" b="1" dirty="0">
                <a:solidFill>
                  <a:schemeClr val="tx1"/>
                </a:solidFill>
              </a:rPr>
              <a:t>Recognise good work, </a:t>
            </a:r>
            <a:pPr indent="0" marL="0">
              <a:buNone/>
            </a:pPr>
            <a:r>
              <a:rPr lang="en-US" sz="1250" dirty="0">
                <a:solidFill>
                  <a:schemeClr val="accent3"/>
                </a:solidFill>
              </a:rPr>
              <a:t>out loud and often.</a:t>
            </a:r>
            <a:endParaRPr lang="en-US" sz="1250" dirty="0"/>
          </a:p>
        </p:txBody>
      </p:sp>
      <p:sp>
        <p:nvSpPr>
          <p:cNvPr id="10" name="Text 8"/>
          <p:cNvSpPr txBox="1"/>
          <p:nvPr/>
        </p:nvSpPr>
        <p:spPr>
          <a:xfrm>
            <a:off x="905256" y="5166360"/>
            <a:ext cx="2972714" cy="777240"/>
          </a:xfrm>
          <a:prstGeom prst="rect">
            <a:avLst/>
          </a:prstGeom>
          <a:noFill/>
          <a:ln/>
        </p:spPr>
        <p:txBody>
          <a:bodyPr wrap="square" lIns="0" tIns="0" rIns="0" bIns="0" rtlCol="0" anchor="t"/>
          <a:lstStyle/>
          <a:p>
            <a:pPr indent="0" marL="0">
              <a:buNone/>
            </a:pPr>
            <a:r>
              <a:rPr lang="en-US" sz="1250" b="1" dirty="0">
                <a:solidFill>
                  <a:schemeClr val="tx1"/>
                </a:solidFill>
              </a:rPr>
              <a:t>Get to know them: </a:t>
            </a:r>
            <a:pPr indent="0" marL="0">
              <a:buNone/>
            </a:pPr>
            <a:r>
              <a:rPr lang="en-US" sz="1250" dirty="0">
                <a:solidFill>
                  <a:schemeClr val="accent3"/>
                </a:solidFill>
              </a:rPr>
              <a:t>their holidays, family and goals.</a:t>
            </a:r>
            <a:endParaRPr lang="en-US" sz="1250" dirty="0"/>
          </a:p>
        </p:txBody>
      </p:sp>
      <p:sp>
        <p:nvSpPr>
          <p:cNvPr id="11" name="card"/>
          <p:cNvSpPr/>
          <p:nvPr/>
        </p:nvSpPr>
        <p:spPr>
          <a:xfrm>
            <a:off x="4335170" y="1965960"/>
            <a:ext cx="3521354" cy="4206240"/>
          </a:xfrm>
          <a:prstGeom prst="roundRect">
            <a:avLst>
              <a:gd name="adj" fmla="val 2077"/>
            </a:avLst>
          </a:prstGeom>
          <a:solidFill>
            <a:schemeClr val="bg1"/>
          </a:solidFill>
          <a:ln w="12700">
            <a:solidFill>
              <a:schemeClr val="accent5"/>
            </a:solidFill>
            <a:prstDash val="solid"/>
          </a:ln>
        </p:spPr>
      </p:sp>
      <p:sp>
        <p:nvSpPr>
          <p:cNvPr id="12" name="Text 10"/>
          <p:cNvSpPr txBox="1"/>
          <p:nvPr/>
        </p:nvSpPr>
        <p:spPr>
          <a:xfrm>
            <a:off x="4609490" y="214884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IF…?</a:t>
            </a:r>
            <a:endParaRPr lang="en-US" sz="1050" dirty="0"/>
          </a:p>
        </p:txBody>
      </p:sp>
      <p:sp>
        <p:nvSpPr>
          <p:cNvPr id="13" name="Text 11"/>
          <p:cNvSpPr txBox="1"/>
          <p:nvPr/>
        </p:nvSpPr>
        <p:spPr>
          <a:xfrm>
            <a:off x="4609490" y="2514600"/>
            <a:ext cx="2972714" cy="685800"/>
          </a:xfrm>
          <a:prstGeom prst="rect">
            <a:avLst/>
          </a:prstGeom>
          <a:noFill/>
          <a:ln/>
        </p:spPr>
        <p:txBody>
          <a:bodyPr wrap="square" lIns="0" tIns="0" rIns="0" bIns="0" rtlCol="0" anchor="t"/>
          <a:lstStyle/>
          <a:p>
            <a:pPr indent="0" marL="0">
              <a:buNone/>
            </a:pPr>
            <a:r>
              <a:rPr lang="en-US" sz="1150" b="1" dirty="0">
                <a:solidFill>
                  <a:schemeClr val="tx1"/>
                </a:solidFill>
              </a:rPr>
              <a:t>My Angel is sick or offline?</a:t>
            </a:r>
            <a:endParaRPr lang="en-US" sz="1150" dirty="0"/>
          </a:p>
          <a:p>
            <a:pPr indent="0" marL="0">
              <a:buNone/>
            </a:pPr>
            <a:r>
              <a:rPr lang="en-US" sz="1150" dirty="0">
                <a:solidFill>
                  <a:schemeClr val="accent3"/>
                </a:solidFill>
              </a:rPr>
              <a:t>They’ll tell you as early as possible, and your Account Manager helps keep priorities covered.</a:t>
            </a:r>
            <a:endParaRPr lang="en-US" sz="1150" dirty="0"/>
          </a:p>
        </p:txBody>
      </p:sp>
      <p:sp>
        <p:nvSpPr>
          <p:cNvPr id="14" name="Text 12"/>
          <p:cNvSpPr txBox="1"/>
          <p:nvPr/>
        </p:nvSpPr>
        <p:spPr>
          <a:xfrm>
            <a:off x="4609490" y="3227832"/>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not happy?</a:t>
            </a:r>
            <a:endParaRPr lang="en-US" sz="1150" dirty="0"/>
          </a:p>
          <a:p>
            <a:pPr indent="0" marL="0">
              <a:buNone/>
            </a:pPr>
            <a:r>
              <a:rPr lang="en-US" sz="1150" dirty="0">
                <a:solidFill>
                  <a:schemeClr val="accent3"/>
                </a:solidFill>
              </a:rPr>
              <a:t>Tell your Account Manager any time. Free replacement, with a 1-week trial.</a:t>
            </a:r>
            <a:endParaRPr lang="en-US" sz="1150" dirty="0"/>
          </a:p>
        </p:txBody>
      </p:sp>
      <p:sp>
        <p:nvSpPr>
          <p:cNvPr id="15" name="Text 13"/>
          <p:cNvSpPr txBox="1"/>
          <p:nvPr/>
        </p:nvSpPr>
        <p:spPr>
          <a:xfrm>
            <a:off x="4609490" y="3941064"/>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need more help?</a:t>
            </a:r>
            <a:endParaRPr lang="en-US" sz="1150" dirty="0"/>
          </a:p>
          <a:p>
            <a:pPr indent="0" marL="0">
              <a:buNone/>
            </a:pPr>
            <a:r>
              <a:rPr lang="en-US" sz="1150" dirty="0">
                <a:solidFill>
                  <a:schemeClr val="accent3"/>
                </a:solidFill>
              </a:rPr>
              <a:t>Ask your Account Manager about a second Angel.</a:t>
            </a:r>
            <a:endParaRPr lang="en-US" sz="1150" dirty="0"/>
          </a:p>
        </p:txBody>
      </p:sp>
      <p:sp>
        <p:nvSpPr>
          <p:cNvPr id="16" name="Text 14"/>
          <p:cNvSpPr txBox="1"/>
          <p:nvPr/>
        </p:nvSpPr>
        <p:spPr>
          <a:xfrm>
            <a:off x="4609490" y="4654296"/>
            <a:ext cx="2972714" cy="685800"/>
          </a:xfrm>
          <a:prstGeom prst="rect">
            <a:avLst/>
          </a:prstGeom>
          <a:noFill/>
          <a:ln/>
        </p:spPr>
        <p:txBody>
          <a:bodyPr wrap="square" lIns="0" tIns="0" rIns="0" bIns="0" rtlCol="0" anchor="t"/>
          <a:lstStyle/>
          <a:p>
            <a:pPr indent="0" marL="0">
              <a:buNone/>
            </a:pPr>
            <a:r>
              <a:rPr lang="en-US" sz="1150" b="1" dirty="0">
                <a:solidFill>
                  <a:schemeClr val="tx1"/>
                </a:solidFill>
              </a:rPr>
              <a:t>I’m on holiday?</a:t>
            </a:r>
            <a:endParaRPr lang="en-US" sz="1150" dirty="0"/>
          </a:p>
          <a:p>
            <a:pPr indent="0" marL="0">
              <a:buNone/>
            </a:pPr>
            <a:r>
              <a:rPr lang="en-US" sz="1150" dirty="0">
                <a:solidFill>
                  <a:schemeClr val="accent3"/>
                </a:solidFill>
              </a:rPr>
              <a:t>Leave a priority list. Your Angel keeps things moving.</a:t>
            </a:r>
            <a:endParaRPr lang="en-US" sz="1150" dirty="0"/>
          </a:p>
        </p:txBody>
      </p:sp>
      <p:sp>
        <p:nvSpPr>
          <p:cNvPr id="17" name="Text 15"/>
          <p:cNvSpPr txBox="1"/>
          <p:nvPr/>
        </p:nvSpPr>
        <p:spPr>
          <a:xfrm>
            <a:off x="4609490" y="5367528"/>
            <a:ext cx="2972714" cy="685800"/>
          </a:xfrm>
          <a:prstGeom prst="rect">
            <a:avLst/>
          </a:prstGeom>
          <a:noFill/>
          <a:ln/>
        </p:spPr>
        <p:txBody>
          <a:bodyPr wrap="square" lIns="0" tIns="0" rIns="0" bIns="0" rtlCol="0" anchor="t"/>
          <a:lstStyle/>
          <a:p>
            <a:pPr indent="0" marL="0">
              <a:buNone/>
            </a:pPr>
            <a:r>
              <a:rPr lang="en-US" sz="1150" b="1" dirty="0">
                <a:solidFill>
                  <a:schemeClr val="tx1"/>
                </a:solidFill>
              </a:rPr>
              <a:t>I have billing questions?</a:t>
            </a:r>
            <a:endParaRPr lang="en-US" sz="1150" dirty="0"/>
          </a:p>
          <a:p>
            <a:pPr indent="0" marL="0">
              <a:buNone/>
            </a:pPr>
            <a:r>
              <a:rPr lang="en-US" sz="1150" dirty="0">
                <a:solidFill>
                  <a:schemeClr val="accent3"/>
                </a:solidFill>
              </a:rPr>
              <a:t>Your Account Manager walks you through it at kick-off.</a:t>
            </a:r>
            <a:endParaRPr lang="en-US" sz="1150" dirty="0"/>
          </a:p>
        </p:txBody>
      </p:sp>
      <p:sp>
        <p:nvSpPr>
          <p:cNvPr id="18" name="card"/>
          <p:cNvSpPr/>
          <p:nvPr/>
        </p:nvSpPr>
        <p:spPr>
          <a:xfrm>
            <a:off x="8039405" y="1965960"/>
            <a:ext cx="3521354" cy="4206240"/>
          </a:xfrm>
          <a:prstGeom prst="roundRect">
            <a:avLst>
              <a:gd name="adj" fmla="val 2077"/>
            </a:avLst>
          </a:prstGeom>
          <a:solidFill>
            <a:schemeClr val="bg2"/>
          </a:solidFill>
          <a:ln/>
        </p:spPr>
      </p:sp>
      <p:sp>
        <p:nvSpPr>
          <p:cNvPr id="19" name="Text 17"/>
          <p:cNvSpPr txBox="1"/>
          <p:nvPr/>
        </p:nvSpPr>
        <p:spPr>
          <a:xfrm>
            <a:off x="8313725" y="2148840"/>
            <a:ext cx="2972714" cy="256032"/>
          </a:xfrm>
          <a:prstGeom prst="rect">
            <a:avLst/>
          </a:prstGeom>
          <a:noFill/>
          <a:ln/>
        </p:spPr>
        <p:txBody>
          <a:bodyPr wrap="square" lIns="0" tIns="0" rIns="0" bIns="0" rtlCol="0" anchor="ctr"/>
          <a:lstStyle/>
          <a:p>
            <a:pPr indent="0" marL="0">
              <a:buNone/>
            </a:pPr>
            <a:r>
              <a:rPr lang="en-US" sz="1050" b="1" spc="200" kern="0" dirty="0">
                <a:solidFill>
                  <a:srgbClr val="A86A12"/>
                </a:solidFill>
              </a:rPr>
              <a:t>FIRST-TIME MISTAKES TO AVOID</a:t>
            </a:r>
            <a:endParaRPr lang="en-US" sz="1050" dirty="0"/>
          </a:p>
        </p:txBody>
      </p:sp>
      <p:sp>
        <p:nvSpPr>
          <p:cNvPr id="20" name="mistake 1"/>
          <p:cNvSpPr/>
          <p:nvPr/>
        </p:nvSpPr>
        <p:spPr>
          <a:xfrm>
            <a:off x="8313725" y="2606040"/>
            <a:ext cx="329184" cy="329184"/>
          </a:xfrm>
          <a:prstGeom prst="ellipse">
            <a:avLst/>
          </a:prstGeom>
          <a:solidFill>
            <a:schemeClr val="bg1"/>
          </a:solidFill>
          <a:ln w="19050">
            <a:solidFill>
              <a:schemeClr val="accent6"/>
            </a:solidFill>
            <a:prstDash val="solid"/>
          </a:ln>
        </p:spPr>
      </p:sp>
      <p:sp>
        <p:nvSpPr>
          <p:cNvPr id="21" name="Text 19"/>
          <p:cNvSpPr txBox="1"/>
          <p:nvPr/>
        </p:nvSpPr>
        <p:spPr>
          <a:xfrm>
            <a:off x="8313725" y="26060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2" name="Text 20"/>
          <p:cNvSpPr txBox="1"/>
          <p:nvPr/>
        </p:nvSpPr>
        <p:spPr>
          <a:xfrm>
            <a:off x="8770925" y="25603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Vague instructions</a:t>
            </a:r>
            <a:endParaRPr lang="en-US" sz="1250" dirty="0"/>
          </a:p>
        </p:txBody>
      </p:sp>
      <p:sp>
        <p:nvSpPr>
          <p:cNvPr id="23" name="mistake 2"/>
          <p:cNvSpPr/>
          <p:nvPr/>
        </p:nvSpPr>
        <p:spPr>
          <a:xfrm>
            <a:off x="8313725" y="3291840"/>
            <a:ext cx="329184" cy="329184"/>
          </a:xfrm>
          <a:prstGeom prst="ellipse">
            <a:avLst/>
          </a:prstGeom>
          <a:solidFill>
            <a:schemeClr val="bg1"/>
          </a:solidFill>
          <a:ln w="19050">
            <a:solidFill>
              <a:schemeClr val="accent6"/>
            </a:solidFill>
            <a:prstDash val="solid"/>
          </a:ln>
        </p:spPr>
      </p:sp>
      <p:sp>
        <p:nvSpPr>
          <p:cNvPr id="24" name="Text 22"/>
          <p:cNvSpPr txBox="1"/>
          <p:nvPr/>
        </p:nvSpPr>
        <p:spPr>
          <a:xfrm>
            <a:off x="8313725" y="32918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5" name="Text 23"/>
          <p:cNvSpPr txBox="1"/>
          <p:nvPr/>
        </p:nvSpPr>
        <p:spPr>
          <a:xfrm>
            <a:off x="8770925" y="32461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 access on Day 1</a:t>
            </a:r>
            <a:endParaRPr lang="en-US" sz="1250" dirty="0"/>
          </a:p>
        </p:txBody>
      </p:sp>
      <p:sp>
        <p:nvSpPr>
          <p:cNvPr id="26" name="mistake 3"/>
          <p:cNvSpPr/>
          <p:nvPr/>
        </p:nvSpPr>
        <p:spPr>
          <a:xfrm>
            <a:off x="8313725" y="3977640"/>
            <a:ext cx="329184" cy="329184"/>
          </a:xfrm>
          <a:prstGeom prst="ellipse">
            <a:avLst/>
          </a:prstGeom>
          <a:solidFill>
            <a:schemeClr val="bg1"/>
          </a:solidFill>
          <a:ln w="19050">
            <a:solidFill>
              <a:schemeClr val="accent6"/>
            </a:solidFill>
            <a:prstDash val="solid"/>
          </a:ln>
        </p:spPr>
      </p:sp>
      <p:sp>
        <p:nvSpPr>
          <p:cNvPr id="27" name="Text 25"/>
          <p:cNvSpPr txBox="1"/>
          <p:nvPr/>
        </p:nvSpPr>
        <p:spPr>
          <a:xfrm>
            <a:off x="8313725" y="39776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28" name="Text 26"/>
          <p:cNvSpPr txBox="1"/>
          <p:nvPr/>
        </p:nvSpPr>
        <p:spPr>
          <a:xfrm>
            <a:off x="8770925" y="39319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Doing it yourself “because it’s faster”</a:t>
            </a:r>
            <a:endParaRPr lang="en-US" sz="1250" dirty="0"/>
          </a:p>
        </p:txBody>
      </p:sp>
      <p:sp>
        <p:nvSpPr>
          <p:cNvPr id="29" name="mistake 4"/>
          <p:cNvSpPr/>
          <p:nvPr/>
        </p:nvSpPr>
        <p:spPr>
          <a:xfrm>
            <a:off x="8313725" y="4663440"/>
            <a:ext cx="329184" cy="329184"/>
          </a:xfrm>
          <a:prstGeom prst="ellipse">
            <a:avLst/>
          </a:prstGeom>
          <a:solidFill>
            <a:schemeClr val="bg1"/>
          </a:solidFill>
          <a:ln w="19050">
            <a:solidFill>
              <a:schemeClr val="accent6"/>
            </a:solidFill>
            <a:prstDash val="solid"/>
          </a:ln>
        </p:spPr>
      </p:sp>
      <p:sp>
        <p:nvSpPr>
          <p:cNvPr id="30" name="Text 28"/>
          <p:cNvSpPr txBox="1"/>
          <p:nvPr/>
        </p:nvSpPr>
        <p:spPr>
          <a:xfrm>
            <a:off x="8313725" y="46634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1" name="Text 29"/>
          <p:cNvSpPr txBox="1"/>
          <p:nvPr/>
        </p:nvSpPr>
        <p:spPr>
          <a:xfrm>
            <a:off x="8770925" y="46177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Not reading the EOD reports</a:t>
            </a:r>
            <a:endParaRPr lang="en-US" sz="1250" dirty="0"/>
          </a:p>
        </p:txBody>
      </p:sp>
      <p:sp>
        <p:nvSpPr>
          <p:cNvPr id="32" name="mistake 5"/>
          <p:cNvSpPr/>
          <p:nvPr/>
        </p:nvSpPr>
        <p:spPr>
          <a:xfrm>
            <a:off x="8313725" y="5349240"/>
            <a:ext cx="329184" cy="329184"/>
          </a:xfrm>
          <a:prstGeom prst="ellipse">
            <a:avLst/>
          </a:prstGeom>
          <a:solidFill>
            <a:schemeClr val="bg1"/>
          </a:solidFill>
          <a:ln w="19050">
            <a:solidFill>
              <a:schemeClr val="accent6"/>
            </a:solidFill>
            <a:prstDash val="solid"/>
          </a:ln>
        </p:spPr>
      </p:sp>
      <p:sp>
        <p:nvSpPr>
          <p:cNvPr id="33" name="Text 31"/>
          <p:cNvSpPr txBox="1"/>
          <p:nvPr/>
        </p:nvSpPr>
        <p:spPr>
          <a:xfrm>
            <a:off x="8313725" y="5349240"/>
            <a:ext cx="329184" cy="329184"/>
          </a:xfrm>
          <a:prstGeom prst="rect">
            <a:avLst/>
          </a:prstGeom>
          <a:noFill/>
          <a:ln/>
        </p:spPr>
        <p:txBody>
          <a:bodyPr wrap="square" lIns="0" tIns="0" rIns="0" bIns="0" rtlCol="0" anchor="ctr"/>
          <a:lstStyle/>
          <a:p>
            <a:pPr algn="ctr" indent="0" marL="0">
              <a:buNone/>
            </a:pPr>
            <a:r>
              <a:rPr lang="en-US" sz="1100" b="1" dirty="0">
                <a:solidFill>
                  <a:srgbClr val="A86A12"/>
                </a:solidFill>
              </a:rPr>
              <a:t>✕</a:t>
            </a:r>
            <a:endParaRPr lang="en-US" sz="1100" dirty="0"/>
          </a:p>
        </p:txBody>
      </p:sp>
      <p:sp>
        <p:nvSpPr>
          <p:cNvPr id="34" name="Text 32"/>
          <p:cNvSpPr txBox="1"/>
          <p:nvPr/>
        </p:nvSpPr>
        <p:spPr>
          <a:xfrm>
            <a:off x="8770925" y="5303520"/>
            <a:ext cx="2515514" cy="457200"/>
          </a:xfrm>
          <a:prstGeom prst="rect">
            <a:avLst/>
          </a:prstGeom>
          <a:noFill/>
          <a:ln/>
        </p:spPr>
        <p:txBody>
          <a:bodyPr wrap="square" lIns="0" tIns="0" rIns="0" bIns="0" rtlCol="0" anchor="ctr"/>
          <a:lstStyle/>
          <a:p>
            <a:pPr indent="0" marL="0">
              <a:buNone/>
            </a:pPr>
            <a:r>
              <a:rPr lang="en-US" sz="1250" b="1" dirty="0">
                <a:solidFill>
                  <a:schemeClr val="tx1"/>
                </a:solidFill>
              </a:rPr>
              <a:t>Saving feedback until you’re frustrated</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Your 12-Month Journey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Four milestone reviews. At each one we update your Freedom Scorecard, KPIs and “Next to delegate” list.</a:t>
            </a:r>
            <a:endParaRPr lang="en-US" sz="1300" dirty="0"/>
          </a:p>
        </p:txBody>
      </p:sp>
      <p:sp>
        <p:nvSpPr>
          <p:cNvPr id="5" name="journey line"/>
          <p:cNvSpPr/>
          <p:nvPr/>
        </p:nvSpPr>
        <p:spPr>
          <a:xfrm>
            <a:off x="905256" y="2423160"/>
            <a:ext cx="10381183" cy="0"/>
          </a:xfrm>
          <a:prstGeom prst="line">
            <a:avLst/>
          </a:prstGeom>
          <a:noFill/>
          <a:ln w="38100">
            <a:solidFill>
              <a:schemeClr val="accent2"/>
            </a:solidFill>
            <a:prstDash val="solid"/>
          </a:ln>
        </p:spPr>
      </p:sp>
      <p:sp>
        <p:nvSpPr>
          <p:cNvPr id="6" name="milestone 1"/>
          <p:cNvSpPr/>
          <p:nvPr/>
        </p:nvSpPr>
        <p:spPr>
          <a:xfrm>
            <a:off x="722376" y="2221992"/>
            <a:ext cx="402336" cy="402336"/>
          </a:xfrm>
          <a:prstGeom prst="ellipse">
            <a:avLst/>
          </a:prstGeom>
          <a:solidFill>
            <a:schemeClr val="bg1"/>
          </a:solidFill>
          <a:ln w="38100">
            <a:solidFill>
              <a:schemeClr val="accent1"/>
            </a:solidFill>
            <a:prstDash val="solid"/>
          </a:ln>
        </p:spPr>
      </p:sp>
      <p:sp>
        <p:nvSpPr>
          <p:cNvPr id="7" name="card"/>
          <p:cNvSpPr/>
          <p:nvPr/>
        </p:nvSpPr>
        <p:spPr>
          <a:xfrm>
            <a:off x="630936" y="2834640"/>
            <a:ext cx="2595296" cy="2377440"/>
          </a:xfrm>
          <a:prstGeom prst="roundRect">
            <a:avLst>
              <a:gd name="adj" fmla="val 3077"/>
            </a:avLst>
          </a:prstGeom>
          <a:solidFill>
            <a:schemeClr val="bg1"/>
          </a:solidFill>
          <a:ln w="12700">
            <a:solidFill>
              <a:schemeClr val="accent5"/>
            </a:solidFill>
            <a:prstDash val="solid"/>
          </a:ln>
        </p:spPr>
      </p:sp>
      <p:sp>
        <p:nvSpPr>
          <p:cNvPr id="8" name="Text 6"/>
          <p:cNvSpPr txBox="1"/>
          <p:nvPr/>
        </p:nvSpPr>
        <p:spPr>
          <a:xfrm>
            <a:off x="859536"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30</a:t>
            </a:r>
            <a:endParaRPr lang="en-US" sz="1050" dirty="0"/>
          </a:p>
        </p:txBody>
      </p:sp>
      <p:sp>
        <p:nvSpPr>
          <p:cNvPr id="9" name="Text 7"/>
          <p:cNvSpPr txBox="1"/>
          <p:nvPr/>
        </p:nvSpPr>
        <p:spPr>
          <a:xfrm>
            <a:off x="859536"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First check-in</a:t>
            </a:r>
            <a:endParaRPr lang="en-US" sz="1600" dirty="0"/>
          </a:p>
        </p:txBody>
      </p:sp>
      <p:sp>
        <p:nvSpPr>
          <p:cNvPr id="10" name="Text 8"/>
          <p:cNvSpPr txBox="1"/>
          <p:nvPr/>
        </p:nvSpPr>
        <p:spPr>
          <a:xfrm>
            <a:off x="859536"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Answering enquiries within two hours on every channel. First KPI check-in.</a:t>
            </a:r>
            <a:endParaRPr lang="en-US" sz="1200" dirty="0"/>
          </a:p>
        </p:txBody>
      </p:sp>
      <p:sp>
        <p:nvSpPr>
          <p:cNvPr id="11" name="milestone 2"/>
          <p:cNvSpPr/>
          <p:nvPr/>
        </p:nvSpPr>
        <p:spPr>
          <a:xfrm>
            <a:off x="3500552" y="2221992"/>
            <a:ext cx="402336" cy="402336"/>
          </a:xfrm>
          <a:prstGeom prst="ellipse">
            <a:avLst/>
          </a:prstGeom>
          <a:solidFill>
            <a:schemeClr val="bg1"/>
          </a:solidFill>
          <a:ln w="38100">
            <a:solidFill>
              <a:schemeClr val="accent1"/>
            </a:solidFill>
            <a:prstDash val="solid"/>
          </a:ln>
        </p:spPr>
      </p:sp>
      <p:sp>
        <p:nvSpPr>
          <p:cNvPr id="12" name="card"/>
          <p:cNvSpPr/>
          <p:nvPr/>
        </p:nvSpPr>
        <p:spPr>
          <a:xfrm>
            <a:off x="3409112" y="2834640"/>
            <a:ext cx="2595296" cy="2377440"/>
          </a:xfrm>
          <a:prstGeom prst="roundRect">
            <a:avLst>
              <a:gd name="adj" fmla="val 3077"/>
            </a:avLst>
          </a:prstGeom>
          <a:solidFill>
            <a:schemeClr val="bg1"/>
          </a:solidFill>
          <a:ln w="12700">
            <a:solidFill>
              <a:schemeClr val="accent5"/>
            </a:solidFill>
            <a:prstDash val="solid"/>
          </a:ln>
        </p:spPr>
      </p:sp>
      <p:sp>
        <p:nvSpPr>
          <p:cNvPr id="13" name="Text 11"/>
          <p:cNvSpPr txBox="1"/>
          <p:nvPr/>
        </p:nvSpPr>
        <p:spPr>
          <a:xfrm>
            <a:off x="3637712"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 90</a:t>
            </a:r>
            <a:endParaRPr lang="en-US" sz="1050" dirty="0"/>
          </a:p>
        </p:txBody>
      </p:sp>
      <p:sp>
        <p:nvSpPr>
          <p:cNvPr id="14" name="Text 12"/>
          <p:cNvSpPr txBox="1"/>
          <p:nvPr/>
        </p:nvSpPr>
        <p:spPr>
          <a:xfrm>
            <a:off x="3637712"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Onboarding review</a:t>
            </a:r>
            <a:endParaRPr lang="en-US" sz="1600" dirty="0"/>
          </a:p>
        </p:txBody>
      </p:sp>
      <p:sp>
        <p:nvSpPr>
          <p:cNvPr id="15" name="Text 13"/>
          <p:cNvSpPr txBox="1"/>
          <p:nvPr/>
        </p:nvSpPr>
        <p:spPr>
          <a:xfrm>
            <a:off x="3637712"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Owning enquiries, orders and AR; reactivation underway. Target: Stage 3, Outcome Owner.</a:t>
            </a:r>
            <a:endParaRPr lang="en-US" sz="1200" dirty="0"/>
          </a:p>
        </p:txBody>
      </p:sp>
      <p:sp>
        <p:nvSpPr>
          <p:cNvPr id="16" name="milestone 3"/>
          <p:cNvSpPr/>
          <p:nvPr/>
        </p:nvSpPr>
        <p:spPr>
          <a:xfrm>
            <a:off x="6278728" y="2221992"/>
            <a:ext cx="402336" cy="402336"/>
          </a:xfrm>
          <a:prstGeom prst="ellipse">
            <a:avLst/>
          </a:prstGeom>
          <a:solidFill>
            <a:schemeClr val="bg1"/>
          </a:solidFill>
          <a:ln w="38100">
            <a:solidFill>
              <a:schemeClr val="accent1"/>
            </a:solidFill>
            <a:prstDash val="solid"/>
          </a:ln>
        </p:spPr>
      </p:sp>
      <p:sp>
        <p:nvSpPr>
          <p:cNvPr id="17" name="card"/>
          <p:cNvSpPr/>
          <p:nvPr/>
        </p:nvSpPr>
        <p:spPr>
          <a:xfrm>
            <a:off x="6187288" y="2834640"/>
            <a:ext cx="2595296" cy="2377440"/>
          </a:xfrm>
          <a:prstGeom prst="roundRect">
            <a:avLst>
              <a:gd name="adj" fmla="val 3077"/>
            </a:avLst>
          </a:prstGeom>
          <a:solidFill>
            <a:schemeClr val="bg1"/>
          </a:solidFill>
          <a:ln w="12700">
            <a:solidFill>
              <a:schemeClr val="accent5"/>
            </a:solidFill>
            <a:prstDash val="solid"/>
          </a:ln>
        </p:spPr>
      </p:sp>
      <p:sp>
        <p:nvSpPr>
          <p:cNvPr id="18" name="Text 16"/>
          <p:cNvSpPr txBox="1"/>
          <p:nvPr/>
        </p:nvSpPr>
        <p:spPr>
          <a:xfrm>
            <a:off x="6415888"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6</a:t>
            </a:r>
            <a:endParaRPr lang="en-US" sz="1050" dirty="0"/>
          </a:p>
        </p:txBody>
      </p:sp>
      <p:sp>
        <p:nvSpPr>
          <p:cNvPr id="19" name="Text 17"/>
          <p:cNvSpPr txBox="1"/>
          <p:nvPr/>
        </p:nvSpPr>
        <p:spPr>
          <a:xfrm>
            <a:off x="6415888"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Freedom Review</a:t>
            </a:r>
            <a:endParaRPr lang="en-US" sz="1600" dirty="0"/>
          </a:p>
        </p:txBody>
      </p:sp>
      <p:sp>
        <p:nvSpPr>
          <p:cNvPr id="20" name="Text 18"/>
          <p:cNvSpPr txBox="1"/>
          <p:nvPr/>
        </p:nvSpPr>
        <p:spPr>
          <a:xfrm>
            <a:off x="6415888"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Customers, AR and reactivation run without Hank’s input. Target: Stage 5, Freedom.</a:t>
            </a:r>
            <a:endParaRPr lang="en-US" sz="1200" dirty="0"/>
          </a:p>
        </p:txBody>
      </p:sp>
      <p:sp>
        <p:nvSpPr>
          <p:cNvPr id="21" name="milestone 4"/>
          <p:cNvSpPr/>
          <p:nvPr/>
        </p:nvSpPr>
        <p:spPr>
          <a:xfrm>
            <a:off x="9056903" y="2221992"/>
            <a:ext cx="402336" cy="402336"/>
          </a:xfrm>
          <a:prstGeom prst="ellipse">
            <a:avLst/>
          </a:prstGeom>
          <a:solidFill>
            <a:schemeClr val="accent1"/>
          </a:solidFill>
          <a:ln w="38100">
            <a:solidFill>
              <a:schemeClr val="accent1"/>
            </a:solidFill>
            <a:prstDash val="solid"/>
          </a:ln>
        </p:spPr>
      </p:sp>
      <p:sp>
        <p:nvSpPr>
          <p:cNvPr id="22" name="card"/>
          <p:cNvSpPr/>
          <p:nvPr/>
        </p:nvSpPr>
        <p:spPr>
          <a:xfrm>
            <a:off x="8965463" y="2834640"/>
            <a:ext cx="2595296" cy="2377440"/>
          </a:xfrm>
          <a:prstGeom prst="roundRect">
            <a:avLst>
              <a:gd name="adj" fmla="val 3077"/>
            </a:avLst>
          </a:prstGeom>
          <a:solidFill>
            <a:schemeClr val="accent4"/>
          </a:solidFill>
          <a:ln/>
        </p:spPr>
      </p:sp>
      <p:sp>
        <p:nvSpPr>
          <p:cNvPr id="23" name="Text 21"/>
          <p:cNvSpPr txBox="1"/>
          <p:nvPr/>
        </p:nvSpPr>
        <p:spPr>
          <a:xfrm>
            <a:off x="9194063" y="301752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MONTH 12</a:t>
            </a:r>
            <a:endParaRPr lang="en-US" sz="1050" dirty="0"/>
          </a:p>
        </p:txBody>
      </p:sp>
      <p:sp>
        <p:nvSpPr>
          <p:cNvPr id="24" name="Text 22"/>
          <p:cNvSpPr txBox="1"/>
          <p:nvPr/>
        </p:nvSpPr>
        <p:spPr>
          <a:xfrm>
            <a:off x="9194063" y="3291840"/>
            <a:ext cx="2138096" cy="41148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Anniversary review</a:t>
            </a:r>
            <a:endParaRPr lang="en-US" sz="1600" dirty="0"/>
          </a:p>
        </p:txBody>
      </p:sp>
      <p:sp>
        <p:nvSpPr>
          <p:cNvPr id="25" name="Text 23"/>
          <p:cNvSpPr txBox="1"/>
          <p:nvPr/>
        </p:nvSpPr>
        <p:spPr>
          <a:xfrm>
            <a:off x="9194063" y="3749040"/>
            <a:ext cx="2138096" cy="1280160"/>
          </a:xfrm>
          <a:prstGeom prst="rect">
            <a:avLst/>
          </a:prstGeom>
          <a:noFill/>
          <a:ln/>
        </p:spPr>
        <p:txBody>
          <a:bodyPr wrap="square" lIns="0" tIns="0" rIns="0" bIns="0" rtlCol="0" anchor="t"/>
          <a:lstStyle/>
          <a:p>
            <a:pPr indent="0" marL="0">
              <a:buNone/>
            </a:pPr>
            <a:r>
              <a:rPr lang="en-US" sz="1200" dirty="0">
                <a:solidFill>
                  <a:schemeClr val="accent3"/>
                </a:solidFill>
              </a:rPr>
              <a:t>Celebrate the year, measure hours back, and plan the next stage of growth together.</a:t>
            </a:r>
            <a:endParaRPr lang="en-US" sz="1200" dirty="0"/>
          </a:p>
        </p:txBody>
      </p:sp>
      <p:sp>
        <p:nvSpPr>
          <p:cNvPr id="26" name="Text 24"/>
          <p:cNvSpPr txBox="1"/>
          <p:nvPr/>
        </p:nvSpPr>
        <p:spPr>
          <a:xfrm>
            <a:off x="630936" y="5806440"/>
            <a:ext cx="10929823" cy="365760"/>
          </a:xfrm>
          <a:prstGeom prst="rect">
            <a:avLst/>
          </a:prstGeom>
          <a:noFill/>
          <a:ln/>
        </p:spPr>
        <p:txBody>
          <a:bodyPr wrap="square" lIns="0" tIns="0" rIns="0" bIns="0" rtlCol="0" anchor="ctr"/>
          <a:lstStyle/>
          <a:p>
            <a:pPr indent="0" marL="0">
              <a:buNone/>
            </a:pPr>
            <a:r>
              <a:rPr lang="en-US" sz="1200" b="1" dirty="0">
                <a:solidFill>
                  <a:schemeClr val="accent1"/>
                </a:solidFill>
              </a:rPr>
              <a:t>Every week: </a:t>
            </a:r>
            <a:pPr indent="0" marL="0">
              <a:buNone/>
            </a:pPr>
            <a:r>
              <a:rPr lang="en-US" sz="1200" dirty="0">
                <a:solidFill>
                  <a:schemeClr val="accent3"/>
                </a:solidFill>
              </a:rPr>
              <a:t>quick check-in with your VA.   </a:t>
            </a:r>
            <a:pPr indent="0" marL="0">
              <a:buNone/>
            </a:pPr>
            <a:r>
              <a:rPr lang="en-US" sz="1200" b="1" dirty="0">
                <a:solidFill>
                  <a:schemeClr val="accent1"/>
                </a:solidFill>
              </a:rPr>
              <a:t>Every month: </a:t>
            </a:r>
            <a:pPr indent="0" marL="0">
              <a:buNone/>
            </a:pPr>
            <a:r>
              <a:rPr lang="en-US" sz="1200" dirty="0">
                <a:solidFill>
                  <a:schemeClr val="accent3"/>
                </a:solidFill>
              </a:rPr>
              <a:t>KPI check-in.   </a:t>
            </a:r>
            <a:pPr indent="0" marL="0">
              <a:buNone/>
            </a:pPr>
            <a:r>
              <a:rPr lang="en-US" sz="1200" b="1" dirty="0">
                <a:solidFill>
                  <a:schemeClr val="accent1"/>
                </a:solidFill>
              </a:rPr>
              <a:t>Any time: </a:t>
            </a:r>
            <a:pPr indent="0" marL="0">
              <a:buNone/>
            </a:pPr>
            <a:r>
              <a:rPr lang="en-US" sz="1200" dirty="0">
                <a:solidFill>
                  <a:schemeClr val="accent3"/>
                </a:solidFill>
              </a:rPr>
              <a:t>raise anything with your Account Manager.</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02</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First 90 Days</a:t>
            </a:r>
            <a:endParaRPr lang="en-US" sz="3000" dirty="0"/>
          </a:p>
        </p:txBody>
      </p:sp>
      <p:sp>
        <p:nvSpPr>
          <p:cNvPr id="4" name="card"/>
          <p:cNvSpPr/>
          <p:nvPr/>
        </p:nvSpPr>
        <p:spPr>
          <a:xfrm>
            <a:off x="630936" y="1463040"/>
            <a:ext cx="10929823" cy="1463040"/>
          </a:xfrm>
          <a:prstGeom prst="roundRect">
            <a:avLst>
              <a:gd name="adj" fmla="val 5000"/>
            </a:avLst>
          </a:prstGeom>
          <a:solidFill>
            <a:schemeClr val="bg1"/>
          </a:solidFill>
          <a:ln w="12700">
            <a:solidFill>
              <a:schemeClr val="accent5"/>
            </a:solidFill>
            <a:prstDash val="solid"/>
          </a:ln>
        </p:spPr>
      </p:sp>
      <p:sp>
        <p:nvSpPr>
          <p:cNvPr id="5" name="Text 3"/>
          <p:cNvSpPr txBox="1"/>
          <p:nvPr/>
        </p:nvSpPr>
        <p:spPr>
          <a:xfrm>
            <a:off x="905256" y="16459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1–30</a:t>
            </a:r>
            <a:endParaRPr lang="en-US" sz="1050" dirty="0"/>
          </a:p>
        </p:txBody>
      </p:sp>
      <p:sp>
        <p:nvSpPr>
          <p:cNvPr id="6" name="Text 4"/>
          <p:cNvSpPr txBox="1"/>
          <p:nvPr/>
        </p:nvSpPr>
        <p:spPr>
          <a:xfrm>
            <a:off x="905256" y="19202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Learn the products, customer base, channels, Shopify and Order Mentor, and the payment, AR and delivery processes. Use existing templates, begin handling enquiries independently and set the 2-hour response standard.</a:t>
            </a:r>
            <a:endParaRPr lang="en-US" sz="1200" dirty="0"/>
          </a:p>
        </p:txBody>
      </p:sp>
      <p:sp>
        <p:nvSpPr>
          <p:cNvPr id="7" name="card"/>
          <p:cNvSpPr/>
          <p:nvPr/>
        </p:nvSpPr>
        <p:spPr>
          <a:xfrm>
            <a:off x="905256" y="2423160"/>
            <a:ext cx="10381183" cy="365760"/>
          </a:xfrm>
          <a:prstGeom prst="roundRect">
            <a:avLst>
              <a:gd name="adj" fmla="val 20000"/>
            </a:avLst>
          </a:prstGeom>
          <a:solidFill>
            <a:schemeClr val="accent4"/>
          </a:solidFill>
          <a:ln/>
        </p:spPr>
      </p:sp>
      <p:sp>
        <p:nvSpPr>
          <p:cNvPr id="8" name="Text 6"/>
          <p:cNvSpPr txBox="1"/>
          <p:nvPr/>
        </p:nvSpPr>
        <p:spPr>
          <a:xfrm>
            <a:off x="1088136" y="24231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Every enquiry answered within two hours, using Hank’s templates and processes.</a:t>
            </a:r>
            <a:endParaRPr lang="en-US" sz="1150" dirty="0"/>
          </a:p>
        </p:txBody>
      </p:sp>
      <p:sp>
        <p:nvSpPr>
          <p:cNvPr id="9" name="card"/>
          <p:cNvSpPr/>
          <p:nvPr/>
        </p:nvSpPr>
        <p:spPr>
          <a:xfrm>
            <a:off x="630936" y="3063240"/>
            <a:ext cx="10929823" cy="1463040"/>
          </a:xfrm>
          <a:prstGeom prst="roundRect">
            <a:avLst>
              <a:gd name="adj" fmla="val 5000"/>
            </a:avLst>
          </a:prstGeom>
          <a:solidFill>
            <a:schemeClr val="bg1"/>
          </a:solidFill>
          <a:ln w="12700">
            <a:solidFill>
              <a:schemeClr val="accent5"/>
            </a:solidFill>
            <a:prstDash val="solid"/>
          </a:ln>
        </p:spPr>
      </p:sp>
      <p:sp>
        <p:nvSpPr>
          <p:cNvPr id="10" name="Text 8"/>
          <p:cNvSpPr txBox="1"/>
          <p:nvPr/>
        </p:nvSpPr>
        <p:spPr>
          <a:xfrm>
            <a:off x="905256" y="32461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31–60</a:t>
            </a:r>
            <a:endParaRPr lang="en-US" sz="1050" dirty="0"/>
          </a:p>
        </p:txBody>
      </p:sp>
      <p:sp>
        <p:nvSpPr>
          <p:cNvPr id="11" name="Text 9"/>
          <p:cNvSpPr txBox="1"/>
          <p:nvPr/>
        </p:nvSpPr>
        <p:spPr>
          <a:xfrm>
            <a:off x="905256" y="35204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Take primary ownership of enquiries and order entry. Support AR follow-up, monitor open orders, start structured reactivation with a simple tracker, and send weekly reports.</a:t>
            </a:r>
            <a:endParaRPr lang="en-US" sz="1200" dirty="0"/>
          </a:p>
        </p:txBody>
      </p:sp>
      <p:sp>
        <p:nvSpPr>
          <p:cNvPr id="12" name="card"/>
          <p:cNvSpPr/>
          <p:nvPr/>
        </p:nvSpPr>
        <p:spPr>
          <a:xfrm>
            <a:off x="905256" y="4023360"/>
            <a:ext cx="10381183" cy="365760"/>
          </a:xfrm>
          <a:prstGeom prst="roundRect">
            <a:avLst>
              <a:gd name="adj" fmla="val 20000"/>
            </a:avLst>
          </a:prstGeom>
          <a:solidFill>
            <a:schemeClr val="accent4"/>
          </a:solidFill>
          <a:ln/>
        </p:spPr>
      </p:sp>
      <p:sp>
        <p:nvSpPr>
          <p:cNvPr id="13" name="Text 11"/>
          <p:cNvSpPr txBox="1"/>
          <p:nvPr/>
        </p:nvSpPr>
        <p:spPr>
          <a:xfrm>
            <a:off x="1088136" y="40233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Owns customers and orders day to day; reactivation and weekly reporting underway.</a:t>
            </a:r>
            <a:endParaRPr lang="en-US" sz="1150" dirty="0"/>
          </a:p>
        </p:txBody>
      </p:sp>
      <p:sp>
        <p:nvSpPr>
          <p:cNvPr id="14" name="card"/>
          <p:cNvSpPr/>
          <p:nvPr/>
        </p:nvSpPr>
        <p:spPr>
          <a:xfrm>
            <a:off x="630936" y="4663440"/>
            <a:ext cx="10929823" cy="1463040"/>
          </a:xfrm>
          <a:prstGeom prst="roundRect">
            <a:avLst>
              <a:gd name="adj" fmla="val 5000"/>
            </a:avLst>
          </a:prstGeom>
          <a:solidFill>
            <a:schemeClr val="bg1"/>
          </a:solidFill>
          <a:ln w="12700">
            <a:solidFill>
              <a:schemeClr val="accent5"/>
            </a:solidFill>
            <a:prstDash val="solid"/>
          </a:ln>
        </p:spPr>
      </p:sp>
      <p:sp>
        <p:nvSpPr>
          <p:cNvPr id="15" name="Text 13"/>
          <p:cNvSpPr txBox="1"/>
          <p:nvPr/>
        </p:nvSpPr>
        <p:spPr>
          <a:xfrm>
            <a:off x="905256" y="4846320"/>
            <a:ext cx="27432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DAYS 61–90</a:t>
            </a:r>
            <a:endParaRPr lang="en-US" sz="1050" dirty="0"/>
          </a:p>
        </p:txBody>
      </p:sp>
      <p:sp>
        <p:nvSpPr>
          <p:cNvPr id="16" name="Text 14"/>
          <p:cNvSpPr txBox="1"/>
          <p:nvPr/>
        </p:nvSpPr>
        <p:spPr>
          <a:xfrm>
            <a:off x="905256" y="5120640"/>
            <a:ext cx="10381183" cy="457200"/>
          </a:xfrm>
          <a:prstGeom prst="rect">
            <a:avLst/>
          </a:prstGeom>
          <a:noFill/>
          <a:ln/>
        </p:spPr>
        <p:txBody>
          <a:bodyPr wrap="square" lIns="0" tIns="0" rIns="0" bIns="0" rtlCol="0" anchor="t"/>
          <a:lstStyle/>
          <a:p>
            <a:pPr indent="0" marL="0">
              <a:buNone/>
            </a:pPr>
            <a:r>
              <a:rPr lang="en-US" sz="1200" dirty="0">
                <a:solidFill>
                  <a:schemeClr val="accent3"/>
                </a:solidFill>
              </a:rPr>
              <a:t>Operate independently: 2-hour responses, accurate orders, routine AR follow-up, clear escalation, and steady progress to 15 reactivations a month.</a:t>
            </a:r>
            <a:endParaRPr lang="en-US" sz="1200" dirty="0"/>
          </a:p>
        </p:txBody>
      </p:sp>
      <p:sp>
        <p:nvSpPr>
          <p:cNvPr id="17" name="card"/>
          <p:cNvSpPr/>
          <p:nvPr/>
        </p:nvSpPr>
        <p:spPr>
          <a:xfrm>
            <a:off x="905256" y="5623560"/>
            <a:ext cx="10381183" cy="365760"/>
          </a:xfrm>
          <a:prstGeom prst="roundRect">
            <a:avLst>
              <a:gd name="adj" fmla="val 20000"/>
            </a:avLst>
          </a:prstGeom>
          <a:solidFill>
            <a:schemeClr val="accent4"/>
          </a:solidFill>
          <a:ln/>
        </p:spPr>
      </p:sp>
      <p:sp>
        <p:nvSpPr>
          <p:cNvPr id="18" name="Text 16"/>
          <p:cNvSpPr txBox="1"/>
          <p:nvPr/>
        </p:nvSpPr>
        <p:spPr>
          <a:xfrm>
            <a:off x="1088136" y="5623560"/>
            <a:ext cx="10015423" cy="365760"/>
          </a:xfrm>
          <a:prstGeom prst="rect">
            <a:avLst/>
          </a:prstGeom>
          <a:noFill/>
          <a:ln/>
        </p:spPr>
        <p:txBody>
          <a:bodyPr wrap="square" lIns="0" tIns="0" rIns="0" bIns="0" rtlCol="0" anchor="ctr"/>
          <a:lstStyle/>
          <a:p>
            <a:pPr indent="0" marL="0">
              <a:buNone/>
            </a:pPr>
            <a:r>
              <a:rPr lang="en-US" sz="1150" b="1" dirty="0">
                <a:solidFill>
                  <a:schemeClr val="accent1"/>
                </a:solidFill>
              </a:rPr>
              <a:t>Goal: Hank has one accountable owner for customers, and dormant customers are ordering again.</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03</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Hours, Timezone &amp; Training</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Full-time from Day 1: Mon–Fri, 8am–5pm Sydney time, 40 hrs/week with a 1-hour unpaid lunch. Hank sets the processes; the VA learns them first.</a:t>
            </a:r>
            <a:endParaRPr lang="en-US" sz="1300" dirty="0"/>
          </a:p>
        </p:txBody>
      </p:sp>
      <p:sp>
        <p:nvSpPr>
          <p:cNvPr id="5" name="card"/>
          <p:cNvSpPr/>
          <p:nvPr/>
        </p:nvSpPr>
        <p:spPr>
          <a:xfrm>
            <a:off x="630936" y="2103120"/>
            <a:ext cx="2595296" cy="3017520"/>
          </a:xfrm>
          <a:prstGeom prst="roundRect">
            <a:avLst>
              <a:gd name="adj" fmla="val 2819"/>
            </a:avLst>
          </a:prstGeom>
          <a:solidFill>
            <a:schemeClr val="bg2"/>
          </a:solidFill>
          <a:ln/>
        </p:spPr>
      </p:sp>
      <p:sp>
        <p:nvSpPr>
          <p:cNvPr id="6" name="Text 4"/>
          <p:cNvSpPr txBox="1"/>
          <p:nvPr/>
        </p:nvSpPr>
        <p:spPr>
          <a:xfrm>
            <a:off x="859536"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1</a:t>
            </a:r>
            <a:endParaRPr lang="en-US" sz="1050" dirty="0"/>
          </a:p>
        </p:txBody>
      </p:sp>
      <p:sp>
        <p:nvSpPr>
          <p:cNvPr id="7" name="Text 5"/>
          <p:cNvSpPr txBox="1"/>
          <p:nvPr/>
        </p:nvSpPr>
        <p:spPr>
          <a:xfrm>
            <a:off x="859536"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Products &amp; Channels Immersion</a:t>
            </a:r>
            <a:endParaRPr lang="en-US" sz="1500" dirty="0"/>
          </a:p>
        </p:txBody>
      </p:sp>
      <p:sp>
        <p:nvSpPr>
          <p:cNvPr id="8" name="Text 6"/>
          <p:cNvSpPr txBox="1"/>
          <p:nvPr/>
        </p:nvSpPr>
        <p:spPr>
          <a:xfrm>
            <a:off x="859536"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Learn the products, customers, templates and all seven channels.</a:t>
            </a:r>
            <a:endParaRPr lang="en-US" sz="1200" dirty="0"/>
          </a:p>
        </p:txBody>
      </p:sp>
      <p:sp>
        <p:nvSpPr>
          <p:cNvPr id="9" name="card"/>
          <p:cNvSpPr/>
          <p:nvPr/>
        </p:nvSpPr>
        <p:spPr>
          <a:xfrm>
            <a:off x="3409112" y="2103120"/>
            <a:ext cx="2595296" cy="3017520"/>
          </a:xfrm>
          <a:prstGeom prst="roundRect">
            <a:avLst>
              <a:gd name="adj" fmla="val 2819"/>
            </a:avLst>
          </a:prstGeom>
          <a:solidFill>
            <a:schemeClr val="bg2"/>
          </a:solidFill>
          <a:ln/>
        </p:spPr>
      </p:sp>
      <p:sp>
        <p:nvSpPr>
          <p:cNvPr id="10" name="Text 8"/>
          <p:cNvSpPr txBox="1"/>
          <p:nvPr/>
        </p:nvSpPr>
        <p:spPr>
          <a:xfrm>
            <a:off x="3637712"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2</a:t>
            </a:r>
            <a:endParaRPr lang="en-US" sz="1050" dirty="0"/>
          </a:p>
        </p:txBody>
      </p:sp>
      <p:sp>
        <p:nvSpPr>
          <p:cNvPr id="11" name="Text 9"/>
          <p:cNvSpPr txBox="1"/>
          <p:nvPr/>
        </p:nvSpPr>
        <p:spPr>
          <a:xfrm>
            <a:off x="3637712"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Enquiries &amp; Order Entry</a:t>
            </a:r>
            <a:endParaRPr lang="en-US" sz="1500" dirty="0"/>
          </a:p>
        </p:txBody>
      </p:sp>
      <p:sp>
        <p:nvSpPr>
          <p:cNvPr id="12" name="Text 10"/>
          <p:cNvSpPr txBox="1"/>
          <p:nvPr/>
        </p:nvSpPr>
        <p:spPr>
          <a:xfrm>
            <a:off x="3637712"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Answer enquiries within two hours and enter orders, with work reviewed.</a:t>
            </a:r>
            <a:endParaRPr lang="en-US" sz="1200" dirty="0"/>
          </a:p>
        </p:txBody>
      </p:sp>
      <p:sp>
        <p:nvSpPr>
          <p:cNvPr id="13" name="card"/>
          <p:cNvSpPr/>
          <p:nvPr/>
        </p:nvSpPr>
        <p:spPr>
          <a:xfrm>
            <a:off x="6187288" y="2103120"/>
            <a:ext cx="2595296" cy="3017520"/>
          </a:xfrm>
          <a:prstGeom prst="roundRect">
            <a:avLst>
              <a:gd name="adj" fmla="val 2819"/>
            </a:avLst>
          </a:prstGeom>
          <a:solidFill>
            <a:schemeClr val="bg2"/>
          </a:solidFill>
          <a:ln/>
        </p:spPr>
      </p:sp>
      <p:sp>
        <p:nvSpPr>
          <p:cNvPr id="14" name="Text 12"/>
          <p:cNvSpPr txBox="1"/>
          <p:nvPr/>
        </p:nvSpPr>
        <p:spPr>
          <a:xfrm>
            <a:off x="6415888"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3</a:t>
            </a:r>
            <a:endParaRPr lang="en-US" sz="1050" dirty="0"/>
          </a:p>
        </p:txBody>
      </p:sp>
      <p:sp>
        <p:nvSpPr>
          <p:cNvPr id="15" name="Text 13"/>
          <p:cNvSpPr txBox="1"/>
          <p:nvPr/>
        </p:nvSpPr>
        <p:spPr>
          <a:xfrm>
            <a:off x="6415888"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Open Orders &amp; AR Follow-Up</a:t>
            </a:r>
            <a:endParaRPr lang="en-US" sz="1500" dirty="0"/>
          </a:p>
        </p:txBody>
      </p:sp>
      <p:sp>
        <p:nvSpPr>
          <p:cNvPr id="16" name="Text 14"/>
          <p:cNvSpPr txBox="1"/>
          <p:nvPr/>
        </p:nvSpPr>
        <p:spPr>
          <a:xfrm>
            <a:off x="6415888"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Chase open orders and overdue accounts using the AR process.</a:t>
            </a:r>
            <a:endParaRPr lang="en-US" sz="1200" dirty="0"/>
          </a:p>
        </p:txBody>
      </p:sp>
      <p:sp>
        <p:nvSpPr>
          <p:cNvPr id="17" name="card"/>
          <p:cNvSpPr/>
          <p:nvPr/>
        </p:nvSpPr>
        <p:spPr>
          <a:xfrm>
            <a:off x="8965463" y="2103120"/>
            <a:ext cx="2595296" cy="3017520"/>
          </a:xfrm>
          <a:prstGeom prst="roundRect">
            <a:avLst>
              <a:gd name="adj" fmla="val 2819"/>
            </a:avLst>
          </a:prstGeom>
          <a:solidFill>
            <a:schemeClr val="bg2"/>
          </a:solidFill>
          <a:ln/>
        </p:spPr>
      </p:sp>
      <p:sp>
        <p:nvSpPr>
          <p:cNvPr id="18" name="Text 16"/>
          <p:cNvSpPr txBox="1"/>
          <p:nvPr/>
        </p:nvSpPr>
        <p:spPr>
          <a:xfrm>
            <a:off x="9194063" y="2286000"/>
            <a:ext cx="2138096"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WEEK 4</a:t>
            </a:r>
            <a:endParaRPr lang="en-US" sz="1050" dirty="0"/>
          </a:p>
        </p:txBody>
      </p:sp>
      <p:sp>
        <p:nvSpPr>
          <p:cNvPr id="19" name="Text 17"/>
          <p:cNvSpPr txBox="1"/>
          <p:nvPr/>
        </p:nvSpPr>
        <p:spPr>
          <a:xfrm>
            <a:off x="9194063" y="2606040"/>
            <a:ext cx="2138096" cy="731520"/>
          </a:xfrm>
          <a:prstGeom prst="rect">
            <a:avLst/>
          </a:prstGeom>
          <a:noFill/>
          <a:ln/>
        </p:spPr>
        <p:txBody>
          <a:bodyPr wrap="square" lIns="0" tIns="0" rIns="0" bIns="0" rtlCol="0" anchor="t"/>
          <a:lstStyle/>
          <a:p>
            <a:pPr indent="0" marL="0">
              <a:buNone/>
            </a:pPr>
            <a:r>
              <a:rPr lang="en-US" sz="1500" b="1" dirty="0">
                <a:solidFill>
                  <a:schemeClr val="tx1"/>
                </a:solidFill>
                <a:latin typeface="Cambria" pitchFamily="34" charset="0"/>
                <a:ea typeface="Cambria" pitchFamily="34" charset="-122"/>
                <a:cs typeface="Cambria" pitchFamily="34" charset="-120"/>
              </a:rPr>
              <a:t>Reactivation &amp; Weekly Report</a:t>
            </a:r>
            <a:endParaRPr lang="en-US" sz="1500" dirty="0"/>
          </a:p>
        </p:txBody>
      </p:sp>
      <p:sp>
        <p:nvSpPr>
          <p:cNvPr id="20" name="Text 18"/>
          <p:cNvSpPr txBox="1"/>
          <p:nvPr/>
        </p:nvSpPr>
        <p:spPr>
          <a:xfrm>
            <a:off x="9194063" y="3383280"/>
            <a:ext cx="2138096" cy="1554480"/>
          </a:xfrm>
          <a:prstGeom prst="rect">
            <a:avLst/>
          </a:prstGeom>
          <a:noFill/>
          <a:ln/>
        </p:spPr>
        <p:txBody>
          <a:bodyPr wrap="square" lIns="0" tIns="0" rIns="0" bIns="0" rtlCol="0" anchor="t"/>
          <a:lstStyle/>
          <a:p>
            <a:pPr indent="0" marL="0">
              <a:buNone/>
            </a:pPr>
            <a:r>
              <a:rPr lang="en-US" sz="1200" dirty="0">
                <a:solidFill>
                  <a:schemeClr val="accent3"/>
                </a:solidFill>
              </a:rPr>
              <a:t>Set up the tracker, start outreach and send the first weekly report.</a:t>
            </a:r>
            <a:endParaRPr lang="en-US" sz="1200" dirty="0"/>
          </a:p>
        </p:txBody>
      </p:sp>
      <p:sp>
        <p:nvSpPr>
          <p:cNvPr id="21" name="callout"/>
          <p:cNvSpPr/>
          <p:nvPr/>
        </p:nvSpPr>
        <p:spPr>
          <a:xfrm>
            <a:off x="630936" y="5349240"/>
            <a:ext cx="10929823" cy="548640"/>
          </a:xfrm>
          <a:prstGeom prst="roundRect">
            <a:avLst>
              <a:gd name="adj" fmla="val 13333"/>
            </a:avLst>
          </a:prstGeom>
          <a:solidFill>
            <a:schemeClr val="accent4"/>
          </a:solidFill>
          <a:ln/>
        </p:spPr>
      </p:sp>
      <p:sp>
        <p:nvSpPr>
          <p:cNvPr id="22" name="Text 20"/>
          <p:cNvSpPr txBox="1"/>
          <p:nvPr/>
        </p:nvSpPr>
        <p:spPr>
          <a:xfrm>
            <a:off x="859536" y="53492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Hank plans to review after two months. If reactivation hits target, we’ll plan the next step together, including a second Angel.</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04</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Working with Hank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Written together by Hank and his VA in Week 1, and updated as they learn each other’s style.</a:t>
            </a:r>
            <a:endParaRPr lang="en-US" sz="1300" dirty="0"/>
          </a:p>
        </p:txBody>
      </p:sp>
      <p:sp>
        <p:nvSpPr>
          <p:cNvPr id="6" name="card"/>
          <p:cNvSpPr/>
          <p:nvPr/>
        </p:nvSpPr>
        <p:spPr>
          <a:xfrm>
            <a:off x="630936" y="1965960"/>
            <a:ext cx="5486400" cy="1143000"/>
          </a:xfrm>
          <a:prstGeom prst="roundRect">
            <a:avLst>
              <a:gd name="adj" fmla="val 6400"/>
            </a:avLst>
          </a:prstGeom>
          <a:solidFill>
            <a:schemeClr val="bg2"/>
          </a:solidFill>
          <a:ln/>
        </p:spPr>
      </p:sp>
      <p:sp>
        <p:nvSpPr>
          <p:cNvPr id="7" name="Text 4"/>
          <p:cNvSpPr txBox="1"/>
          <p:nvPr/>
        </p:nvSpPr>
        <p:spPr>
          <a:xfrm>
            <a:off x="905256" y="210312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HOW HANK WORKS</a:t>
            </a:r>
            <a:endParaRPr lang="en-US" sz="1050" dirty="0"/>
          </a:p>
        </p:txBody>
      </p:sp>
      <p:sp>
        <p:nvSpPr>
          <p:cNvPr id="8" name="Text 5"/>
          <p:cNvSpPr txBox="1"/>
          <p:nvPr/>
        </p:nvSpPr>
        <p:spPr>
          <a:xfrm>
            <a:off x="905256" y="237744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Hank manages the VA directly and creates the processes. He’s the outward face of the company and less focused on detail, so the VA is his eye for it.</a:t>
            </a:r>
            <a:endParaRPr lang="en-US" sz="1200" dirty="0"/>
          </a:p>
        </p:txBody>
      </p:sp>
      <p:sp>
        <p:nvSpPr>
          <p:cNvPr id="9" name="card"/>
          <p:cNvSpPr/>
          <p:nvPr/>
        </p:nvSpPr>
        <p:spPr>
          <a:xfrm>
            <a:off x="630936" y="3246120"/>
            <a:ext cx="5486400" cy="1143000"/>
          </a:xfrm>
          <a:prstGeom prst="roundRect">
            <a:avLst>
              <a:gd name="adj" fmla="val 6400"/>
            </a:avLst>
          </a:prstGeom>
          <a:solidFill>
            <a:schemeClr val="bg2"/>
          </a:solidFill>
          <a:ln/>
        </p:spPr>
      </p:sp>
      <p:sp>
        <p:nvSpPr>
          <p:cNvPr id="10" name="Text 7"/>
          <p:cNvSpPr txBox="1"/>
          <p:nvPr/>
        </p:nvSpPr>
        <p:spPr>
          <a:xfrm>
            <a:off x="905256" y="338328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WHAT MATTERS MOST</a:t>
            </a:r>
            <a:endParaRPr lang="en-US" sz="1050" dirty="0"/>
          </a:p>
        </p:txBody>
      </p:sp>
      <p:sp>
        <p:nvSpPr>
          <p:cNvPr id="11" name="Text 8"/>
          <p:cNvSpPr txBox="1"/>
          <p:nvPr/>
        </p:nvSpPr>
        <p:spPr>
          <a:xfrm>
            <a:off x="905256" y="365760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Accountability: every question actually answered, not just acknowledged. Accurate orders. Mistakes raised straight away; everyone makes them.</a:t>
            </a:r>
            <a:endParaRPr lang="en-US" sz="1200" dirty="0"/>
          </a:p>
        </p:txBody>
      </p:sp>
      <p:sp>
        <p:nvSpPr>
          <p:cNvPr id="12" name="card"/>
          <p:cNvSpPr/>
          <p:nvPr/>
        </p:nvSpPr>
        <p:spPr>
          <a:xfrm>
            <a:off x="630936" y="4526280"/>
            <a:ext cx="5486400" cy="1143000"/>
          </a:xfrm>
          <a:prstGeom prst="roundRect">
            <a:avLst>
              <a:gd name="adj" fmla="val 6400"/>
            </a:avLst>
          </a:prstGeom>
          <a:solidFill>
            <a:schemeClr val="bg2"/>
          </a:solidFill>
          <a:ln/>
        </p:spPr>
      </p:sp>
      <p:sp>
        <p:nvSpPr>
          <p:cNvPr id="13" name="Text 10"/>
          <p:cNvSpPr txBox="1"/>
          <p:nvPr/>
        </p:nvSpPr>
        <p:spPr>
          <a:xfrm>
            <a:off x="905256" y="4663440"/>
            <a:ext cx="493776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BUSIEST TIMES</a:t>
            </a:r>
            <a:endParaRPr lang="en-US" sz="1050" dirty="0"/>
          </a:p>
        </p:txBody>
      </p:sp>
      <p:sp>
        <p:nvSpPr>
          <p:cNvPr id="14" name="Text 11"/>
          <p:cNvSpPr txBox="1"/>
          <p:nvPr/>
        </p:nvSpPr>
        <p:spPr>
          <a:xfrm>
            <a:off x="905256" y="4937760"/>
            <a:ext cx="4937760" cy="685800"/>
          </a:xfrm>
          <a:prstGeom prst="rect">
            <a:avLst/>
          </a:prstGeom>
          <a:noFill/>
          <a:ln/>
        </p:spPr>
        <p:txBody>
          <a:bodyPr wrap="square" lIns="0" tIns="0" rIns="0" bIns="0" rtlCol="0" anchor="t"/>
          <a:lstStyle/>
          <a:p>
            <a:pPr indent="0" marL="0">
              <a:buNone/>
            </a:pPr>
            <a:r>
              <a:rPr lang="en-US" sz="1200" dirty="0">
                <a:solidFill>
                  <a:schemeClr val="accent3"/>
                </a:solidFill>
              </a:rPr>
              <a:t>The lead-up to Christmas is peak season. Mid-December to mid-January is quieter: a good window to refine processes and the tracker.</a:t>
            </a:r>
            <a:endParaRPr lang="en-US" sz="1200" dirty="0"/>
          </a:p>
        </p:txBody>
      </p:sp>
      <p:sp>
        <p:nvSpPr>
          <p:cNvPr id="15" name="card"/>
          <p:cNvSpPr/>
          <p:nvPr/>
        </p:nvSpPr>
        <p:spPr>
          <a:xfrm>
            <a:off x="6345936" y="1965960"/>
            <a:ext cx="5214823" cy="3703320"/>
          </a:xfrm>
          <a:prstGeom prst="roundRect">
            <a:avLst>
              <a:gd name="adj" fmla="val 1975"/>
            </a:avLst>
          </a:prstGeom>
          <a:solidFill>
            <a:schemeClr val="bg1"/>
          </a:solidFill>
          <a:ln w="12700">
            <a:solidFill>
              <a:schemeClr val="accent5"/>
            </a:solidFill>
            <a:prstDash val="solid"/>
          </a:ln>
        </p:spPr>
      </p:sp>
      <p:sp>
        <p:nvSpPr>
          <p:cNvPr id="16" name="Text 13"/>
          <p:cNvSpPr txBox="1"/>
          <p:nvPr/>
        </p:nvSpPr>
        <p:spPr>
          <a:xfrm>
            <a:off x="6620256" y="2103120"/>
            <a:ext cx="4666183"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COMPLETE TOGETHER IN WEEK 1</a:t>
            </a:r>
            <a:endParaRPr lang="en-US" sz="1050" dirty="0"/>
          </a:p>
        </p:txBody>
      </p:sp>
      <p:sp>
        <p:nvSpPr>
          <p:cNvPr id="17" name="Text 14"/>
          <p:cNvSpPr txBox="1"/>
          <p:nvPr/>
        </p:nvSpPr>
        <p:spPr>
          <a:xfrm>
            <a:off x="6620256" y="246888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Preferred update format and time of day:</a:t>
            </a:r>
            <a:endParaRPr lang="en-US" sz="1150" dirty="0"/>
          </a:p>
        </p:txBody>
      </p:sp>
      <p:sp>
        <p:nvSpPr>
          <p:cNvPr id="18" name="write line 1"/>
          <p:cNvSpPr/>
          <p:nvPr/>
        </p:nvSpPr>
        <p:spPr>
          <a:xfrm>
            <a:off x="6620256" y="2898648"/>
            <a:ext cx="4666183" cy="0"/>
          </a:xfrm>
          <a:prstGeom prst="line">
            <a:avLst/>
          </a:prstGeom>
          <a:noFill/>
          <a:ln w="12700">
            <a:solidFill>
              <a:schemeClr val="accent5"/>
            </a:solidFill>
            <a:prstDash val="solid"/>
          </a:ln>
        </p:spPr>
      </p:sp>
      <p:sp>
        <p:nvSpPr>
          <p:cNvPr id="19" name="Text 16"/>
          <p:cNvSpPr txBox="1"/>
          <p:nvPr/>
        </p:nvSpPr>
        <p:spPr>
          <a:xfrm>
            <a:off x="6620256" y="2990088"/>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When to interrupt, and when to wait:</a:t>
            </a:r>
            <a:endParaRPr lang="en-US" sz="1150" dirty="0"/>
          </a:p>
        </p:txBody>
      </p:sp>
      <p:sp>
        <p:nvSpPr>
          <p:cNvPr id="20" name="write line 2"/>
          <p:cNvSpPr/>
          <p:nvPr/>
        </p:nvSpPr>
        <p:spPr>
          <a:xfrm>
            <a:off x="6620256" y="3419856"/>
            <a:ext cx="4666183" cy="0"/>
          </a:xfrm>
          <a:prstGeom prst="line">
            <a:avLst/>
          </a:prstGeom>
          <a:noFill/>
          <a:ln w="12700">
            <a:solidFill>
              <a:schemeClr val="accent5"/>
            </a:solidFill>
            <a:prstDash val="solid"/>
          </a:ln>
        </p:spPr>
      </p:sp>
      <p:sp>
        <p:nvSpPr>
          <p:cNvPr id="21" name="Text 18"/>
          <p:cNvSpPr txBox="1"/>
          <p:nvPr/>
        </p:nvSpPr>
        <p:spPr>
          <a:xfrm>
            <a:off x="6620256" y="3511296"/>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Tone and sign-off for customer messages:</a:t>
            </a:r>
            <a:endParaRPr lang="en-US" sz="1150" dirty="0"/>
          </a:p>
        </p:txBody>
      </p:sp>
      <p:sp>
        <p:nvSpPr>
          <p:cNvPr id="22" name="write line 3"/>
          <p:cNvSpPr/>
          <p:nvPr/>
        </p:nvSpPr>
        <p:spPr>
          <a:xfrm>
            <a:off x="6620256" y="3941064"/>
            <a:ext cx="4666183" cy="0"/>
          </a:xfrm>
          <a:prstGeom prst="line">
            <a:avLst/>
          </a:prstGeom>
          <a:noFill/>
          <a:ln w="12700">
            <a:solidFill>
              <a:schemeClr val="accent5"/>
            </a:solidFill>
            <a:prstDash val="solid"/>
          </a:ln>
        </p:spPr>
      </p:sp>
      <p:sp>
        <p:nvSpPr>
          <p:cNvPr id="23" name="Text 20"/>
          <p:cNvSpPr txBox="1"/>
          <p:nvPr/>
        </p:nvSpPr>
        <p:spPr>
          <a:xfrm>
            <a:off x="6620256" y="4032504"/>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Issues the VA can fix without escalating:</a:t>
            </a:r>
            <a:endParaRPr lang="en-US" sz="1150" dirty="0"/>
          </a:p>
        </p:txBody>
      </p:sp>
      <p:sp>
        <p:nvSpPr>
          <p:cNvPr id="24" name="write line 4"/>
          <p:cNvSpPr/>
          <p:nvPr/>
        </p:nvSpPr>
        <p:spPr>
          <a:xfrm>
            <a:off x="6620256" y="4462272"/>
            <a:ext cx="4666183" cy="0"/>
          </a:xfrm>
          <a:prstGeom prst="line">
            <a:avLst/>
          </a:prstGeom>
          <a:noFill/>
          <a:ln w="12700">
            <a:solidFill>
              <a:schemeClr val="accent5"/>
            </a:solidFill>
            <a:prstDash val="solid"/>
          </a:ln>
        </p:spPr>
      </p:sp>
      <p:sp>
        <p:nvSpPr>
          <p:cNvPr id="25" name="Text 22"/>
          <p:cNvSpPr txBox="1"/>
          <p:nvPr/>
        </p:nvSpPr>
        <p:spPr>
          <a:xfrm>
            <a:off x="6620256" y="4553712"/>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Pet peeves and must-nots:</a:t>
            </a:r>
            <a:endParaRPr lang="en-US" sz="1150" dirty="0"/>
          </a:p>
        </p:txBody>
      </p:sp>
      <p:sp>
        <p:nvSpPr>
          <p:cNvPr id="26" name="write line 5"/>
          <p:cNvSpPr/>
          <p:nvPr/>
        </p:nvSpPr>
        <p:spPr>
          <a:xfrm>
            <a:off x="6620256" y="4983480"/>
            <a:ext cx="4666183" cy="0"/>
          </a:xfrm>
          <a:prstGeom prst="line">
            <a:avLst/>
          </a:prstGeom>
          <a:noFill/>
          <a:ln w="12700">
            <a:solidFill>
              <a:schemeClr val="accent5"/>
            </a:solidFill>
            <a:prstDash val="solid"/>
          </a:ln>
        </p:spPr>
      </p:sp>
      <p:sp>
        <p:nvSpPr>
          <p:cNvPr id="27" name="Text 24"/>
          <p:cNvSpPr txBox="1"/>
          <p:nvPr/>
        </p:nvSpPr>
        <p:spPr>
          <a:xfrm>
            <a:off x="6620256" y="5074920"/>
            <a:ext cx="4666183" cy="256032"/>
          </a:xfrm>
          <a:prstGeom prst="rect">
            <a:avLst/>
          </a:prstGeom>
          <a:noFill/>
          <a:ln/>
        </p:spPr>
        <p:txBody>
          <a:bodyPr wrap="square" lIns="0" tIns="0" rIns="0" bIns="0" rtlCol="0" anchor="ctr"/>
          <a:lstStyle/>
          <a:p>
            <a:pPr indent="0" marL="0">
              <a:buNone/>
            </a:pPr>
            <a:r>
              <a:rPr lang="en-US" sz="1150" b="1" dirty="0">
                <a:solidFill>
                  <a:schemeClr val="tx1"/>
                </a:solidFill>
              </a:rPr>
              <a:t>VA’s own goals for the first 6 months:</a:t>
            </a:r>
            <a:endParaRPr lang="en-US" sz="1150" dirty="0"/>
          </a:p>
        </p:txBody>
      </p:sp>
      <p:sp>
        <p:nvSpPr>
          <p:cNvPr id="28" name="write line 6"/>
          <p:cNvSpPr/>
          <p:nvPr/>
        </p:nvSpPr>
        <p:spPr>
          <a:xfrm>
            <a:off x="6620256" y="5504688"/>
            <a:ext cx="4666183" cy="0"/>
          </a:xfrm>
          <a:prstGeom prst="line">
            <a:avLst/>
          </a:prstGeom>
          <a:noFill/>
          <a:ln w="12700">
            <a:solidFill>
              <a:schemeClr val="accent5"/>
            </a:solidFill>
            <a:prstDash val="solid"/>
          </a:ln>
        </p:spPr>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05</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Freedom Scorecard</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Are we delivering what we promised? Fill this in at every milestone review.</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474720"/>
                <a:gridCol w="1600200"/>
                <a:gridCol w="1234440"/>
                <a:gridCol w="1234440"/>
                <a:gridCol w="1234440"/>
                <a:gridCol w="2148840"/>
              </a:tblGrid>
              <a:tr h="50292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MEASURE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START</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Enquiries answered within 2 hours (%)</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Dormant customers reactivated per month (target: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0</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Overdue accounts followed up on time (%)</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To confirm</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Freedom Stage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1 · Task Delegator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3</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Target: 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VA self-rating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0292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Hank’s satisfaction (1–5)</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n/a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486400"/>
            <a:ext cx="10929823" cy="594360"/>
          </a:xfrm>
          <a:prstGeom prst="roundRect">
            <a:avLst>
              <a:gd name="adj" fmla="val 12308"/>
            </a:avLst>
          </a:prstGeom>
          <a:solidFill>
            <a:schemeClr val="accent4"/>
          </a:solidFill>
          <a:ln/>
        </p:spPr>
      </p:sp>
      <p:sp>
        <p:nvSpPr>
          <p:cNvPr id="7" name="Text 4"/>
          <p:cNvSpPr txBox="1"/>
          <p:nvPr/>
        </p:nvSpPr>
        <p:spPr>
          <a:xfrm>
            <a:off x="859536" y="5486400"/>
            <a:ext cx="10472623" cy="594360"/>
          </a:xfrm>
          <a:prstGeom prst="rect">
            <a:avLst/>
          </a:prstGeom>
          <a:noFill/>
          <a:ln/>
        </p:spPr>
        <p:txBody>
          <a:bodyPr wrap="square" lIns="0" tIns="0" rIns="0" bIns="0" rtlCol="0" anchor="ctr"/>
          <a:lstStyle/>
          <a:p>
            <a:pPr indent="0" marL="0">
              <a:buNone/>
            </a:pPr>
            <a:r>
              <a:rPr lang="en-US" sz="1250" b="1" dirty="0">
                <a:solidFill>
                  <a:schemeClr val="accent1"/>
                </a:solidFill>
              </a:rPr>
              <a:t>The goal isn’t just a busy VA. It’s customers answered within two hours, AR under control, and dormant customers ordering again.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06</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Skills &amp; Readiness Checklist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Rate each skill at every milestone: NT = Needs Training · D = Developing · C = Confident.</a:t>
            </a:r>
            <a:endParaRPr lang="en-US" sz="13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 y="1920240"/>
          <a:ext cx="10929823" cy="914400"/>
        </p:xfrm>
        <a:graphic>
          <a:graphicData uri="http://schemas.openxmlformats.org/drawingml/2006/table">
            <a:tbl>
              <a:tblPr/>
              <a:tblGrid>
                <a:gridCol w="5120640"/>
                <a:gridCol w="1234440"/>
                <a:gridCol w="1143000"/>
                <a:gridCol w="1143000"/>
                <a:gridCol w="1143000"/>
                <a:gridCol w="1143000"/>
              </a:tblGrid>
              <a:tr h="41148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SKILL</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AREA</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30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DAY 90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MONTH 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Answering enquiries within two hours on every channel</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Enquiries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Giving accurate product, pricing and availability information</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Enquiries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Entering orders accurately in Shopify and Order Mentor</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Confirming payment and handing orders to fulfilment</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Escalating delivery issues and closing the loop with customers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Delivery</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Following up open orders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Follow-up</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Following up overdue accounts per the AR process</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AR</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Re-engaging dormant customers and tracking each one</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Reactivation</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1148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Preparing the weekly enquiry, AR and reactivation report</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00" dirty="0">
                          <a:solidFill>
                            <a:srgbClr val="6B7684"/>
                          </a:solidFill>
                          <a:latin typeface="Calibri" pitchFamily="34" charset="0"/>
                          <a:ea typeface="Calibri" pitchFamily="34" charset="-122"/>
                          <a:cs typeface="Calibri" pitchFamily="34" charset="-120"/>
                        </a:rPr>
                        <a:t>Reporting</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07  ·  DEFINE</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Success Metrics (KPIs)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What “good” looks like for this role, and exactly how to check it.</a:t>
            </a:r>
            <a:endParaRPr lang="en-US" sz="1300" dirty="0"/>
          </a:p>
        </p:txBody>
      </p:sp>
      <p:sp>
        <p:nvSpPr>
          <p:cNvPr id="5" name="card"/>
          <p:cNvSpPr/>
          <p:nvPr/>
        </p:nvSpPr>
        <p:spPr>
          <a:xfrm>
            <a:off x="630936" y="1920240"/>
            <a:ext cx="5373472" cy="1965960"/>
          </a:xfrm>
          <a:prstGeom prst="roundRect">
            <a:avLst>
              <a:gd name="adj" fmla="val 3721"/>
            </a:avLst>
          </a:prstGeom>
          <a:solidFill>
            <a:schemeClr val="bg1"/>
          </a:solidFill>
          <a:ln w="12700">
            <a:solidFill>
              <a:schemeClr val="accent5"/>
            </a:solidFill>
            <a:prstDash val="solid"/>
          </a:ln>
        </p:spPr>
      </p:sp>
      <p:sp>
        <p:nvSpPr>
          <p:cNvPr id="6" name="number 1"/>
          <p:cNvSpPr/>
          <p:nvPr/>
        </p:nvSpPr>
        <p:spPr>
          <a:xfrm>
            <a:off x="905256" y="2148840"/>
            <a:ext cx="384048" cy="384048"/>
          </a:xfrm>
          <a:prstGeom prst="ellipse">
            <a:avLst/>
          </a:prstGeom>
          <a:solidFill>
            <a:schemeClr val="accent1"/>
          </a:solidFill>
          <a:ln/>
        </p:spPr>
      </p:sp>
      <p:sp>
        <p:nvSpPr>
          <p:cNvPr id="7" name="Text 5"/>
          <p:cNvSpPr txBox="1"/>
          <p:nvPr/>
        </p:nvSpPr>
        <p:spPr>
          <a:xfrm>
            <a:off x="905256"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8" name="Text 6"/>
          <p:cNvSpPr txBox="1"/>
          <p:nvPr/>
        </p:nvSpPr>
        <p:spPr>
          <a:xfrm>
            <a:off x="1453896"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Response Time</a:t>
            </a:r>
            <a:endParaRPr lang="en-US" sz="1500" dirty="0"/>
          </a:p>
        </p:txBody>
      </p:sp>
      <p:sp>
        <p:nvSpPr>
          <p:cNvPr id="9" name="Text 7"/>
          <p:cNvSpPr txBox="1"/>
          <p:nvPr/>
        </p:nvSpPr>
        <p:spPr>
          <a:xfrm>
            <a:off x="905256"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Every enquiry answered within two hours, on every channel.</a:t>
            </a:r>
            <a:endParaRPr lang="en-US" sz="1200" dirty="0"/>
          </a:p>
        </p:txBody>
      </p:sp>
      <p:sp>
        <p:nvSpPr>
          <p:cNvPr id="10" name="card"/>
          <p:cNvSpPr/>
          <p:nvPr/>
        </p:nvSpPr>
        <p:spPr>
          <a:xfrm>
            <a:off x="905256" y="3291840"/>
            <a:ext cx="4824832" cy="411480"/>
          </a:xfrm>
          <a:prstGeom prst="roundRect">
            <a:avLst>
              <a:gd name="adj" fmla="val 17778"/>
            </a:avLst>
          </a:prstGeom>
          <a:solidFill>
            <a:schemeClr val="accent4"/>
          </a:solidFill>
          <a:ln/>
        </p:spPr>
      </p:sp>
      <p:sp>
        <p:nvSpPr>
          <p:cNvPr id="11" name="Text 9"/>
          <p:cNvSpPr txBox="1"/>
          <p:nvPr/>
        </p:nvSpPr>
        <p:spPr>
          <a:xfrm>
            <a:off x="1042416"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“What’s waiting for a reply right now?”</a:t>
            </a:r>
            <a:endParaRPr lang="en-US" sz="1150" dirty="0"/>
          </a:p>
        </p:txBody>
      </p:sp>
      <p:sp>
        <p:nvSpPr>
          <p:cNvPr id="12" name="card"/>
          <p:cNvSpPr/>
          <p:nvPr/>
        </p:nvSpPr>
        <p:spPr>
          <a:xfrm>
            <a:off x="6187288" y="1920240"/>
            <a:ext cx="5373472" cy="1965960"/>
          </a:xfrm>
          <a:prstGeom prst="roundRect">
            <a:avLst>
              <a:gd name="adj" fmla="val 3721"/>
            </a:avLst>
          </a:prstGeom>
          <a:solidFill>
            <a:schemeClr val="bg1"/>
          </a:solidFill>
          <a:ln w="12700">
            <a:solidFill>
              <a:schemeClr val="accent5"/>
            </a:solidFill>
            <a:prstDash val="solid"/>
          </a:ln>
        </p:spPr>
      </p:sp>
      <p:sp>
        <p:nvSpPr>
          <p:cNvPr id="13" name="number 2"/>
          <p:cNvSpPr/>
          <p:nvPr/>
        </p:nvSpPr>
        <p:spPr>
          <a:xfrm>
            <a:off x="6461608" y="2148840"/>
            <a:ext cx="384048" cy="384048"/>
          </a:xfrm>
          <a:prstGeom prst="ellipse">
            <a:avLst/>
          </a:prstGeom>
          <a:solidFill>
            <a:schemeClr val="accent1"/>
          </a:solidFill>
          <a:ln/>
        </p:spPr>
      </p:sp>
      <p:sp>
        <p:nvSpPr>
          <p:cNvPr id="14" name="Text 12"/>
          <p:cNvSpPr txBox="1"/>
          <p:nvPr/>
        </p:nvSpPr>
        <p:spPr>
          <a:xfrm>
            <a:off x="6461608" y="214884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5" name="Text 13"/>
          <p:cNvSpPr txBox="1"/>
          <p:nvPr/>
        </p:nvSpPr>
        <p:spPr>
          <a:xfrm>
            <a:off x="7010248" y="214884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Order Accuracy</a:t>
            </a:r>
            <a:endParaRPr lang="en-US" sz="1500" dirty="0"/>
          </a:p>
        </p:txBody>
      </p:sp>
      <p:sp>
        <p:nvSpPr>
          <p:cNvPr id="16" name="Text 14"/>
          <p:cNvSpPr txBox="1"/>
          <p:nvPr/>
        </p:nvSpPr>
        <p:spPr>
          <a:xfrm>
            <a:off x="6461608" y="265176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Right items, quantities, customer and delivery details, with payment confirmed.</a:t>
            </a:r>
            <a:endParaRPr lang="en-US" sz="1200" dirty="0"/>
          </a:p>
        </p:txBody>
      </p:sp>
      <p:sp>
        <p:nvSpPr>
          <p:cNvPr id="17" name="card"/>
          <p:cNvSpPr/>
          <p:nvPr/>
        </p:nvSpPr>
        <p:spPr>
          <a:xfrm>
            <a:off x="6461608" y="3291840"/>
            <a:ext cx="4824832" cy="411480"/>
          </a:xfrm>
          <a:prstGeom prst="roundRect">
            <a:avLst>
              <a:gd name="adj" fmla="val 17778"/>
            </a:avLst>
          </a:prstGeom>
          <a:solidFill>
            <a:schemeClr val="accent4"/>
          </a:solidFill>
          <a:ln/>
        </p:spPr>
      </p:sp>
      <p:sp>
        <p:nvSpPr>
          <p:cNvPr id="18" name="Text 16"/>
          <p:cNvSpPr txBox="1"/>
          <p:nvPr/>
        </p:nvSpPr>
        <p:spPr>
          <a:xfrm>
            <a:off x="6598768" y="329184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“Any orders corrected by fulfilment this week?”</a:t>
            </a:r>
            <a:endParaRPr lang="en-US" sz="1150" dirty="0"/>
          </a:p>
        </p:txBody>
      </p:sp>
      <p:sp>
        <p:nvSpPr>
          <p:cNvPr id="19" name="card"/>
          <p:cNvSpPr/>
          <p:nvPr/>
        </p:nvSpPr>
        <p:spPr>
          <a:xfrm>
            <a:off x="630936" y="4069080"/>
            <a:ext cx="5373472" cy="1965960"/>
          </a:xfrm>
          <a:prstGeom prst="roundRect">
            <a:avLst>
              <a:gd name="adj" fmla="val 3721"/>
            </a:avLst>
          </a:prstGeom>
          <a:solidFill>
            <a:schemeClr val="bg1"/>
          </a:solidFill>
          <a:ln w="12700">
            <a:solidFill>
              <a:schemeClr val="accent5"/>
            </a:solidFill>
            <a:prstDash val="solid"/>
          </a:ln>
        </p:spPr>
      </p:sp>
      <p:sp>
        <p:nvSpPr>
          <p:cNvPr id="20" name="number 3"/>
          <p:cNvSpPr/>
          <p:nvPr/>
        </p:nvSpPr>
        <p:spPr>
          <a:xfrm>
            <a:off x="905256" y="4297680"/>
            <a:ext cx="384048" cy="384048"/>
          </a:xfrm>
          <a:prstGeom prst="ellipse">
            <a:avLst/>
          </a:prstGeom>
          <a:solidFill>
            <a:schemeClr val="accent1"/>
          </a:solidFill>
          <a:ln/>
        </p:spPr>
      </p:sp>
      <p:sp>
        <p:nvSpPr>
          <p:cNvPr id="21" name="Text 19"/>
          <p:cNvSpPr txBox="1"/>
          <p:nvPr/>
        </p:nvSpPr>
        <p:spPr>
          <a:xfrm>
            <a:off x="905256"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1453896"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Open Orders &amp; AR Follow-Up</a:t>
            </a:r>
            <a:endParaRPr lang="en-US" sz="1500" dirty="0"/>
          </a:p>
        </p:txBody>
      </p:sp>
      <p:sp>
        <p:nvSpPr>
          <p:cNvPr id="23" name="Text 21"/>
          <p:cNvSpPr txBox="1"/>
          <p:nvPr/>
        </p:nvSpPr>
        <p:spPr>
          <a:xfrm>
            <a:off x="905256"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Open orders monitored; overdue accounts followed up within three days.</a:t>
            </a:r>
            <a:endParaRPr lang="en-US" sz="1200" dirty="0"/>
          </a:p>
        </p:txBody>
      </p:sp>
      <p:sp>
        <p:nvSpPr>
          <p:cNvPr id="24" name="card"/>
          <p:cNvSpPr/>
          <p:nvPr/>
        </p:nvSpPr>
        <p:spPr>
          <a:xfrm>
            <a:off x="905256" y="5440680"/>
            <a:ext cx="4824832" cy="411480"/>
          </a:xfrm>
          <a:prstGeom prst="roundRect">
            <a:avLst>
              <a:gd name="adj" fmla="val 17778"/>
            </a:avLst>
          </a:prstGeom>
          <a:solidFill>
            <a:schemeClr val="accent4"/>
          </a:solidFill>
          <a:ln/>
        </p:spPr>
      </p:sp>
      <p:sp>
        <p:nvSpPr>
          <p:cNvPr id="25" name="Text 23"/>
          <p:cNvSpPr txBox="1"/>
          <p:nvPr/>
        </p:nvSpPr>
        <p:spPr>
          <a:xfrm>
            <a:off x="1042416"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“Which accounts are still overdue, and what’s next?”</a:t>
            </a:r>
            <a:endParaRPr lang="en-US" sz="1150" dirty="0"/>
          </a:p>
        </p:txBody>
      </p:sp>
      <p:sp>
        <p:nvSpPr>
          <p:cNvPr id="26" name="card"/>
          <p:cNvSpPr/>
          <p:nvPr/>
        </p:nvSpPr>
        <p:spPr>
          <a:xfrm>
            <a:off x="6187288" y="4069080"/>
            <a:ext cx="5373472" cy="1965960"/>
          </a:xfrm>
          <a:prstGeom prst="roundRect">
            <a:avLst>
              <a:gd name="adj" fmla="val 3721"/>
            </a:avLst>
          </a:prstGeom>
          <a:solidFill>
            <a:schemeClr val="bg1"/>
          </a:solidFill>
          <a:ln w="12700">
            <a:solidFill>
              <a:schemeClr val="accent5"/>
            </a:solidFill>
            <a:prstDash val="solid"/>
          </a:ln>
        </p:spPr>
      </p:sp>
      <p:sp>
        <p:nvSpPr>
          <p:cNvPr id="27" name="number 4"/>
          <p:cNvSpPr/>
          <p:nvPr/>
        </p:nvSpPr>
        <p:spPr>
          <a:xfrm>
            <a:off x="6461608" y="4297680"/>
            <a:ext cx="384048" cy="384048"/>
          </a:xfrm>
          <a:prstGeom prst="ellipse">
            <a:avLst/>
          </a:prstGeom>
          <a:solidFill>
            <a:schemeClr val="accent1"/>
          </a:solidFill>
          <a:ln/>
        </p:spPr>
      </p:sp>
      <p:sp>
        <p:nvSpPr>
          <p:cNvPr id="28" name="Text 26"/>
          <p:cNvSpPr txBox="1"/>
          <p:nvPr/>
        </p:nvSpPr>
        <p:spPr>
          <a:xfrm>
            <a:off x="6461608" y="4297680"/>
            <a:ext cx="384048" cy="384048"/>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9" name="Text 27"/>
          <p:cNvSpPr txBox="1"/>
          <p:nvPr/>
        </p:nvSpPr>
        <p:spPr>
          <a:xfrm>
            <a:off x="7010248" y="4297680"/>
            <a:ext cx="4276192" cy="384048"/>
          </a:xfrm>
          <a:prstGeom prst="rect">
            <a:avLst/>
          </a:prstGeom>
          <a:noFill/>
          <a:ln/>
        </p:spPr>
        <p:txBody>
          <a:bodyPr wrap="square" lIns="0" tIns="0" rIns="0" bIns="0" rtlCol="0" anchor="ctr"/>
          <a:lstStyle/>
          <a:p>
            <a:pPr indent="0" marL="0">
              <a:buNone/>
            </a:pPr>
            <a:r>
              <a:rPr lang="en-US" sz="1500" b="1" dirty="0">
                <a:solidFill>
                  <a:schemeClr val="tx1"/>
                </a:solidFill>
                <a:latin typeface="Cambria" pitchFamily="34" charset="0"/>
                <a:ea typeface="Cambria" pitchFamily="34" charset="-122"/>
                <a:cs typeface="Cambria" pitchFamily="34" charset="-120"/>
              </a:rPr>
              <a:t>Customer Reactivation</a:t>
            </a:r>
            <a:endParaRPr lang="en-US" sz="1500" dirty="0"/>
          </a:p>
        </p:txBody>
      </p:sp>
      <p:sp>
        <p:nvSpPr>
          <p:cNvPr id="30" name="Text 28"/>
          <p:cNvSpPr txBox="1"/>
          <p:nvPr/>
        </p:nvSpPr>
        <p:spPr>
          <a:xfrm>
            <a:off x="6461608" y="4800600"/>
            <a:ext cx="4824832" cy="594360"/>
          </a:xfrm>
          <a:prstGeom prst="rect">
            <a:avLst/>
          </a:prstGeom>
          <a:noFill/>
          <a:ln/>
        </p:spPr>
        <p:txBody>
          <a:bodyPr wrap="square" lIns="0" tIns="0" rIns="0" bIns="0" rtlCol="0" anchor="t"/>
          <a:lstStyle/>
          <a:p>
            <a:pPr indent="0" marL="0">
              <a:buNone/>
            </a:pPr>
            <a:r>
              <a:rPr lang="en-US" sz="1200" dirty="0">
                <a:solidFill>
                  <a:schemeClr val="accent3"/>
                </a:solidFill>
              </a:rPr>
              <a:t>15 dormant customers ordering again each month, tracked in the spreadsheet.</a:t>
            </a:r>
            <a:endParaRPr lang="en-US" sz="1200" dirty="0"/>
          </a:p>
        </p:txBody>
      </p:sp>
      <p:sp>
        <p:nvSpPr>
          <p:cNvPr id="31" name="card"/>
          <p:cNvSpPr/>
          <p:nvPr/>
        </p:nvSpPr>
        <p:spPr>
          <a:xfrm>
            <a:off x="6461608" y="5440680"/>
            <a:ext cx="4824832" cy="411480"/>
          </a:xfrm>
          <a:prstGeom prst="roundRect">
            <a:avLst>
              <a:gd name="adj" fmla="val 17778"/>
            </a:avLst>
          </a:prstGeom>
          <a:solidFill>
            <a:schemeClr val="accent4"/>
          </a:solidFill>
          <a:ln/>
        </p:spPr>
      </p:sp>
      <p:sp>
        <p:nvSpPr>
          <p:cNvPr id="32" name="Text 30"/>
          <p:cNvSpPr txBox="1"/>
          <p:nvPr/>
        </p:nvSpPr>
        <p:spPr>
          <a:xfrm>
            <a:off x="6598768" y="5440680"/>
            <a:ext cx="4550512" cy="411480"/>
          </a:xfrm>
          <a:prstGeom prst="rect">
            <a:avLst/>
          </a:prstGeom>
          <a:noFill/>
          <a:ln/>
        </p:spPr>
        <p:txBody>
          <a:bodyPr wrap="square" lIns="0" tIns="0" rIns="0" bIns="0" rtlCol="0" anchor="ctr"/>
          <a:lstStyle/>
          <a:p>
            <a:pPr indent="0" marL="0">
              <a:buNone/>
            </a:pPr>
            <a:r>
              <a:rPr lang="en-US" sz="1150" b="1" dirty="0">
                <a:solidFill>
                  <a:schemeClr val="accent1"/>
                </a:solidFill>
              </a:rPr>
              <a:t>Ask: “How many customers did we reactivate this month?”</a:t>
            </a:r>
            <a:endParaRPr lang="en-US" sz="11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08</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Monthly KPI Check-In</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Go through this with your VA or Account Manager once a month. Mark each KPI ✓ Met or ✗ Not yet.</a:t>
            </a:r>
            <a:endParaRPr lang="en-US" sz="13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630936" y="1965960"/>
          <a:ext cx="10929823" cy="914400"/>
        </p:xfrm>
        <a:graphic>
          <a:graphicData uri="http://schemas.openxmlformats.org/drawingml/2006/table">
            <a:tbl>
              <a:tblPr/>
              <a:tblGrid>
                <a:gridCol w="3246120"/>
                <a:gridCol w="621792"/>
                <a:gridCol w="621792"/>
                <a:gridCol w="621792"/>
                <a:gridCol w="621792"/>
                <a:gridCol w="621792"/>
                <a:gridCol w="621792"/>
                <a:gridCol w="621792"/>
                <a:gridCol w="621792"/>
                <a:gridCol w="621792"/>
                <a:gridCol w="621792"/>
                <a:gridCol w="621792"/>
                <a:gridCol w="621792"/>
              </a:tblGrid>
              <a:tr h="566928">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KPI</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M3</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M4</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M5</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M6</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M7</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M8</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M9</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M10</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M11</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M12</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Response Time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Order Accuracy</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Open Orders &amp; AR Follow-Up</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566928">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Customer Reactivation</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6" name="callout"/>
          <p:cNvSpPr/>
          <p:nvPr/>
        </p:nvSpPr>
        <p:spPr>
          <a:xfrm>
            <a:off x="630936" y="5120640"/>
            <a:ext cx="10929823" cy="548640"/>
          </a:xfrm>
          <a:prstGeom prst="roundRect">
            <a:avLst>
              <a:gd name="adj" fmla="val 13333"/>
            </a:avLst>
          </a:prstGeom>
          <a:solidFill>
            <a:schemeClr val="accent4"/>
          </a:solidFill>
          <a:ln/>
        </p:spPr>
      </p:sp>
      <p:sp>
        <p:nvSpPr>
          <p:cNvPr id="7" name="Text 4"/>
          <p:cNvSpPr txBox="1"/>
          <p:nvPr/>
        </p:nvSpPr>
        <p:spPr>
          <a:xfrm>
            <a:off x="859536" y="512064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Two “Not yet” months in a row? Raise it with your Account Manager. We’ll coach, adjust the plan, or step in.</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09</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Delegation List: Now and Next</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A running list of what comes off the team’s plate. Move items across at each review, and add new ones any time.</a:t>
            </a:r>
            <a:endParaRPr lang="en-US" sz="1300" dirty="0"/>
          </a:p>
        </p:txBody>
      </p:sp>
      <p:sp>
        <p:nvSpPr>
          <p:cNvPr id="5" name="card"/>
          <p:cNvSpPr/>
          <p:nvPr/>
        </p:nvSpPr>
        <p:spPr>
          <a:xfrm>
            <a:off x="630936" y="1920240"/>
            <a:ext cx="3521354" cy="3246120"/>
          </a:xfrm>
          <a:prstGeom prst="roundRect">
            <a:avLst>
              <a:gd name="adj" fmla="val 2254"/>
            </a:avLst>
          </a:prstGeom>
          <a:solidFill>
            <a:schemeClr val="accent4"/>
          </a:solidFill>
          <a:ln/>
        </p:spPr>
      </p:sp>
      <p:sp>
        <p:nvSpPr>
          <p:cNvPr id="6" name="Text 4"/>
          <p:cNvSpPr txBox="1"/>
          <p:nvPr/>
        </p:nvSpPr>
        <p:spPr>
          <a:xfrm>
            <a:off x="905256"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DELEGATED</a:t>
            </a:r>
            <a:endParaRPr lang="en-US" sz="1050" dirty="0"/>
          </a:p>
        </p:txBody>
      </p:sp>
      <p:sp>
        <p:nvSpPr>
          <p:cNvPr id="7" name="card"/>
          <p:cNvSpPr/>
          <p:nvPr/>
        </p:nvSpPr>
        <p:spPr>
          <a:xfrm>
            <a:off x="859536" y="2468880"/>
            <a:ext cx="3064154" cy="512064"/>
          </a:xfrm>
          <a:prstGeom prst="roundRect">
            <a:avLst>
              <a:gd name="adj" fmla="val 14286"/>
            </a:avLst>
          </a:prstGeom>
          <a:solidFill>
            <a:schemeClr val="bg1"/>
          </a:solidFill>
          <a:ln w="12700">
            <a:solidFill>
              <a:schemeClr val="accent5"/>
            </a:solidFill>
            <a:prstDash val="solid"/>
          </a:ln>
        </p:spPr>
      </p:sp>
      <p:sp>
        <p:nvSpPr>
          <p:cNvPr id="8" name="Text 6"/>
          <p:cNvSpPr txBox="1"/>
          <p:nvPr/>
        </p:nvSpPr>
        <p:spPr>
          <a:xfrm>
            <a:off x="1042416"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Customer enquiries on every channel</a:t>
            </a:r>
            <a:endParaRPr lang="en-US" sz="1200" dirty="0"/>
          </a:p>
        </p:txBody>
      </p:sp>
      <p:sp>
        <p:nvSpPr>
          <p:cNvPr id="9" name="card"/>
          <p:cNvSpPr/>
          <p:nvPr/>
        </p:nvSpPr>
        <p:spPr>
          <a:xfrm>
            <a:off x="859536" y="3090672"/>
            <a:ext cx="3064154" cy="512064"/>
          </a:xfrm>
          <a:prstGeom prst="roundRect">
            <a:avLst>
              <a:gd name="adj" fmla="val 14286"/>
            </a:avLst>
          </a:prstGeom>
          <a:solidFill>
            <a:schemeClr val="bg1"/>
          </a:solidFill>
          <a:ln w="12700">
            <a:solidFill>
              <a:schemeClr val="accent5"/>
            </a:solidFill>
            <a:prstDash val="solid"/>
          </a:ln>
        </p:spPr>
      </p:sp>
      <p:sp>
        <p:nvSpPr>
          <p:cNvPr id="10" name="Text 8"/>
          <p:cNvSpPr txBox="1"/>
          <p:nvPr/>
        </p:nvSpPr>
        <p:spPr>
          <a:xfrm>
            <a:off x="1042416"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Order taking &amp; entry</a:t>
            </a:r>
            <a:endParaRPr lang="en-US" sz="1200" dirty="0"/>
          </a:p>
        </p:txBody>
      </p:sp>
      <p:sp>
        <p:nvSpPr>
          <p:cNvPr id="11" name="card"/>
          <p:cNvSpPr/>
          <p:nvPr/>
        </p:nvSpPr>
        <p:spPr>
          <a:xfrm>
            <a:off x="859536" y="3712464"/>
            <a:ext cx="3064154" cy="512064"/>
          </a:xfrm>
          <a:prstGeom prst="roundRect">
            <a:avLst>
              <a:gd name="adj" fmla="val 14286"/>
            </a:avLst>
          </a:prstGeom>
          <a:solidFill>
            <a:schemeClr val="bg1"/>
          </a:solidFill>
          <a:ln w="12700">
            <a:solidFill>
              <a:schemeClr val="accent5"/>
            </a:solidFill>
            <a:prstDash val="solid"/>
          </a:ln>
        </p:spPr>
      </p:sp>
      <p:sp>
        <p:nvSpPr>
          <p:cNvPr id="12" name="Text 10"/>
          <p:cNvSpPr txBox="1"/>
          <p:nvPr/>
        </p:nvSpPr>
        <p:spPr>
          <a:xfrm>
            <a:off x="1042416"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Delivery updates &amp; escalation</a:t>
            </a:r>
            <a:endParaRPr lang="en-US" sz="1200" dirty="0"/>
          </a:p>
        </p:txBody>
      </p:sp>
      <p:sp>
        <p:nvSpPr>
          <p:cNvPr id="13" name="card"/>
          <p:cNvSpPr/>
          <p:nvPr/>
        </p:nvSpPr>
        <p:spPr>
          <a:xfrm>
            <a:off x="4335170" y="1920240"/>
            <a:ext cx="3521354" cy="3246120"/>
          </a:xfrm>
          <a:prstGeom prst="roundRect">
            <a:avLst>
              <a:gd name="adj" fmla="val 2254"/>
            </a:avLst>
          </a:prstGeom>
          <a:solidFill>
            <a:schemeClr val="bg2"/>
          </a:solidFill>
          <a:ln/>
        </p:spPr>
      </p:sp>
      <p:sp>
        <p:nvSpPr>
          <p:cNvPr id="14" name="Text 12"/>
          <p:cNvSpPr txBox="1"/>
          <p:nvPr/>
        </p:nvSpPr>
        <p:spPr>
          <a:xfrm>
            <a:off x="4609490"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IN PROGRESS</a:t>
            </a:r>
            <a:endParaRPr lang="en-US" sz="1050" dirty="0"/>
          </a:p>
        </p:txBody>
      </p:sp>
      <p:sp>
        <p:nvSpPr>
          <p:cNvPr id="15" name="card"/>
          <p:cNvSpPr/>
          <p:nvPr/>
        </p:nvSpPr>
        <p:spPr>
          <a:xfrm>
            <a:off x="4563770" y="2468880"/>
            <a:ext cx="3064154" cy="512064"/>
          </a:xfrm>
          <a:prstGeom prst="roundRect">
            <a:avLst>
              <a:gd name="adj" fmla="val 14286"/>
            </a:avLst>
          </a:prstGeom>
          <a:solidFill>
            <a:schemeClr val="bg1"/>
          </a:solidFill>
          <a:ln w="12700">
            <a:solidFill>
              <a:schemeClr val="accent5"/>
            </a:solidFill>
            <a:prstDash val="solid"/>
          </a:ln>
        </p:spPr>
      </p:sp>
      <p:sp>
        <p:nvSpPr>
          <p:cNvPr id="16" name="Text 14"/>
          <p:cNvSpPr txBox="1"/>
          <p:nvPr/>
        </p:nvSpPr>
        <p:spPr>
          <a:xfrm>
            <a:off x="4746650"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Open order follow-up</a:t>
            </a:r>
            <a:endParaRPr lang="en-US" sz="1200" dirty="0"/>
          </a:p>
        </p:txBody>
      </p:sp>
      <p:sp>
        <p:nvSpPr>
          <p:cNvPr id="17" name="card"/>
          <p:cNvSpPr/>
          <p:nvPr/>
        </p:nvSpPr>
        <p:spPr>
          <a:xfrm>
            <a:off x="4563770" y="3090672"/>
            <a:ext cx="3064154" cy="512064"/>
          </a:xfrm>
          <a:prstGeom prst="roundRect">
            <a:avLst>
              <a:gd name="adj" fmla="val 14286"/>
            </a:avLst>
          </a:prstGeom>
          <a:solidFill>
            <a:schemeClr val="bg1"/>
          </a:solidFill>
          <a:ln w="12700">
            <a:solidFill>
              <a:schemeClr val="accent5"/>
            </a:solidFill>
            <a:prstDash val="solid"/>
          </a:ln>
        </p:spPr>
      </p:sp>
      <p:sp>
        <p:nvSpPr>
          <p:cNvPr id="18" name="Text 16"/>
          <p:cNvSpPr txBox="1"/>
          <p:nvPr/>
        </p:nvSpPr>
        <p:spPr>
          <a:xfrm>
            <a:off x="4746650"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AR &amp; overdue payment follow-up</a:t>
            </a:r>
            <a:endParaRPr lang="en-US" sz="1200" dirty="0"/>
          </a:p>
        </p:txBody>
      </p:sp>
      <p:sp>
        <p:nvSpPr>
          <p:cNvPr id="19" name="card"/>
          <p:cNvSpPr/>
          <p:nvPr/>
        </p:nvSpPr>
        <p:spPr>
          <a:xfrm>
            <a:off x="4563770" y="3712464"/>
            <a:ext cx="3064154" cy="512064"/>
          </a:xfrm>
          <a:prstGeom prst="roundRect">
            <a:avLst>
              <a:gd name="adj" fmla="val 14286"/>
            </a:avLst>
          </a:prstGeom>
          <a:solidFill>
            <a:schemeClr val="bg1"/>
          </a:solidFill>
          <a:ln w="12700">
            <a:solidFill>
              <a:schemeClr val="accent5"/>
            </a:solidFill>
            <a:prstDash val="solid"/>
          </a:ln>
        </p:spPr>
      </p:sp>
      <p:sp>
        <p:nvSpPr>
          <p:cNvPr id="20" name="Text 18"/>
          <p:cNvSpPr txBox="1"/>
          <p:nvPr/>
        </p:nvSpPr>
        <p:spPr>
          <a:xfrm>
            <a:off x="4746650"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Dormant customer reactivation</a:t>
            </a:r>
            <a:endParaRPr lang="en-US" sz="1200" dirty="0"/>
          </a:p>
        </p:txBody>
      </p:sp>
      <p:sp>
        <p:nvSpPr>
          <p:cNvPr id="21" name="card"/>
          <p:cNvSpPr/>
          <p:nvPr/>
        </p:nvSpPr>
        <p:spPr>
          <a:xfrm>
            <a:off x="8039405" y="1920240"/>
            <a:ext cx="3521354" cy="3246120"/>
          </a:xfrm>
          <a:prstGeom prst="roundRect">
            <a:avLst>
              <a:gd name="adj" fmla="val 2254"/>
            </a:avLst>
          </a:prstGeom>
          <a:solidFill>
            <a:schemeClr val="bg1"/>
          </a:solidFill>
          <a:ln w="12700">
            <a:solidFill>
              <a:schemeClr val="accent5"/>
            </a:solidFill>
            <a:prstDash val="solid"/>
          </a:ln>
        </p:spPr>
      </p:sp>
      <p:sp>
        <p:nvSpPr>
          <p:cNvPr id="22" name="Text 20"/>
          <p:cNvSpPr txBox="1"/>
          <p:nvPr/>
        </p:nvSpPr>
        <p:spPr>
          <a:xfrm>
            <a:off x="8313725" y="210312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NEXT TO DELEGATE</a:t>
            </a:r>
            <a:endParaRPr lang="en-US" sz="1050" dirty="0"/>
          </a:p>
        </p:txBody>
      </p:sp>
      <p:sp>
        <p:nvSpPr>
          <p:cNvPr id="23" name="card"/>
          <p:cNvSpPr/>
          <p:nvPr/>
        </p:nvSpPr>
        <p:spPr>
          <a:xfrm>
            <a:off x="8268005" y="2468880"/>
            <a:ext cx="3064154" cy="512064"/>
          </a:xfrm>
          <a:prstGeom prst="roundRect">
            <a:avLst>
              <a:gd name="adj" fmla="val 14286"/>
            </a:avLst>
          </a:prstGeom>
          <a:solidFill>
            <a:schemeClr val="bg1"/>
          </a:solidFill>
          <a:ln w="12700">
            <a:solidFill>
              <a:schemeClr val="accent5"/>
            </a:solidFill>
            <a:prstDash val="solid"/>
          </a:ln>
        </p:spPr>
      </p:sp>
      <p:sp>
        <p:nvSpPr>
          <p:cNvPr id="24" name="Text 22"/>
          <p:cNvSpPr txBox="1"/>
          <p:nvPr/>
        </p:nvSpPr>
        <p:spPr>
          <a:xfrm>
            <a:off x="8450885" y="2468880"/>
            <a:ext cx="2698394" cy="512064"/>
          </a:xfrm>
          <a:prstGeom prst="rect">
            <a:avLst/>
          </a:prstGeom>
          <a:noFill/>
          <a:ln/>
        </p:spPr>
        <p:txBody>
          <a:bodyPr wrap="square" lIns="0" tIns="0" rIns="0" bIns="0" rtlCol="0" anchor="ctr"/>
          <a:lstStyle/>
          <a:p>
            <a:pPr indent="0" marL="0">
              <a:buNone/>
            </a:pPr>
            <a:r>
              <a:rPr lang="en-US" sz="1200" dirty="0">
                <a:solidFill>
                  <a:schemeClr val="tx1"/>
                </a:solidFill>
              </a:rPr>
              <a:t>Weekly reporting &amp; customer insights</a:t>
            </a:r>
            <a:endParaRPr lang="en-US" sz="1200" dirty="0"/>
          </a:p>
        </p:txBody>
      </p:sp>
      <p:sp>
        <p:nvSpPr>
          <p:cNvPr id="25" name="card"/>
          <p:cNvSpPr/>
          <p:nvPr/>
        </p:nvSpPr>
        <p:spPr>
          <a:xfrm>
            <a:off x="8268005" y="3090672"/>
            <a:ext cx="3064154" cy="512064"/>
          </a:xfrm>
          <a:prstGeom prst="roundRect">
            <a:avLst>
              <a:gd name="adj" fmla="val 14286"/>
            </a:avLst>
          </a:prstGeom>
          <a:solidFill>
            <a:schemeClr val="bg1"/>
          </a:solidFill>
          <a:ln w="12700">
            <a:solidFill>
              <a:schemeClr val="accent5"/>
            </a:solidFill>
            <a:prstDash val="solid"/>
          </a:ln>
        </p:spPr>
      </p:sp>
      <p:sp>
        <p:nvSpPr>
          <p:cNvPr id="26" name="Text 24"/>
          <p:cNvSpPr txBox="1"/>
          <p:nvPr/>
        </p:nvSpPr>
        <p:spPr>
          <a:xfrm>
            <a:off x="8450885" y="3090672"/>
            <a:ext cx="2698394" cy="512064"/>
          </a:xfrm>
          <a:prstGeom prst="rect">
            <a:avLst/>
          </a:prstGeom>
          <a:noFill/>
          <a:ln/>
        </p:spPr>
        <p:txBody>
          <a:bodyPr wrap="square" lIns="0" tIns="0" rIns="0" bIns="0" rtlCol="0" anchor="ctr"/>
          <a:lstStyle/>
          <a:p>
            <a:pPr indent="0" marL="0">
              <a:buNone/>
            </a:pPr>
            <a:r>
              <a:rPr lang="en-US" sz="1200" dirty="0">
                <a:solidFill>
                  <a:schemeClr val="tx1"/>
                </a:solidFill>
              </a:rPr>
              <a:t>Phone and internet phone calls</a:t>
            </a:r>
            <a:endParaRPr lang="en-US" sz="1200" dirty="0"/>
          </a:p>
        </p:txBody>
      </p:sp>
      <p:sp>
        <p:nvSpPr>
          <p:cNvPr id="27" name="card"/>
          <p:cNvSpPr/>
          <p:nvPr/>
        </p:nvSpPr>
        <p:spPr>
          <a:xfrm>
            <a:off x="8268005" y="3712464"/>
            <a:ext cx="3064154" cy="512064"/>
          </a:xfrm>
          <a:prstGeom prst="roundRect">
            <a:avLst>
              <a:gd name="adj" fmla="val 14286"/>
            </a:avLst>
          </a:prstGeom>
          <a:solidFill>
            <a:schemeClr val="bg1"/>
          </a:solidFill>
          <a:ln w="12700">
            <a:solidFill>
              <a:schemeClr val="accent5"/>
            </a:solidFill>
            <a:prstDash val="solid"/>
          </a:ln>
        </p:spPr>
      </p:sp>
      <p:sp>
        <p:nvSpPr>
          <p:cNvPr id="28" name="Text 26"/>
          <p:cNvSpPr txBox="1"/>
          <p:nvPr/>
        </p:nvSpPr>
        <p:spPr>
          <a:xfrm>
            <a:off x="8450885" y="3712464"/>
            <a:ext cx="2698394" cy="512064"/>
          </a:xfrm>
          <a:prstGeom prst="rect">
            <a:avLst/>
          </a:prstGeom>
          <a:noFill/>
          <a:ln/>
        </p:spPr>
        <p:txBody>
          <a:bodyPr wrap="square" lIns="0" tIns="0" rIns="0" bIns="0" rtlCol="0" anchor="ctr"/>
          <a:lstStyle/>
          <a:p>
            <a:pPr indent="0" marL="0">
              <a:buNone/>
            </a:pPr>
            <a:r>
              <a:rPr lang="en-US" sz="1200" dirty="0">
                <a:solidFill>
                  <a:schemeClr val="tx1"/>
                </a:solidFill>
              </a:rPr>
              <a:t>Further reporting &amp; analysis</a:t>
            </a:r>
            <a:endParaRPr lang="en-US" sz="1200" dirty="0"/>
          </a:p>
        </p:txBody>
      </p:sp>
      <p:sp>
        <p:nvSpPr>
          <p:cNvPr id="29" name="card"/>
          <p:cNvSpPr/>
          <p:nvPr/>
        </p:nvSpPr>
        <p:spPr>
          <a:xfrm>
            <a:off x="8268005" y="4334256"/>
            <a:ext cx="3064154" cy="512064"/>
          </a:xfrm>
          <a:prstGeom prst="roundRect">
            <a:avLst>
              <a:gd name="adj" fmla="val 14286"/>
            </a:avLst>
          </a:prstGeom>
          <a:solidFill>
            <a:schemeClr val="bg1"/>
          </a:solidFill>
          <a:ln w="12700">
            <a:solidFill>
              <a:schemeClr val="accent5"/>
            </a:solidFill>
            <a:prstDash val="solid"/>
          </a:ln>
        </p:spPr>
      </p:sp>
      <p:sp>
        <p:nvSpPr>
          <p:cNvPr id="30" name="Text 28"/>
          <p:cNvSpPr txBox="1"/>
          <p:nvPr/>
        </p:nvSpPr>
        <p:spPr>
          <a:xfrm>
            <a:off x="8450885" y="4334256"/>
            <a:ext cx="2698394" cy="512064"/>
          </a:xfrm>
          <a:prstGeom prst="rect">
            <a:avLst/>
          </a:prstGeom>
          <a:noFill/>
          <a:ln/>
        </p:spPr>
        <p:txBody>
          <a:bodyPr wrap="square" lIns="0" tIns="0" rIns="0" bIns="0" rtlCol="0" anchor="ctr"/>
          <a:lstStyle/>
          <a:p>
            <a:pPr indent="0" marL="0">
              <a:buNone/>
            </a:pPr>
            <a:r>
              <a:rPr lang="en-US" sz="1200" i="1" dirty="0">
                <a:solidFill>
                  <a:schemeClr val="accent3"/>
                </a:solidFill>
              </a:rPr>
              <a:t>Add new items here at each review</a:t>
            </a:r>
            <a:endParaRPr lang="en-US" sz="1200" dirty="0"/>
          </a:p>
        </p:txBody>
      </p:sp>
      <p:sp>
        <p:nvSpPr>
          <p:cNvPr id="31" name="callout"/>
          <p:cNvSpPr/>
          <p:nvPr/>
        </p:nvSpPr>
        <p:spPr>
          <a:xfrm>
            <a:off x="630936" y="5394960"/>
            <a:ext cx="10929823" cy="548640"/>
          </a:xfrm>
          <a:prstGeom prst="roundRect">
            <a:avLst>
              <a:gd name="adj" fmla="val 13333"/>
            </a:avLst>
          </a:prstGeom>
          <a:solidFill>
            <a:schemeClr val="accent4"/>
          </a:solidFill>
          <a:ln/>
        </p:spPr>
      </p:sp>
      <p:sp>
        <p:nvSpPr>
          <p:cNvPr id="32" name="Text 30"/>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When “Next to delegate” outgrows one VA’s hours, it’s time to talk about a second Angel. We’ll plan it with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10</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SOP &amp; Knowledge Library</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Hank sets each process; your VA documents it and links it here. Over time this becomes Hanks Tea’s operating manual, and it protects you if anything changes.</a:t>
            </a:r>
            <a:endParaRPr lang="en-US" sz="13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630936" y="2057400"/>
          <a:ext cx="10929823" cy="914400"/>
        </p:xfrm>
        <a:graphic>
          <a:graphicData uri="http://schemas.openxmlformats.org/drawingml/2006/table">
            <a:tbl>
              <a:tblPr/>
              <a:tblGrid>
                <a:gridCol w="4206240"/>
                <a:gridCol w="2194560"/>
                <a:gridCol w="2926080"/>
                <a:gridCol w="160020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PROCESS</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OWNER</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LINK TO SOP</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LAST UPDATED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Enquiry templates &amp; FAQs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Channel checklist (WhatsApp, WeChat, email…)</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Order entry checklist (Shopify &amp; Order Mentor)</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Delivery escalation &amp; close-the-loop steps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AR follow-up process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Dormant customer tracker &amp; outreach scripts</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200" b="1" dirty="0">
                          <a:solidFill>
                            <a:srgbClr val="212B35"/>
                          </a:solidFill>
                          <a:latin typeface="Calibri" pitchFamily="34" charset="0"/>
                          <a:ea typeface="Calibri" pitchFamily="34" charset="-122"/>
                          <a:cs typeface="Calibri" pitchFamily="34" charset="-120"/>
                        </a:rPr>
                        <a:t>Weekly report template</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200" dirty="0">
                          <a:solidFill>
                            <a:srgbClr val="6B7684"/>
                          </a:solidFill>
                          <a:latin typeface="Calibri" pitchFamily="34" charset="0"/>
                          <a:ea typeface="Calibri" pitchFamily="34" charset="-122"/>
                          <a:cs typeface="Calibri" pitchFamily="34" charset="-120"/>
                        </a:rPr>
                        <a:t>Hank + VA</a:t>
                      </a: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2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11</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Wins Log &amp; Review Notes</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Capture the moments that show the plan is working, and what we agreed at each review.</a:t>
            </a:r>
            <a:endParaRPr lang="en-US" sz="1300" dirty="0"/>
          </a:p>
        </p:txBody>
      </p:sp>
      <p:sp>
        <p:nvSpPr>
          <p:cNvPr id="5" name="Text 3"/>
          <p:cNvSpPr txBox="1"/>
          <p:nvPr/>
        </p:nvSpPr>
        <p:spPr>
          <a:xfrm>
            <a:off x="63093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WINS LOG</a:t>
            </a:r>
            <a:endParaRPr lang="en-US" sz="10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30936" y="2194560"/>
          <a:ext cx="5577840" cy="914400"/>
        </p:xfrm>
        <a:graphic>
          <a:graphicData uri="http://schemas.openxmlformats.org/drawingml/2006/table">
            <a:tbl>
              <a:tblPr/>
              <a:tblGrid>
                <a:gridCol w="1005840"/>
                <a:gridCol w="3291840"/>
                <a:gridCol w="1280160"/>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DATE</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WIN</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ADDED BY</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week with every enquiry answered within 2 hours</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r>
                        <a:rPr lang="en-US" sz="1150" dirty="0">
                          <a:solidFill>
                            <a:srgbClr val="6B7684"/>
                          </a:solidFill>
                          <a:latin typeface="Calibri" pitchFamily="34" charset="0"/>
                          <a:ea typeface="Calibri" pitchFamily="34" charset="-122"/>
                          <a:cs typeface="Calibri" pitchFamily="34" charset="-120"/>
                        </a:rPr>
                        <a:t>e.g. First dormant customer ordering again</a:t>
                      </a: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7" name="Text 4"/>
          <p:cNvSpPr txBox="1"/>
          <p:nvPr/>
        </p:nvSpPr>
        <p:spPr>
          <a:xfrm>
            <a:off x="6437376" y="1874520"/>
            <a:ext cx="3657600"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REVIEW NOTES</a:t>
            </a:r>
            <a:endParaRPr lang="en-US" sz="1050" dirty="0"/>
          </a:p>
        </p:txBody>
      </p:sp>
      <p:graphicFrame>
        <p:nvGraphicFramePr>
          <p:cNvPr id="55" name="Table 1"/>
          <p:cNvGraphicFramePr>
            <a:graphicFrameLocks noGrp="1"/>
          </p:cNvGraphicFramePr>
          <p:nvPr>
            <p:extLst>
              <p:ext uri="{D42A27DB-BD31-4B8C-83A1-F6EECF244321}">
                <p14:modId xmlns:p14="http://schemas.microsoft.com/office/powerpoint/2010/main" val="1579011935"/>
              </p:ext>
            </p:extLst>
          </p:nvPr>
        </p:nvGraphicFramePr>
        <p:xfrm>
          <a:off x="6437376" y="2194560"/>
          <a:ext cx="5123383" cy="914400"/>
        </p:xfrm>
        <a:graphic>
          <a:graphicData uri="http://schemas.openxmlformats.org/drawingml/2006/table">
            <a:tbl>
              <a:tblPr/>
              <a:tblGrid>
                <a:gridCol w="1280160"/>
                <a:gridCol w="3843223"/>
              </a:tblGrid>
              <a:tr h="457200">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REVIEW</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WHAT WE AGREED</a:t>
                      </a:r>
                      <a:endParaRPr lang="en-US" sz="105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1F8A6D"/>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30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Day 90</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6</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FFFFF"/>
                    </a:solidFill>
                  </a:tcPr>
                </a:tc>
              </a:tr>
              <a:tr h="457200">
                <a:tc>
                  <a:txBody>
                    <a:bodyPr/>
                    <a:lstStyle/>
                    <a:p>
                      <a:pPr indent="0" marL="0">
                        <a:buNone/>
                      </a:pPr>
                      <a:r>
                        <a:rPr lang="en-US" sz="1100" b="1" dirty="0">
                          <a:solidFill>
                            <a:srgbClr val="212B35"/>
                          </a:solidFill>
                          <a:latin typeface="Calibri" pitchFamily="34" charset="0"/>
                          <a:ea typeface="Calibri" pitchFamily="34" charset="-122"/>
                          <a:cs typeface="Calibri" pitchFamily="34" charset="-120"/>
                        </a:rPr>
                        <a:t>Month 12</a:t>
                      </a: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c>
                  <a:txBody>
                    <a:bodyPr/>
                    <a:lstStyle/>
                    <a:p>
                      <a:pPr indent="0" marL="0">
                        <a:buNone/>
                      </a:pPr>
                      <a:endParaRPr lang="en-US" sz="1100" dirty="0">
                        <a:latin typeface="Calibri" charset="0"/>
                        <a:ea typeface="Calibri" charset="0"/>
                        <a:cs typeface="Calibri" charset="0"/>
                      </a:endParaRPr>
                    </a:p>
                  </a:txBody>
                  <a:tcPr marL="73152" marR="73152" marT="73152" marB="73152" anchor="ctr">
                    <a:lnL w="9525" cap="flat" cmpd="sng" algn="ctr">
                      <a:solidFill>
                        <a:srgbClr val="DBE3E6"/>
                      </a:solidFill>
                      <a:prstDash val="solid"/>
                      <a:round/>
                      <a:headEnd type="none" w="med" len="med"/>
                      <a:tailEnd type="none" w="med" len="med"/>
                    </a:lnL>
                    <a:lnR w="9525" cap="flat" cmpd="sng" algn="ctr">
                      <a:solidFill>
                        <a:srgbClr val="DBE3E6"/>
                      </a:solidFill>
                      <a:prstDash val="solid"/>
                      <a:round/>
                      <a:headEnd type="none" w="med" len="med"/>
                      <a:tailEnd type="none" w="med" len="med"/>
                    </a:lnR>
                    <a:lnT w="9525" cap="flat" cmpd="sng" algn="ctr">
                      <a:solidFill>
                        <a:srgbClr val="DBE3E6"/>
                      </a:solidFill>
                      <a:prstDash val="solid"/>
                      <a:round/>
                      <a:headEnd type="none" w="med" len="med"/>
                      <a:tailEnd type="none" w="med" len="med"/>
                    </a:lnT>
                    <a:lnB w="9525" cap="flat" cmpd="sng" algn="ctr">
                      <a:solidFill>
                        <a:srgbClr val="DBE3E6"/>
                      </a:solidFill>
                      <a:prstDash val="solid"/>
                      <a:round/>
                      <a:headEnd type="none" w="med" len="med"/>
                      <a:tailEnd type="none" w="med" len="med"/>
                    </a:lnB>
                    <a:solidFill>
                      <a:srgbClr val="F4F6F6"/>
                    </a:solidFill>
                  </a:tcPr>
                </a:tc>
              </a:tr>
            </a:tbl>
          </a:graphicData>
        </a:graphic>
      </p:graphicFrame>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12  ·  ONGOING COLLABORATION</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The CAX Framework</a:t>
            </a:r>
            <a:endParaRPr lang="en-US" sz="3000" dirty="0"/>
          </a:p>
        </p:txBody>
      </p:sp>
      <p:sp>
        <p:nvSpPr>
          <p:cNvPr id="4" name="Text 2"/>
          <p:cNvSpPr txBox="1"/>
          <p:nvPr/>
        </p:nvSpPr>
        <p:spPr>
          <a:xfrm>
            <a:off x="630936" y="1371600"/>
            <a:ext cx="10929823" cy="457200"/>
          </a:xfrm>
          <a:prstGeom prst="rect">
            <a:avLst/>
          </a:prstGeom>
          <a:noFill/>
          <a:ln/>
        </p:spPr>
        <p:txBody>
          <a:bodyPr wrap="square" lIns="0" tIns="0" rIns="0" bIns="0" rtlCol="0" anchor="t"/>
          <a:lstStyle/>
          <a:p>
            <a:pPr indent="0" marL="0">
              <a:buNone/>
            </a:pPr>
            <a:r>
              <a:rPr lang="en-US" sz="1300" dirty="0">
                <a:solidFill>
                  <a:schemeClr val="accent3"/>
                </a:solidFill>
              </a:rPr>
              <a:t>“This is where we support you and your Angel.” Not a transaction: the start of a long-term partnership.</a:t>
            </a:r>
            <a:endParaRPr lang="en-US" sz="1300" dirty="0"/>
          </a:p>
        </p:txBody>
      </p:sp>
      <p:sp>
        <p:nvSpPr>
          <p:cNvPr id="5" name="card"/>
          <p:cNvSpPr/>
          <p:nvPr/>
        </p:nvSpPr>
        <p:spPr>
          <a:xfrm>
            <a:off x="630936" y="1965960"/>
            <a:ext cx="5373472" cy="1691640"/>
          </a:xfrm>
          <a:prstGeom prst="roundRect">
            <a:avLst>
              <a:gd name="adj" fmla="val 4324"/>
            </a:avLst>
          </a:prstGeom>
          <a:solidFill>
            <a:schemeClr val="bg1"/>
          </a:solidFill>
          <a:ln w="12700">
            <a:solidFill>
              <a:schemeClr val="accent5"/>
            </a:solidFill>
            <a:prstDash val="solid"/>
          </a:ln>
        </p:spPr>
      </p:sp>
      <p:sp>
        <p:nvSpPr>
          <p:cNvPr id="6" name="cax C"/>
          <p:cNvSpPr/>
          <p:nvPr/>
        </p:nvSpPr>
        <p:spPr>
          <a:xfrm>
            <a:off x="905256" y="2240280"/>
            <a:ext cx="685800" cy="685800"/>
          </a:xfrm>
          <a:prstGeom prst="roundRect">
            <a:avLst>
              <a:gd name="adj" fmla="val 13333"/>
            </a:avLst>
          </a:prstGeom>
          <a:solidFill>
            <a:schemeClr val="accent1"/>
          </a:solidFill>
          <a:ln/>
        </p:spPr>
      </p:sp>
      <p:sp>
        <p:nvSpPr>
          <p:cNvPr id="7" name="Text 5"/>
          <p:cNvSpPr txBox="1"/>
          <p:nvPr/>
        </p:nvSpPr>
        <p:spPr>
          <a:xfrm>
            <a:off x="905256"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C</a:t>
            </a:r>
            <a:endParaRPr lang="en-US" sz="2600" dirty="0"/>
          </a:p>
        </p:txBody>
      </p:sp>
      <p:sp>
        <p:nvSpPr>
          <p:cNvPr id="8" name="Text 6"/>
          <p:cNvSpPr txBox="1"/>
          <p:nvPr/>
        </p:nvSpPr>
        <p:spPr>
          <a:xfrm>
            <a:off x="1819656"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Clarity</a:t>
            </a:r>
            <a:endParaRPr lang="en-US" sz="1600" dirty="0"/>
          </a:p>
        </p:txBody>
      </p:sp>
      <p:sp>
        <p:nvSpPr>
          <p:cNvPr id="9" name="Text 7"/>
          <p:cNvSpPr txBox="1"/>
          <p:nvPr/>
        </p:nvSpPr>
        <p:spPr>
          <a:xfrm>
            <a:off x="1819656"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Clear priorities across enquiries, orders, AR and reactivation, with expectations kept aligned as trust builds.</a:t>
            </a:r>
            <a:endParaRPr lang="en-US" sz="1200" dirty="0"/>
          </a:p>
        </p:txBody>
      </p:sp>
      <p:sp>
        <p:nvSpPr>
          <p:cNvPr id="10" name="card"/>
          <p:cNvSpPr/>
          <p:nvPr/>
        </p:nvSpPr>
        <p:spPr>
          <a:xfrm>
            <a:off x="6187288" y="1965960"/>
            <a:ext cx="5373472" cy="1691640"/>
          </a:xfrm>
          <a:prstGeom prst="roundRect">
            <a:avLst>
              <a:gd name="adj" fmla="val 4324"/>
            </a:avLst>
          </a:prstGeom>
          <a:solidFill>
            <a:schemeClr val="bg1"/>
          </a:solidFill>
          <a:ln w="12700">
            <a:solidFill>
              <a:schemeClr val="accent5"/>
            </a:solidFill>
            <a:prstDash val="solid"/>
          </a:ln>
        </p:spPr>
      </p:sp>
      <p:sp>
        <p:nvSpPr>
          <p:cNvPr id="11" name="cax A"/>
          <p:cNvSpPr/>
          <p:nvPr/>
        </p:nvSpPr>
        <p:spPr>
          <a:xfrm>
            <a:off x="6461608" y="2240280"/>
            <a:ext cx="685800" cy="685800"/>
          </a:xfrm>
          <a:prstGeom prst="roundRect">
            <a:avLst>
              <a:gd name="adj" fmla="val 13333"/>
            </a:avLst>
          </a:prstGeom>
          <a:solidFill>
            <a:schemeClr val="accent1"/>
          </a:solidFill>
          <a:ln/>
        </p:spPr>
      </p:sp>
      <p:sp>
        <p:nvSpPr>
          <p:cNvPr id="12" name="Text 10"/>
          <p:cNvSpPr txBox="1"/>
          <p:nvPr/>
        </p:nvSpPr>
        <p:spPr>
          <a:xfrm>
            <a:off x="6461608" y="224028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A</a:t>
            </a:r>
            <a:endParaRPr lang="en-US" sz="2600" dirty="0"/>
          </a:p>
        </p:txBody>
      </p:sp>
      <p:sp>
        <p:nvSpPr>
          <p:cNvPr id="13" name="Text 11"/>
          <p:cNvSpPr txBox="1"/>
          <p:nvPr/>
        </p:nvSpPr>
        <p:spPr>
          <a:xfrm>
            <a:off x="7376008" y="224028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Accountability</a:t>
            </a:r>
            <a:endParaRPr lang="en-US" sz="1600" dirty="0"/>
          </a:p>
        </p:txBody>
      </p:sp>
      <p:sp>
        <p:nvSpPr>
          <p:cNvPr id="14" name="Text 12"/>
          <p:cNvSpPr txBox="1"/>
          <p:nvPr/>
        </p:nvSpPr>
        <p:spPr>
          <a:xfrm>
            <a:off x="7376008" y="265176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Regular check-ins on response time, order accuracy and reactivation. Gaps are addressed quickly through coaching.</a:t>
            </a:r>
            <a:endParaRPr lang="en-US" sz="1200" dirty="0"/>
          </a:p>
        </p:txBody>
      </p:sp>
      <p:sp>
        <p:nvSpPr>
          <p:cNvPr id="15" name="card"/>
          <p:cNvSpPr/>
          <p:nvPr/>
        </p:nvSpPr>
        <p:spPr>
          <a:xfrm>
            <a:off x="630936" y="3840480"/>
            <a:ext cx="5373472" cy="1691640"/>
          </a:xfrm>
          <a:prstGeom prst="roundRect">
            <a:avLst>
              <a:gd name="adj" fmla="val 4324"/>
            </a:avLst>
          </a:prstGeom>
          <a:solidFill>
            <a:schemeClr val="bg1"/>
          </a:solidFill>
          <a:ln w="12700">
            <a:solidFill>
              <a:schemeClr val="accent5"/>
            </a:solidFill>
            <a:prstDash val="solid"/>
          </a:ln>
        </p:spPr>
      </p:sp>
      <p:sp>
        <p:nvSpPr>
          <p:cNvPr id="16" name="cax E"/>
          <p:cNvSpPr/>
          <p:nvPr/>
        </p:nvSpPr>
        <p:spPr>
          <a:xfrm>
            <a:off x="905256" y="4114800"/>
            <a:ext cx="685800" cy="685800"/>
          </a:xfrm>
          <a:prstGeom prst="roundRect">
            <a:avLst>
              <a:gd name="adj" fmla="val 13333"/>
            </a:avLst>
          </a:prstGeom>
          <a:solidFill>
            <a:schemeClr val="accent1"/>
          </a:solidFill>
          <a:ln/>
        </p:spPr>
      </p:sp>
      <p:sp>
        <p:nvSpPr>
          <p:cNvPr id="17" name="Text 15"/>
          <p:cNvSpPr txBox="1"/>
          <p:nvPr/>
        </p:nvSpPr>
        <p:spPr>
          <a:xfrm>
            <a:off x="905256"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E</a:t>
            </a:r>
            <a:endParaRPr lang="en-US" sz="2600" dirty="0"/>
          </a:p>
        </p:txBody>
      </p:sp>
      <p:sp>
        <p:nvSpPr>
          <p:cNvPr id="18" name="Text 16"/>
          <p:cNvSpPr txBox="1"/>
          <p:nvPr/>
        </p:nvSpPr>
        <p:spPr>
          <a:xfrm>
            <a:off x="1819656"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Execution</a:t>
            </a:r>
            <a:endParaRPr lang="en-US" sz="1600" dirty="0"/>
          </a:p>
        </p:txBody>
      </p:sp>
      <p:sp>
        <p:nvSpPr>
          <p:cNvPr id="19" name="Text 17"/>
          <p:cNvSpPr txBox="1"/>
          <p:nvPr/>
        </p:nvSpPr>
        <p:spPr>
          <a:xfrm>
            <a:off x="1819656"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Structured workflows for enquiries, orders, follow-up and reporting, so delivery holds through the Christmas peak.</a:t>
            </a:r>
            <a:endParaRPr lang="en-US" sz="1200" dirty="0"/>
          </a:p>
        </p:txBody>
      </p:sp>
      <p:sp>
        <p:nvSpPr>
          <p:cNvPr id="20" name="card"/>
          <p:cNvSpPr/>
          <p:nvPr/>
        </p:nvSpPr>
        <p:spPr>
          <a:xfrm>
            <a:off x="6187288" y="3840480"/>
            <a:ext cx="5373472" cy="1691640"/>
          </a:xfrm>
          <a:prstGeom prst="roundRect">
            <a:avLst>
              <a:gd name="adj" fmla="val 4324"/>
            </a:avLst>
          </a:prstGeom>
          <a:solidFill>
            <a:schemeClr val="bg1"/>
          </a:solidFill>
          <a:ln w="12700">
            <a:solidFill>
              <a:schemeClr val="accent5"/>
            </a:solidFill>
            <a:prstDash val="solid"/>
          </a:ln>
        </p:spPr>
      </p:sp>
      <p:sp>
        <p:nvSpPr>
          <p:cNvPr id="21" name="cax X"/>
          <p:cNvSpPr/>
          <p:nvPr/>
        </p:nvSpPr>
        <p:spPr>
          <a:xfrm>
            <a:off x="6461608" y="4114800"/>
            <a:ext cx="685800" cy="685800"/>
          </a:xfrm>
          <a:prstGeom prst="roundRect">
            <a:avLst>
              <a:gd name="adj" fmla="val 13333"/>
            </a:avLst>
          </a:prstGeom>
          <a:solidFill>
            <a:schemeClr val="accent1"/>
          </a:solidFill>
          <a:ln/>
        </p:spPr>
      </p:sp>
      <p:sp>
        <p:nvSpPr>
          <p:cNvPr id="22" name="Text 20"/>
          <p:cNvSpPr txBox="1"/>
          <p:nvPr/>
        </p:nvSpPr>
        <p:spPr>
          <a:xfrm>
            <a:off x="6461608" y="4114800"/>
            <a:ext cx="685800" cy="685800"/>
          </a:xfrm>
          <a:prstGeom prst="rect">
            <a:avLst/>
          </a:prstGeom>
          <a:noFill/>
          <a:ln/>
        </p:spPr>
        <p:txBody>
          <a:bodyPr wrap="square" lIns="0" tIns="0" rIns="0" bIns="0" rtlCol="0" anchor="ctr"/>
          <a:lstStyle/>
          <a:p>
            <a:pPr algn="ctr" indent="0" marL="0">
              <a:buNone/>
            </a:pPr>
            <a:r>
              <a:rPr lang="en-US" sz="2600" b="1" dirty="0">
                <a:solidFill>
                  <a:schemeClr val="bg1"/>
                </a:solidFill>
                <a:latin typeface="Cambria" pitchFamily="34" charset="0"/>
                <a:ea typeface="Cambria" pitchFamily="34" charset="-122"/>
                <a:cs typeface="Cambria" pitchFamily="34" charset="-120"/>
              </a:rPr>
              <a:t>X</a:t>
            </a:r>
            <a:endParaRPr lang="en-US" sz="2600" dirty="0"/>
          </a:p>
        </p:txBody>
      </p:sp>
      <p:sp>
        <p:nvSpPr>
          <p:cNvPr id="23" name="Text 21"/>
          <p:cNvSpPr txBox="1"/>
          <p:nvPr/>
        </p:nvSpPr>
        <p:spPr>
          <a:xfrm>
            <a:off x="7376008" y="4114800"/>
            <a:ext cx="3910432" cy="365760"/>
          </a:xfrm>
          <a:prstGeom prst="rect">
            <a:avLst/>
          </a:prstGeom>
          <a:noFill/>
          <a:ln/>
        </p:spPr>
        <p:txBody>
          <a:bodyPr wrap="square" lIns="0" tIns="0" rIns="0" bIns="0" rtlCol="0" anchor="ctr"/>
          <a:lstStyle/>
          <a:p>
            <a:pPr indent="0" marL="0">
              <a:buNone/>
            </a:pPr>
            <a:r>
              <a:rPr lang="en-US" sz="1600" b="1" dirty="0">
                <a:solidFill>
                  <a:schemeClr val="tx1"/>
                </a:solidFill>
                <a:latin typeface="Cambria" pitchFamily="34" charset="0"/>
                <a:ea typeface="Cambria" pitchFamily="34" charset="-122"/>
                <a:cs typeface="Cambria" pitchFamily="34" charset="-120"/>
              </a:rPr>
              <a:t>Performance Support</a:t>
            </a:r>
            <a:endParaRPr lang="en-US" sz="1600" dirty="0"/>
          </a:p>
        </p:txBody>
      </p:sp>
      <p:sp>
        <p:nvSpPr>
          <p:cNvPr id="24" name="Text 22"/>
          <p:cNvSpPr txBox="1"/>
          <p:nvPr/>
        </p:nvSpPr>
        <p:spPr>
          <a:xfrm>
            <a:off x="7376008" y="4526280"/>
            <a:ext cx="3910432" cy="868680"/>
          </a:xfrm>
          <a:prstGeom prst="rect">
            <a:avLst/>
          </a:prstGeom>
          <a:noFill/>
          <a:ln/>
        </p:spPr>
        <p:txBody>
          <a:bodyPr wrap="square" lIns="0" tIns="0" rIns="0" bIns="0" rtlCol="0" anchor="t"/>
          <a:lstStyle/>
          <a:p>
            <a:pPr indent="0" marL="0">
              <a:buNone/>
            </a:pPr>
            <a:r>
              <a:rPr lang="en-US" sz="1200" dirty="0">
                <a:solidFill>
                  <a:schemeClr val="accent3"/>
                </a:solidFill>
              </a:rPr>
              <a:t>If needed, targeted coaching and retraining. We step in fast to reset standards.</a:t>
            </a:r>
            <a:endParaRPr lang="en-US" sz="12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body" hasCustomPrompt="1"/>
          </p:nvPr>
        </p:nvSpPr>
        <p:spPr>
          <a:xfrm>
            <a:off x="630936" y="411480"/>
            <a:ext cx="10058400" cy="274320"/>
          </a:xfrm>
          <a:prstGeom prst="rect">
            <a:avLst/>
          </a:prstGeom>
          <a:noFill/>
          <a:ln/>
        </p:spPr>
        <p:txBody>
          <a:bodyPr wrap="square" lIns="0" tIns="0" rIns="0" bIns="0" rtlCol="0" anchor="ctr"/>
          <a:lstStyle/>
          <a:p>
            <a:pPr indent="0" marL="0">
              <a:buNone/>
            </a:pPr>
            <a:r>
              <a:rPr lang="en-US" sz="1100" b="1" spc="200" kern="0" dirty="0">
                <a:solidFill>
                  <a:schemeClr val="accent1"/>
                </a:solidFill>
              </a:rPr>
              <a:t>PART B  ·  13  ·  YOUR TEAM</a:t>
            </a:r>
            <a:endParaRPr lang="en-US" sz="1100" dirty="0"/>
          </a:p>
        </p:txBody>
      </p:sp>
      <p:sp>
        <p:nvSpPr>
          <p:cNvPr id="3" name="Text 1"/>
          <p:cNvSpPr/>
          <p:nvPr>
            <p:ph idx="102" type="title" hasCustomPrompt="1"/>
          </p:nvPr>
        </p:nvSpPr>
        <p:spPr>
          <a:xfrm>
            <a:off x="630936" y="731520"/>
            <a:ext cx="10515600" cy="594360"/>
          </a:xfrm>
          <a:prstGeom prst="rect">
            <a:avLst/>
          </a:prstGeom>
          <a:noFill/>
          <a:ln/>
        </p:spPr>
        <p:txBody>
          <a:bodyPr wrap="square" lIns="0" tIns="0" rIns="0" bIns="0" rtlCol="0" anchor="ctr"/>
          <a:lstStyle/>
          <a:p>
            <a:pPr algn="l" indent="0" marL="0">
              <a:buNone/>
            </a:pPr>
            <a:r>
              <a:rPr lang="en-US" sz="3000" b="1" dirty="0">
                <a:solidFill>
                  <a:schemeClr val="tx1"/>
                </a:solidFill>
                <a:latin typeface="Cambria" pitchFamily="34" charset="0"/>
                <a:ea typeface="Cambria" pitchFamily="34" charset="-122"/>
                <a:cs typeface="Cambria" pitchFamily="34" charset="-120"/>
              </a:rPr>
              <a:t>How Outsourcing Angel Supports You</a:t>
            </a:r>
            <a:endParaRPr lang="en-US" sz="3000" dirty="0"/>
          </a:p>
        </p:txBody>
      </p:sp>
      <p:sp>
        <p:nvSpPr>
          <p:cNvPr id="4" name="card"/>
          <p:cNvSpPr/>
          <p:nvPr/>
        </p:nvSpPr>
        <p:spPr>
          <a:xfrm>
            <a:off x="630936" y="1508760"/>
            <a:ext cx="3521354" cy="3657600"/>
          </a:xfrm>
          <a:prstGeom prst="roundRect">
            <a:avLst>
              <a:gd name="adj" fmla="val 2077"/>
            </a:avLst>
          </a:prstGeom>
          <a:solidFill>
            <a:schemeClr val="bg1"/>
          </a:solidFill>
          <a:ln w="12700">
            <a:solidFill>
              <a:schemeClr val="accent5"/>
            </a:solidFill>
            <a:prstDash val="solid"/>
          </a:ln>
        </p:spPr>
      </p:sp>
      <p:sp>
        <p:nvSpPr>
          <p:cNvPr id="5" name="Text 3"/>
          <p:cNvSpPr txBox="1"/>
          <p:nvPr/>
        </p:nvSpPr>
        <p:spPr>
          <a:xfrm>
            <a:off x="905256"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YOUR SUPPORT TEAM</a:t>
            </a:r>
            <a:endParaRPr lang="en-US" sz="1050" dirty="0"/>
          </a:p>
        </p:txBody>
      </p:sp>
      <p:sp>
        <p:nvSpPr>
          <p:cNvPr id="6" name="Text 4"/>
          <p:cNvSpPr txBox="1"/>
          <p:nvPr/>
        </p:nvSpPr>
        <p:spPr>
          <a:xfrm>
            <a:off x="905256"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Account Manager</a:t>
            </a:r>
            <a:endParaRPr lang="en-US" sz="1250" dirty="0"/>
          </a:p>
          <a:p>
            <a:pPr indent="0" marL="0">
              <a:buNone/>
            </a:pPr>
            <a:r>
              <a:rPr lang="en-US" sz="1250" dirty="0">
                <a:solidFill>
                  <a:schemeClr val="accent3"/>
                </a:solidFill>
              </a:rPr>
              <a:t>your main contact for strategy and escalations</a:t>
            </a:r>
            <a:endParaRPr lang="en-US" sz="1250" dirty="0"/>
          </a:p>
        </p:txBody>
      </p:sp>
      <p:sp>
        <p:nvSpPr>
          <p:cNvPr id="7" name="Text 5"/>
          <p:cNvSpPr txBox="1"/>
          <p:nvPr/>
        </p:nvSpPr>
        <p:spPr>
          <a:xfrm>
            <a:off x="905256"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CAX team</a:t>
            </a:r>
            <a:endParaRPr lang="en-US" sz="1250" dirty="0"/>
          </a:p>
          <a:p>
            <a:pPr indent="0" marL="0">
              <a:buNone/>
            </a:pPr>
            <a:r>
              <a:rPr lang="en-US" sz="1250" dirty="0">
                <a:solidFill>
                  <a:schemeClr val="accent3"/>
                </a:solidFill>
              </a:rPr>
              <a:t>check-ins and relationship support</a:t>
            </a:r>
            <a:endParaRPr lang="en-US" sz="1250" dirty="0"/>
          </a:p>
        </p:txBody>
      </p:sp>
      <p:sp>
        <p:nvSpPr>
          <p:cNvPr id="8" name="Text 6"/>
          <p:cNvSpPr txBox="1"/>
          <p:nvPr/>
        </p:nvSpPr>
        <p:spPr>
          <a:xfrm>
            <a:off x="905256"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Team Leader</a:t>
            </a:r>
            <a:endParaRPr lang="en-US" sz="1250" dirty="0"/>
          </a:p>
          <a:p>
            <a:pPr indent="0" marL="0">
              <a:buNone/>
            </a:pPr>
            <a:r>
              <a:rPr lang="en-US" sz="1250" dirty="0">
                <a:solidFill>
                  <a:schemeClr val="accent3"/>
                </a:solidFill>
              </a:rPr>
              <a:t>works with your VA directly, including training</a:t>
            </a:r>
            <a:endParaRPr lang="en-US" sz="1250" dirty="0"/>
          </a:p>
        </p:txBody>
      </p:sp>
      <p:sp>
        <p:nvSpPr>
          <p:cNvPr id="9" name="card"/>
          <p:cNvSpPr/>
          <p:nvPr/>
        </p:nvSpPr>
        <p:spPr>
          <a:xfrm>
            <a:off x="4335170" y="1508760"/>
            <a:ext cx="3521354" cy="3657600"/>
          </a:xfrm>
          <a:prstGeom prst="roundRect">
            <a:avLst>
              <a:gd name="adj" fmla="val 2077"/>
            </a:avLst>
          </a:prstGeom>
          <a:solidFill>
            <a:schemeClr val="bg1"/>
          </a:solidFill>
          <a:ln w="12700">
            <a:solidFill>
              <a:schemeClr val="accent5"/>
            </a:solidFill>
            <a:prstDash val="solid"/>
          </a:ln>
        </p:spPr>
      </p:sp>
      <p:sp>
        <p:nvSpPr>
          <p:cNvPr id="10" name="Text 8"/>
          <p:cNvSpPr txBox="1"/>
          <p:nvPr/>
        </p:nvSpPr>
        <p:spPr>
          <a:xfrm>
            <a:off x="4609490"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ISN’T WORKING</a:t>
            </a:r>
            <a:endParaRPr lang="en-US" sz="1050" dirty="0"/>
          </a:p>
        </p:txBody>
      </p:sp>
      <p:sp>
        <p:nvSpPr>
          <p:cNvPr id="11" name="Text 9"/>
          <p:cNvSpPr txBox="1"/>
          <p:nvPr/>
        </p:nvSpPr>
        <p:spPr>
          <a:xfrm>
            <a:off x="4609490"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Raise it any time</a:t>
            </a:r>
            <a:endParaRPr lang="en-US" sz="1250" dirty="0"/>
          </a:p>
          <a:p>
            <a:pPr indent="0" marL="0">
              <a:buNone/>
            </a:pPr>
            <a:r>
              <a:rPr lang="en-US" sz="1250" dirty="0">
                <a:solidFill>
                  <a:schemeClr val="accent3"/>
                </a:solidFill>
              </a:rPr>
              <a:t>no need to wait for a check-in</a:t>
            </a:r>
            <a:endParaRPr lang="en-US" sz="1250" dirty="0"/>
          </a:p>
        </p:txBody>
      </p:sp>
      <p:sp>
        <p:nvSpPr>
          <p:cNvPr id="12" name="Text 10"/>
          <p:cNvSpPr txBox="1"/>
          <p:nvPr/>
        </p:nvSpPr>
        <p:spPr>
          <a:xfrm>
            <a:off x="4609490"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fix it together</a:t>
            </a:r>
            <a:endParaRPr lang="en-US" sz="1250" dirty="0"/>
          </a:p>
          <a:p>
            <a:pPr indent="0" marL="0">
              <a:buNone/>
            </a:pPr>
            <a:r>
              <a:rPr lang="en-US" sz="1250" dirty="0">
                <a:solidFill>
                  <a:schemeClr val="accent3"/>
                </a:solidFill>
              </a:rPr>
              <a:t>investigate, coach and adjust this plan</a:t>
            </a:r>
            <a:endParaRPr lang="en-US" sz="1250" dirty="0"/>
          </a:p>
        </p:txBody>
      </p:sp>
      <p:sp>
        <p:nvSpPr>
          <p:cNvPr id="13" name="Text 11"/>
          <p:cNvSpPr txBox="1"/>
          <p:nvPr/>
        </p:nvSpPr>
        <p:spPr>
          <a:xfrm>
            <a:off x="4609490"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Not the right fit?</a:t>
            </a:r>
            <a:endParaRPr lang="en-US" sz="1250" dirty="0"/>
          </a:p>
          <a:p>
            <a:pPr indent="0" marL="0">
              <a:buNone/>
            </a:pPr>
            <a:r>
              <a:rPr lang="en-US" sz="1250" dirty="0">
                <a:solidFill>
                  <a:schemeClr val="accent3"/>
                </a:solidFill>
              </a:rPr>
              <a:t>free replacement any time, with a 1-week trial</a:t>
            </a:r>
            <a:endParaRPr lang="en-US" sz="1250" dirty="0"/>
          </a:p>
        </p:txBody>
      </p:sp>
      <p:sp>
        <p:nvSpPr>
          <p:cNvPr id="14" name="card"/>
          <p:cNvSpPr/>
          <p:nvPr/>
        </p:nvSpPr>
        <p:spPr>
          <a:xfrm>
            <a:off x="8039405" y="1508760"/>
            <a:ext cx="3521354" cy="3657600"/>
          </a:xfrm>
          <a:prstGeom prst="roundRect">
            <a:avLst>
              <a:gd name="adj" fmla="val 2077"/>
            </a:avLst>
          </a:prstGeom>
          <a:solidFill>
            <a:schemeClr val="accent4"/>
          </a:solidFill>
          <a:ln/>
        </p:spPr>
      </p:sp>
      <p:sp>
        <p:nvSpPr>
          <p:cNvPr id="15" name="Text 13"/>
          <p:cNvSpPr txBox="1"/>
          <p:nvPr/>
        </p:nvSpPr>
        <p:spPr>
          <a:xfrm>
            <a:off x="8313725" y="1737360"/>
            <a:ext cx="2972714" cy="256032"/>
          </a:xfrm>
          <a:prstGeom prst="rect">
            <a:avLst/>
          </a:prstGeom>
          <a:noFill/>
          <a:ln/>
        </p:spPr>
        <p:txBody>
          <a:bodyPr wrap="square" lIns="0" tIns="0" rIns="0" bIns="0" rtlCol="0" anchor="ctr"/>
          <a:lstStyle/>
          <a:p>
            <a:pPr indent="0" marL="0">
              <a:buNone/>
            </a:pPr>
            <a:r>
              <a:rPr lang="en-US" sz="1050" b="1" spc="200" kern="0" dirty="0">
                <a:solidFill>
                  <a:schemeClr val="accent1"/>
                </a:solidFill>
              </a:rPr>
              <a:t>IF SOMETHING IS WORKING</a:t>
            </a:r>
            <a:endParaRPr lang="en-US" sz="1050" dirty="0"/>
          </a:p>
        </p:txBody>
      </p:sp>
      <p:sp>
        <p:nvSpPr>
          <p:cNvPr id="16" name="Text 14"/>
          <p:cNvSpPr txBox="1"/>
          <p:nvPr/>
        </p:nvSpPr>
        <p:spPr>
          <a:xfrm>
            <a:off x="8313725" y="214884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build on it</a:t>
            </a:r>
            <a:endParaRPr lang="en-US" sz="1250" dirty="0"/>
          </a:p>
          <a:p>
            <a:pPr indent="0" marL="0">
              <a:buNone/>
            </a:pPr>
            <a:r>
              <a:rPr lang="en-US" sz="1250" dirty="0">
                <a:solidFill>
                  <a:schemeClr val="accent3"/>
                </a:solidFill>
              </a:rPr>
              <a:t>more reactivation and reporting as trust grows</a:t>
            </a:r>
            <a:endParaRPr lang="en-US" sz="1250" dirty="0"/>
          </a:p>
        </p:txBody>
      </p:sp>
      <p:sp>
        <p:nvSpPr>
          <p:cNvPr id="17" name="Text 15"/>
          <p:cNvSpPr txBox="1"/>
          <p:nvPr/>
        </p:nvSpPr>
        <p:spPr>
          <a:xfrm>
            <a:off x="8313725" y="310896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plan growth</a:t>
            </a:r>
            <a:endParaRPr lang="en-US" sz="1250" dirty="0"/>
          </a:p>
          <a:p>
            <a:pPr indent="0" marL="0">
              <a:buNone/>
            </a:pPr>
            <a:r>
              <a:rPr lang="en-US" sz="1250" dirty="0">
                <a:solidFill>
                  <a:schemeClr val="accent3"/>
                </a:solidFill>
              </a:rPr>
              <a:t>a second Angel as Hanks Tea grows</a:t>
            </a:r>
            <a:endParaRPr lang="en-US" sz="1250" dirty="0"/>
          </a:p>
        </p:txBody>
      </p:sp>
      <p:sp>
        <p:nvSpPr>
          <p:cNvPr id="18" name="Text 16"/>
          <p:cNvSpPr txBox="1"/>
          <p:nvPr/>
        </p:nvSpPr>
        <p:spPr>
          <a:xfrm>
            <a:off x="8313725" y="4069080"/>
            <a:ext cx="2972714" cy="822960"/>
          </a:xfrm>
          <a:prstGeom prst="rect">
            <a:avLst/>
          </a:prstGeom>
          <a:noFill/>
          <a:ln/>
        </p:spPr>
        <p:txBody>
          <a:bodyPr wrap="square" lIns="0" tIns="0" rIns="0" bIns="0" rtlCol="0" anchor="t"/>
          <a:lstStyle/>
          <a:p>
            <a:pPr indent="0" marL="0">
              <a:buNone/>
            </a:pPr>
            <a:r>
              <a:rPr lang="en-US" sz="1250" b="1" dirty="0">
                <a:solidFill>
                  <a:schemeClr val="tx1"/>
                </a:solidFill>
              </a:rPr>
              <a:t>We celebrate it</a:t>
            </a:r>
            <a:endParaRPr lang="en-US" sz="1250" dirty="0"/>
          </a:p>
          <a:p>
            <a:pPr indent="0" marL="0">
              <a:buNone/>
            </a:pPr>
            <a:r>
              <a:rPr lang="en-US" sz="1250" dirty="0">
                <a:solidFill>
                  <a:schemeClr val="accent3"/>
                </a:solidFill>
              </a:rPr>
              <a:t>add it to your Wins Log</a:t>
            </a:r>
            <a:endParaRPr lang="en-US" sz="1250" dirty="0"/>
          </a:p>
        </p:txBody>
      </p:sp>
      <p:sp>
        <p:nvSpPr>
          <p:cNvPr id="19" name="callout"/>
          <p:cNvSpPr/>
          <p:nvPr/>
        </p:nvSpPr>
        <p:spPr>
          <a:xfrm>
            <a:off x="630936" y="5394960"/>
            <a:ext cx="10929823" cy="548640"/>
          </a:xfrm>
          <a:prstGeom prst="roundRect">
            <a:avLst>
              <a:gd name="adj" fmla="val 13333"/>
            </a:avLst>
          </a:prstGeom>
          <a:solidFill>
            <a:schemeClr val="accent4"/>
          </a:solidFill>
          <a:ln/>
        </p:spPr>
      </p:sp>
      <p:sp>
        <p:nvSpPr>
          <p:cNvPr id="20" name="Text 18"/>
          <p:cNvSpPr txBox="1"/>
          <p:nvPr/>
        </p:nvSpPr>
        <p:spPr>
          <a:xfrm>
            <a:off x="859536" y="5394960"/>
            <a:ext cx="10472623" cy="548640"/>
          </a:xfrm>
          <a:prstGeom prst="rect">
            <a:avLst/>
          </a:prstGeom>
          <a:noFill/>
          <a:ln/>
        </p:spPr>
        <p:txBody>
          <a:bodyPr wrap="square" lIns="0" tIns="0" rIns="0" bIns="0" rtlCol="0" anchor="ctr"/>
          <a:lstStyle/>
          <a:p>
            <a:pPr indent="0" marL="0">
              <a:buNone/>
            </a:pPr>
            <a:r>
              <a:rPr lang="en-US" sz="1250" b="1" dirty="0">
                <a:solidFill>
                  <a:schemeClr val="accent1"/>
                </a:solidFill>
              </a:rPr>
              <a:t>Included, ongoing: Angel Happiness Lifetime Guarantee, plus payroll, HR and insurance handled for you.</a:t>
            </a:r>
            <a:endParaRPr lang="en-US" sz="125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chemeClr val="accent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body" hasCustomPrompt="1"/>
          </p:nvPr>
        </p:nvSpPr>
        <p:spPr>
          <a:xfrm>
            <a:off x="630936" y="2148840"/>
            <a:ext cx="8229600" cy="320040"/>
          </a:xfrm>
          <a:prstGeom prst="rect">
            <a:avLst/>
          </a:prstGeom>
          <a:noFill/>
          <a:ln/>
        </p:spPr>
        <p:txBody>
          <a:bodyPr wrap="square" lIns="0" tIns="0" rIns="0" bIns="0" rtlCol="0"/>
          <a:lstStyle/>
          <a:p>
            <a:pPr indent="0" marL="0">
              <a:buNone/>
            </a:pPr>
            <a:r>
              <a:rPr lang="en-US" sz="1200" b="1" spc="300" kern="0" dirty="0">
                <a:solidFill>
                  <a:srgbClr val="7FE0C2"/>
                </a:solidFill>
              </a:rPr>
              <a:t>THE GOAL</a:t>
            </a:r>
            <a:endParaRPr lang="en-US" sz="1200" dirty="0"/>
          </a:p>
        </p:txBody>
      </p:sp>
      <p:sp>
        <p:nvSpPr>
          <p:cNvPr id="3" name="Text 1"/>
          <p:cNvSpPr/>
          <p:nvPr>
            <p:ph idx="102" type="title" hasCustomPrompt="1"/>
          </p:nvPr>
        </p:nvSpPr>
        <p:spPr>
          <a:xfrm>
            <a:off x="630936" y="2560320"/>
            <a:ext cx="9144000" cy="914400"/>
          </a:xfrm>
          <a:prstGeom prst="rect">
            <a:avLst/>
          </a:prstGeom>
          <a:noFill/>
          <a:ln/>
        </p:spPr>
        <p:txBody>
          <a:bodyPr wrap="square" lIns="0" tIns="0" rIns="0" bIns="0" rtlCol="0" anchor="ctr"/>
          <a:lstStyle/>
          <a:p>
            <a:pPr algn="l" indent="0" marL="0">
              <a:buNone/>
            </a:pPr>
            <a:r>
              <a:rPr lang="en-US" sz="4000" b="1" dirty="0">
                <a:solidFill>
                  <a:schemeClr val="bg1"/>
                </a:solidFill>
                <a:latin typeface="Cambria" pitchFamily="34" charset="0"/>
                <a:ea typeface="Cambria" pitchFamily="34" charset="-122"/>
                <a:cs typeface="Cambria" pitchFamily="34" charset="-120"/>
              </a:rPr>
              <a:t>More time to grow Hanks Tea</a:t>
            </a:r>
            <a:endParaRPr lang="en-US" sz="4000" dirty="0"/>
          </a:p>
        </p:txBody>
      </p:sp>
      <p:sp>
        <p:nvSpPr>
          <p:cNvPr id="4" name="Text 1"/>
          <p:cNvSpPr/>
          <p:nvPr>
            <p:ph idx="103" type="body" hasCustomPrompt="1"/>
          </p:nvPr>
        </p:nvSpPr>
        <p:spPr>
          <a:xfrm>
            <a:off x="630936" y="3611880"/>
            <a:ext cx="7863840" cy="1005840"/>
          </a:xfrm>
          <a:prstGeom prst="rect">
            <a:avLst/>
          </a:prstGeom>
          <a:noFill/>
          <a:ln/>
        </p:spPr>
        <p:txBody>
          <a:bodyPr wrap="square" lIns="0" tIns="0" rIns="0" bIns="0" rtlCol="0" anchor="t"/>
          <a:lstStyle/>
          <a:p>
            <a:pPr indent="0" marL="0">
              <a:buNone/>
            </a:pPr>
            <a:r>
              <a:rPr lang="en-US" sz="1500" dirty="0">
                <a:solidFill>
                  <a:srgbClr val="DBE3E6"/>
                </a:solidFill>
              </a:rPr>
              <a:t>Not someone to just answer messages, but one accountable owner for every customer. Hank stays the face of the business, while his VA keeps customers answered and brings dormant ones back.</a:t>
            </a:r>
            <a:endParaRPr lang="en-US" sz="1500" dirty="0"/>
          </a:p>
          <a:p>
            <a:pPr indent="0" marL="0">
              <a:buNone/>
            </a:pPr>
            <a:endParaRPr lang="en-US" sz="1500" dirty="0"/>
          </a:p>
          <a:p>
            <a:pPr indent="0" marL="0">
              <a:buNone/>
            </a:pPr>
            <a:r>
              <a:rPr lang="en-US" sz="1500" dirty="0">
                <a:solidFill>
                  <a:srgbClr val="DBE3E6"/>
                </a:solidFill>
              </a:rPr>
              <a:t>This plan grows with you. See you at Day 30.</a:t>
            </a:r>
            <a:endParaRPr lang="en-US" sz="1500" dirty="0"/>
          </a:p>
        </p:txBody>
      </p:sp>
      <p:sp>
        <p:nvSpPr>
          <p:cNvPr id="25" name="Slide Number Placeholder 0"/>
          <p:cNvSpPr>
            <a:spLocks noGrp="1"/>
          </p:cNvSpPr>
          <p:nvPr>
            <p:ph type="sldNum" sz="quarter" idx="4294967295"/>
          </p:nvPr>
        </p:nvSpPr>
        <p:spPr>
          <a:xfrm>
            <a:off x="11012119" y="6446520"/>
            <a:ext cx="548640" cy="228600"/>
          </a:xfrm>
          <a:prstGeom prst="rect">
            <a:avLst/>
          </a:prstGeom>
          <a:extLst>
            <a:ext uri="{C572A759-6A51-4108-AA02-DFA0A04FC94B}">
              <ma14:wrappingTextBoxFlag xmlns:ma14="http://schemas.microsoft.com/office/mac/drawingml/2011/main" val="0"/>
            </a:ext>
          </a:extLst>
        </p:spPr>
        <p:txBody>
          <a:bodyPr/>
          <a:lstStyle>
            <a:lvl1pPr>
              <a:defRPr sz="800">
                <a:solidFill>
                  <a:srgbClr val="AEB9BD"/>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OA Freedom Plan">
  <a:themeElements>
    <a:clrScheme name="OA Freedom Plan">
      <a:dk1>
        <a:srgbClr val="212B35"/>
      </a:dk1>
      <a:lt1>
        <a:srgbClr val="FFFFFF"/>
      </a:lt1>
      <a:dk2>
        <a:srgbClr val="1B2530"/>
      </a:dk2>
      <a:lt2>
        <a:srgbClr val="F4F6F6"/>
      </a:lt2>
      <a:accent1>
        <a:srgbClr val="1F8A6D"/>
      </a:accent1>
      <a:accent2>
        <a:srgbClr val="2FAE8B"/>
      </a:accent2>
      <a:accent3>
        <a:srgbClr val="6B7684"/>
      </a:accent3>
      <a:accent4>
        <a:srgbClr val="E1F3EC"/>
      </a:accent4>
      <a:accent5>
        <a:srgbClr val="E6E9EA"/>
      </a:accent5>
      <a:accent6>
        <a:srgbClr val="E2A53D"/>
      </a:accent6>
      <a:hlink>
        <a:srgbClr val="1F8A6D"/>
      </a:hlink>
      <a:folHlink>
        <a:srgbClr val="6B7684"/>
      </a:folHlink>
    </a:clrScheme>
    <a:fontScheme name="OA Freedom Pla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Outsourcing Angel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Freedom Plan: Hank Chu, EGM Search &amp; Recruit</dc:title>
  <dc:subject>PptxGenJS Presentation</dc:subject>
  <dc:creator>Gail Galima-Mendoza</dc:creator>
  <cp:lastModifiedBy>Gail Galima-Mendoza</cp:lastModifiedBy>
  <cp:revision>1</cp:revision>
  <dcterms:created xsi:type="dcterms:W3CDTF">2026-10-13T04:45:00Z</dcterms:created>
  <dcterms:modified xsi:type="dcterms:W3CDTF">2026-10-13T04:45:00Z</dcterms:modified>
</cp:coreProperties>
</file>