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63" r:id="rId23"/>
    <p:sldId id="262" r:id="rId22"/>
    <p:sldId id="261" r:id="rId21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  <p:embeddedFont>
      <p:font typeface="Montserrat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1" Type="http://schemas.openxmlformats.org/officeDocument/2006/relationships/font" Target="fonts/Montserrat-regular.fntdata"/><Relationship Id="rId12" Type="http://schemas.openxmlformats.org/officeDocument/2006/relationships/font" Target="fonts/Montserrat-bold.fntdata"/><Relationship Id="rId13" Type="http://schemas.openxmlformats.org/officeDocument/2006/relationships/font" Target="fonts/Montserrat-italic.fntdata"/><Relationship Id="rId14" Type="http://schemas.openxmlformats.org/officeDocument/2006/relationships/font" Target="fonts/Montserrat-boldItalic.fntdata"/><Relationship Id="rId15" Type="http://schemas.openxmlformats.org/officeDocument/2006/relationships/font" Target="fonts/MontserratMedium-regular.fntdata"/><Relationship Id="rId16" Type="http://schemas.openxmlformats.org/officeDocument/2006/relationships/font" Target="fonts/MontserratMedium-bold.fntdata"/><Relationship Id="rId17" Type="http://schemas.openxmlformats.org/officeDocument/2006/relationships/font" Target="fonts/MontserratMedium-italic.fntdata"/><Relationship Id="rId18" Type="http://schemas.openxmlformats.org/officeDocument/2006/relationships/font" Target="fonts/MontserratMedium-boldItalic.fntdata"/><Relationship Id="rId19" Type="http://schemas.openxmlformats.org/officeDocument/2006/relationships/font" Target="fonts/MontserratExtraBold-bold.fntdata"/><Relationship Id="rId20" Type="http://schemas.openxmlformats.org/officeDocument/2006/relationships/font" Target="fonts/MontserratExtraBold-boldItalic.fntdata"/><Relationship Id="rId21" Type="http://schemas.openxmlformats.org/officeDocument/2006/relationships/slide" Target="slides/slide5.xml"/><Relationship Id="rId22" Type="http://schemas.openxmlformats.org/officeDocument/2006/relationships/slide" Target="slides/slide4.xml"/><Relationship Id="rId2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9bd331c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09bd331c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09bd331c4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409bd331c4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9bd331c4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09bd331c4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09bd331c49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09bd331c4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d331c49_5_0)">
  <p:cSld name="Generated (g409bd331c49_5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666750" y="1333500"/>
            <a:ext cx="781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END OF QUARTER ROCK RECAP</a:t>
            </a:r>
            <a:endParaRPr b="0" sz="1000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666750" y="1638300"/>
            <a:ext cx="781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SALES</a:t>
            </a:r>
            <a:endParaRPr b="0" sz="330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666750" y="274320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End of Quarter Reflection</a:t>
            </a:r>
            <a:endParaRPr b="0" sz="1400">
              <a:solidFill>
                <a:srgbClr val="5A5A5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666750" y="3286125"/>
            <a:ext cx="5715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02B99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" name="Google Shape;60;p14"/>
          <p:cNvGrpSpPr/>
          <p:nvPr/>
        </p:nvGrpSpPr>
        <p:grpSpPr>
          <a:xfrm>
            <a:off x="666750" y="3714750"/>
            <a:ext cx="7810500" cy="571500"/>
            <a:chOff x="0" y="0"/>
            <a:chExt cx="7810500" cy="571500"/>
          </a:xfrm>
        </p:grpSpPr>
        <p:sp>
          <p:nvSpPr>
            <p:cNvPr id="61" name="Google Shape;61;p14"/>
            <p:cNvSpPr txBox="1"/>
            <p:nvPr/>
          </p:nvSpPr>
          <p:spPr>
            <a:xfrm>
              <a:off x="0" y="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DEPARTMENT LEAD</a:t>
              </a:r>
              <a:endParaRPr b="0" sz="100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Gail Galima-Mendoza</a:t>
              </a:r>
              <a:endParaRPr b="0" sz="1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3238500" y="0"/>
              <a:ext cx="457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TEAM MEMBERS</a:t>
              </a:r>
              <a:endParaRPr b="0" sz="100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Sales &amp; Business Development</a:t>
              </a:r>
              <a:endParaRPr b="0" sz="1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666750" y="45720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Q2 2026 · Back to Basics</a:t>
            </a:r>
            <a:endParaRPr b="0" sz="1000">
              <a:solidFill>
                <a:srgbClr val="5A5A5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4" name="Google Shape;64;p14" title="OA Logo colou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390077"/>
            <a:ext cx="1967043" cy="2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666750" y="381000"/>
            <a:ext cx="7810500" cy="904950"/>
            <a:chOff x="666750" y="381000"/>
            <a:chExt cx="7810500" cy="904950"/>
          </a:xfrm>
        </p:grpSpPr>
        <p:sp>
          <p:nvSpPr>
            <p:cNvPr id="70" name="Google Shape;70;p15"/>
            <p:cNvSpPr txBox="1"/>
            <p:nvPr/>
          </p:nvSpPr>
          <p:spPr>
            <a:xfrm>
              <a:off x="666750" y="381000"/>
              <a:ext cx="781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 Did</a:t>
              </a:r>
              <a:endParaRPr b="0" sz="24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71" name="Google Shape;71;p15"/>
            <p:cNvCxnSpPr/>
            <p:nvPr/>
          </p:nvCxnSpPr>
          <p:spPr>
            <a:xfrm>
              <a:off x="666750" y="904875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15"/>
            <p:cNvSpPr txBox="1"/>
            <p:nvPr/>
          </p:nvSpPr>
          <p:spPr>
            <a:xfrm>
              <a:off x="666750" y="1047750"/>
              <a:ext cx="781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Our Rocks this quarter and the honest result.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73" name="Google Shape;73;p15"/>
          <p:cNvSpPr/>
          <p:nvPr/>
        </p:nvSpPr>
        <p:spPr>
          <a:xfrm>
            <a:off x="666750" y="1476375"/>
            <a:ext cx="2381400" cy="25998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904875" y="1714500"/>
            <a:ext cx="1905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ROCK 01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Lead Reactivation &amp; BDM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Outcome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Make our CRM a repeatable source of sales calls.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Now consistent; Andrew Owen won, more warm leads in play.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75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904875" y="3636930"/>
            <a:ext cx="1905000" cy="247800"/>
          </a:xfrm>
          <a:prstGeom prst="roundRect">
            <a:avLst>
              <a:gd fmla="val 50000" name="adj"/>
            </a:avLst>
          </a:prstGeom>
          <a:solidFill>
            <a:srgbClr val="E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904875" y="3636930"/>
            <a:ext cx="1905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Done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381375" y="1476375"/>
            <a:ext cx="2381400" cy="25998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619500" y="1714500"/>
            <a:ext cx="1905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ROCK 02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OA Product Ecosystem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Outcome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More ways to buy than a single VA.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New products live: 12 sales in September.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75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619500" y="3636930"/>
            <a:ext cx="1905000" cy="247800"/>
          </a:xfrm>
          <a:prstGeom prst="roundRect">
            <a:avLst>
              <a:gd fmla="val 50000" name="adj"/>
            </a:avLst>
          </a:prstGeom>
          <a:solidFill>
            <a:srgbClr val="E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619500" y="3636930"/>
            <a:ext cx="1905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Done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096000" y="1476375"/>
            <a:ext cx="2381400" cy="25998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334125" y="1714500"/>
            <a:ext cx="1905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ROCK 03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Sales Intelligence Loop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Outcome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Turn lost leads into insight.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Blockers found: price, readiness, shopping.</a:t>
            </a:r>
            <a:endParaRPr b="0" sz="105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750"/>
              </a:spcAft>
              <a:buNone/>
            </a:pPr>
            <a:r>
              <a:rPr b="0" lang="en" sz="95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rPr>
              <a:t>Status</a:t>
            </a:r>
            <a:endParaRPr b="0" sz="950">
              <a:solidFill>
                <a:srgbClr val="5A5A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334125" y="3606105"/>
            <a:ext cx="1905000" cy="247800"/>
          </a:xfrm>
          <a:prstGeom prst="roundRect">
            <a:avLst>
              <a:gd fmla="val 50000" name="adj"/>
            </a:avLst>
          </a:prstGeom>
          <a:solidFill>
            <a:srgbClr val="E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6334125" y="3636930"/>
            <a:ext cx="1905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Done</a:t>
            </a:r>
            <a:endParaRPr b="0" sz="786">
              <a:solidFill>
                <a:srgbClr val="02B99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85" name="Google Shape;85;p15"/>
          <p:cNvGrpSpPr/>
          <p:nvPr/>
        </p:nvGrpSpPr>
        <p:grpSpPr>
          <a:xfrm>
            <a:off x="666750" y="4213375"/>
            <a:ext cx="7810500" cy="666900"/>
            <a:chOff x="0" y="0"/>
            <a:chExt cx="7810500" cy="6669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7810500" cy="666900"/>
            </a:xfrm>
            <a:prstGeom prst="roundRect">
              <a:avLst>
                <a:gd fmla="val 28571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285750" y="142875"/>
              <a:ext cx="723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TEAM WIN</a:t>
              </a:r>
              <a:endParaRPr b="0" sz="11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 sales in September. Ms Linh’s product vision, packaged into a sales pitch that turned “not quite right for us” into “yes” — and opened doors we used to close.</a:t>
              </a:r>
              <a:endParaRPr b="0" sz="1000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666750" y="381000"/>
            <a:ext cx="7810500" cy="828675"/>
            <a:chOff x="0" y="0"/>
            <a:chExt cx="7810500" cy="828675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0" y="0"/>
              <a:ext cx="781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2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Rock 01: Lead Reactivation &amp; BDM</a:t>
              </a:r>
              <a:endParaRPr b="0" sz="242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17" name="Google Shape;117;p17"/>
            <p:cNvCxnSpPr/>
            <p:nvPr/>
          </p:nvCxnSpPr>
          <p:spPr>
            <a:xfrm>
              <a:off x="0" y="4572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7"/>
            <p:cNvSpPr txBox="1"/>
            <p:nvPr/>
          </p:nvSpPr>
          <p:spPr>
            <a:xfrm>
              <a:off x="0" y="600075"/>
              <a:ext cx="781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Business focus: People | Profit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66750" y="1571625"/>
            <a:ext cx="2409900" cy="2047800"/>
            <a:chOff x="0" y="0"/>
            <a:chExt cx="2409900" cy="20478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 DID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Turned reactivation and BDM outreach into a consistent daily habit, not the ad-hoc effort it was before. Past and lost leads now get tailored follow-up, with nurture for those not yet ready.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3362325" y="1571625"/>
            <a:ext cx="2419500" cy="2047800"/>
            <a:chOff x="0" y="0"/>
            <a:chExt cx="2419500" cy="20478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2419500" cy="2047800"/>
            </a:xfrm>
            <a:prstGeom prst="roundRect">
              <a:avLst>
                <a:gd fmla="val 930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28600" y="228600"/>
              <a:ext cx="19623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5B947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THE IMPACT</a:t>
              </a:r>
              <a:endParaRPr b="0" sz="850">
                <a:solidFill>
                  <a:srgbClr val="F5B94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Consistency is paying off: Andrew Owen converted from a previously lost lead, and several warm leads have re-engaged and are now in the pipeline with real potential to close.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6067425" y="1571625"/>
            <a:ext cx="2409900" cy="2047800"/>
            <a:chOff x="0" y="0"/>
            <a:chExt cx="2409900" cy="20478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WHAT’S NEXT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Keep the rhythm, move warm leads to proposal, and track meetings and wins from reactivated leads.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666750" y="3857625"/>
            <a:ext cx="7810500" cy="714300"/>
            <a:chOff x="0" y="0"/>
            <a:chExt cx="7810500" cy="7143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7810500" cy="714300"/>
            </a:xfrm>
            <a:prstGeom prst="roundRect">
              <a:avLst>
                <a:gd fmla="val 26666" name="adj"/>
              </a:avLst>
            </a:prstGeom>
            <a:solidFill>
              <a:srgbClr val="FFFFFF"/>
            </a:solidFill>
            <a:ln cap="flat" cmpd="sng" w="19050">
              <a:solidFill>
                <a:srgbClr val="E8F8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285750" y="171450"/>
              <a:ext cx="723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KEY RESULT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From ad-hoc to consistent: 1 client won back and a pipeline of warm leads close to closing.</a:t>
              </a:r>
              <a:endParaRPr b="0" sz="1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666750" y="381000"/>
            <a:ext cx="7810500" cy="828675"/>
            <a:chOff x="0" y="0"/>
            <a:chExt cx="7810500" cy="828675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0" y="0"/>
              <a:ext cx="781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2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Rock 02: OA Product Ecosystem</a:t>
              </a:r>
              <a:endParaRPr b="0" sz="242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17" name="Google Shape;117;p17"/>
            <p:cNvCxnSpPr/>
            <p:nvPr/>
          </p:nvCxnSpPr>
          <p:spPr>
            <a:xfrm>
              <a:off x="0" y="4572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7"/>
            <p:cNvSpPr txBox="1"/>
            <p:nvPr/>
          </p:nvSpPr>
          <p:spPr>
            <a:xfrm>
              <a:off x="0" y="600075"/>
              <a:ext cx="781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Business focus: People | Product | Profit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66750" y="1571625"/>
            <a:ext cx="2409900" cy="2047800"/>
            <a:chOff x="0" y="0"/>
            <a:chExt cx="2409900" cy="20478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 DID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Ms Linh set the vision for new products: the 2027 product ladder, OAX100 and Fractional Marketing Partners. Sales built the pitch and led calls with flexible options, not one fixed package.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3362325" y="1571625"/>
            <a:ext cx="2419500" cy="2047800"/>
            <a:chOff x="0" y="0"/>
            <a:chExt cx="2419500" cy="20478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2419500" cy="2047800"/>
            </a:xfrm>
            <a:prstGeom prst="roundRect">
              <a:avLst>
                <a:gd fmla="val 930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28600" y="228600"/>
              <a:ext cx="19623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5B947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THE IMPACT</a:t>
              </a:r>
              <a:endParaRPr b="0" sz="850">
                <a:solidFill>
                  <a:srgbClr val="F5B94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12 sales in September. Prospects who once walked away because one package didn’t fit now find an option that does, giving us new entry points and upgrade paths.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6067425" y="1571625"/>
            <a:ext cx="2409900" cy="2047800"/>
            <a:chOff x="0" y="0"/>
            <a:chExt cx="2409900" cy="20478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WHAT’S NEXT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Lead every qualified call with the Freedom Plan and track sales by product.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666750" y="3857625"/>
            <a:ext cx="7810500" cy="714300"/>
            <a:chOff x="0" y="0"/>
            <a:chExt cx="7810500" cy="7143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7810500" cy="714300"/>
            </a:xfrm>
            <a:prstGeom prst="roundRect">
              <a:avLst>
                <a:gd fmla="val 26666" name="adj"/>
              </a:avLst>
            </a:prstGeom>
            <a:solidFill>
              <a:srgbClr val="FFFFFF"/>
            </a:solidFill>
            <a:ln cap="flat" cmpd="sng" w="19050">
              <a:solidFill>
                <a:srgbClr val="E8F8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285750" y="171450"/>
              <a:ext cx="723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KEY RESULT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12 sales in one month: flexible product selection turned “not the right fit” into “yes”.</a:t>
              </a:r>
              <a:endParaRPr b="0" sz="1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666750" y="381000"/>
            <a:ext cx="7810500" cy="828675"/>
            <a:chOff x="0" y="0"/>
            <a:chExt cx="7810500" cy="828675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0" y="0"/>
              <a:ext cx="781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2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Rock 03: Sales Intelligence Loop</a:t>
              </a:r>
              <a:endParaRPr b="0" sz="242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17" name="Google Shape;117;p17"/>
            <p:cNvCxnSpPr/>
            <p:nvPr/>
          </p:nvCxnSpPr>
          <p:spPr>
            <a:xfrm>
              <a:off x="0" y="4572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7"/>
            <p:cNvSpPr txBox="1"/>
            <p:nvPr/>
          </p:nvSpPr>
          <p:spPr>
            <a:xfrm>
              <a:off x="0" y="600075"/>
              <a:ext cx="781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Business focus: People | Product | Profit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66750" y="1571625"/>
            <a:ext cx="2409900" cy="2047800"/>
            <a:chOff x="0" y="0"/>
            <a:chExt cx="2409900" cy="20478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 DID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Captured why lost leads didn’t go ahead, from post-call notes and reactivation replies, then grouped the feedback into clear themes.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3362325" y="1571625"/>
            <a:ext cx="2419500" cy="2047800"/>
            <a:chOff x="0" y="0"/>
            <a:chExt cx="2419500" cy="20478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2419500" cy="2047800"/>
            </a:xfrm>
            <a:prstGeom prst="roundRect">
              <a:avLst>
                <a:gd fmla="val 930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28600" y="228600"/>
              <a:ext cx="19623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5B947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THE IMPACT</a:t>
              </a:r>
              <a:endParaRPr b="0" sz="850">
                <a:solidFill>
                  <a:srgbClr val="F5B94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Three reasons stand out: pricing, not yet ready to hire, and still shopping around. Most lost deals are about timing and perceived price, not OA’s quality.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6067425" y="1571625"/>
            <a:ext cx="2409900" cy="2047800"/>
            <a:chOff x="0" y="0"/>
            <a:chExt cx="2409900" cy="20478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WHAT’S NEXT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Share a monthly Sales Intelligence report with Marketing and Recruitment, and build answers into offers and nurture.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666750" y="3857625"/>
            <a:ext cx="7810500" cy="714300"/>
            <a:chOff x="0" y="0"/>
            <a:chExt cx="7810500" cy="7143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7810500" cy="714300"/>
            </a:xfrm>
            <a:prstGeom prst="roundRect">
              <a:avLst>
                <a:gd fmla="val 26666" name="adj"/>
              </a:avLst>
            </a:prstGeom>
            <a:solidFill>
              <a:srgbClr val="FFFFFF"/>
            </a:solidFill>
            <a:ln cap="flat" cmpd="sng" w="19050">
              <a:solidFill>
                <a:srgbClr val="E8F8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285750" y="171450"/>
              <a:ext cx="723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KEY RESULT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We now know why leads say no, and we’re building the answers into how we sell.</a:t>
              </a:r>
              <a:endParaRPr b="0" sz="1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6"/>
          <p:cNvGrpSpPr/>
          <p:nvPr/>
        </p:nvGrpSpPr>
        <p:grpSpPr>
          <a:xfrm>
            <a:off x="666750" y="381000"/>
            <a:ext cx="7810500" cy="904950"/>
            <a:chOff x="0" y="0"/>
            <a:chExt cx="7810500" cy="904950"/>
          </a:xfrm>
        </p:grpSpPr>
        <p:sp>
          <p:nvSpPr>
            <p:cNvPr id="93" name="Google Shape;93;p16"/>
            <p:cNvSpPr txBox="1"/>
            <p:nvPr/>
          </p:nvSpPr>
          <p:spPr>
            <a:xfrm>
              <a:off x="0" y="0"/>
              <a:ext cx="781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Measurable Results</a:t>
              </a:r>
              <a:endParaRPr b="0" sz="24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94" name="Google Shape;94;p16"/>
            <p:cNvCxnSpPr/>
            <p:nvPr/>
          </p:nvCxnSpPr>
          <p:spPr>
            <a:xfrm>
              <a:off x="0" y="523875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p16"/>
            <p:cNvSpPr txBox="1"/>
            <p:nvPr/>
          </p:nvSpPr>
          <p:spPr>
            <a:xfrm>
              <a:off x="0" y="666750"/>
              <a:ext cx="781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 key numbers that show how we performed this quarter</a:t>
              </a:r>
              <a:r>
                <a:rPr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.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666750" y="1666875"/>
            <a:ext cx="1809600" cy="1905000"/>
            <a:chOff x="0" y="0"/>
            <a:chExt cx="1809600" cy="19050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1809600" cy="1905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190500" y="238125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NEW SALES · SEPTEMBER</a:t>
              </a:r>
              <a:endParaRPr b="0" sz="56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4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12</a:t>
              </a:r>
              <a:endParaRPr b="0" sz="224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From the new flexible products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Founder vision · Sales-built pitch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2667000" y="1666875"/>
            <a:ext cx="1809600" cy="1905000"/>
            <a:chOff x="0" y="0"/>
            <a:chExt cx="1809600" cy="19050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809600" cy="1905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90500" y="238125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REACTIVATED LEAD WON</a:t>
              </a:r>
              <a:endParaRPr b="0" sz="56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4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</a:t>
              </a:r>
              <a:endParaRPr b="0" sz="224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Andrew Owen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Via Lead Reactivation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667250" y="1666875"/>
            <a:ext cx="1809600" cy="1905000"/>
            <a:chOff x="0" y="0"/>
            <a:chExt cx="1809600" cy="19050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1809600" cy="1905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90500" y="238125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WAYS TO BUY</a:t>
              </a:r>
              <a:endParaRPr b="0" sz="56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4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10</a:t>
              </a:r>
              <a:endParaRPr b="0" sz="224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 from 1 core VA offer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Ladder · OAX100 · Fractional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6667500" y="1666875"/>
            <a:ext cx="1809600" cy="1905000"/>
            <a:chOff x="0" y="0"/>
            <a:chExt cx="1809600" cy="19050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1809600" cy="1905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190500" y="238125"/>
              <a:ext cx="1428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LOST-LEAD THEMES FOUND</a:t>
              </a:r>
              <a:endParaRPr b="0" sz="56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224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3</a:t>
              </a:r>
              <a:endParaRPr b="0" sz="224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Price · Readiness · Shopping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65">
                  <a:solidFill>
                    <a:srgbClr val="5A5A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Now feeding offers + nurture</a:t>
              </a:r>
              <a:endParaRPr b="0" sz="665">
                <a:solidFill>
                  <a:srgbClr val="5A5A5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666750" y="3857625"/>
            <a:ext cx="7810500" cy="714300"/>
            <a:chOff x="0" y="0"/>
            <a:chExt cx="7810500" cy="7143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7810500" cy="714300"/>
            </a:xfrm>
            <a:prstGeom prst="roundRect">
              <a:avLst>
                <a:gd fmla="val 26666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285750" y="0"/>
              <a:ext cx="7239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THE NUMBERS TELL US</a:t>
              </a:r>
              <a:endParaRPr b="0" sz="90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Back to basics paid off: our existing leads, sharper products and real buyer feedback are now generating new revenue.</a:t>
              </a:r>
              <a:endParaRPr b="0" sz="115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666750" y="381000"/>
            <a:ext cx="7810500" cy="828675"/>
            <a:chOff x="0" y="0"/>
            <a:chExt cx="7810500" cy="828675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0" y="0"/>
              <a:ext cx="781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2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 Learned</a:t>
              </a:r>
              <a:endParaRPr b="0" sz="242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17" name="Google Shape;117;p17"/>
            <p:cNvCxnSpPr/>
            <p:nvPr/>
          </p:nvCxnSpPr>
          <p:spPr>
            <a:xfrm>
              <a:off x="0" y="4572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02B99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7"/>
            <p:cNvSpPr txBox="1"/>
            <p:nvPr/>
          </p:nvSpPr>
          <p:spPr>
            <a:xfrm>
              <a:off x="0" y="600075"/>
              <a:ext cx="781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A5A5A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What worked, what got in the way, and what we’ll do differently next quarter.</a:t>
              </a:r>
              <a:endParaRPr b="0" sz="1100">
                <a:solidFill>
                  <a:srgbClr val="5A5A5A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66750" y="1571625"/>
            <a:ext cx="2409900" cy="2047800"/>
            <a:chOff x="0" y="0"/>
            <a:chExt cx="2409900" cy="20478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WORKED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Reactivating our existing CRM. Warm past leads re-engage and convert. Leading with flexible options instead of one fixed package.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3362325" y="1571625"/>
            <a:ext cx="2419500" cy="2047800"/>
            <a:chOff x="0" y="0"/>
            <a:chExt cx="2419500" cy="20478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2419500" cy="2047800"/>
            </a:xfrm>
            <a:prstGeom prst="roundRect">
              <a:avLst>
                <a:gd fmla="val 930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28600" y="228600"/>
              <a:ext cx="19623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5B947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GOT IN THE WAY</a:t>
              </a:r>
              <a:endParaRPr b="0" sz="850">
                <a:solidFill>
                  <a:srgbClr val="F5B94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Price sensitivity and “not ready to hire yet.” Many leads were still shopping and comparing, not yet committed.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6067425" y="1571625"/>
            <a:ext cx="2409900" cy="2047800"/>
            <a:chOff x="0" y="0"/>
            <a:chExt cx="2409900" cy="20478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2409900" cy="2047800"/>
            </a:xfrm>
            <a:prstGeom prst="roundRect">
              <a:avLst>
                <a:gd fmla="val 9302" name="adj"/>
              </a:avLst>
            </a:prstGeom>
            <a:solidFill>
              <a:srgbClr val="E8F8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28600" y="228600"/>
              <a:ext cx="1952700" cy="15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WHAT WE’LL CHANGE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Lead with the Freedom Plan as a low-commitment first step, sell outcomes before price, and nurture not-ready leads.</a:t>
              </a:r>
              <a:endParaRPr b="0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666750" y="3857625"/>
            <a:ext cx="7810500" cy="714300"/>
            <a:chOff x="0" y="0"/>
            <a:chExt cx="7810500" cy="7143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7810500" cy="714300"/>
            </a:xfrm>
            <a:prstGeom prst="roundRect">
              <a:avLst>
                <a:gd fmla="val 26666" name="adj"/>
              </a:avLst>
            </a:prstGeom>
            <a:solidFill>
              <a:srgbClr val="FFFFFF"/>
            </a:solidFill>
            <a:ln cap="flat" cmpd="sng" w="19050">
              <a:solidFill>
                <a:srgbClr val="E8F8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285750" y="171450"/>
              <a:ext cx="723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B99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BIGGEST LEARNING</a:t>
              </a:r>
              <a:endParaRPr b="0" sz="850">
                <a:solidFill>
                  <a:srgbClr val="02B99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11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When we give clients more ways to say yes, more of them say yes.</a:t>
              </a:r>
              <a:endParaRPr b="0" sz="1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