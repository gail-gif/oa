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17e0172-c641-9f94-7c44-aaac5bea8d6c}">
          <p14:sldIdLst>
            <p14:sldId id="256"/>
          </p14:sldIdLst>
        </p14:section>
        <p14:section name="Getting oriented" id="{fb90ef12-b11e-0163-bfcc-ebd09ec4c9f1}">
          <p14:sldIdLst>
            <p14:sldId id="257"/>
          </p14:sldIdLst>
        </p14:section>
        <p14:section name="Part A: Our Recommendation" id="{44ac627f-39ca-05da-1752-eb783245ef15}">
          <p14:sldIdLst>
            <p14:sldId id="258"/>
            <p14:sldId id="259"/>
            <p14:sldId id="260"/>
            <p14:sldId id="261"/>
            <p14:sldId id="262"/>
            <p14:sldId id="263"/>
            <p14:sldId id="264"/>
            <p14:sldId id="265"/>
            <p14:sldId id="266"/>
          </p14:sldIdLst>
        </p14:section>
        <p14:section name="Part B: Your Freedom Playbook" id="{ed8888ad-7452-6a93-a7f1-06a5ab604da6}">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of Tom Warriner’s Freedom Plan for the Broker Administration Assistant role at Spinifex Energy, built from the 2 September 2026 Freedom Audit, the 6 October 2026 Alignment Session and the agreed job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‘user manual’ for working with Tom. The first column is pre-filled from the Freedom Audit and Alignment Session; the rest is completed together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P 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P Divider">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rgbClr val="AEB9BD"/>
                </a:solidFill>
              </a:rPr>
              <a:t>OUTSOURCING ANGEL  ·  THE FREEDOM PLAN™</a:t>
            </a:r>
            <a:endParaRPr lang="en-US" sz="800" dirty="0"/>
          </a:p>
        </p:txBody>
      </p:sp>
      <p:sp>
        <p:nvSpPr>
          <p:cNvPr id="3" name="Text 1"/>
          <p:cNvSpPr/>
          <p:nvPr>
            <p:ph idx="101" type="body" hasCustomPrompt="1"/>
          </p:nvPr>
        </p:nvSpPr>
        <p:spPr>
          <a:xfrm>
            <a:off x="630936" y="2148840"/>
            <a:ext cx="8229600" cy="320040"/>
          </a:xfrm>
          <a:prstGeom prst="rect">
            <a:avLst/>
          </a:prstGeom>
          <a:noFill/>
          <a:ln/>
        </p:spPr>
        <p:txBody>
          <a:bodyPr wrap="square" rtlCol="0"/>
          <a:lstStyle>
            <a:lvl1pPr indent="0" marL="0">
              <a:buNone/>
              <a:defRPr lang="en-US" sz="1200" b="1" spc="300" kern="0" dirty="0">
                <a:solidFill>
                  <a:srgbClr val="7FE0C2"/>
                </a:solidFill>
              </a:defRPr>
            </a:lvl1pPr>
          </a:lstStyle>
          <a:p>
            <a:pPr indent="0" marL="0">
              <a:buNone/>
            </a:pPr>
            <a:endParaRPr lang="en-US" sz="1200" dirty="0"/>
          </a:p>
        </p:txBody>
      </p:sp>
      <p:sp>
        <p:nvSpPr>
          <p:cNvPr id="4" name="Text 1"/>
          <p:cNvSpPr/>
          <p:nvPr>
            <p:ph idx="102" type="title" hasCustomPrompt="1"/>
          </p:nvPr>
        </p:nvSpPr>
        <p:spPr>
          <a:xfrm>
            <a:off x="630936" y="2560320"/>
            <a:ext cx="914400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1"/>
          <p:cNvSpPr/>
          <p:nvPr>
            <p:ph idx="103" type="body" hasCustomPrompt="1"/>
          </p:nvPr>
        </p:nvSpPr>
        <p:spPr>
          <a:xfrm>
            <a:off x="630936" y="3611880"/>
            <a:ext cx="7863840" cy="1005840"/>
          </a:xfrm>
          <a:prstGeom prst="rect">
            <a:avLst/>
          </a:prstGeom>
          <a:noFill/>
          <a:ln/>
        </p:spPr>
        <p:txBody>
          <a:bodyPr wrap="square" rtlCol="0"/>
          <a:lstStyle>
            <a:lvl1pPr indent="0" marL="0">
              <a:buNone/>
              <a:defRPr lang="en-US" sz="1500" dirty="0">
                <a:solidFill>
                  <a:srgbClr val="DBE3E6"/>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P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chemeClr val="accent3"/>
                </a:solidFill>
              </a:rPr>
              <a:t>OUTSOURCING ANGEL  ·  THE FREEDOM PLAN™</a:t>
            </a:r>
            <a:endParaRPr lang="en-US" sz="800" dirty="0"/>
          </a:p>
        </p:txBody>
      </p:sp>
      <p:sp>
        <p:nvSpPr>
          <p:cNvPr id="3" name="Text 1"/>
          <p:cNvSpPr/>
          <p:nvPr>
            <p:ph idx="101" type="body" hasCustomPrompt="1"/>
          </p:nvPr>
        </p:nvSpPr>
        <p:spPr>
          <a:xfrm>
            <a:off x="630936" y="411480"/>
            <a:ext cx="100584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630936" y="731520"/>
            <a:ext cx="10515600" cy="5943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circle top"/>
          <p:cNvSpPr/>
          <p:nvPr/>
        </p:nvSpPr>
        <p:spPr>
          <a:xfrm>
            <a:off x="9966960" y="-1463040"/>
            <a:ext cx="4023360" cy="4023360"/>
          </a:xfrm>
          <a:prstGeom prst="ellipse">
            <a:avLst/>
          </a:prstGeom>
          <a:solidFill>
            <a:srgbClr val="263240"/>
          </a:solidFill>
          <a:ln/>
        </p:spPr>
      </p:sp>
      <p:sp>
        <p:nvSpPr>
          <p:cNvPr id="3" name="cover circle"/>
          <p:cNvSpPr/>
          <p:nvPr/>
        </p:nvSpPr>
        <p:spPr>
          <a:xfrm>
            <a:off x="-1280160" y="4937760"/>
            <a:ext cx="3291840" cy="3291840"/>
          </a:xfrm>
          <a:prstGeom prst="ellipse">
            <a:avLst/>
          </a:prstGeom>
          <a:solidFill>
            <a:srgbClr val="263240"/>
          </a:solidFill>
          <a:ln/>
        </p:spPr>
      </p:sp>
      <p:sp>
        <p:nvSpPr>
          <p:cNvPr id="4" name="logo plate"/>
          <p:cNvSpPr/>
          <p:nvPr/>
        </p:nvSpPr>
        <p:spPr>
          <a:xfrm>
            <a:off x="630936" y="566928"/>
            <a:ext cx="2468880" cy="502920"/>
          </a:xfrm>
          <a:prstGeom prst="roundRect">
            <a:avLst>
              <a:gd name="adj" fmla="val 14545"/>
            </a:avLst>
          </a:prstGeom>
          <a:solidFill>
            <a:schemeClr val="bg1"/>
          </a:solidFill>
          <a:ln/>
        </p:spPr>
      </p:sp>
      <p:sp>
        <p:nvSpPr>
          <p:cNvPr id="5" name="Text 3"/>
          <p:cNvSpPr txBox="1"/>
          <p:nvPr/>
        </p:nvSpPr>
        <p:spPr>
          <a:xfrm>
            <a:off x="630936" y="566928"/>
            <a:ext cx="2468880" cy="502920"/>
          </a:xfrm>
          <a:prstGeom prst="rect">
            <a:avLst/>
          </a:prstGeom>
          <a:noFill/>
          <a:ln/>
        </p:spPr>
        <p:txBody>
          <a:bodyPr wrap="square" lIns="0" tIns="0" rIns="0" bIns="0" rtlCol="0" anchor="ctr"/>
          <a:lstStyle/>
          <a:p>
            <a:pPr algn="ctr" indent="0" marL="0">
              <a:buNone/>
            </a:pPr>
            <a:r>
              <a:rPr lang="en-US" sz="1300" b="1" dirty="0">
                <a:solidFill>
                  <a:schemeClr val="accent1"/>
                </a:solidFill>
              </a:rPr>
              <a:t>OUTSOURCING</a:t>
            </a:r>
            <a:pPr algn="ctr" indent="0" marL="0">
              <a:buNone/>
            </a:pPr>
            <a:r>
              <a:rPr lang="en-US" sz="1300" b="1" dirty="0">
                <a:solidFill>
                  <a:schemeClr val="tx1"/>
                </a:solidFill>
              </a:rPr>
              <a:t>ANGEL</a:t>
            </a:r>
            <a:endParaRPr lang="en-US" sz="1300" dirty="0"/>
          </a:p>
        </p:txBody>
      </p:sp>
      <p:sp>
        <p:nvSpPr>
          <p:cNvPr id="6" name="Text 4"/>
          <p:cNvSpPr txBox="1"/>
          <p:nvPr/>
        </p:nvSpPr>
        <p:spPr>
          <a:xfrm>
            <a:off x="630936" y="1417320"/>
            <a:ext cx="7315200" cy="274320"/>
          </a:xfrm>
          <a:prstGeom prst="rect">
            <a:avLst/>
          </a:prstGeom>
          <a:noFill/>
          <a:ln/>
        </p:spPr>
        <p:txBody>
          <a:bodyPr wrap="square" lIns="0" tIns="0" rIns="0" bIns="0" rtlCol="0" anchor="ctr"/>
          <a:lstStyle/>
          <a:p>
            <a:pPr indent="0" marL="0">
              <a:buNone/>
            </a:pPr>
            <a:r>
              <a:rPr lang="en-US" sz="1200" b="1" spc="300" kern="0" dirty="0">
                <a:solidFill>
                  <a:srgbClr val="7FE0C2"/>
                </a:solidFill>
              </a:rPr>
              <a:t>A LIVING DOCUMENT  ·  VERSION 1</a:t>
            </a:r>
            <a:endParaRPr lang="en-US" sz="1200" dirty="0"/>
          </a:p>
        </p:txBody>
      </p:sp>
      <p:sp>
        <p:nvSpPr>
          <p:cNvPr id="7" name="Text 5"/>
          <p:cNvSpPr txBox="1"/>
          <p:nvPr/>
        </p:nvSpPr>
        <p:spPr>
          <a:xfrm>
            <a:off x="630936" y="1783080"/>
            <a:ext cx="7315200" cy="141732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THE FREEDOM</a:t>
            </a:r>
            <a:endParaRPr lang="en-US" sz="4800" dirty="0"/>
          </a:p>
          <a:p>
            <a:pPr indent="0" marL="0">
              <a:buNone/>
            </a:pPr>
            <a:r>
              <a:rPr lang="en-US" sz="4800" b="1" dirty="0">
                <a:solidFill>
                  <a:schemeClr val="accent2"/>
                </a:solidFill>
                <a:latin typeface="Cambria" pitchFamily="34" charset="0"/>
                <a:ea typeface="Cambria" pitchFamily="34" charset="-122"/>
                <a:cs typeface="Cambria" pitchFamily="34" charset="-120"/>
              </a:rPr>
              <a:t>PLAN™</a:t>
            </a:r>
            <a:endParaRPr lang="en-US" sz="4800" dirty="0"/>
          </a:p>
        </p:txBody>
      </p:sp>
      <p:sp>
        <p:nvSpPr>
          <p:cNvPr id="8" name="Text 6"/>
          <p:cNvSpPr txBox="1"/>
          <p:nvPr/>
        </p:nvSpPr>
        <p:spPr>
          <a:xfrm>
            <a:off x="630936" y="3383280"/>
            <a:ext cx="8229600" cy="365760"/>
          </a:xfrm>
          <a:prstGeom prst="rect">
            <a:avLst/>
          </a:prstGeom>
          <a:noFill/>
          <a:ln/>
        </p:spPr>
        <p:txBody>
          <a:bodyPr wrap="square" lIns="0" tIns="0" rIns="0" bIns="0" rtlCol="0" anchor="ctr"/>
          <a:lstStyle/>
          <a:p>
            <a:pPr indent="0" marL="0">
              <a:buNone/>
            </a:pPr>
            <a:r>
              <a:rPr lang="en-US" sz="1700" dirty="0">
                <a:solidFill>
                  <a:schemeClr val="bg1"/>
                </a:solidFill>
              </a:rPr>
              <a:t>Prepared for </a:t>
            </a:r>
            <a:pPr indent="0" marL="0">
              <a:buNone/>
            </a:pPr>
            <a:r>
              <a:rPr lang="en-US" sz="1700" b="1" dirty="0">
                <a:solidFill>
                  <a:schemeClr val="bg1"/>
                </a:solidFill>
              </a:rPr>
              <a:t>Tom Warriner</a:t>
            </a:r>
            <a:pPr indent="0" marL="0">
              <a:buNone/>
            </a:pPr>
            <a:r>
              <a:rPr lang="en-US" sz="1700" dirty="0">
                <a:solidFill>
                  <a:schemeClr val="bg1"/>
                </a:solidFill>
              </a:rPr>
              <a:t>  |  </a:t>
            </a:r>
            <a:pPr indent="0" marL="0">
              <a:buNone/>
            </a:pPr>
            <a:r>
              <a:rPr lang="en-US" sz="1700" b="1" dirty="0">
                <a:solidFill>
                  <a:schemeClr val="bg1"/>
                </a:solidFill>
              </a:rPr>
              <a:t>Spinifex Energy</a:t>
            </a:r>
            <a:endParaRPr lang="en-US" sz="1700" dirty="0"/>
          </a:p>
        </p:txBody>
      </p:sp>
      <p:sp>
        <p:nvSpPr>
          <p:cNvPr id="9" name="Text 7"/>
          <p:cNvSpPr txBox="1"/>
          <p:nvPr/>
        </p:nvSpPr>
        <p:spPr>
          <a:xfrm>
            <a:off x="630936" y="3931920"/>
            <a:ext cx="7589520" cy="914400"/>
          </a:xfrm>
          <a:prstGeom prst="rect">
            <a:avLst/>
          </a:prstGeom>
          <a:noFill/>
          <a:ln/>
        </p:spPr>
        <p:txBody>
          <a:bodyPr wrap="square" lIns="0" tIns="0" rIns="0" bIns="0" rtlCol="0" anchor="t"/>
          <a:lstStyle/>
          <a:p>
            <a:pPr indent="0" marL="0">
              <a:buNone/>
            </a:pPr>
            <a:r>
              <a:rPr lang="en-US" sz="1300" dirty="0">
                <a:solidFill>
                  <a:srgbClr val="AEB9BD"/>
                </a:solidFill>
              </a:rPr>
              <a:t>Your plan for building a trusted Broker Administration Assistant through Outsourcing Angel’s 5D Freedom Staffing System™. Part A is our recommendation. Part B is your Freedom Playbook: the part you, your Assistant and our team keep using for the whole relationship.</a:t>
            </a:r>
            <a:endParaRPr lang="en-US" sz="1300" dirty="0"/>
          </a:p>
        </p:txBody>
      </p:sp>
      <p:sp>
        <p:nvSpPr>
          <p:cNvPr id="10" name="Text 8"/>
          <p:cNvSpPr txBox="1"/>
          <p:nvPr/>
        </p:nvSpPr>
        <p:spPr>
          <a:xfrm>
            <a:off x="630936" y="6263640"/>
            <a:ext cx="8229600" cy="274320"/>
          </a:xfrm>
          <a:prstGeom prst="rect">
            <a:avLst/>
          </a:prstGeom>
          <a:noFill/>
          <a:ln/>
        </p:spPr>
        <p:txBody>
          <a:bodyPr wrap="square" lIns="0" tIns="0" rIns="0" bIns="0" rtlCol="0" anchor="ctr"/>
          <a:lstStyle/>
          <a:p>
            <a:pPr indent="0" marL="0">
              <a:buNone/>
            </a:pPr>
            <a:r>
              <a:rPr lang="en-US" sz="1000" dirty="0">
                <a:solidFill>
                  <a:srgbClr val="AEB9BD"/>
                </a:solidFill>
              </a:rPr>
              <a:t>Version 1  ·  October 2026  ·  Prepared by Gail Galima-Mendoza, Outsourcing Angel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GETTING ORIENTED</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use your Freedom Plan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Built from your Freedom Audit: your time, your bottlenecks and your goals. It has two parts, and one of them grows with you.</a:t>
            </a:r>
            <a:endParaRPr lang="en-US" sz="1300" dirty="0"/>
          </a:p>
        </p:txBody>
      </p:sp>
      <p:sp>
        <p:nvSpPr>
          <p:cNvPr id="5" name="card"/>
          <p:cNvSpPr/>
          <p:nvPr/>
        </p:nvSpPr>
        <p:spPr>
          <a:xfrm>
            <a:off x="630936" y="1965960"/>
            <a:ext cx="5327752" cy="1965960"/>
          </a:xfrm>
          <a:prstGeom prst="roundRect">
            <a:avLst>
              <a:gd name="adj" fmla="val 3721"/>
            </a:avLst>
          </a:prstGeom>
          <a:solidFill>
            <a:schemeClr val="bg1"/>
          </a:solidFill>
          <a:ln w="12700">
            <a:solidFill>
              <a:schemeClr val="accent5"/>
            </a:solidFill>
            <a:prstDash val="solid"/>
          </a:ln>
        </p:spPr>
      </p:sp>
      <p:sp>
        <p:nvSpPr>
          <p:cNvPr id="6" name="Text 4"/>
          <p:cNvSpPr txBox="1"/>
          <p:nvPr/>
        </p:nvSpPr>
        <p:spPr>
          <a:xfrm>
            <a:off x="950976"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A</a:t>
            </a:r>
            <a:endParaRPr lang="en-US" sz="1050" dirty="0"/>
          </a:p>
        </p:txBody>
      </p:sp>
      <p:sp>
        <p:nvSpPr>
          <p:cNvPr id="7" name="Text 5"/>
          <p:cNvSpPr txBox="1"/>
          <p:nvPr/>
        </p:nvSpPr>
        <p:spPr>
          <a:xfrm>
            <a:off x="950976"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Our Recommendation</a:t>
            </a:r>
            <a:endParaRPr lang="en-US" sz="2000" dirty="0"/>
          </a:p>
        </p:txBody>
      </p:sp>
      <p:sp>
        <p:nvSpPr>
          <p:cNvPr id="8" name="Text 6"/>
          <p:cNvSpPr txBox="1"/>
          <p:nvPr/>
        </p:nvSpPr>
        <p:spPr>
          <a:xfrm>
            <a:off x="950976"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What we heard, the role we recommend, and the investment. Read it once, use it to decide.</a:t>
            </a:r>
            <a:endParaRPr lang="en-US" sz="1250" dirty="0"/>
          </a:p>
        </p:txBody>
      </p:sp>
      <p:sp>
        <p:nvSpPr>
          <p:cNvPr id="9" name="Text 7"/>
          <p:cNvSpPr txBox="1"/>
          <p:nvPr/>
        </p:nvSpPr>
        <p:spPr>
          <a:xfrm>
            <a:off x="950976"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once, before you hire</a:t>
            </a:r>
            <a:endParaRPr lang="en-US" sz="1150" dirty="0"/>
          </a:p>
        </p:txBody>
      </p:sp>
      <p:sp>
        <p:nvSpPr>
          <p:cNvPr id="10" name="card"/>
          <p:cNvSpPr/>
          <p:nvPr/>
        </p:nvSpPr>
        <p:spPr>
          <a:xfrm>
            <a:off x="6233008" y="1965960"/>
            <a:ext cx="5327752" cy="1965960"/>
          </a:xfrm>
          <a:prstGeom prst="roundRect">
            <a:avLst>
              <a:gd name="adj" fmla="val 3721"/>
            </a:avLst>
          </a:prstGeom>
          <a:solidFill>
            <a:schemeClr val="accent4"/>
          </a:solidFill>
          <a:ln/>
        </p:spPr>
      </p:sp>
      <p:sp>
        <p:nvSpPr>
          <p:cNvPr id="11" name="Text 9"/>
          <p:cNvSpPr txBox="1"/>
          <p:nvPr/>
        </p:nvSpPr>
        <p:spPr>
          <a:xfrm>
            <a:off x="6553048"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B</a:t>
            </a:r>
            <a:endParaRPr lang="en-US" sz="1050" dirty="0"/>
          </a:p>
        </p:txBody>
      </p:sp>
      <p:sp>
        <p:nvSpPr>
          <p:cNvPr id="12" name="Text 10"/>
          <p:cNvSpPr txBox="1"/>
          <p:nvPr/>
        </p:nvSpPr>
        <p:spPr>
          <a:xfrm>
            <a:off x="6553048"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Your Freedom Playbook</a:t>
            </a:r>
            <a:endParaRPr lang="en-US" sz="2000" dirty="0"/>
          </a:p>
        </p:txBody>
      </p:sp>
      <p:sp>
        <p:nvSpPr>
          <p:cNvPr id="13" name="Text 11"/>
          <p:cNvSpPr txBox="1"/>
          <p:nvPr/>
        </p:nvSpPr>
        <p:spPr>
          <a:xfrm>
            <a:off x="6553048"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A first-time starter pack, your 12-month journey, scorecard, KPIs, delegation list, SOP library and wins.</a:t>
            </a:r>
            <a:endParaRPr lang="en-US" sz="1250" dirty="0"/>
          </a:p>
        </p:txBody>
      </p:sp>
      <p:sp>
        <p:nvSpPr>
          <p:cNvPr id="14" name="Text 12"/>
          <p:cNvSpPr txBox="1"/>
          <p:nvPr/>
        </p:nvSpPr>
        <p:spPr>
          <a:xfrm>
            <a:off x="6553048"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for the whole relationship</a:t>
            </a:r>
            <a:endParaRPr lang="en-US" sz="1150" dirty="0"/>
          </a:p>
        </p:txBody>
      </p:sp>
      <p:sp>
        <p:nvSpPr>
          <p:cNvPr id="15" name="Text 13"/>
          <p:cNvSpPr txBox="1"/>
          <p:nvPr/>
        </p:nvSpPr>
        <p:spPr>
          <a:xfrm>
            <a:off x="630936" y="420624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WHO KEEPS IT ALIVE</a:t>
            </a:r>
            <a:endParaRPr lang="en-US" sz="1050" dirty="0"/>
          </a:p>
        </p:txBody>
      </p:sp>
      <p:sp>
        <p:nvSpPr>
          <p:cNvPr id="16" name="who 1 circle"/>
          <p:cNvSpPr/>
          <p:nvPr/>
        </p:nvSpPr>
        <p:spPr>
          <a:xfrm>
            <a:off x="630936" y="4572000"/>
            <a:ext cx="457200" cy="457200"/>
          </a:xfrm>
          <a:prstGeom prst="ellipse">
            <a:avLst/>
          </a:prstGeom>
          <a:solidFill>
            <a:schemeClr val="accent1"/>
          </a:solidFill>
          <a:ln/>
        </p:spPr>
      </p:sp>
      <p:pic>
        <p:nvPicPr>
          <p:cNvPr id="17" name="who 1" descr="who 1">    </p:cNvPr>
          <p:cNvPicPr>
            <a:picLocks noChangeAspect="1"/>
          </p:cNvPicPr>
          <p:nvPr/>
        </p:nvPicPr>
        <p:blipFill>
          <a:blip r:embed="rId1"/>
          <a:stretch>
            <a:fillRect/>
          </a:stretch>
        </p:blipFill>
        <p:spPr>
          <a:xfrm>
            <a:off x="745236" y="4686300"/>
            <a:ext cx="228600" cy="228600"/>
          </a:xfrm>
          <a:prstGeom prst="rect">
            <a:avLst/>
          </a:prstGeom>
        </p:spPr>
      </p:pic>
      <p:sp>
        <p:nvSpPr>
          <p:cNvPr id="18" name="Text 15"/>
          <p:cNvSpPr txBox="1"/>
          <p:nvPr/>
        </p:nvSpPr>
        <p:spPr>
          <a:xfrm>
            <a:off x="1225296"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Tom</a:t>
            </a:r>
            <a:endParaRPr lang="en-US" sz="1300" dirty="0"/>
          </a:p>
        </p:txBody>
      </p:sp>
      <p:sp>
        <p:nvSpPr>
          <p:cNvPr id="19" name="Text 16"/>
          <p:cNvSpPr txBox="1"/>
          <p:nvPr/>
        </p:nvSpPr>
        <p:spPr>
          <a:xfrm>
            <a:off x="1225296"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Brings it to every check-in and adds to the “Next to delegate” list</a:t>
            </a:r>
            <a:endParaRPr lang="en-US" sz="1150" dirty="0"/>
          </a:p>
        </p:txBody>
      </p:sp>
      <p:sp>
        <p:nvSpPr>
          <p:cNvPr id="20" name="who 2 circle"/>
          <p:cNvSpPr/>
          <p:nvPr/>
        </p:nvSpPr>
        <p:spPr>
          <a:xfrm>
            <a:off x="4319930" y="4572000"/>
            <a:ext cx="457200" cy="457200"/>
          </a:xfrm>
          <a:prstGeom prst="ellipse">
            <a:avLst/>
          </a:prstGeom>
          <a:solidFill>
            <a:schemeClr val="accent1"/>
          </a:solidFill>
          <a:ln/>
        </p:spPr>
      </p:sp>
      <p:pic>
        <p:nvPicPr>
          <p:cNvPr id="21" name="who 2" descr="who 2">    </p:cNvPr>
          <p:cNvPicPr>
            <a:picLocks noChangeAspect="1"/>
          </p:cNvPicPr>
          <p:nvPr/>
        </p:nvPicPr>
        <p:blipFill>
          <a:blip r:embed="rId2"/>
          <a:stretch>
            <a:fillRect/>
          </a:stretch>
        </p:blipFill>
        <p:spPr>
          <a:xfrm>
            <a:off x="4434230" y="4686300"/>
            <a:ext cx="228600" cy="228600"/>
          </a:xfrm>
          <a:prstGeom prst="rect">
            <a:avLst/>
          </a:prstGeom>
        </p:spPr>
      </p:pic>
      <p:sp>
        <p:nvSpPr>
          <p:cNvPr id="22" name="Text 18"/>
          <p:cNvSpPr txBox="1"/>
          <p:nvPr/>
        </p:nvSpPr>
        <p:spPr>
          <a:xfrm>
            <a:off x="4914290"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Your Assistant</a:t>
            </a:r>
            <a:endParaRPr lang="en-US" sz="1300" dirty="0"/>
          </a:p>
        </p:txBody>
      </p:sp>
      <p:sp>
        <p:nvSpPr>
          <p:cNvPr id="23" name="Text 19"/>
          <p:cNvSpPr txBox="1"/>
          <p:nvPr/>
        </p:nvSpPr>
        <p:spPr>
          <a:xfrm>
            <a:off x="4914290"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Updates the SOP library and wins log, and self-assesses at each review</a:t>
            </a:r>
            <a:endParaRPr lang="en-US" sz="1150" dirty="0"/>
          </a:p>
        </p:txBody>
      </p:sp>
      <p:sp>
        <p:nvSpPr>
          <p:cNvPr id="24" name="who 3 circle"/>
          <p:cNvSpPr/>
          <p:nvPr/>
        </p:nvSpPr>
        <p:spPr>
          <a:xfrm>
            <a:off x="8008925" y="4572000"/>
            <a:ext cx="457200" cy="457200"/>
          </a:xfrm>
          <a:prstGeom prst="ellipse">
            <a:avLst/>
          </a:prstGeom>
          <a:solidFill>
            <a:schemeClr val="accent1"/>
          </a:solidFill>
          <a:ln/>
        </p:spPr>
      </p:sp>
      <p:pic>
        <p:nvPicPr>
          <p:cNvPr id="25" name="who 3" descr="who 3">    </p:cNvPr>
          <p:cNvPicPr>
            <a:picLocks noChangeAspect="1"/>
          </p:cNvPicPr>
          <p:nvPr/>
        </p:nvPicPr>
        <p:blipFill>
          <a:blip r:embed="rId3"/>
          <a:stretch>
            <a:fillRect/>
          </a:stretch>
        </p:blipFill>
        <p:spPr>
          <a:xfrm>
            <a:off x="8123225" y="4686300"/>
            <a:ext cx="228600" cy="228600"/>
          </a:xfrm>
          <a:prstGeom prst="rect">
            <a:avLst/>
          </a:prstGeom>
        </p:spPr>
      </p:pic>
      <p:sp>
        <p:nvSpPr>
          <p:cNvPr id="26" name="Text 21"/>
          <p:cNvSpPr txBox="1"/>
          <p:nvPr/>
        </p:nvSpPr>
        <p:spPr>
          <a:xfrm>
            <a:off x="8603285"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Outsourcing Angel</a:t>
            </a:r>
            <a:endParaRPr lang="en-US" sz="1300" dirty="0"/>
          </a:p>
        </p:txBody>
      </p:sp>
      <p:sp>
        <p:nvSpPr>
          <p:cNvPr id="27" name="Text 22"/>
          <p:cNvSpPr txBox="1"/>
          <p:nvPr/>
        </p:nvSpPr>
        <p:spPr>
          <a:xfrm>
            <a:off x="8603285"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Leads the Day 30, Day 90, Month 6 and Month 12 reviews and updates the scorecard</a:t>
            </a:r>
            <a:endParaRPr lang="en-US" sz="1150" dirty="0"/>
          </a:p>
        </p:txBody>
      </p:sp>
      <p:sp>
        <p:nvSpPr>
          <p:cNvPr id="28" name="callout"/>
          <p:cNvSpPr/>
          <p:nvPr/>
        </p:nvSpPr>
        <p:spPr>
          <a:xfrm>
            <a:off x="630936" y="5669280"/>
            <a:ext cx="10929823" cy="502920"/>
          </a:xfrm>
          <a:prstGeom prst="roundRect">
            <a:avLst>
              <a:gd name="adj" fmla="val 14545"/>
            </a:avLst>
          </a:prstGeom>
          <a:solidFill>
            <a:schemeClr val="accent4"/>
          </a:solidFill>
          <a:ln/>
        </p:spPr>
      </p:sp>
      <p:sp>
        <p:nvSpPr>
          <p:cNvPr id="29" name="Text 24"/>
          <p:cNvSpPr txBox="1"/>
          <p:nvPr/>
        </p:nvSpPr>
        <p:spPr>
          <a:xfrm>
            <a:off x="859536" y="5669280"/>
            <a:ext cx="10472623" cy="502920"/>
          </a:xfrm>
          <a:prstGeom prst="rect">
            <a:avLst/>
          </a:prstGeom>
          <a:noFill/>
          <a:ln/>
        </p:spPr>
        <p:txBody>
          <a:bodyPr wrap="square" lIns="0" tIns="0" rIns="0" bIns="0" rtlCol="0" anchor="ctr"/>
          <a:lstStyle/>
          <a:p>
            <a:pPr indent="0" marL="0">
              <a:buNone/>
            </a:pPr>
            <a:r>
              <a:rPr lang="en-US" sz="1250" b="1" dirty="0">
                <a:solidFill>
                  <a:schemeClr val="accent1"/>
                </a:solidFill>
              </a:rPr>
              <a:t>Your live copy sits in a shared folder that you, your Assistant and your Outsourcing Angel team can all open and update.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A</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Our Recommendation</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What we heard in your Freedom Audit, the role we recommend, and how we’ll find the right person. Use this part to decide.</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Key Observations</a:t>
            </a:r>
            <a:endParaRPr lang="en-US" sz="3000" dirty="0"/>
          </a:p>
        </p:txBody>
      </p:sp>
      <p:sp>
        <p:nvSpPr>
          <p:cNvPr id="4" name="Text 2"/>
          <p:cNvSpPr txBox="1"/>
          <p:nvPr/>
        </p:nvSpPr>
        <p:spPr>
          <a:xfrm>
            <a:off x="630936" y="1417320"/>
            <a:ext cx="10929823" cy="960120"/>
          </a:xfrm>
          <a:prstGeom prst="rect">
            <a:avLst/>
          </a:prstGeom>
          <a:noFill/>
          <a:ln/>
        </p:spPr>
        <p:txBody>
          <a:bodyPr wrap="square" lIns="0" tIns="0" rIns="0" bIns="0" rtlCol="0" anchor="t"/>
          <a:lstStyle/>
          <a:p>
            <a:pPr indent="0" marL="0">
              <a:buNone/>
            </a:pPr>
            <a:r>
              <a:rPr lang="en-US" sz="1350" dirty="0">
                <a:solidFill>
                  <a:schemeClr val="accent3"/>
                </a:solidFill>
              </a:rPr>
              <a:t>Spinifex Energy is a Queensland energy brokerage and solar business: SME and large-market (C&amp;I) electricity procurement, plus solar and battery installs, run by a team of three. Tom’s Brisbane admin is on maternity leave and his part-time offshore data person struggled with power cuts, so Tom wants one full-time person to cover both roles.</a:t>
            </a:r>
            <a:endParaRPr lang="en-US" sz="1350" dirty="0"/>
          </a:p>
        </p:txBody>
      </p:sp>
      <p:sp>
        <p:nvSpPr>
          <p:cNvPr id="5" name="card"/>
          <p:cNvSpPr/>
          <p:nvPr/>
        </p:nvSpPr>
        <p:spPr>
          <a:xfrm>
            <a:off x="630936" y="2560320"/>
            <a:ext cx="5327752" cy="2057400"/>
          </a:xfrm>
          <a:prstGeom prst="roundRect">
            <a:avLst>
              <a:gd name="adj" fmla="val 3556"/>
            </a:avLst>
          </a:prstGeom>
          <a:solidFill>
            <a:schemeClr val="bg1"/>
          </a:solidFill>
          <a:ln w="12700">
            <a:solidFill>
              <a:schemeClr val="accent5"/>
            </a:solidFill>
            <a:prstDash val="solid"/>
          </a:ln>
        </p:spPr>
      </p:sp>
      <p:sp>
        <p:nvSpPr>
          <p:cNvPr id="6" name="Text 4"/>
          <p:cNvSpPr txBox="1"/>
          <p:nvPr/>
        </p:nvSpPr>
        <p:spPr>
          <a:xfrm>
            <a:off x="905256"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WE HEARD</a:t>
            </a:r>
            <a:endParaRPr lang="en-US" sz="1050" dirty="0"/>
          </a:p>
        </p:txBody>
      </p:sp>
      <p:sp>
        <p:nvSpPr>
          <p:cNvPr id="7" name="Text 5"/>
          <p:cNvSpPr txBox="1"/>
          <p:nvPr/>
        </p:nvSpPr>
        <p:spPr>
          <a:xfrm>
            <a:off x="905256"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SME work is high volume but simple: bill → comparison report → contract → Xero invoice · C&amp;I tenders need data from retailers and metering providers · everything runs through GoHighLevel · accuracy is critical on large accounts.</a:t>
            </a:r>
            <a:endParaRPr lang="en-US" sz="1250" dirty="0"/>
          </a:p>
        </p:txBody>
      </p:sp>
      <p:sp>
        <p:nvSpPr>
          <p:cNvPr id="8" name="card"/>
          <p:cNvSpPr/>
          <p:nvPr/>
        </p:nvSpPr>
        <p:spPr>
          <a:xfrm>
            <a:off x="6233008" y="2560320"/>
            <a:ext cx="5327752" cy="2057400"/>
          </a:xfrm>
          <a:prstGeom prst="roundRect">
            <a:avLst>
              <a:gd name="adj" fmla="val 3556"/>
            </a:avLst>
          </a:prstGeom>
          <a:solidFill>
            <a:schemeClr val="bg1"/>
          </a:solidFill>
          <a:ln w="12700">
            <a:solidFill>
              <a:schemeClr val="accent5"/>
            </a:solidFill>
            <a:prstDash val="solid"/>
          </a:ln>
        </p:spPr>
      </p:sp>
      <p:sp>
        <p:nvSpPr>
          <p:cNvPr id="9" name="Text 7"/>
          <p:cNvSpPr txBox="1"/>
          <p:nvPr/>
        </p:nvSpPr>
        <p:spPr>
          <a:xfrm>
            <a:off x="6507328"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HIRING INSIGHT</a:t>
            </a:r>
            <a:endParaRPr lang="en-US" sz="1050" dirty="0"/>
          </a:p>
        </p:txBody>
      </p:sp>
      <p:sp>
        <p:nvSpPr>
          <p:cNvPr id="10" name="Text 8"/>
          <p:cNvSpPr txBox="1"/>
          <p:nvPr/>
        </p:nvSpPr>
        <p:spPr>
          <a:xfrm>
            <a:off x="6507328"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Tom is an EO Queensland member who runs EOS and tracks performance himself. His last hire lacked the confidence to learn and checked everything with him. He wants a fast learner who acts, uses the SOPs and owns mistakes straight away.</a:t>
            </a:r>
            <a:endParaRPr lang="en-US" sz="1250" dirty="0"/>
          </a:p>
        </p:txBody>
      </p:sp>
      <p:sp>
        <p:nvSpPr>
          <p:cNvPr id="11" name="callout"/>
          <p:cNvSpPr/>
          <p:nvPr/>
        </p:nvSpPr>
        <p:spPr>
          <a:xfrm>
            <a:off x="630936" y="4846320"/>
            <a:ext cx="10929823" cy="868680"/>
          </a:xfrm>
          <a:prstGeom prst="roundRect">
            <a:avLst>
              <a:gd name="adj" fmla="val 8421"/>
            </a:avLst>
          </a:prstGeom>
          <a:solidFill>
            <a:schemeClr val="accent4"/>
          </a:solidFill>
          <a:ln/>
        </p:spPr>
      </p:sp>
      <p:sp>
        <p:nvSpPr>
          <p:cNvPr id="12" name="Text 10"/>
          <p:cNvSpPr txBox="1"/>
          <p:nvPr/>
        </p:nvSpPr>
        <p:spPr>
          <a:xfrm>
            <a:off x="859536" y="484632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Our recommendation: a dedicated Broker Administration Assistant who owns the SME process end to end, supports C&amp;I data and tenders, and coordinates solar logistics, so Tom can step out of the day-to-day admin.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Leverage Gap Analysis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Spinifex’s biggest leverage point: taking the whole SME process off Tom’s plate, accurately, within three months.</a:t>
            </a:r>
            <a:endParaRPr lang="en-US" sz="1300" dirty="0"/>
          </a:p>
        </p:txBody>
      </p:sp>
      <p:sp>
        <p:nvSpPr>
          <p:cNvPr id="5" name="card"/>
          <p:cNvSpPr/>
          <p:nvPr/>
        </p:nvSpPr>
        <p:spPr>
          <a:xfrm>
            <a:off x="630936" y="2011680"/>
            <a:ext cx="5327752" cy="3566160"/>
          </a:xfrm>
          <a:prstGeom prst="roundRect">
            <a:avLst>
              <a:gd name="adj" fmla="val 2051"/>
            </a:avLst>
          </a:prstGeom>
          <a:solidFill>
            <a:schemeClr val="bg1"/>
          </a:solidFill>
          <a:ln w="12700">
            <a:solidFill>
              <a:schemeClr val="accent5"/>
            </a:solidFill>
            <a:prstDash val="solid"/>
          </a:ln>
        </p:spPr>
      </p:sp>
      <p:sp>
        <p:nvSpPr>
          <p:cNvPr id="6" name="Text 4"/>
          <p:cNvSpPr txBox="1"/>
          <p:nvPr/>
        </p:nvSpPr>
        <p:spPr>
          <a:xfrm>
            <a:off x="950976"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TODAY</a:t>
            </a:r>
            <a:endParaRPr lang="en-US" sz="1050" dirty="0"/>
          </a:p>
        </p:txBody>
      </p:sp>
      <p:sp>
        <p:nvSpPr>
          <p:cNvPr id="7" name="Text 5"/>
          <p:cNvSpPr txBox="1"/>
          <p:nvPr/>
        </p:nvSpPr>
        <p:spPr>
          <a:xfrm>
            <a:off x="950976"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accent3"/>
                </a:solidFill>
              </a:rPr>
              <a:t>Two part-time roles now vacant: Brisbane admin and offshore data support</a:t>
            </a:r>
            <a:endParaRPr lang="en-US" sz="1350" dirty="0"/>
          </a:p>
          <a:p>
            <a:pPr marL="203200" indent="-203200">
              <a:spcAft>
                <a:spcPts val="1400"/>
              </a:spcAft>
              <a:buSzPct val="100000"/>
              <a:buChar char="•"/>
            </a:pPr>
            <a:r>
              <a:rPr lang="en-US" sz="1350" dirty="0">
                <a:solidFill>
                  <a:schemeClr val="accent3"/>
                </a:solidFill>
              </a:rPr>
              <a:t>Tom personally runs SME comparisons, contracts and LOA signing</a:t>
            </a:r>
            <a:endParaRPr lang="en-US" sz="1350" dirty="0"/>
          </a:p>
          <a:p>
            <a:pPr marL="203200" indent="-203200">
              <a:spcAft>
                <a:spcPts val="1400"/>
              </a:spcAft>
              <a:buSzPct val="100000"/>
              <a:buChar char="•"/>
            </a:pPr>
            <a:r>
              <a:rPr lang="en-US" sz="1350" dirty="0">
                <a:solidFill>
                  <a:schemeClr val="accent3"/>
                </a:solidFill>
              </a:rPr>
              <a:t>Past reports reached Tom with errors that should have been caught</a:t>
            </a:r>
            <a:endParaRPr lang="en-US" sz="1350" dirty="0"/>
          </a:p>
        </p:txBody>
      </p:sp>
      <p:sp>
        <p:nvSpPr>
          <p:cNvPr id="8" name="card"/>
          <p:cNvSpPr/>
          <p:nvPr/>
        </p:nvSpPr>
        <p:spPr>
          <a:xfrm>
            <a:off x="6233008" y="2011680"/>
            <a:ext cx="5327752" cy="3566160"/>
          </a:xfrm>
          <a:prstGeom prst="roundRect">
            <a:avLst>
              <a:gd name="adj" fmla="val 2051"/>
            </a:avLst>
          </a:prstGeom>
          <a:solidFill>
            <a:schemeClr val="accent4"/>
          </a:solidFill>
          <a:ln/>
        </p:spPr>
      </p:sp>
      <p:sp>
        <p:nvSpPr>
          <p:cNvPr id="9" name="Text 7"/>
          <p:cNvSpPr txBox="1"/>
          <p:nvPr/>
        </p:nvSpPr>
        <p:spPr>
          <a:xfrm>
            <a:off x="6553048"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WHERE WE’RE GOING</a:t>
            </a:r>
            <a:endParaRPr lang="en-US" sz="1050" dirty="0"/>
          </a:p>
        </p:txBody>
      </p:sp>
      <p:sp>
        <p:nvSpPr>
          <p:cNvPr id="10" name="Text 8"/>
          <p:cNvSpPr txBox="1"/>
          <p:nvPr/>
        </p:nvSpPr>
        <p:spPr>
          <a:xfrm>
            <a:off x="6553048"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tx1"/>
                </a:solidFill>
              </a:rPr>
              <a:t>One full-time Assistant covering admin, data and brokerage portals</a:t>
            </a:r>
            <a:endParaRPr lang="en-US" sz="1350" dirty="0"/>
          </a:p>
          <a:p>
            <a:pPr marL="203200" indent="-203200">
              <a:spcAft>
                <a:spcPts val="1400"/>
              </a:spcAft>
              <a:buSzPct val="100000"/>
              <a:buChar char="•"/>
            </a:pPr>
            <a:r>
              <a:rPr lang="en-US" sz="1350" dirty="0">
                <a:solidFill>
                  <a:schemeClr val="tx1"/>
                </a:solidFill>
              </a:rPr>
              <a:t>SME reports, contracts, LOAs and invoicing owned end to end</a:t>
            </a:r>
            <a:endParaRPr lang="en-US" sz="1350" dirty="0"/>
          </a:p>
          <a:p>
            <a:pPr marL="203200" indent="-203200">
              <a:spcAft>
                <a:spcPts val="1400"/>
              </a:spcAft>
              <a:buSzPct val="100000"/>
              <a:buChar char="•"/>
            </a:pPr>
            <a:r>
              <a:rPr lang="en-US" sz="1350" dirty="0">
                <a:solidFill>
                  <a:schemeClr val="tx1"/>
                </a:solidFill>
              </a:rPr>
              <a:t>Every report checked against the SOP before it leaves the business</a:t>
            </a:r>
            <a:endParaRPr lang="en-US" sz="13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Freedom Stage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Where the business is today, and the path this plan takes. We revisit this at every review in Part B.</a:t>
            </a:r>
            <a:endParaRPr lang="en-US" sz="1300" dirty="0"/>
          </a:p>
        </p:txBody>
      </p:sp>
      <p:sp>
        <p:nvSpPr>
          <p:cNvPr id="5" name="stage line"/>
          <p:cNvSpPr/>
          <p:nvPr/>
        </p:nvSpPr>
        <p:spPr>
          <a:xfrm>
            <a:off x="1088136" y="3063240"/>
            <a:ext cx="10015423" cy="0"/>
          </a:xfrm>
          <a:prstGeom prst="line">
            <a:avLst/>
          </a:prstGeom>
          <a:noFill/>
          <a:ln w="38100">
            <a:solidFill>
              <a:schemeClr val="accent5"/>
            </a:solidFill>
            <a:prstDash val="solid"/>
          </a:ln>
        </p:spPr>
      </p:sp>
      <p:sp>
        <p:nvSpPr>
          <p:cNvPr id="6" name="stage 1"/>
          <p:cNvSpPr/>
          <p:nvPr/>
        </p:nvSpPr>
        <p:spPr>
          <a:xfrm>
            <a:off x="768096" y="2743200"/>
            <a:ext cx="640080" cy="640080"/>
          </a:xfrm>
          <a:prstGeom prst="ellipse">
            <a:avLst/>
          </a:prstGeom>
          <a:solidFill>
            <a:schemeClr val="tx1"/>
          </a:solidFill>
          <a:ln w="25400">
            <a:solidFill>
              <a:schemeClr val="tx1"/>
            </a:solidFill>
            <a:prstDash val="solid"/>
          </a:ln>
        </p:spPr>
      </p:sp>
      <p:sp>
        <p:nvSpPr>
          <p:cNvPr id="7" name="Text 5"/>
          <p:cNvSpPr txBox="1"/>
          <p:nvPr/>
        </p:nvSpPr>
        <p:spPr>
          <a:xfrm>
            <a:off x="768096"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73736"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Task Delegator</a:t>
            </a:r>
            <a:endParaRPr lang="en-US" sz="1300" dirty="0"/>
          </a:p>
        </p:txBody>
      </p:sp>
      <p:sp>
        <p:nvSpPr>
          <p:cNvPr id="9" name="Text 7"/>
          <p:cNvSpPr txBox="1"/>
          <p:nvPr/>
        </p:nvSpPr>
        <p:spPr>
          <a:xfrm>
            <a:off x="173736"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3"/>
                </a:solidFill>
              </a:rPr>
              <a:t>TODAY</a:t>
            </a:r>
            <a:endParaRPr lang="en-US" sz="1000" dirty="0"/>
          </a:p>
        </p:txBody>
      </p:sp>
      <p:sp>
        <p:nvSpPr>
          <p:cNvPr id="10" name="stage 2"/>
          <p:cNvSpPr/>
          <p:nvPr/>
        </p:nvSpPr>
        <p:spPr>
          <a:xfrm>
            <a:off x="3271952" y="2743200"/>
            <a:ext cx="640080" cy="640080"/>
          </a:xfrm>
          <a:prstGeom prst="ellipse">
            <a:avLst/>
          </a:prstGeom>
          <a:solidFill>
            <a:schemeClr val="bg1"/>
          </a:solidFill>
          <a:ln w="25400">
            <a:solidFill>
              <a:schemeClr val="accent5"/>
            </a:solidFill>
            <a:prstDash val="solid"/>
          </a:ln>
        </p:spPr>
      </p:sp>
      <p:sp>
        <p:nvSpPr>
          <p:cNvPr id="11" name="Text 9"/>
          <p:cNvSpPr txBox="1"/>
          <p:nvPr/>
        </p:nvSpPr>
        <p:spPr>
          <a:xfrm>
            <a:off x="3271952"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2</a:t>
            </a:r>
            <a:endParaRPr lang="en-US" sz="1600" dirty="0"/>
          </a:p>
        </p:txBody>
      </p:sp>
      <p:sp>
        <p:nvSpPr>
          <p:cNvPr id="12" name="Text 10"/>
          <p:cNvSpPr txBox="1"/>
          <p:nvPr/>
        </p:nvSpPr>
        <p:spPr>
          <a:xfrm>
            <a:off x="2677592"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Process Builder</a:t>
            </a:r>
            <a:endParaRPr lang="en-US" sz="1300" dirty="0"/>
          </a:p>
        </p:txBody>
      </p:sp>
      <p:sp>
        <p:nvSpPr>
          <p:cNvPr id="13" name="stage 3"/>
          <p:cNvSpPr/>
          <p:nvPr/>
        </p:nvSpPr>
        <p:spPr>
          <a:xfrm>
            <a:off x="5775808" y="2743200"/>
            <a:ext cx="640080" cy="640080"/>
          </a:xfrm>
          <a:prstGeom prst="ellipse">
            <a:avLst/>
          </a:prstGeom>
          <a:solidFill>
            <a:schemeClr val="accent2"/>
          </a:solidFill>
          <a:ln w="25400">
            <a:solidFill>
              <a:schemeClr val="accent2"/>
            </a:solidFill>
            <a:prstDash val="solid"/>
          </a:ln>
        </p:spPr>
      </p:sp>
      <p:sp>
        <p:nvSpPr>
          <p:cNvPr id="14" name="Text 12"/>
          <p:cNvSpPr txBox="1"/>
          <p:nvPr/>
        </p:nvSpPr>
        <p:spPr>
          <a:xfrm>
            <a:off x="5775808"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5181448"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Outcome Owner</a:t>
            </a:r>
            <a:endParaRPr lang="en-US" sz="1300" dirty="0"/>
          </a:p>
        </p:txBody>
      </p:sp>
      <p:sp>
        <p:nvSpPr>
          <p:cNvPr id="16" name="Text 14"/>
          <p:cNvSpPr txBox="1"/>
          <p:nvPr/>
        </p:nvSpPr>
        <p:spPr>
          <a:xfrm>
            <a:off x="5181448"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DAY 90 TARGET</a:t>
            </a:r>
            <a:endParaRPr lang="en-US" sz="1000" dirty="0"/>
          </a:p>
        </p:txBody>
      </p:sp>
      <p:sp>
        <p:nvSpPr>
          <p:cNvPr id="17" name="stage 4"/>
          <p:cNvSpPr/>
          <p:nvPr/>
        </p:nvSpPr>
        <p:spPr>
          <a:xfrm>
            <a:off x="8279663" y="2743200"/>
            <a:ext cx="640080" cy="640080"/>
          </a:xfrm>
          <a:prstGeom prst="ellipse">
            <a:avLst/>
          </a:prstGeom>
          <a:solidFill>
            <a:schemeClr val="bg1"/>
          </a:solidFill>
          <a:ln w="25400">
            <a:solidFill>
              <a:schemeClr val="accent5"/>
            </a:solidFill>
            <a:prstDash val="solid"/>
          </a:ln>
        </p:spPr>
      </p:sp>
      <p:sp>
        <p:nvSpPr>
          <p:cNvPr id="18" name="Text 16"/>
          <p:cNvSpPr txBox="1"/>
          <p:nvPr/>
        </p:nvSpPr>
        <p:spPr>
          <a:xfrm>
            <a:off x="8279663"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4</a:t>
            </a:r>
            <a:endParaRPr lang="en-US" sz="1600" dirty="0"/>
          </a:p>
        </p:txBody>
      </p:sp>
      <p:sp>
        <p:nvSpPr>
          <p:cNvPr id="19" name="Text 17"/>
          <p:cNvSpPr txBox="1"/>
          <p:nvPr/>
        </p:nvSpPr>
        <p:spPr>
          <a:xfrm>
            <a:off x="7685303"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Operator</a:t>
            </a:r>
            <a:endParaRPr lang="en-US" sz="1300" dirty="0"/>
          </a:p>
        </p:txBody>
      </p:sp>
      <p:sp>
        <p:nvSpPr>
          <p:cNvPr id="20" name="stage 5"/>
          <p:cNvSpPr/>
          <p:nvPr/>
        </p:nvSpPr>
        <p:spPr>
          <a:xfrm>
            <a:off x="10783519" y="2743200"/>
            <a:ext cx="640080" cy="640080"/>
          </a:xfrm>
          <a:prstGeom prst="ellipse">
            <a:avLst/>
          </a:prstGeom>
          <a:solidFill>
            <a:schemeClr val="accent1"/>
          </a:solidFill>
          <a:ln w="25400">
            <a:solidFill>
              <a:schemeClr val="accent1"/>
            </a:solidFill>
            <a:prstDash val="solid"/>
          </a:ln>
        </p:spPr>
      </p:sp>
      <p:sp>
        <p:nvSpPr>
          <p:cNvPr id="21" name="Text 19"/>
          <p:cNvSpPr txBox="1"/>
          <p:nvPr/>
        </p:nvSpPr>
        <p:spPr>
          <a:xfrm>
            <a:off x="10783519"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0189159"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Freedom</a:t>
            </a:r>
            <a:endParaRPr lang="en-US" sz="1300" dirty="0"/>
          </a:p>
        </p:txBody>
      </p:sp>
      <p:sp>
        <p:nvSpPr>
          <p:cNvPr id="23" name="Text 21"/>
          <p:cNvSpPr txBox="1"/>
          <p:nvPr/>
        </p:nvSpPr>
        <p:spPr>
          <a:xfrm>
            <a:off x="10189159"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MONTH 6 TARGET</a:t>
            </a:r>
            <a:endParaRPr lang="en-US" sz="1000" dirty="0"/>
          </a:p>
        </p:txBody>
      </p:sp>
      <p:sp>
        <p:nvSpPr>
          <p:cNvPr id="24" name="callout"/>
          <p:cNvSpPr/>
          <p:nvPr/>
        </p:nvSpPr>
        <p:spPr>
          <a:xfrm>
            <a:off x="630936" y="4572000"/>
            <a:ext cx="10929823" cy="868680"/>
          </a:xfrm>
          <a:prstGeom prst="roundRect">
            <a:avLst>
              <a:gd name="adj" fmla="val 8421"/>
            </a:avLst>
          </a:prstGeom>
          <a:solidFill>
            <a:schemeClr val="accent4"/>
          </a:solidFill>
          <a:ln/>
        </p:spPr>
      </p:sp>
      <p:sp>
        <p:nvSpPr>
          <p:cNvPr id="25" name="Text 23"/>
          <p:cNvSpPr txBox="1"/>
          <p:nvPr/>
        </p:nvSpPr>
        <p:spPr>
          <a:xfrm>
            <a:off x="859536" y="457200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Tom wants someone who includes him less as they master each step. We aim for Outcome Owner by Day 90 (the whole SME process) and Freedom by Month 6, as the C&amp;I brokerage software takes three to six months to learn well.</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04  ·  DESIGN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Role We Recommend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 Broker Administration Assistant who owns six areas, so Tom can focus on clients and growth.</a:t>
            </a:r>
            <a:endParaRPr lang="en-US" sz="1300" dirty="0"/>
          </a:p>
        </p:txBody>
      </p:sp>
      <p:sp>
        <p:nvSpPr>
          <p:cNvPr id="5" name="card"/>
          <p:cNvSpPr/>
          <p:nvPr/>
        </p:nvSpPr>
        <p:spPr>
          <a:xfrm>
            <a:off x="630936" y="1965960"/>
            <a:ext cx="3521354" cy="1874520"/>
          </a:xfrm>
          <a:prstGeom prst="roundRect">
            <a:avLst>
              <a:gd name="adj" fmla="val 3902"/>
            </a:avLst>
          </a:prstGeom>
          <a:solidFill>
            <a:schemeClr val="bg2"/>
          </a:solidFill>
          <a:ln/>
        </p:spPr>
      </p:sp>
      <p:sp>
        <p:nvSpPr>
          <p:cNvPr id="6" name="area 1 circle"/>
          <p:cNvSpPr/>
          <p:nvPr/>
        </p:nvSpPr>
        <p:spPr>
          <a:xfrm>
            <a:off x="905256" y="2240280"/>
            <a:ext cx="502920" cy="502920"/>
          </a:xfrm>
          <a:prstGeom prst="ellipse">
            <a:avLst/>
          </a:prstGeom>
          <a:solidFill>
            <a:schemeClr val="accent1"/>
          </a:solidFill>
          <a:ln/>
        </p:spPr>
      </p:sp>
      <p:pic>
        <p:nvPicPr>
          <p:cNvPr id="7" name="area 1" descr="area 1">    </p:cNvPr>
          <p:cNvPicPr>
            <a:picLocks noChangeAspect="1"/>
          </p:cNvPicPr>
          <p:nvPr/>
        </p:nvPicPr>
        <p:blipFill>
          <a:blip r:embed="rId1"/>
          <a:stretch>
            <a:fillRect/>
          </a:stretch>
        </p:blipFill>
        <p:spPr>
          <a:xfrm>
            <a:off x="1030986" y="2366010"/>
            <a:ext cx="251460" cy="251460"/>
          </a:xfrm>
          <a:prstGeom prst="rect">
            <a:avLst/>
          </a:prstGeom>
        </p:spPr>
      </p:pic>
      <p:sp>
        <p:nvSpPr>
          <p:cNvPr id="8" name="Text 5"/>
          <p:cNvSpPr txBox="1"/>
          <p:nvPr/>
        </p:nvSpPr>
        <p:spPr>
          <a:xfrm>
            <a:off x="1545336"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SME Comparison Reports</a:t>
            </a:r>
            <a:endParaRPr lang="en-US" sz="1400" dirty="0"/>
          </a:p>
        </p:txBody>
      </p:sp>
      <p:sp>
        <p:nvSpPr>
          <p:cNvPr id="9" name="Text 6"/>
          <p:cNvSpPr txBox="1"/>
          <p:nvPr/>
        </p:nvSpPr>
        <p:spPr>
          <a:xfrm>
            <a:off x="905256"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Producing accurate comparison reports the same day a bill arrives.</a:t>
            </a:r>
            <a:endParaRPr lang="en-US" sz="1200" dirty="0"/>
          </a:p>
        </p:txBody>
      </p:sp>
      <p:sp>
        <p:nvSpPr>
          <p:cNvPr id="10" name="card"/>
          <p:cNvSpPr/>
          <p:nvPr/>
        </p:nvSpPr>
        <p:spPr>
          <a:xfrm>
            <a:off x="4335170" y="1965960"/>
            <a:ext cx="3521354" cy="1874520"/>
          </a:xfrm>
          <a:prstGeom prst="roundRect">
            <a:avLst>
              <a:gd name="adj" fmla="val 3902"/>
            </a:avLst>
          </a:prstGeom>
          <a:solidFill>
            <a:schemeClr val="bg2"/>
          </a:solidFill>
          <a:ln/>
        </p:spPr>
      </p:sp>
      <p:sp>
        <p:nvSpPr>
          <p:cNvPr id="11" name="area 2 circle"/>
          <p:cNvSpPr/>
          <p:nvPr/>
        </p:nvSpPr>
        <p:spPr>
          <a:xfrm>
            <a:off x="4609490" y="2240280"/>
            <a:ext cx="502920" cy="502920"/>
          </a:xfrm>
          <a:prstGeom prst="ellipse">
            <a:avLst/>
          </a:prstGeom>
          <a:solidFill>
            <a:schemeClr val="accent1"/>
          </a:solidFill>
          <a:ln/>
        </p:spPr>
      </p:sp>
      <p:pic>
        <p:nvPicPr>
          <p:cNvPr id="12" name="area 2" descr="area 2">    </p:cNvPr>
          <p:cNvPicPr>
            <a:picLocks noChangeAspect="1"/>
          </p:cNvPicPr>
          <p:nvPr/>
        </p:nvPicPr>
        <p:blipFill>
          <a:blip r:embed="rId2"/>
          <a:stretch>
            <a:fillRect/>
          </a:stretch>
        </p:blipFill>
        <p:spPr>
          <a:xfrm>
            <a:off x="4735220" y="2366010"/>
            <a:ext cx="251460" cy="251460"/>
          </a:xfrm>
          <a:prstGeom prst="rect">
            <a:avLst/>
          </a:prstGeom>
        </p:spPr>
      </p:pic>
      <p:sp>
        <p:nvSpPr>
          <p:cNvPr id="13" name="Text 9"/>
          <p:cNvSpPr txBox="1"/>
          <p:nvPr/>
        </p:nvSpPr>
        <p:spPr>
          <a:xfrm>
            <a:off x="5249570"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Contracts, LOAs &amp; Invoicing</a:t>
            </a:r>
            <a:endParaRPr lang="en-US" sz="1400" dirty="0"/>
          </a:p>
        </p:txBody>
      </p:sp>
      <p:sp>
        <p:nvSpPr>
          <p:cNvPr id="14" name="Text 10"/>
          <p:cNvSpPr txBox="1"/>
          <p:nvPr/>
        </p:nvSpPr>
        <p:spPr>
          <a:xfrm>
            <a:off x="4609490"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Contracts and LOAs through DocuSign, and monthly draft invoices in Xero.</a:t>
            </a:r>
            <a:endParaRPr lang="en-US" sz="1200" dirty="0"/>
          </a:p>
        </p:txBody>
      </p:sp>
      <p:sp>
        <p:nvSpPr>
          <p:cNvPr id="15" name="card"/>
          <p:cNvSpPr/>
          <p:nvPr/>
        </p:nvSpPr>
        <p:spPr>
          <a:xfrm>
            <a:off x="8039405" y="1965960"/>
            <a:ext cx="3521354" cy="1874520"/>
          </a:xfrm>
          <a:prstGeom prst="roundRect">
            <a:avLst>
              <a:gd name="adj" fmla="val 3902"/>
            </a:avLst>
          </a:prstGeom>
          <a:solidFill>
            <a:schemeClr val="bg2"/>
          </a:solidFill>
          <a:ln/>
        </p:spPr>
      </p:sp>
      <p:sp>
        <p:nvSpPr>
          <p:cNvPr id="16" name="area 3 circle"/>
          <p:cNvSpPr/>
          <p:nvPr/>
        </p:nvSpPr>
        <p:spPr>
          <a:xfrm>
            <a:off x="8313725" y="2240280"/>
            <a:ext cx="502920" cy="502920"/>
          </a:xfrm>
          <a:prstGeom prst="ellipse">
            <a:avLst/>
          </a:prstGeom>
          <a:solidFill>
            <a:schemeClr val="accent1"/>
          </a:solidFill>
          <a:ln/>
        </p:spPr>
      </p:sp>
      <p:pic>
        <p:nvPicPr>
          <p:cNvPr id="17" name="area 3" descr="area 3">    </p:cNvPr>
          <p:cNvPicPr>
            <a:picLocks noChangeAspect="1"/>
          </p:cNvPicPr>
          <p:nvPr/>
        </p:nvPicPr>
        <p:blipFill>
          <a:blip r:embed="rId3"/>
          <a:stretch>
            <a:fillRect/>
          </a:stretch>
        </p:blipFill>
        <p:spPr>
          <a:xfrm>
            <a:off x="8439455" y="2366010"/>
            <a:ext cx="251460" cy="251460"/>
          </a:xfrm>
          <a:prstGeom prst="rect">
            <a:avLst/>
          </a:prstGeom>
        </p:spPr>
      </p:pic>
      <p:sp>
        <p:nvSpPr>
          <p:cNvPr id="18" name="Text 13"/>
          <p:cNvSpPr txBox="1"/>
          <p:nvPr/>
        </p:nvSpPr>
        <p:spPr>
          <a:xfrm>
            <a:off x="8953805"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C&amp;I Data &amp; Tenders</a:t>
            </a:r>
            <a:endParaRPr lang="en-US" sz="1400" dirty="0"/>
          </a:p>
        </p:txBody>
      </p:sp>
      <p:sp>
        <p:nvSpPr>
          <p:cNvPr id="19" name="Text 14"/>
          <p:cNvSpPr txBox="1"/>
          <p:nvPr/>
        </p:nvSpPr>
        <p:spPr>
          <a:xfrm>
            <a:off x="8313725"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Setting up accounts, chasing retailer data and compiling tenders.</a:t>
            </a:r>
            <a:endParaRPr lang="en-US" sz="1200" dirty="0"/>
          </a:p>
        </p:txBody>
      </p:sp>
      <p:sp>
        <p:nvSpPr>
          <p:cNvPr id="20" name="card"/>
          <p:cNvSpPr/>
          <p:nvPr/>
        </p:nvSpPr>
        <p:spPr>
          <a:xfrm>
            <a:off x="630936" y="4023360"/>
            <a:ext cx="3521354" cy="1874520"/>
          </a:xfrm>
          <a:prstGeom prst="roundRect">
            <a:avLst>
              <a:gd name="adj" fmla="val 3902"/>
            </a:avLst>
          </a:prstGeom>
          <a:solidFill>
            <a:schemeClr val="bg2"/>
          </a:solidFill>
          <a:ln/>
        </p:spPr>
      </p:sp>
      <p:sp>
        <p:nvSpPr>
          <p:cNvPr id="21" name="area 4 circle"/>
          <p:cNvSpPr/>
          <p:nvPr/>
        </p:nvSpPr>
        <p:spPr>
          <a:xfrm>
            <a:off x="905256" y="4297680"/>
            <a:ext cx="502920" cy="502920"/>
          </a:xfrm>
          <a:prstGeom prst="ellipse">
            <a:avLst/>
          </a:prstGeom>
          <a:solidFill>
            <a:schemeClr val="accent1"/>
          </a:solidFill>
          <a:ln/>
        </p:spPr>
      </p:sp>
      <p:pic>
        <p:nvPicPr>
          <p:cNvPr id="22" name="area 4" descr="area 4">    </p:cNvPr>
          <p:cNvPicPr>
            <a:picLocks noChangeAspect="1"/>
          </p:cNvPicPr>
          <p:nvPr/>
        </p:nvPicPr>
        <p:blipFill>
          <a:blip r:embed="rId4"/>
          <a:stretch>
            <a:fillRect/>
          </a:stretch>
        </p:blipFill>
        <p:spPr>
          <a:xfrm>
            <a:off x="1030986" y="4423410"/>
            <a:ext cx="251460" cy="251460"/>
          </a:xfrm>
          <a:prstGeom prst="rect">
            <a:avLst/>
          </a:prstGeom>
        </p:spPr>
      </p:pic>
      <p:sp>
        <p:nvSpPr>
          <p:cNvPr id="23" name="Text 17"/>
          <p:cNvSpPr txBox="1"/>
          <p:nvPr/>
        </p:nvSpPr>
        <p:spPr>
          <a:xfrm>
            <a:off x="1545336"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Solar Logistics</a:t>
            </a:r>
            <a:endParaRPr lang="en-US" sz="1400" dirty="0"/>
          </a:p>
        </p:txBody>
      </p:sp>
      <p:sp>
        <p:nvSpPr>
          <p:cNvPr id="24" name="Text 18"/>
          <p:cNvSpPr txBox="1"/>
          <p:nvPr/>
        </p:nvSpPr>
        <p:spPr>
          <a:xfrm>
            <a:off x="905256"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Coordinating suppliers, freight and subcontractors around install dates.</a:t>
            </a:r>
            <a:endParaRPr lang="en-US" sz="1200" dirty="0"/>
          </a:p>
        </p:txBody>
      </p:sp>
      <p:sp>
        <p:nvSpPr>
          <p:cNvPr id="25" name="card"/>
          <p:cNvSpPr/>
          <p:nvPr/>
        </p:nvSpPr>
        <p:spPr>
          <a:xfrm>
            <a:off x="4335170" y="4023360"/>
            <a:ext cx="3521354" cy="1874520"/>
          </a:xfrm>
          <a:prstGeom prst="roundRect">
            <a:avLst>
              <a:gd name="adj" fmla="val 3902"/>
            </a:avLst>
          </a:prstGeom>
          <a:solidFill>
            <a:schemeClr val="bg2"/>
          </a:solidFill>
          <a:ln/>
        </p:spPr>
      </p:sp>
      <p:sp>
        <p:nvSpPr>
          <p:cNvPr id="26" name="area 5 circle"/>
          <p:cNvSpPr/>
          <p:nvPr/>
        </p:nvSpPr>
        <p:spPr>
          <a:xfrm>
            <a:off x="4609490" y="4297680"/>
            <a:ext cx="502920" cy="502920"/>
          </a:xfrm>
          <a:prstGeom prst="ellipse">
            <a:avLst/>
          </a:prstGeom>
          <a:solidFill>
            <a:schemeClr val="accent1"/>
          </a:solidFill>
          <a:ln/>
        </p:spPr>
      </p:sp>
      <p:pic>
        <p:nvPicPr>
          <p:cNvPr id="27" name="area 5" descr="area 5">    </p:cNvPr>
          <p:cNvPicPr>
            <a:picLocks noChangeAspect="1"/>
          </p:cNvPicPr>
          <p:nvPr/>
        </p:nvPicPr>
        <p:blipFill>
          <a:blip r:embed="rId5"/>
          <a:stretch>
            <a:fillRect/>
          </a:stretch>
        </p:blipFill>
        <p:spPr>
          <a:xfrm>
            <a:off x="4735220" y="4423410"/>
            <a:ext cx="251460" cy="251460"/>
          </a:xfrm>
          <a:prstGeom prst="rect">
            <a:avLst/>
          </a:prstGeom>
        </p:spPr>
      </p:pic>
      <p:sp>
        <p:nvSpPr>
          <p:cNvPr id="28" name="Text 21"/>
          <p:cNvSpPr txBox="1"/>
          <p:nvPr/>
        </p:nvSpPr>
        <p:spPr>
          <a:xfrm>
            <a:off x="5249570"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CRM &amp; Pipeline</a:t>
            </a:r>
            <a:endParaRPr lang="en-US" sz="1400" dirty="0"/>
          </a:p>
        </p:txBody>
      </p:sp>
      <p:sp>
        <p:nvSpPr>
          <p:cNvPr id="29" name="Text 22"/>
          <p:cNvSpPr txBox="1"/>
          <p:nvPr/>
        </p:nvSpPr>
        <p:spPr>
          <a:xfrm>
            <a:off x="4609490"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Keeping GoHighLevel current, with a next step logged on every lead.</a:t>
            </a:r>
            <a:endParaRPr lang="en-US" sz="1200" dirty="0"/>
          </a:p>
        </p:txBody>
      </p:sp>
      <p:sp>
        <p:nvSpPr>
          <p:cNvPr id="30" name="card"/>
          <p:cNvSpPr/>
          <p:nvPr/>
        </p:nvSpPr>
        <p:spPr>
          <a:xfrm>
            <a:off x="8039405" y="4023360"/>
            <a:ext cx="3521354" cy="1874520"/>
          </a:xfrm>
          <a:prstGeom prst="roundRect">
            <a:avLst>
              <a:gd name="adj" fmla="val 3902"/>
            </a:avLst>
          </a:prstGeom>
          <a:solidFill>
            <a:schemeClr val="bg2"/>
          </a:solidFill>
          <a:ln/>
        </p:spPr>
      </p:sp>
      <p:sp>
        <p:nvSpPr>
          <p:cNvPr id="31" name="area 6 circle"/>
          <p:cNvSpPr/>
          <p:nvPr/>
        </p:nvSpPr>
        <p:spPr>
          <a:xfrm>
            <a:off x="8313725" y="4297680"/>
            <a:ext cx="502920" cy="502920"/>
          </a:xfrm>
          <a:prstGeom prst="ellipse">
            <a:avLst/>
          </a:prstGeom>
          <a:solidFill>
            <a:schemeClr val="accent1"/>
          </a:solidFill>
          <a:ln/>
        </p:spPr>
      </p:sp>
      <p:pic>
        <p:nvPicPr>
          <p:cNvPr id="32" name="area 6" descr="area 6">    </p:cNvPr>
          <p:cNvPicPr>
            <a:picLocks noChangeAspect="1"/>
          </p:cNvPicPr>
          <p:nvPr/>
        </p:nvPicPr>
        <p:blipFill>
          <a:blip r:embed="rId6"/>
          <a:stretch>
            <a:fillRect/>
          </a:stretch>
        </p:blipFill>
        <p:spPr>
          <a:xfrm>
            <a:off x="8439455" y="4423410"/>
            <a:ext cx="251460" cy="251460"/>
          </a:xfrm>
          <a:prstGeom prst="rect">
            <a:avLst/>
          </a:prstGeom>
        </p:spPr>
      </p:pic>
      <p:sp>
        <p:nvSpPr>
          <p:cNvPr id="33" name="Text 25"/>
          <p:cNvSpPr txBox="1"/>
          <p:nvPr/>
        </p:nvSpPr>
        <p:spPr>
          <a:xfrm>
            <a:off x="8953805"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SOPs &amp; Improvement</a:t>
            </a:r>
            <a:endParaRPr lang="en-US" sz="1400" dirty="0"/>
          </a:p>
        </p:txBody>
      </p:sp>
      <p:sp>
        <p:nvSpPr>
          <p:cNvPr id="34" name="Text 26"/>
          <p:cNvSpPr txBox="1"/>
          <p:nvPr/>
        </p:nvSpPr>
        <p:spPr>
          <a:xfrm>
            <a:off x="8313725"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Documenting every core task and proposing an improvement each quarter.</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05  ·  DISCOVER</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Securing the Right Hire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Recommended role: Broker Administration Assistant (full-time, 40 hrs/week, Mon–Fri 9am–6pm Sydney time)</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Text 4"/>
          <p:cNvSpPr txBox="1"/>
          <p:nvPr/>
        </p:nvSpPr>
        <p:spPr>
          <a:xfrm>
            <a:off x="905256"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EXPERIENCE</a:t>
            </a:r>
            <a:endParaRPr lang="en-US" sz="1050" dirty="0"/>
          </a:p>
        </p:txBody>
      </p:sp>
      <p:sp>
        <p:nvSpPr>
          <p:cNvPr id="7" name="Text 5"/>
          <p:cNvSpPr txBox="1"/>
          <p:nvPr/>
        </p:nvSpPr>
        <p:spPr>
          <a:xfrm>
            <a:off x="905256"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3–5+ years in data operations or administration, ideally B2B. Energy, brokerage or solar exposure is highly regarded, not essential.</a:t>
            </a:r>
            <a:endParaRPr lang="en-US" sz="1250" dirty="0"/>
          </a:p>
        </p:txBody>
      </p:sp>
      <p:sp>
        <p:nvSpPr>
          <p:cNvPr id="8"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9" name="Text 7"/>
          <p:cNvSpPr txBox="1"/>
          <p:nvPr/>
        </p:nvSpPr>
        <p:spPr>
          <a:xfrm>
            <a:off x="6461608"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KEY SKILLS</a:t>
            </a:r>
            <a:endParaRPr lang="en-US" sz="1050" dirty="0"/>
          </a:p>
        </p:txBody>
      </p:sp>
      <p:sp>
        <p:nvSpPr>
          <p:cNvPr id="10" name="Text 8"/>
          <p:cNvSpPr txBox="1"/>
          <p:nvPr/>
        </p:nvSpPr>
        <p:spPr>
          <a:xfrm>
            <a:off x="6461608"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Very high attention to detail; strong Excel; confident written communication with retailers, clients and suppliers; a process-builder mindset.</a:t>
            </a:r>
            <a:endParaRPr lang="en-US" sz="1250" dirty="0"/>
          </a:p>
        </p:txBody>
      </p:sp>
      <p:sp>
        <p:nvSpPr>
          <p:cNvPr id="11"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2" name="Text 10"/>
          <p:cNvSpPr txBox="1"/>
          <p:nvPr/>
        </p:nvSpPr>
        <p:spPr>
          <a:xfrm>
            <a:off x="905256"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TOOLS &amp; SYSTEMS</a:t>
            </a:r>
            <a:endParaRPr lang="en-US" sz="1050" dirty="0"/>
          </a:p>
        </p:txBody>
      </p:sp>
      <p:sp>
        <p:nvSpPr>
          <p:cNvPr id="13" name="Text 11"/>
          <p:cNvSpPr txBox="1"/>
          <p:nvPr/>
        </p:nvSpPr>
        <p:spPr>
          <a:xfrm>
            <a:off x="905256"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Xero (non-negotiable), GoHighLevel or another CRM, Excel, DocuSign, ClickUp, OpenSolar, the brokerage software and Claude.</a:t>
            </a:r>
            <a:endParaRPr lang="en-US" sz="1250" dirty="0"/>
          </a:p>
        </p:txBody>
      </p:sp>
      <p:sp>
        <p:nvSpPr>
          <p:cNvPr id="14"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15" name="Text 13"/>
          <p:cNvSpPr txBox="1"/>
          <p:nvPr/>
        </p:nvSpPr>
        <p:spPr>
          <a:xfrm>
            <a:off x="6461608"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PERSONALITY &amp; CULTURE FIT</a:t>
            </a:r>
            <a:endParaRPr lang="en-US" sz="1050" dirty="0"/>
          </a:p>
        </p:txBody>
      </p:sp>
      <p:sp>
        <p:nvSpPr>
          <p:cNvPr id="16" name="Text 14"/>
          <p:cNvSpPr txBox="1"/>
          <p:nvPr/>
        </p:nvSpPr>
        <p:spPr>
          <a:xfrm>
            <a:off x="6461608"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A fast learner who acts rather than hesitates. Checks before sending, uses the SOPs, owns mistakes straight away and suggests improvements.</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06</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Investment Overview</a:t>
            </a:r>
            <a:endParaRPr lang="en-US" sz="3000" dirty="0"/>
          </a:p>
        </p:txBody>
      </p:sp>
      <p:sp>
        <p:nvSpPr>
          <p:cNvPr id="4" name="card"/>
          <p:cNvSpPr/>
          <p:nvPr/>
        </p:nvSpPr>
        <p:spPr>
          <a:xfrm>
            <a:off x="630936" y="1508760"/>
            <a:ext cx="5327752" cy="1737360"/>
          </a:xfrm>
          <a:prstGeom prst="roundRect">
            <a:avLst>
              <a:gd name="adj" fmla="val 4211"/>
            </a:avLst>
          </a:prstGeom>
          <a:solidFill>
            <a:schemeClr val="bg1"/>
          </a:solidFill>
          <a:ln w="12700">
            <a:solidFill>
              <a:schemeClr val="accent1"/>
            </a:solidFill>
            <a:prstDash val="solid"/>
          </a:ln>
        </p:spPr>
      </p:sp>
      <p:sp>
        <p:nvSpPr>
          <p:cNvPr id="5" name="Text 3"/>
          <p:cNvSpPr txBox="1"/>
          <p:nvPr/>
        </p:nvSpPr>
        <p:spPr>
          <a:xfrm>
            <a:off x="950976"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ANGEL MANAGED  ·  EO DISCOUNT</a:t>
            </a:r>
            <a:endParaRPr lang="en-US" sz="1050" dirty="0"/>
          </a:p>
        </p:txBody>
      </p:sp>
      <p:sp>
        <p:nvSpPr>
          <p:cNvPr id="6" name="Text 4"/>
          <p:cNvSpPr txBox="1"/>
          <p:nvPr/>
        </p:nvSpPr>
        <p:spPr>
          <a:xfrm>
            <a:off x="950976" y="2057400"/>
            <a:ext cx="4687672"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$997</a:t>
            </a:r>
            <a:endParaRPr lang="en-US" sz="3200" dirty="0"/>
          </a:p>
        </p:txBody>
      </p:sp>
      <p:sp>
        <p:nvSpPr>
          <p:cNvPr id="7" name="Text 5"/>
          <p:cNvSpPr txBox="1"/>
          <p:nvPr/>
        </p:nvSpPr>
        <p:spPr>
          <a:xfrm>
            <a:off x="950976"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agency fee  ·  excl. GST</a:t>
            </a:r>
            <a:endParaRPr lang="en-US" sz="1250" dirty="0"/>
          </a:p>
        </p:txBody>
      </p:sp>
      <p:sp>
        <p:nvSpPr>
          <p:cNvPr id="8" name="card"/>
          <p:cNvSpPr/>
          <p:nvPr/>
        </p:nvSpPr>
        <p:spPr>
          <a:xfrm>
            <a:off x="6233008" y="1508760"/>
            <a:ext cx="5327752" cy="1737360"/>
          </a:xfrm>
          <a:prstGeom prst="roundRect">
            <a:avLst>
              <a:gd name="adj" fmla="val 4211"/>
            </a:avLst>
          </a:prstGeom>
          <a:solidFill>
            <a:schemeClr val="bg2"/>
          </a:solidFill>
          <a:ln/>
        </p:spPr>
      </p:sp>
      <p:sp>
        <p:nvSpPr>
          <p:cNvPr id="9" name="Text 7"/>
          <p:cNvSpPr txBox="1"/>
          <p:nvPr/>
        </p:nvSpPr>
        <p:spPr>
          <a:xfrm>
            <a:off x="6553048"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TOTAL  ·  FULL-TIME</a:t>
            </a:r>
            <a:endParaRPr lang="en-US" sz="1050" dirty="0"/>
          </a:p>
        </p:txBody>
      </p:sp>
      <p:sp>
        <p:nvSpPr>
          <p:cNvPr id="10" name="Text 8"/>
          <p:cNvSpPr txBox="1"/>
          <p:nvPr/>
        </p:nvSpPr>
        <p:spPr>
          <a:xfrm>
            <a:off x="6553048" y="2057400"/>
            <a:ext cx="4687672" cy="6400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$2,500 – $3,000</a:t>
            </a:r>
            <a:endParaRPr lang="en-US" sz="3200" dirty="0"/>
          </a:p>
        </p:txBody>
      </p:sp>
      <p:sp>
        <p:nvSpPr>
          <p:cNvPr id="11" name="Text 9"/>
          <p:cNvSpPr txBox="1"/>
          <p:nvPr/>
        </p:nvSpPr>
        <p:spPr>
          <a:xfrm>
            <a:off x="6553048"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incl. your Assistant’s rate  ·  excl. GST</a:t>
            </a:r>
            <a:endParaRPr lang="en-US" sz="1250" dirty="0"/>
          </a:p>
        </p:txBody>
      </p:sp>
      <p:sp>
        <p:nvSpPr>
          <p:cNvPr id="12" name="card"/>
          <p:cNvSpPr/>
          <p:nvPr/>
        </p:nvSpPr>
        <p:spPr>
          <a:xfrm>
            <a:off x="630936" y="3474720"/>
            <a:ext cx="10929823" cy="1051560"/>
          </a:xfrm>
          <a:prstGeom prst="roundRect">
            <a:avLst>
              <a:gd name="adj" fmla="val 6957"/>
            </a:avLst>
          </a:prstGeom>
          <a:solidFill>
            <a:schemeClr val="bg2"/>
          </a:solidFill>
          <a:ln/>
        </p:spPr>
      </p:sp>
      <p:sp>
        <p:nvSpPr>
          <p:cNvPr id="13" name="Text 11"/>
          <p:cNvSpPr txBox="1"/>
          <p:nvPr/>
        </p:nvSpPr>
        <p:spPr>
          <a:xfrm>
            <a:off x="950976" y="3474720"/>
            <a:ext cx="10289743" cy="1051560"/>
          </a:xfrm>
          <a:prstGeom prst="rect">
            <a:avLst/>
          </a:prstGeom>
          <a:noFill/>
          <a:ln/>
        </p:spPr>
        <p:txBody>
          <a:bodyPr wrap="square" lIns="0" tIns="0" rIns="0" bIns="0" rtlCol="0" anchor="ctr"/>
          <a:lstStyle/>
          <a:p>
            <a:pPr indent="0" marL="0">
              <a:buNone/>
            </a:pPr>
            <a:r>
              <a:rPr lang="en-US" sz="1250" b="1" dirty="0">
                <a:solidFill>
                  <a:schemeClr val="tx1"/>
                </a:solidFill>
              </a:rPr>
              <a:t>Breakdown: </a:t>
            </a:r>
            <a:pPr indent="0" marL="0">
              <a:buNone/>
            </a:pPr>
            <a:r>
              <a:rPr lang="en-US" sz="1250" dirty="0">
                <a:solidFill>
                  <a:schemeClr val="accent3"/>
                </a:solidFill>
              </a:rPr>
              <a:t>the agency fee is $1,200 less your 10% EO discount, and covers payroll, a team leader, health vouchers, incentives, bonuses and HR support. Your Assistant’s hourly rate is paid to them in full; you see each candidate’s rate on their profile.</a:t>
            </a:r>
            <a:endParaRPr lang="en-US" sz="1250" dirty="0"/>
          </a:p>
        </p:txBody>
      </p:sp>
      <p:sp>
        <p:nvSpPr>
          <p:cNvPr id="14" name="card"/>
          <p:cNvSpPr/>
          <p:nvPr/>
        </p:nvSpPr>
        <p:spPr>
          <a:xfrm>
            <a:off x="630936" y="4709160"/>
            <a:ext cx="10929823" cy="1051560"/>
          </a:xfrm>
          <a:prstGeom prst="roundRect">
            <a:avLst>
              <a:gd name="adj" fmla="val 6957"/>
            </a:avLst>
          </a:prstGeom>
          <a:solidFill>
            <a:schemeClr val="accent4"/>
          </a:solidFill>
          <a:ln/>
        </p:spPr>
      </p:sp>
      <p:sp>
        <p:nvSpPr>
          <p:cNvPr id="15" name="Text 13"/>
          <p:cNvSpPr txBox="1"/>
          <p:nvPr/>
        </p:nvSpPr>
        <p:spPr>
          <a:xfrm>
            <a:off x="950976" y="4709160"/>
            <a:ext cx="10289743" cy="1051560"/>
          </a:xfrm>
          <a:prstGeom prst="rect">
            <a:avLst/>
          </a:prstGeom>
          <a:noFill/>
          <a:ln/>
        </p:spPr>
        <p:txBody>
          <a:bodyPr wrap="square" lIns="0" tIns="0" rIns="0" bIns="0" rtlCol="0" anchor="ctr"/>
          <a:lstStyle/>
          <a:p>
            <a:pPr indent="0" marL="0">
              <a:buNone/>
            </a:pPr>
            <a:r>
              <a:rPr lang="en-US" sz="1250" b="1" dirty="0">
                <a:solidFill>
                  <a:schemeClr val="accent1"/>
                </a:solidFill>
              </a:rPr>
              <a:t>Terms discussed: </a:t>
            </a:r>
            <a:pPr indent="0" marL="0">
              <a:buNone/>
            </a:pPr>
            <a:r>
              <a:rPr lang="en-US" sz="1250" dirty="0">
                <a:solidFill>
                  <a:schemeClr val="tx1"/>
                </a:solidFill>
              </a:rPr>
              <a:t>$500 refundable deposit (paid 1 October) · 3-month minimum, then 30-day notice · free replacement any time, with a 1-week trial · invoiced monthly in AUD · Pacific Indemnity cover.</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07</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Next Steps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We check in at every stage. If something isn’t working, we adjust. If it’s working, we build on it.</a:t>
            </a:r>
            <a:endParaRPr lang="en-US" sz="1300" dirty="0"/>
          </a:p>
        </p:txBody>
      </p:sp>
      <p:sp>
        <p:nvSpPr>
          <p:cNvPr id="5" name="card"/>
          <p:cNvSpPr/>
          <p:nvPr/>
        </p:nvSpPr>
        <p:spPr>
          <a:xfrm>
            <a:off x="630936" y="2011680"/>
            <a:ext cx="10929823" cy="640080"/>
          </a:xfrm>
          <a:prstGeom prst="roundRect">
            <a:avLst>
              <a:gd name="adj" fmla="val 11429"/>
            </a:avLst>
          </a:prstGeom>
          <a:solidFill>
            <a:schemeClr val="bg1"/>
          </a:solidFill>
          <a:ln w="12700">
            <a:solidFill>
              <a:schemeClr val="accent5"/>
            </a:solidFill>
            <a:prstDash val="solid"/>
          </a:ln>
        </p:spPr>
      </p:sp>
      <p:sp>
        <p:nvSpPr>
          <p:cNvPr id="6" name="number 1"/>
          <p:cNvSpPr/>
          <p:nvPr/>
        </p:nvSpPr>
        <p:spPr>
          <a:xfrm>
            <a:off x="859536" y="2139696"/>
            <a:ext cx="384048" cy="384048"/>
          </a:xfrm>
          <a:prstGeom prst="ellipse">
            <a:avLst/>
          </a:prstGeom>
          <a:solidFill>
            <a:schemeClr val="accent1"/>
          </a:solidFill>
          <a:ln/>
        </p:spPr>
      </p:sp>
      <p:sp>
        <p:nvSpPr>
          <p:cNvPr id="7" name="Text 5"/>
          <p:cNvSpPr txBox="1"/>
          <p:nvPr/>
        </p:nvSpPr>
        <p:spPr>
          <a:xfrm>
            <a:off x="859536" y="2139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011680"/>
            <a:ext cx="9832543" cy="640080"/>
          </a:xfrm>
          <a:prstGeom prst="rect">
            <a:avLst/>
          </a:prstGeom>
          <a:noFill/>
          <a:ln/>
        </p:spPr>
        <p:txBody>
          <a:bodyPr wrap="square" lIns="0" tIns="0" rIns="0" bIns="0" rtlCol="0" anchor="ctr"/>
          <a:lstStyle/>
          <a:p>
            <a:pPr indent="0" marL="0">
              <a:buNone/>
            </a:pPr>
            <a:r>
              <a:rPr lang="en-US" sz="1400" dirty="0">
                <a:solidFill>
                  <a:schemeClr val="tx1"/>
                </a:solidFill>
              </a:rPr>
              <a:t>Deposit paid (1 October) and Alignment Session held (6 October)</a:t>
            </a:r>
            <a:endParaRPr lang="en-US" sz="1400" dirty="0"/>
          </a:p>
        </p:txBody>
      </p:sp>
      <p:sp>
        <p:nvSpPr>
          <p:cNvPr id="9" name="card"/>
          <p:cNvSpPr/>
          <p:nvPr/>
        </p:nvSpPr>
        <p:spPr>
          <a:xfrm>
            <a:off x="630936" y="2788920"/>
            <a:ext cx="10929823" cy="640080"/>
          </a:xfrm>
          <a:prstGeom prst="roundRect">
            <a:avLst>
              <a:gd name="adj" fmla="val 11429"/>
            </a:avLst>
          </a:prstGeom>
          <a:solidFill>
            <a:schemeClr val="bg1"/>
          </a:solidFill>
          <a:ln w="12700">
            <a:solidFill>
              <a:schemeClr val="accent5"/>
            </a:solidFill>
            <a:prstDash val="solid"/>
          </a:ln>
        </p:spPr>
      </p:sp>
      <p:sp>
        <p:nvSpPr>
          <p:cNvPr id="10" name="number 2"/>
          <p:cNvSpPr/>
          <p:nvPr/>
        </p:nvSpPr>
        <p:spPr>
          <a:xfrm>
            <a:off x="859536" y="2916936"/>
            <a:ext cx="384048" cy="384048"/>
          </a:xfrm>
          <a:prstGeom prst="ellipse">
            <a:avLst/>
          </a:prstGeom>
          <a:solidFill>
            <a:schemeClr val="accent1"/>
          </a:solidFill>
          <a:ln/>
        </p:spPr>
      </p:sp>
      <p:sp>
        <p:nvSpPr>
          <p:cNvPr id="11" name="Text 9"/>
          <p:cNvSpPr txBox="1"/>
          <p:nvPr/>
        </p:nvSpPr>
        <p:spPr>
          <a:xfrm>
            <a:off x="859536" y="29169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53896" y="2788920"/>
            <a:ext cx="9832543" cy="640080"/>
          </a:xfrm>
          <a:prstGeom prst="rect">
            <a:avLst/>
          </a:prstGeom>
          <a:noFill/>
          <a:ln/>
        </p:spPr>
        <p:txBody>
          <a:bodyPr wrap="square" lIns="0" tIns="0" rIns="0" bIns="0" rtlCol="0" anchor="ctr"/>
          <a:lstStyle/>
          <a:p>
            <a:pPr indent="0" marL="0">
              <a:buNone/>
            </a:pPr>
            <a:r>
              <a:rPr lang="en-US" sz="1400" dirty="0">
                <a:solidFill>
                  <a:schemeClr val="tx1"/>
                </a:solidFill>
              </a:rPr>
              <a:t>Candidate profiles shared (14 October); Freedom Plan review on 20 October</a:t>
            </a:r>
            <a:endParaRPr lang="en-US" sz="1400" dirty="0"/>
          </a:p>
        </p:txBody>
      </p:sp>
      <p:sp>
        <p:nvSpPr>
          <p:cNvPr id="13" name="card"/>
          <p:cNvSpPr/>
          <p:nvPr/>
        </p:nvSpPr>
        <p:spPr>
          <a:xfrm>
            <a:off x="630936" y="3566160"/>
            <a:ext cx="10929823" cy="640080"/>
          </a:xfrm>
          <a:prstGeom prst="roundRect">
            <a:avLst>
              <a:gd name="adj" fmla="val 11429"/>
            </a:avLst>
          </a:prstGeom>
          <a:solidFill>
            <a:schemeClr val="bg1"/>
          </a:solidFill>
          <a:ln w="12700">
            <a:solidFill>
              <a:schemeClr val="accent5"/>
            </a:solidFill>
            <a:prstDash val="solid"/>
          </a:ln>
        </p:spPr>
      </p:sp>
      <p:sp>
        <p:nvSpPr>
          <p:cNvPr id="14" name="number 3"/>
          <p:cNvSpPr/>
          <p:nvPr/>
        </p:nvSpPr>
        <p:spPr>
          <a:xfrm>
            <a:off x="859536" y="3694176"/>
            <a:ext cx="384048" cy="384048"/>
          </a:xfrm>
          <a:prstGeom prst="ellipse">
            <a:avLst/>
          </a:prstGeom>
          <a:solidFill>
            <a:schemeClr val="accent1"/>
          </a:solidFill>
          <a:ln/>
        </p:spPr>
      </p:sp>
      <p:sp>
        <p:nvSpPr>
          <p:cNvPr id="15" name="Text 13"/>
          <p:cNvSpPr txBox="1"/>
          <p:nvPr/>
        </p:nvSpPr>
        <p:spPr>
          <a:xfrm>
            <a:off x="859536" y="3694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453896" y="3566160"/>
            <a:ext cx="9832543" cy="640080"/>
          </a:xfrm>
          <a:prstGeom prst="rect">
            <a:avLst/>
          </a:prstGeom>
          <a:noFill/>
          <a:ln/>
        </p:spPr>
        <p:txBody>
          <a:bodyPr wrap="square" lIns="0" tIns="0" rIns="0" bIns="0" rtlCol="0" anchor="ctr"/>
          <a:lstStyle/>
          <a:p>
            <a:pPr indent="0" marL="0">
              <a:buNone/>
            </a:pPr>
            <a:r>
              <a:rPr lang="en-US" sz="1400" dirty="0">
                <a:solidFill>
                  <a:schemeClr val="tx1"/>
                </a:solidFill>
              </a:rPr>
              <a:t>Tom interviews his shortlist, with an optional skills test first</a:t>
            </a:r>
            <a:endParaRPr lang="en-US" sz="1400" dirty="0"/>
          </a:p>
        </p:txBody>
      </p:sp>
      <p:sp>
        <p:nvSpPr>
          <p:cNvPr id="17" name="card"/>
          <p:cNvSpPr/>
          <p:nvPr/>
        </p:nvSpPr>
        <p:spPr>
          <a:xfrm>
            <a:off x="630936" y="4343400"/>
            <a:ext cx="10929823" cy="640080"/>
          </a:xfrm>
          <a:prstGeom prst="roundRect">
            <a:avLst>
              <a:gd name="adj" fmla="val 11429"/>
            </a:avLst>
          </a:prstGeom>
          <a:solidFill>
            <a:schemeClr val="bg1"/>
          </a:solidFill>
          <a:ln w="12700">
            <a:solidFill>
              <a:schemeClr val="accent5"/>
            </a:solidFill>
            <a:prstDash val="solid"/>
          </a:ln>
        </p:spPr>
      </p:sp>
      <p:sp>
        <p:nvSpPr>
          <p:cNvPr id="18" name="number 4"/>
          <p:cNvSpPr/>
          <p:nvPr/>
        </p:nvSpPr>
        <p:spPr>
          <a:xfrm>
            <a:off x="859536" y="4471416"/>
            <a:ext cx="384048" cy="384048"/>
          </a:xfrm>
          <a:prstGeom prst="ellipse">
            <a:avLst/>
          </a:prstGeom>
          <a:solidFill>
            <a:schemeClr val="accent1"/>
          </a:solidFill>
          <a:ln/>
        </p:spPr>
      </p:sp>
      <p:sp>
        <p:nvSpPr>
          <p:cNvPr id="19" name="Text 17"/>
          <p:cNvSpPr txBox="1"/>
          <p:nvPr/>
        </p:nvSpPr>
        <p:spPr>
          <a:xfrm>
            <a:off x="859536" y="44714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8"/>
          <p:cNvSpPr txBox="1"/>
          <p:nvPr/>
        </p:nvSpPr>
        <p:spPr>
          <a:xfrm>
            <a:off x="1453896" y="4343400"/>
            <a:ext cx="9832543" cy="640080"/>
          </a:xfrm>
          <a:prstGeom prst="rect">
            <a:avLst/>
          </a:prstGeom>
          <a:noFill/>
          <a:ln/>
        </p:spPr>
        <p:txBody>
          <a:bodyPr wrap="square" lIns="0" tIns="0" rIns="0" bIns="0" rtlCol="0" anchor="ctr"/>
          <a:lstStyle/>
          <a:p>
            <a:pPr indent="0" marL="0">
              <a:buNone/>
            </a:pPr>
            <a:r>
              <a:rPr lang="en-US" sz="1400" b="1" dirty="0">
                <a:solidFill>
                  <a:schemeClr val="tx1"/>
                </a:solidFill>
              </a:rPr>
              <a:t>Kick-off: confirm KPIs and escalation rules, and start Part B together</a:t>
            </a:r>
            <a:endParaRPr lang="en-US" sz="1400" dirty="0"/>
          </a:p>
        </p:txBody>
      </p:sp>
      <p:sp>
        <p:nvSpPr>
          <p:cNvPr id="21" name="callout"/>
          <p:cNvSpPr/>
          <p:nvPr/>
        </p:nvSpPr>
        <p:spPr>
          <a:xfrm>
            <a:off x="630936" y="5257800"/>
            <a:ext cx="10929823" cy="548640"/>
          </a:xfrm>
          <a:prstGeom prst="roundRect">
            <a:avLst>
              <a:gd name="adj" fmla="val 13333"/>
            </a:avLst>
          </a:prstGeom>
          <a:solidFill>
            <a:schemeClr val="accent4"/>
          </a:solidFill>
          <a:ln/>
        </p:spPr>
      </p:sp>
      <p:sp>
        <p:nvSpPr>
          <p:cNvPr id="22" name="Text 20"/>
          <p:cNvSpPr txBox="1"/>
          <p:nvPr/>
        </p:nvSpPr>
        <p:spPr>
          <a:xfrm>
            <a:off x="859536" y="525780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From kick-off onwards, Part B becomes your working plan.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B</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Your Freedom Playbook</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The part you keep. Use it at every check-in with your Assistant and your Outsourcing Angel team, from Day 1 to Month 12 and beyond.</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1 OF 4  ·  FIRST-TIME CLIENTS</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Get Ready for Day 1</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Hiring your first Assistant through an agency? These four pages help you start strong. Worked with a VA before? Skim them.</a:t>
            </a:r>
            <a:endParaRPr lang="en-US" sz="1300" dirty="0"/>
          </a:p>
        </p:txBody>
      </p:sp>
      <p:sp>
        <p:nvSpPr>
          <p:cNvPr id="5" name="card"/>
          <p:cNvSpPr/>
          <p:nvPr/>
        </p:nvSpPr>
        <p:spPr>
          <a:xfrm>
            <a:off x="630936" y="1965960"/>
            <a:ext cx="5669280" cy="4160520"/>
          </a:xfrm>
          <a:prstGeom prst="roundRect">
            <a:avLst>
              <a:gd name="adj" fmla="val 1758"/>
            </a:avLst>
          </a:prstGeom>
          <a:solidFill>
            <a:schemeClr val="bg1"/>
          </a:solidFill>
          <a:ln w="12700">
            <a:solidFill>
              <a:schemeClr val="accent5"/>
            </a:solidFill>
            <a:prstDash val="solid"/>
          </a:ln>
        </p:spPr>
      </p:sp>
      <p:sp>
        <p:nvSpPr>
          <p:cNvPr id="6" name="Text 4"/>
          <p:cNvSpPr txBox="1"/>
          <p:nvPr/>
        </p:nvSpPr>
        <p:spPr>
          <a:xfrm>
            <a:off x="905256" y="2148840"/>
            <a:ext cx="512064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SETUP CHECKLIST: BEFORE DAY 1</a:t>
            </a:r>
            <a:endParaRPr lang="en-US" sz="1050" dirty="0"/>
          </a:p>
        </p:txBody>
      </p:sp>
      <p:sp>
        <p:nvSpPr>
          <p:cNvPr id="7" name="Text 5"/>
          <p:cNvSpPr txBox="1"/>
          <p:nvPr/>
        </p:nvSpPr>
        <p:spPr>
          <a:xfrm>
            <a:off x="905256" y="254203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8" name="Text 6"/>
          <p:cNvSpPr txBox="1"/>
          <p:nvPr/>
        </p:nvSpPr>
        <p:spPr>
          <a:xfrm>
            <a:off x="1316736" y="2542032"/>
            <a:ext cx="4754880" cy="365760"/>
          </a:xfrm>
          <a:prstGeom prst="rect">
            <a:avLst/>
          </a:prstGeom>
          <a:noFill/>
          <a:ln/>
        </p:spPr>
        <p:txBody>
          <a:bodyPr wrap="square" lIns="0" tIns="0" rIns="0" bIns="0" rtlCol="0" anchor="ctr"/>
          <a:lstStyle/>
          <a:p>
            <a:pPr indent="0" marL="0">
              <a:buNone/>
            </a:pPr>
            <a:r>
              <a:rPr lang="en-US" sz="1300" dirty="0">
                <a:solidFill>
                  <a:schemeClr val="tx1"/>
                </a:solidFill>
              </a:rPr>
              <a:t>Company email and GoHighLevel access</a:t>
            </a:r>
            <a:endParaRPr lang="en-US" sz="1300" dirty="0"/>
          </a:p>
        </p:txBody>
      </p:sp>
      <p:sp>
        <p:nvSpPr>
          <p:cNvPr id="9" name="Text 7"/>
          <p:cNvSpPr txBox="1"/>
          <p:nvPr/>
        </p:nvSpPr>
        <p:spPr>
          <a:xfrm>
            <a:off x="905256" y="303580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0" name="Text 8"/>
          <p:cNvSpPr txBox="1"/>
          <p:nvPr/>
        </p:nvSpPr>
        <p:spPr>
          <a:xfrm>
            <a:off x="1316736" y="3035808"/>
            <a:ext cx="4754880" cy="365760"/>
          </a:xfrm>
          <a:prstGeom prst="rect">
            <a:avLst/>
          </a:prstGeom>
          <a:noFill/>
          <a:ln/>
        </p:spPr>
        <p:txBody>
          <a:bodyPr wrap="square" lIns="0" tIns="0" rIns="0" bIns="0" rtlCol="0" anchor="ctr"/>
          <a:lstStyle/>
          <a:p>
            <a:pPr indent="0" marL="0">
              <a:buNone/>
            </a:pPr>
            <a:r>
              <a:rPr lang="en-US" sz="1300" dirty="0">
                <a:solidFill>
                  <a:schemeClr val="tx1"/>
                </a:solidFill>
              </a:rPr>
              <a:t>Xero access, with the right permission level</a:t>
            </a:r>
            <a:endParaRPr lang="en-US" sz="1300" dirty="0"/>
          </a:p>
        </p:txBody>
      </p:sp>
      <p:sp>
        <p:nvSpPr>
          <p:cNvPr id="11" name="Text 9"/>
          <p:cNvSpPr txBox="1"/>
          <p:nvPr/>
        </p:nvSpPr>
        <p:spPr>
          <a:xfrm>
            <a:off x="905256" y="3529584"/>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2" name="Text 10"/>
          <p:cNvSpPr txBox="1"/>
          <p:nvPr/>
        </p:nvSpPr>
        <p:spPr>
          <a:xfrm>
            <a:off x="1316736" y="3529584"/>
            <a:ext cx="4754880" cy="365760"/>
          </a:xfrm>
          <a:prstGeom prst="rect">
            <a:avLst/>
          </a:prstGeom>
          <a:noFill/>
          <a:ln/>
        </p:spPr>
        <p:txBody>
          <a:bodyPr wrap="square" lIns="0" tIns="0" rIns="0" bIns="0" rtlCol="0" anchor="ctr"/>
          <a:lstStyle/>
          <a:p>
            <a:pPr indent="0" marL="0">
              <a:buNone/>
            </a:pPr>
            <a:r>
              <a:rPr lang="en-US" sz="1300" dirty="0">
                <a:solidFill>
                  <a:schemeClr val="tx1"/>
                </a:solidFill>
              </a:rPr>
              <a:t>A password manager to share logins safely</a:t>
            </a:r>
            <a:endParaRPr lang="en-US" sz="1300" dirty="0"/>
          </a:p>
        </p:txBody>
      </p:sp>
      <p:sp>
        <p:nvSpPr>
          <p:cNvPr id="13" name="Text 11"/>
          <p:cNvSpPr txBox="1"/>
          <p:nvPr/>
        </p:nvSpPr>
        <p:spPr>
          <a:xfrm>
            <a:off x="905256" y="4023360"/>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4" name="Text 12"/>
          <p:cNvSpPr txBox="1"/>
          <p:nvPr/>
        </p:nvSpPr>
        <p:spPr>
          <a:xfrm>
            <a:off x="1316736" y="4023360"/>
            <a:ext cx="4754880" cy="365760"/>
          </a:xfrm>
          <a:prstGeom prst="rect">
            <a:avLst/>
          </a:prstGeom>
          <a:noFill/>
          <a:ln/>
        </p:spPr>
        <p:txBody>
          <a:bodyPr wrap="square" lIns="0" tIns="0" rIns="0" bIns="0" rtlCol="0" anchor="ctr"/>
          <a:lstStyle/>
          <a:p>
            <a:pPr indent="0" marL="0">
              <a:buNone/>
            </a:pPr>
            <a:r>
              <a:rPr lang="en-US" sz="1300" dirty="0">
                <a:solidFill>
                  <a:schemeClr val="tx1"/>
                </a:solidFill>
              </a:rPr>
              <a:t>Two-factor authentication switched on</a:t>
            </a:r>
            <a:endParaRPr lang="en-US" sz="1300" dirty="0"/>
          </a:p>
        </p:txBody>
      </p:sp>
      <p:sp>
        <p:nvSpPr>
          <p:cNvPr id="15" name="Text 13"/>
          <p:cNvSpPr txBox="1"/>
          <p:nvPr/>
        </p:nvSpPr>
        <p:spPr>
          <a:xfrm>
            <a:off x="905256" y="4517136"/>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6" name="Text 14"/>
          <p:cNvSpPr txBox="1"/>
          <p:nvPr/>
        </p:nvSpPr>
        <p:spPr>
          <a:xfrm>
            <a:off x="1316736" y="4517136"/>
            <a:ext cx="4754880" cy="365760"/>
          </a:xfrm>
          <a:prstGeom prst="rect">
            <a:avLst/>
          </a:prstGeom>
          <a:noFill/>
          <a:ln/>
        </p:spPr>
        <p:txBody>
          <a:bodyPr wrap="square" lIns="0" tIns="0" rIns="0" bIns="0" rtlCol="0" anchor="ctr"/>
          <a:lstStyle/>
          <a:p>
            <a:pPr indent="0" marL="0">
              <a:buNone/>
            </a:pPr>
            <a:r>
              <a:rPr lang="en-US" sz="1300" dirty="0">
                <a:solidFill>
                  <a:schemeClr val="tx1"/>
                </a:solidFill>
              </a:rPr>
              <a:t>SOPs, Loom videos and report templates shared</a:t>
            </a:r>
            <a:endParaRPr lang="en-US" sz="1300" dirty="0"/>
          </a:p>
        </p:txBody>
      </p:sp>
      <p:sp>
        <p:nvSpPr>
          <p:cNvPr id="17" name="Text 15"/>
          <p:cNvSpPr txBox="1"/>
          <p:nvPr/>
        </p:nvSpPr>
        <p:spPr>
          <a:xfrm>
            <a:off x="905256" y="501091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8" name="Text 16"/>
          <p:cNvSpPr txBox="1"/>
          <p:nvPr/>
        </p:nvSpPr>
        <p:spPr>
          <a:xfrm>
            <a:off x="1316736" y="5010912"/>
            <a:ext cx="4754880" cy="365760"/>
          </a:xfrm>
          <a:prstGeom prst="rect">
            <a:avLst/>
          </a:prstGeom>
          <a:noFill/>
          <a:ln/>
        </p:spPr>
        <p:txBody>
          <a:bodyPr wrap="square" lIns="0" tIns="0" rIns="0" bIns="0" rtlCol="0" anchor="ctr"/>
          <a:lstStyle/>
          <a:p>
            <a:pPr indent="0" marL="0">
              <a:buNone/>
            </a:pPr>
            <a:r>
              <a:rPr lang="en-US" sz="1300" dirty="0">
                <a:solidFill>
                  <a:schemeClr val="tx1"/>
                </a:solidFill>
              </a:rPr>
              <a:t>WhatsApp set up for day-to-day messages</a:t>
            </a:r>
            <a:endParaRPr lang="en-US" sz="1300" dirty="0"/>
          </a:p>
        </p:txBody>
      </p:sp>
      <p:sp>
        <p:nvSpPr>
          <p:cNvPr id="19" name="Text 17"/>
          <p:cNvSpPr txBox="1"/>
          <p:nvPr/>
        </p:nvSpPr>
        <p:spPr>
          <a:xfrm>
            <a:off x="905256" y="550468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20" name="Text 18"/>
          <p:cNvSpPr txBox="1"/>
          <p:nvPr/>
        </p:nvSpPr>
        <p:spPr>
          <a:xfrm>
            <a:off x="1316736" y="5504688"/>
            <a:ext cx="4754880" cy="365760"/>
          </a:xfrm>
          <a:prstGeom prst="rect">
            <a:avLst/>
          </a:prstGeom>
          <a:noFill/>
          <a:ln/>
        </p:spPr>
        <p:txBody>
          <a:bodyPr wrap="square" lIns="0" tIns="0" rIns="0" bIns="0" rtlCol="0" anchor="ctr"/>
          <a:lstStyle/>
          <a:p>
            <a:pPr indent="0" marL="0">
              <a:buNone/>
            </a:pPr>
            <a:r>
              <a:rPr lang="en-US" sz="1300" dirty="0">
                <a:solidFill>
                  <a:schemeClr val="tx1"/>
                </a:solidFill>
              </a:rPr>
              <a:t>Confidentiality agreement signed</a:t>
            </a:r>
            <a:endParaRPr lang="en-US" sz="1300" dirty="0"/>
          </a:p>
        </p:txBody>
      </p:sp>
      <p:sp>
        <p:nvSpPr>
          <p:cNvPr id="21" name="card"/>
          <p:cNvSpPr/>
          <p:nvPr/>
        </p:nvSpPr>
        <p:spPr>
          <a:xfrm>
            <a:off x="6528816" y="1965960"/>
            <a:ext cx="5031943" cy="1920240"/>
          </a:xfrm>
          <a:prstGeom prst="roundRect">
            <a:avLst>
              <a:gd name="adj" fmla="val 3810"/>
            </a:avLst>
          </a:prstGeom>
          <a:solidFill>
            <a:schemeClr val="accent4"/>
          </a:solidFill>
          <a:ln/>
        </p:spPr>
      </p:sp>
      <p:sp>
        <p:nvSpPr>
          <p:cNvPr id="22" name="Text 20"/>
          <p:cNvSpPr txBox="1"/>
          <p:nvPr/>
        </p:nvSpPr>
        <p:spPr>
          <a:xfrm>
            <a:off x="6803136" y="214884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TIME COMMITMENT</a:t>
            </a:r>
            <a:endParaRPr lang="en-US" sz="1050" dirty="0"/>
          </a:p>
        </p:txBody>
      </p:sp>
      <p:sp>
        <p:nvSpPr>
          <p:cNvPr id="23" name="Text 21"/>
          <p:cNvSpPr txBox="1"/>
          <p:nvPr/>
        </p:nvSpPr>
        <p:spPr>
          <a:xfrm>
            <a:off x="6803136" y="2468880"/>
            <a:ext cx="4483303"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30 minutes a day</a:t>
            </a:r>
            <a:endParaRPr lang="en-US" sz="2400" dirty="0"/>
          </a:p>
        </p:txBody>
      </p:sp>
      <p:sp>
        <p:nvSpPr>
          <p:cNvPr id="24" name="Text 22"/>
          <p:cNvSpPr txBox="1"/>
          <p:nvPr/>
        </p:nvSpPr>
        <p:spPr>
          <a:xfrm>
            <a:off x="6803136" y="3017520"/>
            <a:ext cx="4483303" cy="731520"/>
          </a:xfrm>
          <a:prstGeom prst="rect">
            <a:avLst/>
          </a:prstGeom>
          <a:noFill/>
          <a:ln/>
        </p:spPr>
        <p:txBody>
          <a:bodyPr wrap="square" lIns="0" tIns="0" rIns="0" bIns="0" rtlCol="0" anchor="t"/>
          <a:lstStyle/>
          <a:p>
            <a:pPr indent="0" marL="0">
              <a:buNone/>
            </a:pPr>
            <a:r>
              <a:rPr lang="en-US" sz="1250" dirty="0">
                <a:solidFill>
                  <a:schemeClr val="tx1"/>
                </a:solidFill>
              </a:rPr>
              <a:t>for the first 2 weeks: briefing, answering questions and reviewing work. It pays back many times over.</a:t>
            </a:r>
            <a:endParaRPr lang="en-US" sz="1250" dirty="0"/>
          </a:p>
        </p:txBody>
      </p:sp>
      <p:sp>
        <p:nvSpPr>
          <p:cNvPr id="25" name="card"/>
          <p:cNvSpPr/>
          <p:nvPr/>
        </p:nvSpPr>
        <p:spPr>
          <a:xfrm>
            <a:off x="6528816" y="4069080"/>
            <a:ext cx="5031943" cy="2057400"/>
          </a:xfrm>
          <a:prstGeom prst="roundRect">
            <a:avLst>
              <a:gd name="adj" fmla="val 3556"/>
            </a:avLst>
          </a:prstGeom>
          <a:solidFill>
            <a:schemeClr val="bg1"/>
          </a:solidFill>
          <a:ln w="12700">
            <a:solidFill>
              <a:schemeClr val="accent5"/>
            </a:solidFill>
            <a:prstDash val="solid"/>
          </a:ln>
        </p:spPr>
      </p:sp>
      <p:sp>
        <p:nvSpPr>
          <p:cNvPr id="26" name="Text 24"/>
          <p:cNvSpPr txBox="1"/>
          <p:nvPr/>
        </p:nvSpPr>
        <p:spPr>
          <a:xfrm>
            <a:off x="6803136" y="425196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HOURS, TIME ZONES &amp; LEAVE</a:t>
            </a:r>
            <a:endParaRPr lang="en-US" sz="1050" dirty="0"/>
          </a:p>
        </p:txBody>
      </p:sp>
      <p:sp>
        <p:nvSpPr>
          <p:cNvPr id="27" name="Text 25"/>
          <p:cNvSpPr txBox="1"/>
          <p:nvPr/>
        </p:nvSpPr>
        <p:spPr>
          <a:xfrm>
            <a:off x="6803136" y="4572000"/>
            <a:ext cx="4483303" cy="822960"/>
          </a:xfrm>
          <a:prstGeom prst="rect">
            <a:avLst/>
          </a:prstGeom>
          <a:noFill/>
          <a:ln/>
        </p:spPr>
        <p:txBody>
          <a:bodyPr wrap="square" lIns="0" tIns="0" rIns="0" bIns="0" rtlCol="0" anchor="t"/>
          <a:lstStyle/>
          <a:p>
            <a:pPr indent="0" marL="0">
              <a:buNone/>
            </a:pPr>
            <a:r>
              <a:rPr lang="en-US" sz="1250" dirty="0">
                <a:solidFill>
                  <a:schemeClr val="accent3"/>
                </a:solidFill>
              </a:rPr>
              <a:t>Shift: Mon–Fri, 9am–6pm Sydney time, with a 1-hour unpaid lunch. Check Philippine public holidays, and request leave cover in advance through your Account Manager.</a:t>
            </a:r>
            <a:endParaRPr lang="en-US" sz="1250" dirty="0"/>
          </a:p>
        </p:txBody>
      </p:sp>
      <p:sp>
        <p:nvSpPr>
          <p:cNvPr id="28" name="Text 26"/>
          <p:cNvSpPr txBox="1"/>
          <p:nvPr/>
        </p:nvSpPr>
        <p:spPr>
          <a:xfrm>
            <a:off x="6803136" y="5577840"/>
            <a:ext cx="4483303" cy="320040"/>
          </a:xfrm>
          <a:prstGeom prst="rect">
            <a:avLst/>
          </a:prstGeom>
          <a:noFill/>
          <a:ln/>
        </p:spPr>
        <p:txBody>
          <a:bodyPr wrap="square" lIns="0" tIns="0" rIns="0" bIns="0" rtlCol="0" anchor="ctr"/>
          <a:lstStyle/>
          <a:p>
            <a:pPr indent="0" marL="0">
              <a:buNone/>
            </a:pPr>
            <a:r>
              <a:rPr lang="en-US" sz="1200" b="1" dirty="0">
                <a:solidFill>
                  <a:schemeClr val="tx1"/>
                </a:solidFill>
              </a:rPr>
              <a:t>Lunch break: </a:t>
            </a:r>
            <a:pPr indent="0" marL="0">
              <a:buNone/>
            </a:pPr>
            <a:r>
              <a:rPr lang="en-US" sz="1200" dirty="0">
                <a:solidFill>
                  <a:schemeClr val="accent3"/>
                </a:solidFill>
              </a:rPr>
              <a:t>________________     </a:t>
            </a:r>
            <a:pPr indent="0" marL="0">
              <a:buNone/>
            </a:pPr>
            <a:r>
              <a:rPr lang="en-US" sz="1200" b="1" dirty="0">
                <a:solidFill>
                  <a:schemeClr val="tx1"/>
                </a:solidFill>
              </a:rPr>
              <a:t>Escalate to: </a:t>
            </a:r>
            <a:pPr indent="0" marL="0">
              <a:buNone/>
            </a:pPr>
            <a:r>
              <a:rPr lang="en-US" sz="1200" dirty="0">
                <a:solidFill>
                  <a:schemeClr val="accent3"/>
                </a:solidFill>
              </a:rPr>
              <a:t>____________</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2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Delegate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Clear briefs are the single biggest factor in a great first month.</a:t>
            </a:r>
            <a:endParaRPr lang="en-US" sz="1300" dirty="0"/>
          </a:p>
        </p:txBody>
      </p:sp>
      <p:sp>
        <p:nvSpPr>
          <p:cNvPr id="5" name="card"/>
          <p:cNvSpPr/>
          <p:nvPr/>
        </p:nvSpPr>
        <p:spPr>
          <a:xfrm>
            <a:off x="630936" y="1920240"/>
            <a:ext cx="5120640" cy="3383280"/>
          </a:xfrm>
          <a:prstGeom prst="roundRect">
            <a:avLst>
              <a:gd name="adj" fmla="val 2162"/>
            </a:avLst>
          </a:prstGeom>
          <a:solidFill>
            <a:schemeClr val="bg1"/>
          </a:solidFill>
          <a:ln w="12700">
            <a:solidFill>
              <a:schemeClr val="accent5"/>
            </a:solidFill>
            <a:prstDash val="solid"/>
          </a:ln>
        </p:spPr>
      </p:sp>
      <p:sp>
        <p:nvSpPr>
          <p:cNvPr id="6" name="Text 4"/>
          <p:cNvSpPr txBox="1"/>
          <p:nvPr/>
        </p:nvSpPr>
        <p:spPr>
          <a:xfrm>
            <a:off x="905256" y="210312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5-PART BRIEF: USE IT FOR EVERY TASK</a:t>
            </a:r>
            <a:endParaRPr lang="en-US" sz="1050" dirty="0"/>
          </a:p>
        </p:txBody>
      </p:sp>
      <p:sp>
        <p:nvSpPr>
          <p:cNvPr id="7" name="number 1"/>
          <p:cNvSpPr/>
          <p:nvPr/>
        </p:nvSpPr>
        <p:spPr>
          <a:xfrm>
            <a:off x="905256" y="2514600"/>
            <a:ext cx="365760" cy="365760"/>
          </a:xfrm>
          <a:prstGeom prst="ellipse">
            <a:avLst/>
          </a:prstGeom>
          <a:solidFill>
            <a:schemeClr val="accent1"/>
          </a:solidFill>
          <a:ln/>
        </p:spPr>
      </p:sp>
      <p:sp>
        <p:nvSpPr>
          <p:cNvPr id="8" name="Text 6"/>
          <p:cNvSpPr txBox="1"/>
          <p:nvPr/>
        </p:nvSpPr>
        <p:spPr>
          <a:xfrm>
            <a:off x="905256" y="2514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1408176" y="251460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Outcome: </a:t>
            </a:r>
            <a:pPr indent="0" marL="0">
              <a:buNone/>
            </a:pPr>
            <a:r>
              <a:rPr lang="en-US" sz="1300" dirty="0">
                <a:solidFill>
                  <a:schemeClr val="accent3"/>
                </a:solidFill>
              </a:rPr>
              <a:t>what “done” looks like</a:t>
            </a:r>
            <a:endParaRPr lang="en-US" sz="1300" dirty="0"/>
          </a:p>
        </p:txBody>
      </p:sp>
      <p:sp>
        <p:nvSpPr>
          <p:cNvPr id="10" name="number 2"/>
          <p:cNvSpPr/>
          <p:nvPr/>
        </p:nvSpPr>
        <p:spPr>
          <a:xfrm>
            <a:off x="905256" y="3063240"/>
            <a:ext cx="365760" cy="365760"/>
          </a:xfrm>
          <a:prstGeom prst="ellipse">
            <a:avLst/>
          </a:prstGeom>
          <a:solidFill>
            <a:schemeClr val="accent1"/>
          </a:solidFill>
          <a:ln/>
        </p:spPr>
      </p:sp>
      <p:sp>
        <p:nvSpPr>
          <p:cNvPr id="11" name="Text 9"/>
          <p:cNvSpPr txBox="1"/>
          <p:nvPr/>
        </p:nvSpPr>
        <p:spPr>
          <a:xfrm>
            <a:off x="905256" y="30632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08176" y="306324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Context: </a:t>
            </a:r>
            <a:pPr indent="0" marL="0">
              <a:buNone/>
            </a:pPr>
            <a:r>
              <a:rPr lang="en-US" sz="1300" dirty="0">
                <a:solidFill>
                  <a:schemeClr val="accent3"/>
                </a:solidFill>
              </a:rPr>
              <a:t>why it matters</a:t>
            </a:r>
            <a:endParaRPr lang="en-US" sz="1300" dirty="0"/>
          </a:p>
        </p:txBody>
      </p:sp>
      <p:sp>
        <p:nvSpPr>
          <p:cNvPr id="13" name="number 3"/>
          <p:cNvSpPr/>
          <p:nvPr/>
        </p:nvSpPr>
        <p:spPr>
          <a:xfrm>
            <a:off x="905256" y="3611880"/>
            <a:ext cx="365760" cy="365760"/>
          </a:xfrm>
          <a:prstGeom prst="ellipse">
            <a:avLst/>
          </a:prstGeom>
          <a:solidFill>
            <a:schemeClr val="accent1"/>
          </a:solidFill>
          <a:ln/>
        </p:spPr>
      </p:sp>
      <p:sp>
        <p:nvSpPr>
          <p:cNvPr id="14" name="Text 12"/>
          <p:cNvSpPr txBox="1"/>
          <p:nvPr/>
        </p:nvSpPr>
        <p:spPr>
          <a:xfrm>
            <a:off x="905256"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3"/>
          <p:cNvSpPr txBox="1"/>
          <p:nvPr/>
        </p:nvSpPr>
        <p:spPr>
          <a:xfrm>
            <a:off x="1408176" y="361188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Deadline: </a:t>
            </a:r>
            <a:pPr indent="0" marL="0">
              <a:buNone/>
            </a:pPr>
            <a:r>
              <a:rPr lang="en-US" sz="1300" dirty="0">
                <a:solidFill>
                  <a:schemeClr val="accent3"/>
                </a:solidFill>
              </a:rPr>
              <a:t>when you need it</a:t>
            </a:r>
            <a:endParaRPr lang="en-US" sz="1300" dirty="0"/>
          </a:p>
        </p:txBody>
      </p:sp>
      <p:sp>
        <p:nvSpPr>
          <p:cNvPr id="16" name="number 4"/>
          <p:cNvSpPr/>
          <p:nvPr/>
        </p:nvSpPr>
        <p:spPr>
          <a:xfrm>
            <a:off x="905256" y="4160520"/>
            <a:ext cx="365760" cy="365760"/>
          </a:xfrm>
          <a:prstGeom prst="ellipse">
            <a:avLst/>
          </a:prstGeom>
          <a:solidFill>
            <a:schemeClr val="accent1"/>
          </a:solidFill>
          <a:ln/>
        </p:spPr>
      </p:sp>
      <p:sp>
        <p:nvSpPr>
          <p:cNvPr id="17" name="Text 15"/>
          <p:cNvSpPr txBox="1"/>
          <p:nvPr/>
        </p:nvSpPr>
        <p:spPr>
          <a:xfrm>
            <a:off x="905256" y="41605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408176" y="416052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Example: </a:t>
            </a:r>
            <a:pPr indent="0" marL="0">
              <a:buNone/>
            </a:pPr>
            <a:r>
              <a:rPr lang="en-US" sz="1300" dirty="0">
                <a:solidFill>
                  <a:schemeClr val="accent3"/>
                </a:solidFill>
              </a:rPr>
              <a:t>show what good looks like</a:t>
            </a:r>
            <a:endParaRPr lang="en-US" sz="1300" dirty="0"/>
          </a:p>
        </p:txBody>
      </p:sp>
      <p:sp>
        <p:nvSpPr>
          <p:cNvPr id="19" name="number 5"/>
          <p:cNvSpPr/>
          <p:nvPr/>
        </p:nvSpPr>
        <p:spPr>
          <a:xfrm>
            <a:off x="905256" y="4709160"/>
            <a:ext cx="365760" cy="365760"/>
          </a:xfrm>
          <a:prstGeom prst="ellipse">
            <a:avLst/>
          </a:prstGeom>
          <a:solidFill>
            <a:schemeClr val="accent1"/>
          </a:solidFill>
          <a:ln/>
        </p:spPr>
      </p:sp>
      <p:sp>
        <p:nvSpPr>
          <p:cNvPr id="20" name="Text 18"/>
          <p:cNvSpPr txBox="1"/>
          <p:nvPr/>
        </p:nvSpPr>
        <p:spPr>
          <a:xfrm>
            <a:off x="905256" y="4709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9"/>
          <p:cNvSpPr txBox="1"/>
          <p:nvPr/>
        </p:nvSpPr>
        <p:spPr>
          <a:xfrm>
            <a:off x="1408176" y="470916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Who to ask: </a:t>
            </a:r>
            <a:pPr indent="0" marL="0">
              <a:buNone/>
            </a:pPr>
            <a:r>
              <a:rPr lang="en-US" sz="1300" dirty="0">
                <a:solidFill>
                  <a:schemeClr val="accent3"/>
                </a:solidFill>
              </a:rPr>
              <a:t>if they get stuck</a:t>
            </a:r>
            <a:endParaRPr lang="en-US" sz="1300" dirty="0"/>
          </a:p>
        </p:txBody>
      </p:sp>
      <p:sp>
        <p:nvSpPr>
          <p:cNvPr id="22" name="callout"/>
          <p:cNvSpPr/>
          <p:nvPr/>
        </p:nvSpPr>
        <p:spPr>
          <a:xfrm>
            <a:off x="630936" y="5440680"/>
            <a:ext cx="5120640" cy="731520"/>
          </a:xfrm>
          <a:prstGeom prst="roundRect">
            <a:avLst>
              <a:gd name="adj" fmla="val 10000"/>
            </a:avLst>
          </a:prstGeom>
          <a:solidFill>
            <a:schemeClr val="accent4"/>
          </a:solidFill>
          <a:ln/>
        </p:spPr>
      </p:sp>
      <p:sp>
        <p:nvSpPr>
          <p:cNvPr id="23" name="Text 21"/>
          <p:cNvSpPr txBox="1"/>
          <p:nvPr/>
        </p:nvSpPr>
        <p:spPr>
          <a:xfrm>
            <a:off x="859536" y="5440680"/>
            <a:ext cx="4663440" cy="731520"/>
          </a:xfrm>
          <a:prstGeom prst="rect">
            <a:avLst/>
          </a:prstGeom>
          <a:noFill/>
          <a:ln/>
        </p:spPr>
        <p:txBody>
          <a:bodyPr wrap="square" lIns="0" tIns="0" rIns="0" bIns="0" rtlCol="0" anchor="ctr"/>
          <a:lstStyle/>
          <a:p>
            <a:pPr indent="0" marL="0">
              <a:buNone/>
            </a:pPr>
            <a:r>
              <a:rPr lang="en-US" sz="1250" b="1" dirty="0">
                <a:solidFill>
                  <a:schemeClr val="accent1"/>
                </a:solidFill>
              </a:rPr>
              <a:t>Golden rule: record yourself doing a task once (Loom or a screen recording). Your Assistant turns it into an SOP for your library.</a:t>
            </a:r>
            <a:endParaRPr lang="en-US" sz="1250" dirty="0"/>
          </a:p>
        </p:txBody>
      </p:sp>
      <p:sp>
        <p:nvSpPr>
          <p:cNvPr id="24" name="card"/>
          <p:cNvSpPr/>
          <p:nvPr/>
        </p:nvSpPr>
        <p:spPr>
          <a:xfrm>
            <a:off x="5980176" y="1920240"/>
            <a:ext cx="5580583" cy="4251960"/>
          </a:xfrm>
          <a:prstGeom prst="roundRect">
            <a:avLst>
              <a:gd name="adj" fmla="val 1720"/>
            </a:avLst>
          </a:prstGeom>
          <a:solidFill>
            <a:schemeClr val="bg2"/>
          </a:solidFill>
          <a:ln/>
        </p:spPr>
      </p:sp>
      <p:sp>
        <p:nvSpPr>
          <p:cNvPr id="25" name="Text 23"/>
          <p:cNvSpPr txBox="1"/>
          <p:nvPr/>
        </p:nvSpPr>
        <p:spPr>
          <a:xfrm>
            <a:off x="6254496" y="2103120"/>
            <a:ext cx="503194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FIRST 10 TASKS: QUICK WINS FOR WEEK 1</a:t>
            </a:r>
            <a:endParaRPr lang="en-US" sz="1050" dirty="0"/>
          </a:p>
        </p:txBody>
      </p:sp>
      <p:sp>
        <p:nvSpPr>
          <p:cNvPr id="26" name="task 1"/>
          <p:cNvSpPr/>
          <p:nvPr/>
        </p:nvSpPr>
        <p:spPr>
          <a:xfrm>
            <a:off x="6254496" y="2514600"/>
            <a:ext cx="2424532" cy="603504"/>
          </a:xfrm>
          <a:prstGeom prst="roundRect">
            <a:avLst>
              <a:gd name="adj" fmla="val 12121"/>
            </a:avLst>
          </a:prstGeom>
          <a:solidFill>
            <a:schemeClr val="bg1"/>
          </a:solidFill>
          <a:ln w="12700">
            <a:solidFill>
              <a:schemeClr val="accent5"/>
            </a:solidFill>
            <a:prstDash val="solid"/>
          </a:ln>
        </p:spPr>
      </p:sp>
      <p:sp>
        <p:nvSpPr>
          <p:cNvPr id="27" name="Text 25"/>
          <p:cNvSpPr txBox="1"/>
          <p:nvPr/>
        </p:nvSpPr>
        <p:spPr>
          <a:xfrm>
            <a:off x="6364224"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a:t>
            </a:r>
            <a:endParaRPr lang="en-US" sz="1400" dirty="0"/>
          </a:p>
        </p:txBody>
      </p:sp>
      <p:sp>
        <p:nvSpPr>
          <p:cNvPr id="28" name="Text 26"/>
          <p:cNvSpPr txBox="1"/>
          <p:nvPr/>
        </p:nvSpPr>
        <p:spPr>
          <a:xfrm>
            <a:off x="6711696"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Watch Tom’s Loom videos on the SME process</a:t>
            </a:r>
            <a:endParaRPr lang="en-US" sz="1150" dirty="0"/>
          </a:p>
        </p:txBody>
      </p:sp>
      <p:sp>
        <p:nvSpPr>
          <p:cNvPr id="29" name="task 2"/>
          <p:cNvSpPr/>
          <p:nvPr/>
        </p:nvSpPr>
        <p:spPr>
          <a:xfrm>
            <a:off x="6254496" y="3227832"/>
            <a:ext cx="2424532" cy="603504"/>
          </a:xfrm>
          <a:prstGeom prst="roundRect">
            <a:avLst>
              <a:gd name="adj" fmla="val 12121"/>
            </a:avLst>
          </a:prstGeom>
          <a:solidFill>
            <a:schemeClr val="bg1"/>
          </a:solidFill>
          <a:ln w="12700">
            <a:solidFill>
              <a:schemeClr val="accent5"/>
            </a:solidFill>
            <a:prstDash val="solid"/>
          </a:ln>
        </p:spPr>
      </p:sp>
      <p:sp>
        <p:nvSpPr>
          <p:cNvPr id="30" name="Text 28"/>
          <p:cNvSpPr txBox="1"/>
          <p:nvPr/>
        </p:nvSpPr>
        <p:spPr>
          <a:xfrm>
            <a:off x="6364224"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2</a:t>
            </a:r>
            <a:endParaRPr lang="en-US" sz="1400" dirty="0"/>
          </a:p>
        </p:txBody>
      </p:sp>
      <p:sp>
        <p:nvSpPr>
          <p:cNvPr id="31" name="Text 29"/>
          <p:cNvSpPr txBox="1"/>
          <p:nvPr/>
        </p:nvSpPr>
        <p:spPr>
          <a:xfrm>
            <a:off x="6711696"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Read the SOPs and the tools spreadsheet</a:t>
            </a:r>
            <a:endParaRPr lang="en-US" sz="1150" dirty="0"/>
          </a:p>
        </p:txBody>
      </p:sp>
      <p:sp>
        <p:nvSpPr>
          <p:cNvPr id="32" name="task 3"/>
          <p:cNvSpPr/>
          <p:nvPr/>
        </p:nvSpPr>
        <p:spPr>
          <a:xfrm>
            <a:off x="6254496" y="3941064"/>
            <a:ext cx="2424532" cy="603504"/>
          </a:xfrm>
          <a:prstGeom prst="roundRect">
            <a:avLst>
              <a:gd name="adj" fmla="val 12121"/>
            </a:avLst>
          </a:prstGeom>
          <a:solidFill>
            <a:schemeClr val="bg1"/>
          </a:solidFill>
          <a:ln w="12700">
            <a:solidFill>
              <a:schemeClr val="accent5"/>
            </a:solidFill>
            <a:prstDash val="solid"/>
          </a:ln>
        </p:spPr>
      </p:sp>
      <p:sp>
        <p:nvSpPr>
          <p:cNvPr id="33" name="Text 31"/>
          <p:cNvSpPr txBox="1"/>
          <p:nvPr/>
        </p:nvSpPr>
        <p:spPr>
          <a:xfrm>
            <a:off x="6364224"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3</a:t>
            </a:r>
            <a:endParaRPr lang="en-US" sz="1400" dirty="0"/>
          </a:p>
        </p:txBody>
      </p:sp>
      <p:sp>
        <p:nvSpPr>
          <p:cNvPr id="34" name="Text 32"/>
          <p:cNvSpPr txBox="1"/>
          <p:nvPr/>
        </p:nvSpPr>
        <p:spPr>
          <a:xfrm>
            <a:off x="6711696"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Learn small vs large market bill terms</a:t>
            </a:r>
            <a:endParaRPr lang="en-US" sz="1150" dirty="0"/>
          </a:p>
        </p:txBody>
      </p:sp>
      <p:sp>
        <p:nvSpPr>
          <p:cNvPr id="35" name="task 4"/>
          <p:cNvSpPr/>
          <p:nvPr/>
        </p:nvSpPr>
        <p:spPr>
          <a:xfrm>
            <a:off x="6254496" y="4654296"/>
            <a:ext cx="2424532" cy="603504"/>
          </a:xfrm>
          <a:prstGeom prst="roundRect">
            <a:avLst>
              <a:gd name="adj" fmla="val 12121"/>
            </a:avLst>
          </a:prstGeom>
          <a:solidFill>
            <a:schemeClr val="bg1"/>
          </a:solidFill>
          <a:ln w="12700">
            <a:solidFill>
              <a:schemeClr val="accent5"/>
            </a:solidFill>
            <a:prstDash val="solid"/>
          </a:ln>
        </p:spPr>
      </p:sp>
      <p:sp>
        <p:nvSpPr>
          <p:cNvPr id="36" name="Text 34"/>
          <p:cNvSpPr txBox="1"/>
          <p:nvPr/>
        </p:nvSpPr>
        <p:spPr>
          <a:xfrm>
            <a:off x="6364224"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4</a:t>
            </a:r>
            <a:endParaRPr lang="en-US" sz="1400" dirty="0"/>
          </a:p>
        </p:txBody>
      </p:sp>
      <p:sp>
        <p:nvSpPr>
          <p:cNvPr id="37" name="Text 35"/>
          <p:cNvSpPr txBox="1"/>
          <p:nvPr/>
        </p:nvSpPr>
        <p:spPr>
          <a:xfrm>
            <a:off x="6711696"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Produce practice comparison reports</a:t>
            </a:r>
            <a:endParaRPr lang="en-US" sz="1150" dirty="0"/>
          </a:p>
        </p:txBody>
      </p:sp>
      <p:sp>
        <p:nvSpPr>
          <p:cNvPr id="38" name="task 5"/>
          <p:cNvSpPr/>
          <p:nvPr/>
        </p:nvSpPr>
        <p:spPr>
          <a:xfrm>
            <a:off x="6254496" y="5367528"/>
            <a:ext cx="2424532" cy="603504"/>
          </a:xfrm>
          <a:prstGeom prst="roundRect">
            <a:avLst>
              <a:gd name="adj" fmla="val 12121"/>
            </a:avLst>
          </a:prstGeom>
          <a:solidFill>
            <a:schemeClr val="bg1"/>
          </a:solidFill>
          <a:ln w="12700">
            <a:solidFill>
              <a:schemeClr val="accent5"/>
            </a:solidFill>
            <a:prstDash val="solid"/>
          </a:ln>
        </p:spPr>
      </p:sp>
      <p:sp>
        <p:nvSpPr>
          <p:cNvPr id="39" name="Text 37"/>
          <p:cNvSpPr txBox="1"/>
          <p:nvPr/>
        </p:nvSpPr>
        <p:spPr>
          <a:xfrm>
            <a:off x="6364224"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5</a:t>
            </a:r>
            <a:endParaRPr lang="en-US" sz="1400" dirty="0"/>
          </a:p>
        </p:txBody>
      </p:sp>
      <p:sp>
        <p:nvSpPr>
          <p:cNvPr id="40" name="Text 38"/>
          <p:cNvSpPr txBox="1"/>
          <p:nvPr/>
        </p:nvSpPr>
        <p:spPr>
          <a:xfrm>
            <a:off x="6711696"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Check a report against the SOP checklist</a:t>
            </a:r>
            <a:endParaRPr lang="en-US" sz="1150" dirty="0"/>
          </a:p>
        </p:txBody>
      </p:sp>
      <p:sp>
        <p:nvSpPr>
          <p:cNvPr id="41" name="task 6"/>
          <p:cNvSpPr/>
          <p:nvPr/>
        </p:nvSpPr>
        <p:spPr>
          <a:xfrm>
            <a:off x="8861908" y="2514600"/>
            <a:ext cx="2424532" cy="603504"/>
          </a:xfrm>
          <a:prstGeom prst="roundRect">
            <a:avLst>
              <a:gd name="adj" fmla="val 12121"/>
            </a:avLst>
          </a:prstGeom>
          <a:solidFill>
            <a:schemeClr val="bg1"/>
          </a:solidFill>
          <a:ln w="12700">
            <a:solidFill>
              <a:schemeClr val="accent5"/>
            </a:solidFill>
            <a:prstDash val="solid"/>
          </a:ln>
        </p:spPr>
      </p:sp>
      <p:sp>
        <p:nvSpPr>
          <p:cNvPr id="42" name="Text 40"/>
          <p:cNvSpPr txBox="1"/>
          <p:nvPr/>
        </p:nvSpPr>
        <p:spPr>
          <a:xfrm>
            <a:off x="8971636"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6</a:t>
            </a:r>
            <a:endParaRPr lang="en-US" sz="1400" dirty="0"/>
          </a:p>
        </p:txBody>
      </p:sp>
      <p:sp>
        <p:nvSpPr>
          <p:cNvPr id="43" name="Text 41"/>
          <p:cNvSpPr txBox="1"/>
          <p:nvPr/>
        </p:nvSpPr>
        <p:spPr>
          <a:xfrm>
            <a:off x="9319108"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Draft a contract and LOA in DocuSign</a:t>
            </a:r>
            <a:endParaRPr lang="en-US" sz="1150" dirty="0"/>
          </a:p>
        </p:txBody>
      </p:sp>
      <p:sp>
        <p:nvSpPr>
          <p:cNvPr id="44" name="task 7"/>
          <p:cNvSpPr/>
          <p:nvPr/>
        </p:nvSpPr>
        <p:spPr>
          <a:xfrm>
            <a:off x="8861908" y="3227832"/>
            <a:ext cx="2424532" cy="603504"/>
          </a:xfrm>
          <a:prstGeom prst="roundRect">
            <a:avLst>
              <a:gd name="adj" fmla="val 12121"/>
            </a:avLst>
          </a:prstGeom>
          <a:solidFill>
            <a:schemeClr val="bg1"/>
          </a:solidFill>
          <a:ln w="12700">
            <a:solidFill>
              <a:schemeClr val="accent5"/>
            </a:solidFill>
            <a:prstDash val="solid"/>
          </a:ln>
        </p:spPr>
      </p:sp>
      <p:sp>
        <p:nvSpPr>
          <p:cNvPr id="45" name="Text 43"/>
          <p:cNvSpPr txBox="1"/>
          <p:nvPr/>
        </p:nvSpPr>
        <p:spPr>
          <a:xfrm>
            <a:off x="8971636"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7</a:t>
            </a:r>
            <a:endParaRPr lang="en-US" sz="1400" dirty="0"/>
          </a:p>
        </p:txBody>
      </p:sp>
      <p:sp>
        <p:nvSpPr>
          <p:cNvPr id="46" name="Text 44"/>
          <p:cNvSpPr txBox="1"/>
          <p:nvPr/>
        </p:nvSpPr>
        <p:spPr>
          <a:xfrm>
            <a:off x="9319108"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Draft commission invoices in Xero</a:t>
            </a:r>
            <a:endParaRPr lang="en-US" sz="1150" dirty="0"/>
          </a:p>
        </p:txBody>
      </p:sp>
      <p:sp>
        <p:nvSpPr>
          <p:cNvPr id="47" name="task 8"/>
          <p:cNvSpPr/>
          <p:nvPr/>
        </p:nvSpPr>
        <p:spPr>
          <a:xfrm>
            <a:off x="8861908" y="3941064"/>
            <a:ext cx="2424532" cy="603504"/>
          </a:xfrm>
          <a:prstGeom prst="roundRect">
            <a:avLst>
              <a:gd name="adj" fmla="val 12121"/>
            </a:avLst>
          </a:prstGeom>
          <a:solidFill>
            <a:schemeClr val="bg1"/>
          </a:solidFill>
          <a:ln w="12700">
            <a:solidFill>
              <a:schemeClr val="accent5"/>
            </a:solidFill>
            <a:prstDash val="solid"/>
          </a:ln>
        </p:spPr>
      </p:sp>
      <p:sp>
        <p:nvSpPr>
          <p:cNvPr id="48" name="Text 46"/>
          <p:cNvSpPr txBox="1"/>
          <p:nvPr/>
        </p:nvSpPr>
        <p:spPr>
          <a:xfrm>
            <a:off x="8971636"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8</a:t>
            </a:r>
            <a:endParaRPr lang="en-US" sz="1400" dirty="0"/>
          </a:p>
        </p:txBody>
      </p:sp>
      <p:sp>
        <p:nvSpPr>
          <p:cNvPr id="49" name="Text 47"/>
          <p:cNvSpPr txBox="1"/>
          <p:nvPr/>
        </p:nvSpPr>
        <p:spPr>
          <a:xfrm>
            <a:off x="9319108"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Update GoHighLevel stages for live deals</a:t>
            </a:r>
            <a:endParaRPr lang="en-US" sz="1150" dirty="0"/>
          </a:p>
        </p:txBody>
      </p:sp>
      <p:sp>
        <p:nvSpPr>
          <p:cNvPr id="50" name="task 9"/>
          <p:cNvSpPr/>
          <p:nvPr/>
        </p:nvSpPr>
        <p:spPr>
          <a:xfrm>
            <a:off x="8861908" y="4654296"/>
            <a:ext cx="2424532" cy="603504"/>
          </a:xfrm>
          <a:prstGeom prst="roundRect">
            <a:avLst>
              <a:gd name="adj" fmla="val 12121"/>
            </a:avLst>
          </a:prstGeom>
          <a:solidFill>
            <a:schemeClr val="bg1"/>
          </a:solidFill>
          <a:ln w="12700">
            <a:solidFill>
              <a:schemeClr val="accent5"/>
            </a:solidFill>
            <a:prstDash val="solid"/>
          </a:ln>
        </p:spPr>
      </p:sp>
      <p:sp>
        <p:nvSpPr>
          <p:cNvPr id="51" name="Text 49"/>
          <p:cNvSpPr txBox="1"/>
          <p:nvPr/>
        </p:nvSpPr>
        <p:spPr>
          <a:xfrm>
            <a:off x="8971636"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9</a:t>
            </a:r>
            <a:endParaRPr lang="en-US" sz="1400" dirty="0"/>
          </a:p>
        </p:txBody>
      </p:sp>
      <p:sp>
        <p:nvSpPr>
          <p:cNvPr id="52" name="Text 50"/>
          <p:cNvSpPr txBox="1"/>
          <p:nvPr/>
        </p:nvSpPr>
        <p:spPr>
          <a:xfrm>
            <a:off x="9319108"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Agree escalation rules with Tom</a:t>
            </a:r>
            <a:endParaRPr lang="en-US" sz="1150" dirty="0"/>
          </a:p>
        </p:txBody>
      </p:sp>
      <p:sp>
        <p:nvSpPr>
          <p:cNvPr id="53" name="task 10"/>
          <p:cNvSpPr/>
          <p:nvPr/>
        </p:nvSpPr>
        <p:spPr>
          <a:xfrm>
            <a:off x="8861908" y="5367528"/>
            <a:ext cx="2424532" cy="603504"/>
          </a:xfrm>
          <a:prstGeom prst="roundRect">
            <a:avLst>
              <a:gd name="adj" fmla="val 12121"/>
            </a:avLst>
          </a:prstGeom>
          <a:solidFill>
            <a:schemeClr val="bg1"/>
          </a:solidFill>
          <a:ln w="12700">
            <a:solidFill>
              <a:schemeClr val="accent5"/>
            </a:solidFill>
            <a:prstDash val="solid"/>
          </a:ln>
        </p:spPr>
      </p:sp>
      <p:sp>
        <p:nvSpPr>
          <p:cNvPr id="54" name="Text 52"/>
          <p:cNvSpPr txBox="1"/>
          <p:nvPr/>
        </p:nvSpPr>
        <p:spPr>
          <a:xfrm>
            <a:off x="8971636"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10</a:t>
            </a:r>
            <a:endParaRPr lang="en-US" sz="1400" dirty="0"/>
          </a:p>
        </p:txBody>
      </p:sp>
      <p:sp>
        <p:nvSpPr>
          <p:cNvPr id="55" name="Text 53"/>
          <p:cNvSpPr txBox="1"/>
          <p:nvPr/>
        </p:nvSpPr>
        <p:spPr>
          <a:xfrm>
            <a:off x="9319108"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recurring tasks to turn into SOPs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3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First Month</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to expect, how to read your daily report, and how to give feedback.</a:t>
            </a:r>
            <a:endParaRPr lang="en-US" sz="1300" dirty="0"/>
          </a:p>
        </p:txBody>
      </p:sp>
      <p:sp>
        <p:nvSpPr>
          <p:cNvPr id="5" name="Text 3"/>
          <p:cNvSpPr txBox="1"/>
          <p:nvPr/>
        </p:nvSpPr>
        <p:spPr>
          <a:xfrm>
            <a:off x="630936" y="1828800"/>
            <a:ext cx="54864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HONEST FIRST MONTH</a:t>
            </a:r>
            <a:endParaRPr lang="en-US" sz="1050" dirty="0"/>
          </a:p>
        </p:txBody>
      </p:sp>
      <p:sp>
        <p:nvSpPr>
          <p:cNvPr id="6" name="card"/>
          <p:cNvSpPr/>
          <p:nvPr/>
        </p:nvSpPr>
        <p:spPr>
          <a:xfrm>
            <a:off x="630936" y="2148840"/>
            <a:ext cx="3521354" cy="1417320"/>
          </a:xfrm>
          <a:prstGeom prst="roundRect">
            <a:avLst>
              <a:gd name="adj" fmla="val 5161"/>
            </a:avLst>
          </a:prstGeom>
          <a:solidFill>
            <a:schemeClr val="bg1"/>
          </a:solidFill>
          <a:ln w="12700">
            <a:solidFill>
              <a:schemeClr val="accent5"/>
            </a:solidFill>
            <a:prstDash val="solid"/>
          </a:ln>
        </p:spPr>
      </p:sp>
      <p:sp>
        <p:nvSpPr>
          <p:cNvPr id="7" name="Text 5"/>
          <p:cNvSpPr txBox="1"/>
          <p:nvPr/>
        </p:nvSpPr>
        <p:spPr>
          <a:xfrm>
            <a:off x="905256"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8" name="Text 6"/>
          <p:cNvSpPr txBox="1"/>
          <p:nvPr/>
        </p:nvSpPr>
        <p:spPr>
          <a:xfrm>
            <a:off x="905256"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Exciting</a:t>
            </a:r>
            <a:endParaRPr lang="en-US" sz="1500" dirty="0"/>
          </a:p>
        </p:txBody>
      </p:sp>
      <p:sp>
        <p:nvSpPr>
          <p:cNvPr id="9" name="Text 7"/>
          <p:cNvSpPr txBox="1"/>
          <p:nvPr/>
        </p:nvSpPr>
        <p:spPr>
          <a:xfrm>
            <a:off x="905256"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New energy, lots of setup and learning your style.</a:t>
            </a:r>
            <a:endParaRPr lang="en-US" sz="1150" dirty="0"/>
          </a:p>
        </p:txBody>
      </p:sp>
      <p:sp>
        <p:nvSpPr>
          <p:cNvPr id="10" name="card"/>
          <p:cNvSpPr/>
          <p:nvPr/>
        </p:nvSpPr>
        <p:spPr>
          <a:xfrm>
            <a:off x="4335170" y="2423160"/>
            <a:ext cx="3521354" cy="1417320"/>
          </a:xfrm>
          <a:prstGeom prst="roundRect">
            <a:avLst>
              <a:gd name="adj" fmla="val 5161"/>
            </a:avLst>
          </a:prstGeom>
          <a:solidFill>
            <a:schemeClr val="bg2"/>
          </a:solidFill>
          <a:ln/>
        </p:spPr>
      </p:sp>
      <p:sp>
        <p:nvSpPr>
          <p:cNvPr id="11" name="Text 9"/>
          <p:cNvSpPr txBox="1"/>
          <p:nvPr/>
        </p:nvSpPr>
        <p:spPr>
          <a:xfrm>
            <a:off x="4609490" y="256032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WEEKS 2–3</a:t>
            </a:r>
            <a:endParaRPr lang="en-US" sz="1050" dirty="0"/>
          </a:p>
        </p:txBody>
      </p:sp>
      <p:sp>
        <p:nvSpPr>
          <p:cNvPr id="12" name="Text 10"/>
          <p:cNvSpPr txBox="1"/>
          <p:nvPr/>
        </p:nvSpPr>
        <p:spPr>
          <a:xfrm>
            <a:off x="4609490" y="283464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Feels slower. That’s normal!</a:t>
            </a:r>
            <a:endParaRPr lang="en-US" sz="1500" dirty="0"/>
          </a:p>
        </p:txBody>
      </p:sp>
      <p:sp>
        <p:nvSpPr>
          <p:cNvPr id="13" name="Text 11"/>
          <p:cNvSpPr txBox="1"/>
          <p:nvPr/>
        </p:nvSpPr>
        <p:spPr>
          <a:xfrm>
            <a:off x="4609490" y="322783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Briefing takes time and it can feel quicker to do it yourself. Stick with it.</a:t>
            </a:r>
            <a:endParaRPr lang="en-US" sz="1150" dirty="0"/>
          </a:p>
        </p:txBody>
      </p:sp>
      <p:sp>
        <p:nvSpPr>
          <p:cNvPr id="14" name="card"/>
          <p:cNvSpPr/>
          <p:nvPr/>
        </p:nvSpPr>
        <p:spPr>
          <a:xfrm>
            <a:off x="8039405" y="2148840"/>
            <a:ext cx="3521354" cy="1417320"/>
          </a:xfrm>
          <a:prstGeom prst="roundRect">
            <a:avLst>
              <a:gd name="adj" fmla="val 5161"/>
            </a:avLst>
          </a:prstGeom>
          <a:solidFill>
            <a:schemeClr val="accent4"/>
          </a:solidFill>
          <a:ln/>
        </p:spPr>
      </p:sp>
      <p:sp>
        <p:nvSpPr>
          <p:cNvPr id="15" name="Text 13"/>
          <p:cNvSpPr txBox="1"/>
          <p:nvPr/>
        </p:nvSpPr>
        <p:spPr>
          <a:xfrm>
            <a:off x="8313725"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6" name="Text 14"/>
          <p:cNvSpPr txBox="1"/>
          <p:nvPr/>
        </p:nvSpPr>
        <p:spPr>
          <a:xfrm>
            <a:off x="8313725"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It starts to click</a:t>
            </a:r>
            <a:endParaRPr lang="en-US" sz="1500" dirty="0"/>
          </a:p>
        </p:txBody>
      </p:sp>
      <p:sp>
        <p:nvSpPr>
          <p:cNvPr id="17" name="Text 15"/>
          <p:cNvSpPr txBox="1"/>
          <p:nvPr/>
        </p:nvSpPr>
        <p:spPr>
          <a:xfrm>
            <a:off x="8313725"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Routines form, briefs get shorter, and time starts coming back.</a:t>
            </a:r>
            <a:endParaRPr lang="en-US" sz="1150" dirty="0"/>
          </a:p>
        </p:txBody>
      </p:sp>
      <p:sp>
        <p:nvSpPr>
          <p:cNvPr id="18" name="card"/>
          <p:cNvSpPr/>
          <p:nvPr/>
        </p:nvSpPr>
        <p:spPr>
          <a:xfrm>
            <a:off x="630936" y="4069080"/>
            <a:ext cx="5373472" cy="2103120"/>
          </a:xfrm>
          <a:prstGeom prst="roundRect">
            <a:avLst>
              <a:gd name="adj" fmla="val 3478"/>
            </a:avLst>
          </a:prstGeom>
          <a:solidFill>
            <a:schemeClr val="bg1"/>
          </a:solidFill>
          <a:ln w="12700">
            <a:solidFill>
              <a:schemeClr val="accent5"/>
            </a:solidFill>
            <a:prstDash val="solid"/>
          </a:ln>
        </p:spPr>
      </p:sp>
      <p:sp>
        <p:nvSpPr>
          <p:cNvPr id="19" name="Text 17"/>
          <p:cNvSpPr txBox="1"/>
          <p:nvPr/>
        </p:nvSpPr>
        <p:spPr>
          <a:xfrm>
            <a:off x="905256"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READING YOUR DAILY EOD REPORT</a:t>
            </a:r>
            <a:endParaRPr lang="en-US" sz="1050" dirty="0"/>
          </a:p>
        </p:txBody>
      </p:sp>
      <p:sp>
        <p:nvSpPr>
          <p:cNvPr id="20" name="Text 18"/>
          <p:cNvSpPr txBox="1"/>
          <p:nvPr/>
        </p:nvSpPr>
        <p:spPr>
          <a:xfrm>
            <a:off x="905256" y="4498848"/>
            <a:ext cx="4824832" cy="274320"/>
          </a:xfrm>
          <a:prstGeom prst="rect">
            <a:avLst/>
          </a:prstGeom>
          <a:noFill/>
          <a:ln/>
        </p:spPr>
        <p:txBody>
          <a:bodyPr wrap="square" lIns="0" tIns="0" rIns="0" bIns="0" rtlCol="0" anchor="ctr"/>
          <a:lstStyle/>
          <a:p>
            <a:pPr indent="0" marL="0">
              <a:buNone/>
            </a:pPr>
            <a:r>
              <a:rPr lang="en-US" sz="1200" dirty="0">
                <a:solidFill>
                  <a:schemeClr val="accent3"/>
                </a:solidFill>
              </a:rPr>
              <a:t>Your Assistant sends one every working day:</a:t>
            </a:r>
            <a:endParaRPr lang="en-US" sz="1200" dirty="0"/>
          </a:p>
        </p:txBody>
      </p:sp>
      <p:sp>
        <p:nvSpPr>
          <p:cNvPr id="21" name="Text 19"/>
          <p:cNvSpPr txBox="1"/>
          <p:nvPr/>
        </p:nvSpPr>
        <p:spPr>
          <a:xfrm>
            <a:off x="905256"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Done today</a:t>
            </a:r>
            <a:endParaRPr lang="en-US" sz="1150" dirty="0"/>
          </a:p>
          <a:p>
            <a:pPr indent="0" marL="0">
              <a:buNone/>
            </a:pPr>
            <a:r>
              <a:rPr lang="en-US" sz="1150" dirty="0">
                <a:solidFill>
                  <a:schemeClr val="accent3"/>
                </a:solidFill>
              </a:rPr>
              <a:t>check it matches priorities</a:t>
            </a:r>
            <a:endParaRPr lang="en-US" sz="1150" dirty="0"/>
          </a:p>
        </p:txBody>
      </p:sp>
      <p:sp>
        <p:nvSpPr>
          <p:cNvPr id="22" name="Text 20"/>
          <p:cNvSpPr txBox="1"/>
          <p:nvPr/>
        </p:nvSpPr>
        <p:spPr>
          <a:xfrm>
            <a:off x="3317672"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In progress</a:t>
            </a:r>
            <a:endParaRPr lang="en-US" sz="1150" dirty="0"/>
          </a:p>
          <a:p>
            <a:pPr indent="0" marL="0">
              <a:buNone/>
            </a:pPr>
            <a:r>
              <a:rPr lang="en-US" sz="1150" dirty="0">
                <a:solidFill>
                  <a:schemeClr val="accent3"/>
                </a:solidFill>
              </a:rPr>
              <a:t>spot anything stuck</a:t>
            </a:r>
            <a:endParaRPr lang="en-US" sz="1150" dirty="0"/>
          </a:p>
        </p:txBody>
      </p:sp>
      <p:sp>
        <p:nvSpPr>
          <p:cNvPr id="23" name="Text 21"/>
          <p:cNvSpPr txBox="1"/>
          <p:nvPr/>
        </p:nvSpPr>
        <p:spPr>
          <a:xfrm>
            <a:off x="905256"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Questions</a:t>
            </a:r>
            <a:endParaRPr lang="en-US" sz="1150" dirty="0"/>
          </a:p>
          <a:p>
            <a:pPr indent="0" marL="0">
              <a:buNone/>
            </a:pPr>
            <a:r>
              <a:rPr lang="en-US" sz="1150" dirty="0">
                <a:solidFill>
                  <a:schemeClr val="accent3"/>
                </a:solidFill>
              </a:rPr>
              <a:t>reply within 24 hours</a:t>
            </a:r>
            <a:endParaRPr lang="en-US" sz="1150" dirty="0"/>
          </a:p>
        </p:txBody>
      </p:sp>
      <p:sp>
        <p:nvSpPr>
          <p:cNvPr id="24" name="Text 22"/>
          <p:cNvSpPr txBox="1"/>
          <p:nvPr/>
        </p:nvSpPr>
        <p:spPr>
          <a:xfrm>
            <a:off x="3317672"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Tomorrow</a:t>
            </a:r>
            <a:endParaRPr lang="en-US" sz="1150" dirty="0"/>
          </a:p>
          <a:p>
            <a:pPr indent="0" marL="0">
              <a:buNone/>
            </a:pPr>
            <a:r>
              <a:rPr lang="en-US" sz="1150" dirty="0">
                <a:solidFill>
                  <a:schemeClr val="accent3"/>
                </a:solidFill>
              </a:rPr>
              <a:t>adjust if priorities changed</a:t>
            </a:r>
            <a:endParaRPr lang="en-US" sz="1150" dirty="0"/>
          </a:p>
        </p:txBody>
      </p:sp>
      <p:sp>
        <p:nvSpPr>
          <p:cNvPr id="25" name="card"/>
          <p:cNvSpPr/>
          <p:nvPr/>
        </p:nvSpPr>
        <p:spPr>
          <a:xfrm>
            <a:off x="6187288" y="4069080"/>
            <a:ext cx="5373472" cy="2103120"/>
          </a:xfrm>
          <a:prstGeom prst="roundRect">
            <a:avLst>
              <a:gd name="adj" fmla="val 3478"/>
            </a:avLst>
          </a:prstGeom>
          <a:solidFill>
            <a:schemeClr val="accent4"/>
          </a:solidFill>
          <a:ln/>
        </p:spPr>
      </p:sp>
      <p:sp>
        <p:nvSpPr>
          <p:cNvPr id="26" name="Text 24"/>
          <p:cNvSpPr txBox="1"/>
          <p:nvPr/>
        </p:nvSpPr>
        <p:spPr>
          <a:xfrm>
            <a:off x="6461608"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GIVING FEEDBACK: 3 STEPS</a:t>
            </a:r>
            <a:endParaRPr lang="en-US" sz="1050" dirty="0"/>
          </a:p>
        </p:txBody>
      </p:sp>
      <p:sp>
        <p:nvSpPr>
          <p:cNvPr id="27" name="number 1"/>
          <p:cNvSpPr/>
          <p:nvPr/>
        </p:nvSpPr>
        <p:spPr>
          <a:xfrm>
            <a:off x="6461608" y="4572000"/>
            <a:ext cx="329184" cy="329184"/>
          </a:xfrm>
          <a:prstGeom prst="ellipse">
            <a:avLst/>
          </a:prstGeom>
          <a:solidFill>
            <a:schemeClr val="accent1"/>
          </a:solidFill>
          <a:ln/>
        </p:spPr>
      </p:sp>
      <p:sp>
        <p:nvSpPr>
          <p:cNvPr id="28" name="Text 26"/>
          <p:cNvSpPr txBox="1"/>
          <p:nvPr/>
        </p:nvSpPr>
        <p:spPr>
          <a:xfrm>
            <a:off x="6461608" y="4572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Text 27"/>
          <p:cNvSpPr txBox="1"/>
          <p:nvPr/>
        </p:nvSpPr>
        <p:spPr>
          <a:xfrm>
            <a:off x="6918808" y="4572000"/>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worked</a:t>
            </a:r>
            <a:endParaRPr lang="en-US" sz="1300" dirty="0"/>
          </a:p>
        </p:txBody>
      </p:sp>
      <p:sp>
        <p:nvSpPr>
          <p:cNvPr id="30" name="number 2"/>
          <p:cNvSpPr/>
          <p:nvPr/>
        </p:nvSpPr>
        <p:spPr>
          <a:xfrm>
            <a:off x="6461608" y="5001768"/>
            <a:ext cx="329184" cy="329184"/>
          </a:xfrm>
          <a:prstGeom prst="ellipse">
            <a:avLst/>
          </a:prstGeom>
          <a:solidFill>
            <a:schemeClr val="accent1"/>
          </a:solidFill>
          <a:ln/>
        </p:spPr>
      </p:sp>
      <p:sp>
        <p:nvSpPr>
          <p:cNvPr id="31" name="Text 29"/>
          <p:cNvSpPr txBox="1"/>
          <p:nvPr/>
        </p:nvSpPr>
        <p:spPr>
          <a:xfrm>
            <a:off x="6461608" y="50017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2" name="Text 30"/>
          <p:cNvSpPr txBox="1"/>
          <p:nvPr/>
        </p:nvSpPr>
        <p:spPr>
          <a:xfrm>
            <a:off x="6918808" y="5001768"/>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to change</a:t>
            </a:r>
            <a:endParaRPr lang="en-US" sz="1300" dirty="0"/>
          </a:p>
        </p:txBody>
      </p:sp>
      <p:sp>
        <p:nvSpPr>
          <p:cNvPr id="33" name="number 3"/>
          <p:cNvSpPr/>
          <p:nvPr/>
        </p:nvSpPr>
        <p:spPr>
          <a:xfrm>
            <a:off x="6461608" y="5431536"/>
            <a:ext cx="329184" cy="329184"/>
          </a:xfrm>
          <a:prstGeom prst="ellipse">
            <a:avLst/>
          </a:prstGeom>
          <a:solidFill>
            <a:schemeClr val="accent1"/>
          </a:solidFill>
          <a:ln/>
        </p:spPr>
      </p:sp>
      <p:sp>
        <p:nvSpPr>
          <p:cNvPr id="34" name="Text 32"/>
          <p:cNvSpPr txBox="1"/>
          <p:nvPr/>
        </p:nvSpPr>
        <p:spPr>
          <a:xfrm>
            <a:off x="6461608" y="54315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5" name="Text 33"/>
          <p:cNvSpPr txBox="1"/>
          <p:nvPr/>
        </p:nvSpPr>
        <p:spPr>
          <a:xfrm>
            <a:off x="6918808" y="5431536"/>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Agree the next step</a:t>
            </a:r>
            <a:endParaRPr lang="en-US" sz="1300" dirty="0"/>
          </a:p>
        </p:txBody>
      </p:sp>
      <p:sp>
        <p:nvSpPr>
          <p:cNvPr id="36" name="Text 34"/>
          <p:cNvSpPr txBox="1"/>
          <p:nvPr/>
        </p:nvSpPr>
        <p:spPr>
          <a:xfrm>
            <a:off x="6461608" y="5833872"/>
            <a:ext cx="4824832" cy="274320"/>
          </a:xfrm>
          <a:prstGeom prst="rect">
            <a:avLst/>
          </a:prstGeom>
          <a:noFill/>
          <a:ln/>
        </p:spPr>
        <p:txBody>
          <a:bodyPr wrap="square" lIns="0" tIns="0" rIns="0" bIns="0" rtlCol="0" anchor="ctr"/>
          <a:lstStyle/>
          <a:p>
            <a:pPr indent="0" marL="0">
              <a:buNone/>
            </a:pPr>
            <a:r>
              <a:rPr lang="en-US" sz="1150" b="1" dirty="0">
                <a:solidFill>
                  <a:schemeClr val="accent1"/>
                </a:solidFill>
              </a:rPr>
              <a:t>Give feedback early and often. Stuck? Bring in your CAX team.</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4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Well Together</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Small habits that build a great long-term relationship, plus quick answers for the moments that worry first-time clients.</a:t>
            </a:r>
            <a:endParaRPr lang="en-US" sz="1300" dirty="0"/>
          </a:p>
        </p:txBody>
      </p:sp>
      <p:sp>
        <p:nvSpPr>
          <p:cNvPr id="5" name="card"/>
          <p:cNvSpPr/>
          <p:nvPr/>
        </p:nvSpPr>
        <p:spPr>
          <a:xfrm>
            <a:off x="630936" y="1965960"/>
            <a:ext cx="3521354" cy="4206240"/>
          </a:xfrm>
          <a:prstGeom prst="roundRect">
            <a:avLst>
              <a:gd name="adj" fmla="val 2077"/>
            </a:avLst>
          </a:prstGeom>
          <a:solidFill>
            <a:schemeClr val="accent4"/>
          </a:solidFill>
          <a:ln/>
        </p:spPr>
      </p:sp>
      <p:sp>
        <p:nvSpPr>
          <p:cNvPr id="6" name="Text 4"/>
          <p:cNvSpPr txBox="1"/>
          <p:nvPr/>
        </p:nvSpPr>
        <p:spPr>
          <a:xfrm>
            <a:off x="905256"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WORKING WELL WITH YOUR ANGEL</a:t>
            </a:r>
            <a:endParaRPr lang="en-US" sz="1050" dirty="0"/>
          </a:p>
        </p:txBody>
      </p:sp>
      <p:sp>
        <p:nvSpPr>
          <p:cNvPr id="7" name="Text 5"/>
          <p:cNvSpPr txBox="1"/>
          <p:nvPr/>
        </p:nvSpPr>
        <p:spPr>
          <a:xfrm>
            <a:off x="905256" y="2560320"/>
            <a:ext cx="2972714" cy="777240"/>
          </a:xfrm>
          <a:prstGeom prst="rect">
            <a:avLst/>
          </a:prstGeom>
          <a:noFill/>
          <a:ln/>
        </p:spPr>
        <p:txBody>
          <a:bodyPr wrap="square" lIns="0" tIns="0" rIns="0" bIns="0" rtlCol="0" anchor="t"/>
          <a:lstStyle/>
          <a:p>
            <a:pPr indent="0" marL="0">
              <a:buNone/>
            </a:pPr>
            <a:r>
              <a:rPr lang="en-US" sz="1250" b="1" dirty="0">
                <a:solidFill>
                  <a:schemeClr val="tx1"/>
                </a:solidFill>
              </a:rPr>
              <a:t>Invite questions. </a:t>
            </a:r>
            <a:pPr indent="0" marL="0">
              <a:buNone/>
            </a:pPr>
            <a:r>
              <a:rPr lang="en-US" sz="1250" dirty="0">
                <a:solidFill>
                  <a:schemeClr val="accent3"/>
                </a:solidFill>
              </a:rPr>
              <a:t>Many Angels won’t say “I don’t understand” unless asked.</a:t>
            </a:r>
            <a:endParaRPr lang="en-US" sz="1250" dirty="0"/>
          </a:p>
        </p:txBody>
      </p:sp>
      <p:sp>
        <p:nvSpPr>
          <p:cNvPr id="8" name="Text 6"/>
          <p:cNvSpPr txBox="1"/>
          <p:nvPr/>
        </p:nvSpPr>
        <p:spPr>
          <a:xfrm>
            <a:off x="905256" y="3429000"/>
            <a:ext cx="2972714" cy="777240"/>
          </a:xfrm>
          <a:prstGeom prst="rect">
            <a:avLst/>
          </a:prstGeom>
          <a:noFill/>
          <a:ln/>
        </p:spPr>
        <p:txBody>
          <a:bodyPr wrap="square" lIns="0" tIns="0" rIns="0" bIns="0" rtlCol="0" anchor="t"/>
          <a:lstStyle/>
          <a:p>
            <a:pPr indent="0" marL="0">
              <a:buNone/>
            </a:pPr>
            <a:r>
              <a:rPr lang="en-US" sz="1250" b="1" dirty="0">
                <a:solidFill>
                  <a:schemeClr val="tx1"/>
                </a:solidFill>
              </a:rPr>
              <a:t>Ask open questions. </a:t>
            </a:r>
            <a:pPr indent="0" marL="0">
              <a:buNone/>
            </a:pPr>
            <a:r>
              <a:rPr lang="en-US" sz="1250" dirty="0">
                <a:solidFill>
                  <a:schemeClr val="accent3"/>
                </a:solidFill>
              </a:rPr>
              <a:t>“How would you approach this?” beats “Is that okay?”</a:t>
            </a:r>
            <a:endParaRPr lang="en-US" sz="1250" dirty="0"/>
          </a:p>
        </p:txBody>
      </p:sp>
      <p:sp>
        <p:nvSpPr>
          <p:cNvPr id="9" name="Text 7"/>
          <p:cNvSpPr txBox="1"/>
          <p:nvPr/>
        </p:nvSpPr>
        <p:spPr>
          <a:xfrm>
            <a:off x="905256" y="4297680"/>
            <a:ext cx="2972714" cy="777240"/>
          </a:xfrm>
          <a:prstGeom prst="rect">
            <a:avLst/>
          </a:prstGeom>
          <a:noFill/>
          <a:ln/>
        </p:spPr>
        <p:txBody>
          <a:bodyPr wrap="square" lIns="0" tIns="0" rIns="0" bIns="0" rtlCol="0" anchor="t"/>
          <a:lstStyle/>
          <a:p>
            <a:pPr indent="0" marL="0">
              <a:buNone/>
            </a:pPr>
            <a:r>
              <a:rPr lang="en-US" sz="1250" b="1" dirty="0">
                <a:solidFill>
                  <a:schemeClr val="tx1"/>
                </a:solidFill>
              </a:rPr>
              <a:t>Recognise good work, </a:t>
            </a:r>
            <a:pPr indent="0" marL="0">
              <a:buNone/>
            </a:pPr>
            <a:r>
              <a:rPr lang="en-US" sz="1250" dirty="0">
                <a:solidFill>
                  <a:schemeClr val="accent3"/>
                </a:solidFill>
              </a:rPr>
              <a:t>out loud and often.</a:t>
            </a:r>
            <a:endParaRPr lang="en-US" sz="1250" dirty="0"/>
          </a:p>
        </p:txBody>
      </p:sp>
      <p:sp>
        <p:nvSpPr>
          <p:cNvPr id="10" name="Text 8"/>
          <p:cNvSpPr txBox="1"/>
          <p:nvPr/>
        </p:nvSpPr>
        <p:spPr>
          <a:xfrm>
            <a:off x="905256" y="5166360"/>
            <a:ext cx="2972714" cy="777240"/>
          </a:xfrm>
          <a:prstGeom prst="rect">
            <a:avLst/>
          </a:prstGeom>
          <a:noFill/>
          <a:ln/>
        </p:spPr>
        <p:txBody>
          <a:bodyPr wrap="square" lIns="0" tIns="0" rIns="0" bIns="0" rtlCol="0" anchor="t"/>
          <a:lstStyle/>
          <a:p>
            <a:pPr indent="0" marL="0">
              <a:buNone/>
            </a:pPr>
            <a:r>
              <a:rPr lang="en-US" sz="1250" b="1" dirty="0">
                <a:solidFill>
                  <a:schemeClr val="tx1"/>
                </a:solidFill>
              </a:rPr>
              <a:t>Get to know them: </a:t>
            </a:r>
            <a:pPr indent="0" marL="0">
              <a:buNone/>
            </a:pPr>
            <a:r>
              <a:rPr lang="en-US" sz="1250" dirty="0">
                <a:solidFill>
                  <a:schemeClr val="accent3"/>
                </a:solidFill>
              </a:rPr>
              <a:t>their holidays, family and goals.</a:t>
            </a:r>
            <a:endParaRPr lang="en-US" sz="1250" dirty="0"/>
          </a:p>
        </p:txBody>
      </p:sp>
      <p:sp>
        <p:nvSpPr>
          <p:cNvPr id="11" name="card"/>
          <p:cNvSpPr/>
          <p:nvPr/>
        </p:nvSpPr>
        <p:spPr>
          <a:xfrm>
            <a:off x="4335170" y="1965960"/>
            <a:ext cx="3521354" cy="4206240"/>
          </a:xfrm>
          <a:prstGeom prst="roundRect">
            <a:avLst>
              <a:gd name="adj" fmla="val 2077"/>
            </a:avLst>
          </a:prstGeom>
          <a:solidFill>
            <a:schemeClr val="bg1"/>
          </a:solidFill>
          <a:ln w="12700">
            <a:solidFill>
              <a:schemeClr val="accent5"/>
            </a:solidFill>
            <a:prstDash val="solid"/>
          </a:ln>
        </p:spPr>
      </p:sp>
      <p:sp>
        <p:nvSpPr>
          <p:cNvPr id="12" name="Text 10"/>
          <p:cNvSpPr txBox="1"/>
          <p:nvPr/>
        </p:nvSpPr>
        <p:spPr>
          <a:xfrm>
            <a:off x="4609490"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IF…?</a:t>
            </a:r>
            <a:endParaRPr lang="en-US" sz="1050" dirty="0"/>
          </a:p>
        </p:txBody>
      </p:sp>
      <p:sp>
        <p:nvSpPr>
          <p:cNvPr id="13" name="Text 11"/>
          <p:cNvSpPr txBox="1"/>
          <p:nvPr/>
        </p:nvSpPr>
        <p:spPr>
          <a:xfrm>
            <a:off x="4609490" y="2514600"/>
            <a:ext cx="2972714" cy="685800"/>
          </a:xfrm>
          <a:prstGeom prst="rect">
            <a:avLst/>
          </a:prstGeom>
          <a:noFill/>
          <a:ln/>
        </p:spPr>
        <p:txBody>
          <a:bodyPr wrap="square" lIns="0" tIns="0" rIns="0" bIns="0" rtlCol="0" anchor="t"/>
          <a:lstStyle/>
          <a:p>
            <a:pPr indent="0" marL="0">
              <a:buNone/>
            </a:pPr>
            <a:r>
              <a:rPr lang="en-US" sz="1150" b="1" dirty="0">
                <a:solidFill>
                  <a:schemeClr val="tx1"/>
                </a:solidFill>
              </a:rPr>
              <a:t>My Angel is sick or offline?</a:t>
            </a:r>
            <a:endParaRPr lang="en-US" sz="1150" dirty="0"/>
          </a:p>
          <a:p>
            <a:pPr indent="0" marL="0">
              <a:buNone/>
            </a:pPr>
            <a:r>
              <a:rPr lang="en-US" sz="1150" dirty="0">
                <a:solidFill>
                  <a:schemeClr val="accent3"/>
                </a:solidFill>
              </a:rPr>
              <a:t>They’ll tell you as early as possible, and your Account Manager helps keep priorities covered.</a:t>
            </a:r>
            <a:endParaRPr lang="en-US" sz="1150" dirty="0"/>
          </a:p>
        </p:txBody>
      </p:sp>
      <p:sp>
        <p:nvSpPr>
          <p:cNvPr id="14" name="Text 12"/>
          <p:cNvSpPr txBox="1"/>
          <p:nvPr/>
        </p:nvSpPr>
        <p:spPr>
          <a:xfrm>
            <a:off x="4609490" y="3227832"/>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not happy?</a:t>
            </a:r>
            <a:endParaRPr lang="en-US" sz="1150" dirty="0"/>
          </a:p>
          <a:p>
            <a:pPr indent="0" marL="0">
              <a:buNone/>
            </a:pPr>
            <a:r>
              <a:rPr lang="en-US" sz="1150" dirty="0">
                <a:solidFill>
                  <a:schemeClr val="accent3"/>
                </a:solidFill>
              </a:rPr>
              <a:t>Tell your Account Manager any time. Free replacement, with a 1-week trial.</a:t>
            </a:r>
            <a:endParaRPr lang="en-US" sz="1150" dirty="0"/>
          </a:p>
        </p:txBody>
      </p:sp>
      <p:sp>
        <p:nvSpPr>
          <p:cNvPr id="15" name="Text 13"/>
          <p:cNvSpPr txBox="1"/>
          <p:nvPr/>
        </p:nvSpPr>
        <p:spPr>
          <a:xfrm>
            <a:off x="4609490" y="3941064"/>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need more help?</a:t>
            </a:r>
            <a:endParaRPr lang="en-US" sz="1150" dirty="0"/>
          </a:p>
          <a:p>
            <a:pPr indent="0" marL="0">
              <a:buNone/>
            </a:pPr>
            <a:r>
              <a:rPr lang="en-US" sz="1150" dirty="0">
                <a:solidFill>
                  <a:schemeClr val="accent3"/>
                </a:solidFill>
              </a:rPr>
              <a:t>Ask your Account Manager about a second Angel.</a:t>
            </a:r>
            <a:endParaRPr lang="en-US" sz="1150" dirty="0"/>
          </a:p>
        </p:txBody>
      </p:sp>
      <p:sp>
        <p:nvSpPr>
          <p:cNvPr id="16" name="Text 14"/>
          <p:cNvSpPr txBox="1"/>
          <p:nvPr/>
        </p:nvSpPr>
        <p:spPr>
          <a:xfrm>
            <a:off x="4609490" y="4654296"/>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on holiday?</a:t>
            </a:r>
            <a:endParaRPr lang="en-US" sz="1150" dirty="0"/>
          </a:p>
          <a:p>
            <a:pPr indent="0" marL="0">
              <a:buNone/>
            </a:pPr>
            <a:r>
              <a:rPr lang="en-US" sz="1150" dirty="0">
                <a:solidFill>
                  <a:schemeClr val="accent3"/>
                </a:solidFill>
              </a:rPr>
              <a:t>Leave a priority list. Your Angel keeps things moving.</a:t>
            </a:r>
            <a:endParaRPr lang="en-US" sz="1150" dirty="0"/>
          </a:p>
        </p:txBody>
      </p:sp>
      <p:sp>
        <p:nvSpPr>
          <p:cNvPr id="17" name="Text 15"/>
          <p:cNvSpPr txBox="1"/>
          <p:nvPr/>
        </p:nvSpPr>
        <p:spPr>
          <a:xfrm>
            <a:off x="4609490" y="5367528"/>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have billing questions?</a:t>
            </a:r>
            <a:endParaRPr lang="en-US" sz="1150" dirty="0"/>
          </a:p>
          <a:p>
            <a:pPr indent="0" marL="0">
              <a:buNone/>
            </a:pPr>
            <a:r>
              <a:rPr lang="en-US" sz="1150" dirty="0">
                <a:solidFill>
                  <a:schemeClr val="accent3"/>
                </a:solidFill>
              </a:rPr>
              <a:t>Your Account Manager walks you through it at kick-off.</a:t>
            </a:r>
            <a:endParaRPr lang="en-US" sz="1150" dirty="0"/>
          </a:p>
        </p:txBody>
      </p:sp>
      <p:sp>
        <p:nvSpPr>
          <p:cNvPr id="18" name="card"/>
          <p:cNvSpPr/>
          <p:nvPr/>
        </p:nvSpPr>
        <p:spPr>
          <a:xfrm>
            <a:off x="8039405" y="1965960"/>
            <a:ext cx="3521354" cy="4206240"/>
          </a:xfrm>
          <a:prstGeom prst="roundRect">
            <a:avLst>
              <a:gd name="adj" fmla="val 2077"/>
            </a:avLst>
          </a:prstGeom>
          <a:solidFill>
            <a:schemeClr val="bg2"/>
          </a:solidFill>
          <a:ln/>
        </p:spPr>
      </p:sp>
      <p:sp>
        <p:nvSpPr>
          <p:cNvPr id="19" name="Text 17"/>
          <p:cNvSpPr txBox="1"/>
          <p:nvPr/>
        </p:nvSpPr>
        <p:spPr>
          <a:xfrm>
            <a:off x="8313725" y="214884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FIRST-TIME MISTAKES TO AVOID</a:t>
            </a:r>
            <a:endParaRPr lang="en-US" sz="1050" dirty="0"/>
          </a:p>
        </p:txBody>
      </p:sp>
      <p:sp>
        <p:nvSpPr>
          <p:cNvPr id="20" name="mistake 1"/>
          <p:cNvSpPr/>
          <p:nvPr/>
        </p:nvSpPr>
        <p:spPr>
          <a:xfrm>
            <a:off x="8313725" y="2606040"/>
            <a:ext cx="329184" cy="329184"/>
          </a:xfrm>
          <a:prstGeom prst="ellipse">
            <a:avLst/>
          </a:prstGeom>
          <a:solidFill>
            <a:schemeClr val="bg1"/>
          </a:solidFill>
          <a:ln w="19050">
            <a:solidFill>
              <a:schemeClr val="accent6"/>
            </a:solidFill>
            <a:prstDash val="solid"/>
          </a:ln>
        </p:spPr>
      </p:sp>
      <p:sp>
        <p:nvSpPr>
          <p:cNvPr id="21" name="Text 19"/>
          <p:cNvSpPr txBox="1"/>
          <p:nvPr/>
        </p:nvSpPr>
        <p:spPr>
          <a:xfrm>
            <a:off x="8313725" y="26060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2" name="Text 20"/>
          <p:cNvSpPr txBox="1"/>
          <p:nvPr/>
        </p:nvSpPr>
        <p:spPr>
          <a:xfrm>
            <a:off x="8770925" y="25603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Vague instructions</a:t>
            </a:r>
            <a:endParaRPr lang="en-US" sz="1250" dirty="0"/>
          </a:p>
        </p:txBody>
      </p:sp>
      <p:sp>
        <p:nvSpPr>
          <p:cNvPr id="23" name="mistake 2"/>
          <p:cNvSpPr/>
          <p:nvPr/>
        </p:nvSpPr>
        <p:spPr>
          <a:xfrm>
            <a:off x="8313725" y="3291840"/>
            <a:ext cx="329184" cy="329184"/>
          </a:xfrm>
          <a:prstGeom prst="ellipse">
            <a:avLst/>
          </a:prstGeom>
          <a:solidFill>
            <a:schemeClr val="bg1"/>
          </a:solidFill>
          <a:ln w="19050">
            <a:solidFill>
              <a:schemeClr val="accent6"/>
            </a:solidFill>
            <a:prstDash val="solid"/>
          </a:ln>
        </p:spPr>
      </p:sp>
      <p:sp>
        <p:nvSpPr>
          <p:cNvPr id="24" name="Text 22"/>
          <p:cNvSpPr txBox="1"/>
          <p:nvPr/>
        </p:nvSpPr>
        <p:spPr>
          <a:xfrm>
            <a:off x="8313725" y="32918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5" name="Text 23"/>
          <p:cNvSpPr txBox="1"/>
          <p:nvPr/>
        </p:nvSpPr>
        <p:spPr>
          <a:xfrm>
            <a:off x="8770925" y="32461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 access on Day 1</a:t>
            </a:r>
            <a:endParaRPr lang="en-US" sz="1250" dirty="0"/>
          </a:p>
        </p:txBody>
      </p:sp>
      <p:sp>
        <p:nvSpPr>
          <p:cNvPr id="26" name="mistake 3"/>
          <p:cNvSpPr/>
          <p:nvPr/>
        </p:nvSpPr>
        <p:spPr>
          <a:xfrm>
            <a:off x="8313725" y="3977640"/>
            <a:ext cx="329184" cy="329184"/>
          </a:xfrm>
          <a:prstGeom prst="ellipse">
            <a:avLst/>
          </a:prstGeom>
          <a:solidFill>
            <a:schemeClr val="bg1"/>
          </a:solidFill>
          <a:ln w="19050">
            <a:solidFill>
              <a:schemeClr val="accent6"/>
            </a:solidFill>
            <a:prstDash val="solid"/>
          </a:ln>
        </p:spPr>
      </p:sp>
      <p:sp>
        <p:nvSpPr>
          <p:cNvPr id="27" name="Text 25"/>
          <p:cNvSpPr txBox="1"/>
          <p:nvPr/>
        </p:nvSpPr>
        <p:spPr>
          <a:xfrm>
            <a:off x="8313725" y="39776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8" name="Text 26"/>
          <p:cNvSpPr txBox="1"/>
          <p:nvPr/>
        </p:nvSpPr>
        <p:spPr>
          <a:xfrm>
            <a:off x="8770925" y="39319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Doing it yourself “because it’s faster”</a:t>
            </a:r>
            <a:endParaRPr lang="en-US" sz="1250" dirty="0"/>
          </a:p>
        </p:txBody>
      </p:sp>
      <p:sp>
        <p:nvSpPr>
          <p:cNvPr id="29" name="mistake 4"/>
          <p:cNvSpPr/>
          <p:nvPr/>
        </p:nvSpPr>
        <p:spPr>
          <a:xfrm>
            <a:off x="8313725" y="4663440"/>
            <a:ext cx="329184" cy="329184"/>
          </a:xfrm>
          <a:prstGeom prst="ellipse">
            <a:avLst/>
          </a:prstGeom>
          <a:solidFill>
            <a:schemeClr val="bg1"/>
          </a:solidFill>
          <a:ln w="19050">
            <a:solidFill>
              <a:schemeClr val="accent6"/>
            </a:solidFill>
            <a:prstDash val="solid"/>
          </a:ln>
        </p:spPr>
      </p:sp>
      <p:sp>
        <p:nvSpPr>
          <p:cNvPr id="30" name="Text 28"/>
          <p:cNvSpPr txBox="1"/>
          <p:nvPr/>
        </p:nvSpPr>
        <p:spPr>
          <a:xfrm>
            <a:off x="8313725" y="46634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1" name="Text 29"/>
          <p:cNvSpPr txBox="1"/>
          <p:nvPr/>
        </p:nvSpPr>
        <p:spPr>
          <a:xfrm>
            <a:off x="8770925" y="46177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Not reading the EOD reports</a:t>
            </a:r>
            <a:endParaRPr lang="en-US" sz="1250" dirty="0"/>
          </a:p>
        </p:txBody>
      </p:sp>
      <p:sp>
        <p:nvSpPr>
          <p:cNvPr id="32" name="mistake 5"/>
          <p:cNvSpPr/>
          <p:nvPr/>
        </p:nvSpPr>
        <p:spPr>
          <a:xfrm>
            <a:off x="8313725" y="5349240"/>
            <a:ext cx="329184" cy="329184"/>
          </a:xfrm>
          <a:prstGeom prst="ellipse">
            <a:avLst/>
          </a:prstGeom>
          <a:solidFill>
            <a:schemeClr val="bg1"/>
          </a:solidFill>
          <a:ln w="19050">
            <a:solidFill>
              <a:schemeClr val="accent6"/>
            </a:solidFill>
            <a:prstDash val="solid"/>
          </a:ln>
        </p:spPr>
      </p:sp>
      <p:sp>
        <p:nvSpPr>
          <p:cNvPr id="33" name="Text 31"/>
          <p:cNvSpPr txBox="1"/>
          <p:nvPr/>
        </p:nvSpPr>
        <p:spPr>
          <a:xfrm>
            <a:off x="8313725" y="53492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4" name="Text 32"/>
          <p:cNvSpPr txBox="1"/>
          <p:nvPr/>
        </p:nvSpPr>
        <p:spPr>
          <a:xfrm>
            <a:off x="8770925" y="53035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Saving feedback until you’re frustrated</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12-Month Journey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Four milestone reviews. At each one we update your Freedom Scorecard, KPIs and “Next to delegate” list.</a:t>
            </a:r>
            <a:endParaRPr lang="en-US" sz="1300" dirty="0"/>
          </a:p>
        </p:txBody>
      </p:sp>
      <p:sp>
        <p:nvSpPr>
          <p:cNvPr id="5" name="journey line"/>
          <p:cNvSpPr/>
          <p:nvPr/>
        </p:nvSpPr>
        <p:spPr>
          <a:xfrm>
            <a:off x="905256" y="2423160"/>
            <a:ext cx="10381183" cy="0"/>
          </a:xfrm>
          <a:prstGeom prst="line">
            <a:avLst/>
          </a:prstGeom>
          <a:noFill/>
          <a:ln w="38100">
            <a:solidFill>
              <a:schemeClr val="accent2"/>
            </a:solidFill>
            <a:prstDash val="solid"/>
          </a:ln>
        </p:spPr>
      </p:sp>
      <p:sp>
        <p:nvSpPr>
          <p:cNvPr id="6" name="milestone 1"/>
          <p:cNvSpPr/>
          <p:nvPr/>
        </p:nvSpPr>
        <p:spPr>
          <a:xfrm>
            <a:off x="722376" y="2221992"/>
            <a:ext cx="402336" cy="402336"/>
          </a:xfrm>
          <a:prstGeom prst="ellipse">
            <a:avLst/>
          </a:prstGeom>
          <a:solidFill>
            <a:schemeClr val="bg1"/>
          </a:solidFill>
          <a:ln w="38100">
            <a:solidFill>
              <a:schemeClr val="accent1"/>
            </a:solidFill>
            <a:prstDash val="solid"/>
          </a:ln>
        </p:spPr>
      </p:sp>
      <p:sp>
        <p:nvSpPr>
          <p:cNvPr id="7" name="card"/>
          <p:cNvSpPr/>
          <p:nvPr/>
        </p:nvSpPr>
        <p:spPr>
          <a:xfrm>
            <a:off x="630936" y="2834640"/>
            <a:ext cx="2595296" cy="2377440"/>
          </a:xfrm>
          <a:prstGeom prst="roundRect">
            <a:avLst>
              <a:gd name="adj" fmla="val 3077"/>
            </a:avLst>
          </a:prstGeom>
          <a:solidFill>
            <a:schemeClr val="bg1"/>
          </a:solidFill>
          <a:ln w="12700">
            <a:solidFill>
              <a:schemeClr val="accent5"/>
            </a:solidFill>
            <a:prstDash val="solid"/>
          </a:ln>
        </p:spPr>
      </p:sp>
      <p:sp>
        <p:nvSpPr>
          <p:cNvPr id="8" name="Text 6"/>
          <p:cNvSpPr txBox="1"/>
          <p:nvPr/>
        </p:nvSpPr>
        <p:spPr>
          <a:xfrm>
            <a:off x="859536"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30</a:t>
            </a:r>
            <a:endParaRPr lang="en-US" sz="1050" dirty="0"/>
          </a:p>
        </p:txBody>
      </p:sp>
      <p:sp>
        <p:nvSpPr>
          <p:cNvPr id="9" name="Text 7"/>
          <p:cNvSpPr txBox="1"/>
          <p:nvPr/>
        </p:nvSpPr>
        <p:spPr>
          <a:xfrm>
            <a:off x="859536"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First check-in</a:t>
            </a:r>
            <a:endParaRPr lang="en-US" sz="1600" dirty="0"/>
          </a:p>
        </p:txBody>
      </p:sp>
      <p:sp>
        <p:nvSpPr>
          <p:cNvPr id="10" name="Text 8"/>
          <p:cNvSpPr txBox="1"/>
          <p:nvPr/>
        </p:nvSpPr>
        <p:spPr>
          <a:xfrm>
            <a:off x="859536"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Producing SME comparison reports with review. First skills and KPI check-in.</a:t>
            </a:r>
            <a:endParaRPr lang="en-US" sz="1200" dirty="0"/>
          </a:p>
        </p:txBody>
      </p:sp>
      <p:sp>
        <p:nvSpPr>
          <p:cNvPr id="11" name="milestone 2"/>
          <p:cNvSpPr/>
          <p:nvPr/>
        </p:nvSpPr>
        <p:spPr>
          <a:xfrm>
            <a:off x="3500552" y="2221992"/>
            <a:ext cx="402336" cy="402336"/>
          </a:xfrm>
          <a:prstGeom prst="ellipse">
            <a:avLst/>
          </a:prstGeom>
          <a:solidFill>
            <a:schemeClr val="bg1"/>
          </a:solidFill>
          <a:ln w="38100">
            <a:solidFill>
              <a:schemeClr val="accent1"/>
            </a:solidFill>
            <a:prstDash val="solid"/>
          </a:ln>
        </p:spPr>
      </p:sp>
      <p:sp>
        <p:nvSpPr>
          <p:cNvPr id="12" name="card"/>
          <p:cNvSpPr/>
          <p:nvPr/>
        </p:nvSpPr>
        <p:spPr>
          <a:xfrm>
            <a:off x="3409112" y="2834640"/>
            <a:ext cx="2595296" cy="2377440"/>
          </a:xfrm>
          <a:prstGeom prst="roundRect">
            <a:avLst>
              <a:gd name="adj" fmla="val 3077"/>
            </a:avLst>
          </a:prstGeom>
          <a:solidFill>
            <a:schemeClr val="bg1"/>
          </a:solidFill>
          <a:ln w="12700">
            <a:solidFill>
              <a:schemeClr val="accent5"/>
            </a:solidFill>
            <a:prstDash val="solid"/>
          </a:ln>
        </p:spPr>
      </p:sp>
      <p:sp>
        <p:nvSpPr>
          <p:cNvPr id="13" name="Text 11"/>
          <p:cNvSpPr txBox="1"/>
          <p:nvPr/>
        </p:nvSpPr>
        <p:spPr>
          <a:xfrm>
            <a:off x="3637712"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90</a:t>
            </a:r>
            <a:endParaRPr lang="en-US" sz="1050" dirty="0"/>
          </a:p>
        </p:txBody>
      </p:sp>
      <p:sp>
        <p:nvSpPr>
          <p:cNvPr id="14" name="Text 12"/>
          <p:cNvSpPr txBox="1"/>
          <p:nvPr/>
        </p:nvSpPr>
        <p:spPr>
          <a:xfrm>
            <a:off x="3637712"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Onboarding review</a:t>
            </a:r>
            <a:endParaRPr lang="en-US" sz="1600" dirty="0"/>
          </a:p>
        </p:txBody>
      </p:sp>
      <p:sp>
        <p:nvSpPr>
          <p:cNvPr id="15" name="Text 13"/>
          <p:cNvSpPr txBox="1"/>
          <p:nvPr/>
        </p:nvSpPr>
        <p:spPr>
          <a:xfrm>
            <a:off x="3637712"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The whole SME process owned end to end. Target: Stage 3, Outcome Owner.</a:t>
            </a:r>
            <a:endParaRPr lang="en-US" sz="1200" dirty="0"/>
          </a:p>
        </p:txBody>
      </p:sp>
      <p:sp>
        <p:nvSpPr>
          <p:cNvPr id="16" name="milestone 3"/>
          <p:cNvSpPr/>
          <p:nvPr/>
        </p:nvSpPr>
        <p:spPr>
          <a:xfrm>
            <a:off x="6278728" y="2221992"/>
            <a:ext cx="402336" cy="402336"/>
          </a:xfrm>
          <a:prstGeom prst="ellipse">
            <a:avLst/>
          </a:prstGeom>
          <a:solidFill>
            <a:schemeClr val="bg1"/>
          </a:solidFill>
          <a:ln w="38100">
            <a:solidFill>
              <a:schemeClr val="accent1"/>
            </a:solidFill>
            <a:prstDash val="solid"/>
          </a:ln>
        </p:spPr>
      </p:sp>
      <p:sp>
        <p:nvSpPr>
          <p:cNvPr id="17" name="card"/>
          <p:cNvSpPr/>
          <p:nvPr/>
        </p:nvSpPr>
        <p:spPr>
          <a:xfrm>
            <a:off x="6187288" y="2834640"/>
            <a:ext cx="2595296" cy="2377440"/>
          </a:xfrm>
          <a:prstGeom prst="roundRect">
            <a:avLst>
              <a:gd name="adj" fmla="val 3077"/>
            </a:avLst>
          </a:prstGeom>
          <a:solidFill>
            <a:schemeClr val="bg1"/>
          </a:solidFill>
          <a:ln w="12700">
            <a:solidFill>
              <a:schemeClr val="accent5"/>
            </a:solidFill>
            <a:prstDash val="solid"/>
          </a:ln>
        </p:spPr>
      </p:sp>
      <p:sp>
        <p:nvSpPr>
          <p:cNvPr id="18" name="Text 16"/>
          <p:cNvSpPr txBox="1"/>
          <p:nvPr/>
        </p:nvSpPr>
        <p:spPr>
          <a:xfrm>
            <a:off x="6415888"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6</a:t>
            </a:r>
            <a:endParaRPr lang="en-US" sz="1050" dirty="0"/>
          </a:p>
        </p:txBody>
      </p:sp>
      <p:sp>
        <p:nvSpPr>
          <p:cNvPr id="19" name="Text 17"/>
          <p:cNvSpPr txBox="1"/>
          <p:nvPr/>
        </p:nvSpPr>
        <p:spPr>
          <a:xfrm>
            <a:off x="6415888"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Freedom Review</a:t>
            </a:r>
            <a:endParaRPr lang="en-US" sz="1600" dirty="0"/>
          </a:p>
        </p:txBody>
      </p:sp>
      <p:sp>
        <p:nvSpPr>
          <p:cNvPr id="20" name="Text 18"/>
          <p:cNvSpPr txBox="1"/>
          <p:nvPr/>
        </p:nvSpPr>
        <p:spPr>
          <a:xfrm>
            <a:off x="6415888"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SME, C&amp;I data and solar logistics run with light oversight. Target: Stage 5, Freedom.</a:t>
            </a:r>
            <a:endParaRPr lang="en-US" sz="1200" dirty="0"/>
          </a:p>
        </p:txBody>
      </p:sp>
      <p:sp>
        <p:nvSpPr>
          <p:cNvPr id="21" name="milestone 4"/>
          <p:cNvSpPr/>
          <p:nvPr/>
        </p:nvSpPr>
        <p:spPr>
          <a:xfrm>
            <a:off x="9056903" y="2221992"/>
            <a:ext cx="402336" cy="402336"/>
          </a:xfrm>
          <a:prstGeom prst="ellipse">
            <a:avLst/>
          </a:prstGeom>
          <a:solidFill>
            <a:schemeClr val="accent1"/>
          </a:solidFill>
          <a:ln w="38100">
            <a:solidFill>
              <a:schemeClr val="accent1"/>
            </a:solidFill>
            <a:prstDash val="solid"/>
          </a:ln>
        </p:spPr>
      </p:sp>
      <p:sp>
        <p:nvSpPr>
          <p:cNvPr id="22" name="card"/>
          <p:cNvSpPr/>
          <p:nvPr/>
        </p:nvSpPr>
        <p:spPr>
          <a:xfrm>
            <a:off x="8965463" y="2834640"/>
            <a:ext cx="2595296" cy="2377440"/>
          </a:xfrm>
          <a:prstGeom prst="roundRect">
            <a:avLst>
              <a:gd name="adj" fmla="val 3077"/>
            </a:avLst>
          </a:prstGeom>
          <a:solidFill>
            <a:schemeClr val="accent4"/>
          </a:solidFill>
          <a:ln/>
        </p:spPr>
      </p:sp>
      <p:sp>
        <p:nvSpPr>
          <p:cNvPr id="23" name="Text 21"/>
          <p:cNvSpPr txBox="1"/>
          <p:nvPr/>
        </p:nvSpPr>
        <p:spPr>
          <a:xfrm>
            <a:off x="9194063"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12</a:t>
            </a:r>
            <a:endParaRPr lang="en-US" sz="1050" dirty="0"/>
          </a:p>
        </p:txBody>
      </p:sp>
      <p:sp>
        <p:nvSpPr>
          <p:cNvPr id="24" name="Text 22"/>
          <p:cNvSpPr txBox="1"/>
          <p:nvPr/>
        </p:nvSpPr>
        <p:spPr>
          <a:xfrm>
            <a:off x="9194063"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Anniversary review</a:t>
            </a:r>
            <a:endParaRPr lang="en-US" sz="1600" dirty="0"/>
          </a:p>
        </p:txBody>
      </p:sp>
      <p:sp>
        <p:nvSpPr>
          <p:cNvPr id="25" name="Text 23"/>
          <p:cNvSpPr txBox="1"/>
          <p:nvPr/>
        </p:nvSpPr>
        <p:spPr>
          <a:xfrm>
            <a:off x="9194063"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Celebrate the year, measure hours back, and plan the next stage of growth together.</a:t>
            </a:r>
            <a:endParaRPr lang="en-US" sz="1200" dirty="0"/>
          </a:p>
        </p:txBody>
      </p:sp>
      <p:sp>
        <p:nvSpPr>
          <p:cNvPr id="26" name="Text 24"/>
          <p:cNvSpPr txBox="1"/>
          <p:nvPr/>
        </p:nvSpPr>
        <p:spPr>
          <a:xfrm>
            <a:off x="630936" y="5806440"/>
            <a:ext cx="10929823" cy="365760"/>
          </a:xfrm>
          <a:prstGeom prst="rect">
            <a:avLst/>
          </a:prstGeom>
          <a:noFill/>
          <a:ln/>
        </p:spPr>
        <p:txBody>
          <a:bodyPr wrap="square" lIns="0" tIns="0" rIns="0" bIns="0" rtlCol="0" anchor="ctr"/>
          <a:lstStyle/>
          <a:p>
            <a:pPr indent="0" marL="0">
              <a:buNone/>
            </a:pPr>
            <a:r>
              <a:rPr lang="en-US" sz="1200" b="1" dirty="0">
                <a:solidFill>
                  <a:schemeClr val="accent1"/>
                </a:solidFill>
              </a:rPr>
              <a:t>Every week: </a:t>
            </a:r>
            <a:pPr indent="0" marL="0">
              <a:buNone/>
            </a:pPr>
            <a:r>
              <a:rPr lang="en-US" sz="1200" dirty="0">
                <a:solidFill>
                  <a:schemeClr val="accent3"/>
                </a:solidFill>
              </a:rPr>
              <a:t>quick check-in with your Assistant.   </a:t>
            </a:r>
            <a:pPr indent="0" marL="0">
              <a:buNone/>
            </a:pPr>
            <a:r>
              <a:rPr lang="en-US" sz="1200" b="1" dirty="0">
                <a:solidFill>
                  <a:schemeClr val="accent1"/>
                </a:solidFill>
              </a:rPr>
              <a:t>Every month: </a:t>
            </a:r>
            <a:pPr indent="0" marL="0">
              <a:buNone/>
            </a:pPr>
            <a:r>
              <a:rPr lang="en-US" sz="1200" dirty="0">
                <a:solidFill>
                  <a:schemeClr val="accent3"/>
                </a:solidFill>
              </a:rPr>
              <a:t>KPI check-in.   </a:t>
            </a:r>
            <a:pPr indent="0" marL="0">
              <a:buNone/>
            </a:pPr>
            <a:r>
              <a:rPr lang="en-US" sz="1200" b="1" dirty="0">
                <a:solidFill>
                  <a:schemeClr val="accent1"/>
                </a:solidFill>
              </a:rPr>
              <a:t>Any time: </a:t>
            </a:r>
            <a:pPr indent="0" marL="0">
              <a:buNone/>
            </a:pPr>
            <a:r>
              <a:rPr lang="en-US" sz="1200" dirty="0">
                <a:solidFill>
                  <a:schemeClr val="accent3"/>
                </a:solidFill>
              </a:rPr>
              <a:t>raise anything with your Account Manager.</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First 90 Days</a:t>
            </a:r>
            <a:endParaRPr lang="en-US" sz="3000" dirty="0"/>
          </a:p>
        </p:txBody>
      </p:sp>
      <p:sp>
        <p:nvSpPr>
          <p:cNvPr id="4" name="card"/>
          <p:cNvSpPr/>
          <p:nvPr/>
        </p:nvSpPr>
        <p:spPr>
          <a:xfrm>
            <a:off x="630936" y="1463040"/>
            <a:ext cx="10929823" cy="1463040"/>
          </a:xfrm>
          <a:prstGeom prst="roundRect">
            <a:avLst>
              <a:gd name="adj" fmla="val 5000"/>
            </a:avLst>
          </a:prstGeom>
          <a:solidFill>
            <a:schemeClr val="bg1"/>
          </a:solidFill>
          <a:ln w="12700">
            <a:solidFill>
              <a:schemeClr val="accent5"/>
            </a:solidFill>
            <a:prstDash val="solid"/>
          </a:ln>
        </p:spPr>
      </p:sp>
      <p:sp>
        <p:nvSpPr>
          <p:cNvPr id="5" name="Text 3"/>
          <p:cNvSpPr txBox="1"/>
          <p:nvPr/>
        </p:nvSpPr>
        <p:spPr>
          <a:xfrm>
            <a:off x="905256" y="16459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1–30</a:t>
            </a:r>
            <a:endParaRPr lang="en-US" sz="1050" dirty="0"/>
          </a:p>
        </p:txBody>
      </p:sp>
      <p:sp>
        <p:nvSpPr>
          <p:cNvPr id="6" name="Text 4"/>
          <p:cNvSpPr txBox="1"/>
          <p:nvPr/>
        </p:nvSpPr>
        <p:spPr>
          <a:xfrm>
            <a:off x="905256" y="19202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Learn the SME process from Tom’s Looms and SOPs, bill terminology, GoHighLevel, Xero and DocuSign. Produce comparison reports and contracts, with every one reviewed before it goes out.</a:t>
            </a:r>
            <a:endParaRPr lang="en-US" sz="1200" dirty="0"/>
          </a:p>
        </p:txBody>
      </p:sp>
      <p:sp>
        <p:nvSpPr>
          <p:cNvPr id="7" name="card"/>
          <p:cNvSpPr/>
          <p:nvPr/>
        </p:nvSpPr>
        <p:spPr>
          <a:xfrm>
            <a:off x="905256" y="2423160"/>
            <a:ext cx="10381183" cy="365760"/>
          </a:xfrm>
          <a:prstGeom prst="roundRect">
            <a:avLst>
              <a:gd name="adj" fmla="val 20000"/>
            </a:avLst>
          </a:prstGeom>
          <a:solidFill>
            <a:schemeClr val="accent4"/>
          </a:solidFill>
          <a:ln/>
        </p:spPr>
      </p:sp>
      <p:sp>
        <p:nvSpPr>
          <p:cNvPr id="8" name="Text 6"/>
          <p:cNvSpPr txBox="1"/>
          <p:nvPr/>
        </p:nvSpPr>
        <p:spPr>
          <a:xfrm>
            <a:off x="1088136" y="24231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Same-day comparison reports, checked against the SOP before they reach Tom.</a:t>
            </a:r>
            <a:endParaRPr lang="en-US" sz="1150" dirty="0"/>
          </a:p>
        </p:txBody>
      </p:sp>
      <p:sp>
        <p:nvSpPr>
          <p:cNvPr id="9" name="card"/>
          <p:cNvSpPr/>
          <p:nvPr/>
        </p:nvSpPr>
        <p:spPr>
          <a:xfrm>
            <a:off x="630936" y="3063240"/>
            <a:ext cx="10929823" cy="1463040"/>
          </a:xfrm>
          <a:prstGeom prst="roundRect">
            <a:avLst>
              <a:gd name="adj" fmla="val 5000"/>
            </a:avLst>
          </a:prstGeom>
          <a:solidFill>
            <a:schemeClr val="bg1"/>
          </a:solidFill>
          <a:ln w="12700">
            <a:solidFill>
              <a:schemeClr val="accent5"/>
            </a:solidFill>
            <a:prstDash val="solid"/>
          </a:ln>
        </p:spPr>
      </p:sp>
      <p:sp>
        <p:nvSpPr>
          <p:cNvPr id="10" name="Text 8"/>
          <p:cNvSpPr txBox="1"/>
          <p:nvPr/>
        </p:nvSpPr>
        <p:spPr>
          <a:xfrm>
            <a:off x="905256" y="32461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31–60</a:t>
            </a:r>
            <a:endParaRPr lang="en-US" sz="1050" dirty="0"/>
          </a:p>
        </p:txBody>
      </p:sp>
      <p:sp>
        <p:nvSpPr>
          <p:cNvPr id="11" name="Text 9"/>
          <p:cNvSpPr txBox="1"/>
          <p:nvPr/>
        </p:nvSpPr>
        <p:spPr>
          <a:xfrm>
            <a:off x="905256" y="35204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Own SME comparisons, contracts, LOAs and draft invoicing. Start C&amp;I account setup and retailer data chasing, and handle routine retailer emails alone.</a:t>
            </a:r>
            <a:endParaRPr lang="en-US" sz="1200" dirty="0"/>
          </a:p>
        </p:txBody>
      </p:sp>
      <p:sp>
        <p:nvSpPr>
          <p:cNvPr id="12" name="card"/>
          <p:cNvSpPr/>
          <p:nvPr/>
        </p:nvSpPr>
        <p:spPr>
          <a:xfrm>
            <a:off x="905256" y="4023360"/>
            <a:ext cx="10381183" cy="365760"/>
          </a:xfrm>
          <a:prstGeom prst="roundRect">
            <a:avLst>
              <a:gd name="adj" fmla="val 20000"/>
            </a:avLst>
          </a:prstGeom>
          <a:solidFill>
            <a:schemeClr val="accent4"/>
          </a:solidFill>
          <a:ln/>
        </p:spPr>
      </p:sp>
      <p:sp>
        <p:nvSpPr>
          <p:cNvPr id="13" name="Text 11"/>
          <p:cNvSpPr txBox="1"/>
          <p:nvPr/>
        </p:nvSpPr>
        <p:spPr>
          <a:xfrm>
            <a:off x="1088136" y="40233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The SME process runs with spot checks only; C&amp;I data work underway.</a:t>
            </a:r>
            <a:endParaRPr lang="en-US" sz="1150" dirty="0"/>
          </a:p>
        </p:txBody>
      </p:sp>
      <p:sp>
        <p:nvSpPr>
          <p:cNvPr id="14" name="card"/>
          <p:cNvSpPr/>
          <p:nvPr/>
        </p:nvSpPr>
        <p:spPr>
          <a:xfrm>
            <a:off x="630936" y="4663440"/>
            <a:ext cx="10929823" cy="1463040"/>
          </a:xfrm>
          <a:prstGeom prst="roundRect">
            <a:avLst>
              <a:gd name="adj" fmla="val 5000"/>
            </a:avLst>
          </a:prstGeom>
          <a:solidFill>
            <a:schemeClr val="bg1"/>
          </a:solidFill>
          <a:ln w="12700">
            <a:solidFill>
              <a:schemeClr val="accent5"/>
            </a:solidFill>
            <a:prstDash val="solid"/>
          </a:ln>
        </p:spPr>
      </p:sp>
      <p:sp>
        <p:nvSpPr>
          <p:cNvPr id="15" name="Text 13"/>
          <p:cNvSpPr txBox="1"/>
          <p:nvPr/>
        </p:nvSpPr>
        <p:spPr>
          <a:xfrm>
            <a:off x="905256" y="48463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61–90</a:t>
            </a:r>
            <a:endParaRPr lang="en-US" sz="1050" dirty="0"/>
          </a:p>
        </p:txBody>
      </p:sp>
      <p:sp>
        <p:nvSpPr>
          <p:cNvPr id="16" name="Text 14"/>
          <p:cNvSpPr txBox="1"/>
          <p:nvPr/>
        </p:nvSpPr>
        <p:spPr>
          <a:xfrm>
            <a:off x="905256" y="51206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The SME process is fully off Tom’s plate. Supporting C&amp;I tenders and solar supplier and freight bookings, and proposing the first improvement.</a:t>
            </a:r>
            <a:endParaRPr lang="en-US" sz="1200" dirty="0"/>
          </a:p>
        </p:txBody>
      </p:sp>
      <p:sp>
        <p:nvSpPr>
          <p:cNvPr id="17" name="card"/>
          <p:cNvSpPr/>
          <p:nvPr/>
        </p:nvSpPr>
        <p:spPr>
          <a:xfrm>
            <a:off x="905256" y="5623560"/>
            <a:ext cx="10381183" cy="365760"/>
          </a:xfrm>
          <a:prstGeom prst="roundRect">
            <a:avLst>
              <a:gd name="adj" fmla="val 20000"/>
            </a:avLst>
          </a:prstGeom>
          <a:solidFill>
            <a:schemeClr val="accent4"/>
          </a:solidFill>
          <a:ln/>
        </p:spPr>
      </p:sp>
      <p:sp>
        <p:nvSpPr>
          <p:cNvPr id="18" name="Text 16"/>
          <p:cNvSpPr txBox="1"/>
          <p:nvPr/>
        </p:nvSpPr>
        <p:spPr>
          <a:xfrm>
            <a:off x="1088136" y="56235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Tom steps in only for large-market clients and key decisions.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Hours, Timezone &amp; Training</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Full-time from Day 1: Mon–Fri, 9am–6pm Sydney time, with a 1-hour unpaid lunch. Tom teaches the process; the skills are already there.</a:t>
            </a:r>
            <a:endParaRPr lang="en-US" sz="1300" dirty="0"/>
          </a:p>
        </p:txBody>
      </p:sp>
      <p:sp>
        <p:nvSpPr>
          <p:cNvPr id="5" name="card"/>
          <p:cNvSpPr/>
          <p:nvPr/>
        </p:nvSpPr>
        <p:spPr>
          <a:xfrm>
            <a:off x="630936" y="2103120"/>
            <a:ext cx="2595296" cy="3017520"/>
          </a:xfrm>
          <a:prstGeom prst="roundRect">
            <a:avLst>
              <a:gd name="adj" fmla="val 2819"/>
            </a:avLst>
          </a:prstGeom>
          <a:solidFill>
            <a:schemeClr val="bg2"/>
          </a:solidFill>
          <a:ln/>
        </p:spPr>
      </p:sp>
      <p:sp>
        <p:nvSpPr>
          <p:cNvPr id="6" name="Text 4"/>
          <p:cNvSpPr txBox="1"/>
          <p:nvPr/>
        </p:nvSpPr>
        <p:spPr>
          <a:xfrm>
            <a:off x="859536"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7" name="Text 5"/>
          <p:cNvSpPr txBox="1"/>
          <p:nvPr/>
        </p:nvSpPr>
        <p:spPr>
          <a:xfrm>
            <a:off x="859536"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SME Process Immersion</a:t>
            </a:r>
            <a:endParaRPr lang="en-US" sz="1500" dirty="0"/>
          </a:p>
        </p:txBody>
      </p:sp>
      <p:sp>
        <p:nvSpPr>
          <p:cNvPr id="8" name="Text 6"/>
          <p:cNvSpPr txBox="1"/>
          <p:nvPr/>
        </p:nvSpPr>
        <p:spPr>
          <a:xfrm>
            <a:off x="859536"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Learn the SME process, bill terms and SOPs from Tom’s Looms.</a:t>
            </a:r>
            <a:endParaRPr lang="en-US" sz="1200" dirty="0"/>
          </a:p>
        </p:txBody>
      </p:sp>
      <p:sp>
        <p:nvSpPr>
          <p:cNvPr id="9" name="card"/>
          <p:cNvSpPr/>
          <p:nvPr/>
        </p:nvSpPr>
        <p:spPr>
          <a:xfrm>
            <a:off x="3409112" y="2103120"/>
            <a:ext cx="2595296" cy="3017520"/>
          </a:xfrm>
          <a:prstGeom prst="roundRect">
            <a:avLst>
              <a:gd name="adj" fmla="val 2819"/>
            </a:avLst>
          </a:prstGeom>
          <a:solidFill>
            <a:schemeClr val="bg2"/>
          </a:solidFill>
          <a:ln/>
        </p:spPr>
      </p:sp>
      <p:sp>
        <p:nvSpPr>
          <p:cNvPr id="10" name="Text 8"/>
          <p:cNvSpPr txBox="1"/>
          <p:nvPr/>
        </p:nvSpPr>
        <p:spPr>
          <a:xfrm>
            <a:off x="3637712"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2</a:t>
            </a:r>
            <a:endParaRPr lang="en-US" sz="1050" dirty="0"/>
          </a:p>
        </p:txBody>
      </p:sp>
      <p:sp>
        <p:nvSpPr>
          <p:cNvPr id="11" name="Text 9"/>
          <p:cNvSpPr txBox="1"/>
          <p:nvPr/>
        </p:nvSpPr>
        <p:spPr>
          <a:xfrm>
            <a:off x="3637712"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Comparisons &amp; Contracts</a:t>
            </a:r>
            <a:endParaRPr lang="en-US" sz="1500" dirty="0"/>
          </a:p>
        </p:txBody>
      </p:sp>
      <p:sp>
        <p:nvSpPr>
          <p:cNvPr id="12" name="Text 10"/>
          <p:cNvSpPr txBox="1"/>
          <p:nvPr/>
        </p:nvSpPr>
        <p:spPr>
          <a:xfrm>
            <a:off x="3637712"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Produce comparison reports and contracts, each one reviewed first.</a:t>
            </a:r>
            <a:endParaRPr lang="en-US" sz="1200" dirty="0"/>
          </a:p>
        </p:txBody>
      </p:sp>
      <p:sp>
        <p:nvSpPr>
          <p:cNvPr id="13" name="card"/>
          <p:cNvSpPr/>
          <p:nvPr/>
        </p:nvSpPr>
        <p:spPr>
          <a:xfrm>
            <a:off x="6187288" y="2103120"/>
            <a:ext cx="2595296" cy="3017520"/>
          </a:xfrm>
          <a:prstGeom prst="roundRect">
            <a:avLst>
              <a:gd name="adj" fmla="val 2819"/>
            </a:avLst>
          </a:prstGeom>
          <a:solidFill>
            <a:schemeClr val="bg2"/>
          </a:solidFill>
          <a:ln/>
        </p:spPr>
      </p:sp>
      <p:sp>
        <p:nvSpPr>
          <p:cNvPr id="14" name="Text 12"/>
          <p:cNvSpPr txBox="1"/>
          <p:nvPr/>
        </p:nvSpPr>
        <p:spPr>
          <a:xfrm>
            <a:off x="6415888"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3</a:t>
            </a:r>
            <a:endParaRPr lang="en-US" sz="1050" dirty="0"/>
          </a:p>
        </p:txBody>
      </p:sp>
      <p:sp>
        <p:nvSpPr>
          <p:cNvPr id="15" name="Text 13"/>
          <p:cNvSpPr txBox="1"/>
          <p:nvPr/>
        </p:nvSpPr>
        <p:spPr>
          <a:xfrm>
            <a:off x="6415888"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Xero, CRM &amp; Retailers</a:t>
            </a:r>
            <a:endParaRPr lang="en-US" sz="1500" dirty="0"/>
          </a:p>
        </p:txBody>
      </p:sp>
      <p:sp>
        <p:nvSpPr>
          <p:cNvPr id="16" name="Text 14"/>
          <p:cNvSpPr txBox="1"/>
          <p:nvPr/>
        </p:nvSpPr>
        <p:spPr>
          <a:xfrm>
            <a:off x="6415888"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Draft Xero invoices, update GoHighLevel and email retailers.</a:t>
            </a:r>
            <a:endParaRPr lang="en-US" sz="1200" dirty="0"/>
          </a:p>
        </p:txBody>
      </p:sp>
      <p:sp>
        <p:nvSpPr>
          <p:cNvPr id="17" name="card"/>
          <p:cNvSpPr/>
          <p:nvPr/>
        </p:nvSpPr>
        <p:spPr>
          <a:xfrm>
            <a:off x="8965463" y="2103120"/>
            <a:ext cx="2595296" cy="3017520"/>
          </a:xfrm>
          <a:prstGeom prst="roundRect">
            <a:avLst>
              <a:gd name="adj" fmla="val 2819"/>
            </a:avLst>
          </a:prstGeom>
          <a:solidFill>
            <a:schemeClr val="bg2"/>
          </a:solidFill>
          <a:ln/>
        </p:spPr>
      </p:sp>
      <p:sp>
        <p:nvSpPr>
          <p:cNvPr id="18" name="Text 16"/>
          <p:cNvSpPr txBox="1"/>
          <p:nvPr/>
        </p:nvSpPr>
        <p:spPr>
          <a:xfrm>
            <a:off x="9194063"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9" name="Text 17"/>
          <p:cNvSpPr txBox="1"/>
          <p:nvPr/>
        </p:nvSpPr>
        <p:spPr>
          <a:xfrm>
            <a:off x="9194063"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C&amp;I &amp; Solar Introduction</a:t>
            </a:r>
            <a:endParaRPr lang="en-US" sz="1500" dirty="0"/>
          </a:p>
        </p:txBody>
      </p:sp>
      <p:sp>
        <p:nvSpPr>
          <p:cNvPr id="20" name="Text 18"/>
          <p:cNvSpPr txBox="1"/>
          <p:nvPr/>
        </p:nvSpPr>
        <p:spPr>
          <a:xfrm>
            <a:off x="9194063"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Begin C&amp;I account setup and shadow a solar delivery booking.</a:t>
            </a:r>
            <a:endParaRPr lang="en-US" sz="1200" dirty="0"/>
          </a:p>
        </p:txBody>
      </p:sp>
      <p:sp>
        <p:nvSpPr>
          <p:cNvPr id="21" name="callout"/>
          <p:cNvSpPr/>
          <p:nvPr/>
        </p:nvSpPr>
        <p:spPr>
          <a:xfrm>
            <a:off x="630936" y="5349240"/>
            <a:ext cx="10929823" cy="548640"/>
          </a:xfrm>
          <a:prstGeom prst="roundRect">
            <a:avLst>
              <a:gd name="adj" fmla="val 13333"/>
            </a:avLst>
          </a:prstGeom>
          <a:solidFill>
            <a:schemeClr val="accent4"/>
          </a:solidFill>
          <a:ln/>
        </p:spPr>
      </p:sp>
      <p:sp>
        <p:nvSpPr>
          <p:cNvPr id="22" name="Text 20"/>
          <p:cNvSpPr txBox="1"/>
          <p:nvPr/>
        </p:nvSpPr>
        <p:spPr>
          <a:xfrm>
            <a:off x="859536" y="53492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The brokerage software comes with vendor training and takes three to six months to master. Calls to warm SME leads are added once confident.</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with Tom</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Written together by Tom and his Assistant in Week 1, and updated as they learn each other’s style.</a:t>
            </a:r>
            <a:endParaRPr lang="en-US" sz="1300" dirty="0"/>
          </a:p>
        </p:txBody>
      </p:sp>
      <p:sp>
        <p:nvSpPr>
          <p:cNvPr id="6" name="card"/>
          <p:cNvSpPr/>
          <p:nvPr/>
        </p:nvSpPr>
        <p:spPr>
          <a:xfrm>
            <a:off x="630936" y="1965960"/>
            <a:ext cx="5486400" cy="1143000"/>
          </a:xfrm>
          <a:prstGeom prst="roundRect">
            <a:avLst>
              <a:gd name="adj" fmla="val 6400"/>
            </a:avLst>
          </a:prstGeom>
          <a:solidFill>
            <a:schemeClr val="bg2"/>
          </a:solidFill>
          <a:ln/>
        </p:spPr>
      </p:sp>
      <p:sp>
        <p:nvSpPr>
          <p:cNvPr id="7" name="Text 4"/>
          <p:cNvSpPr txBox="1"/>
          <p:nvPr/>
        </p:nvSpPr>
        <p:spPr>
          <a:xfrm>
            <a:off x="905256" y="210312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HOW TOM WORKS</a:t>
            </a:r>
            <a:endParaRPr lang="en-US" sz="1050" dirty="0"/>
          </a:p>
        </p:txBody>
      </p:sp>
      <p:sp>
        <p:nvSpPr>
          <p:cNvPr id="8" name="Text 5"/>
          <p:cNvSpPr txBox="1"/>
          <p:nvPr/>
        </p:nvSpPr>
        <p:spPr>
          <a:xfrm>
            <a:off x="905256" y="237744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Tom tracks performance himself through EOS and talks work through on WhatsApp, often in the first hour of the day. He makes the first call to new leads for now.</a:t>
            </a:r>
            <a:endParaRPr lang="en-US" sz="1200" dirty="0"/>
          </a:p>
        </p:txBody>
      </p:sp>
      <p:sp>
        <p:nvSpPr>
          <p:cNvPr id="9" name="card"/>
          <p:cNvSpPr/>
          <p:nvPr/>
        </p:nvSpPr>
        <p:spPr>
          <a:xfrm>
            <a:off x="630936" y="3246120"/>
            <a:ext cx="5486400" cy="1143000"/>
          </a:xfrm>
          <a:prstGeom prst="roundRect">
            <a:avLst>
              <a:gd name="adj" fmla="val 6400"/>
            </a:avLst>
          </a:prstGeom>
          <a:solidFill>
            <a:schemeClr val="bg2"/>
          </a:solidFill>
          <a:ln/>
        </p:spPr>
      </p:sp>
      <p:sp>
        <p:nvSpPr>
          <p:cNvPr id="10" name="Text 7"/>
          <p:cNvSpPr txBox="1"/>
          <p:nvPr/>
        </p:nvSpPr>
        <p:spPr>
          <a:xfrm>
            <a:off x="905256" y="338328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MATTERS MOST</a:t>
            </a:r>
            <a:endParaRPr lang="en-US" sz="1050" dirty="0"/>
          </a:p>
        </p:txBody>
      </p:sp>
      <p:sp>
        <p:nvSpPr>
          <p:cNvPr id="11" name="Text 8"/>
          <p:cNvSpPr txBox="1"/>
          <p:nvPr/>
        </p:nvSpPr>
        <p:spPr>
          <a:xfrm>
            <a:off x="905256" y="365760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100% accurate data: one wrong number can cost a large deal. Pick things up fast, use the SOPs, act rather than hesitate, and own mistakes straight away.</a:t>
            </a:r>
            <a:endParaRPr lang="en-US" sz="1200" dirty="0"/>
          </a:p>
        </p:txBody>
      </p:sp>
      <p:sp>
        <p:nvSpPr>
          <p:cNvPr id="12" name="card"/>
          <p:cNvSpPr/>
          <p:nvPr/>
        </p:nvSpPr>
        <p:spPr>
          <a:xfrm>
            <a:off x="630936" y="4526280"/>
            <a:ext cx="5486400" cy="1143000"/>
          </a:xfrm>
          <a:prstGeom prst="roundRect">
            <a:avLst>
              <a:gd name="adj" fmla="val 6400"/>
            </a:avLst>
          </a:prstGeom>
          <a:solidFill>
            <a:schemeClr val="bg2"/>
          </a:solidFill>
          <a:ln/>
        </p:spPr>
      </p:sp>
      <p:sp>
        <p:nvSpPr>
          <p:cNvPr id="13" name="Text 10"/>
          <p:cNvSpPr txBox="1"/>
          <p:nvPr/>
        </p:nvSpPr>
        <p:spPr>
          <a:xfrm>
            <a:off x="905256" y="466344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YOU CAN HANDLE ALONE</a:t>
            </a:r>
            <a:endParaRPr lang="en-US" sz="1050" dirty="0"/>
          </a:p>
        </p:txBody>
      </p:sp>
      <p:sp>
        <p:nvSpPr>
          <p:cNvPr id="14" name="Text 11"/>
          <p:cNvSpPr txBox="1"/>
          <p:nvPr/>
        </p:nvSpPr>
        <p:spPr>
          <a:xfrm>
            <a:off x="905256" y="493776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SME retailer questions on rates, contracts and invoices, and bookkeeping queries with the accountant. Contact with large-market clients goes through Tom.</a:t>
            </a:r>
            <a:endParaRPr lang="en-US" sz="1200" dirty="0"/>
          </a:p>
        </p:txBody>
      </p:sp>
      <p:sp>
        <p:nvSpPr>
          <p:cNvPr id="15" name="card"/>
          <p:cNvSpPr/>
          <p:nvPr/>
        </p:nvSpPr>
        <p:spPr>
          <a:xfrm>
            <a:off x="6345936" y="1965960"/>
            <a:ext cx="5214823" cy="3703320"/>
          </a:xfrm>
          <a:prstGeom prst="roundRect">
            <a:avLst>
              <a:gd name="adj" fmla="val 1975"/>
            </a:avLst>
          </a:prstGeom>
          <a:solidFill>
            <a:schemeClr val="bg1"/>
          </a:solidFill>
          <a:ln w="12700">
            <a:solidFill>
              <a:schemeClr val="accent5"/>
            </a:solidFill>
            <a:prstDash val="solid"/>
          </a:ln>
        </p:spPr>
      </p:sp>
      <p:sp>
        <p:nvSpPr>
          <p:cNvPr id="16" name="Text 13"/>
          <p:cNvSpPr txBox="1"/>
          <p:nvPr/>
        </p:nvSpPr>
        <p:spPr>
          <a:xfrm>
            <a:off x="6620256" y="2103120"/>
            <a:ext cx="466618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COMPLETE TOGETHER IN WEEK 1</a:t>
            </a:r>
            <a:endParaRPr lang="en-US" sz="1050" dirty="0"/>
          </a:p>
        </p:txBody>
      </p:sp>
      <p:sp>
        <p:nvSpPr>
          <p:cNvPr id="17" name="Text 14"/>
          <p:cNvSpPr txBox="1"/>
          <p:nvPr/>
        </p:nvSpPr>
        <p:spPr>
          <a:xfrm>
            <a:off x="6620256" y="246888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Preferred update format and time of day:</a:t>
            </a:r>
            <a:endParaRPr lang="en-US" sz="1150" dirty="0"/>
          </a:p>
        </p:txBody>
      </p:sp>
      <p:sp>
        <p:nvSpPr>
          <p:cNvPr id="18" name="write line 1"/>
          <p:cNvSpPr/>
          <p:nvPr/>
        </p:nvSpPr>
        <p:spPr>
          <a:xfrm>
            <a:off x="6620256" y="2898648"/>
            <a:ext cx="4666183" cy="0"/>
          </a:xfrm>
          <a:prstGeom prst="line">
            <a:avLst/>
          </a:prstGeom>
          <a:noFill/>
          <a:ln w="12700">
            <a:solidFill>
              <a:schemeClr val="accent5"/>
            </a:solidFill>
            <a:prstDash val="solid"/>
          </a:ln>
        </p:spPr>
      </p:sp>
      <p:sp>
        <p:nvSpPr>
          <p:cNvPr id="19" name="Text 16"/>
          <p:cNvSpPr txBox="1"/>
          <p:nvPr/>
        </p:nvSpPr>
        <p:spPr>
          <a:xfrm>
            <a:off x="6620256" y="2990088"/>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When to interrupt, and when to wait:</a:t>
            </a:r>
            <a:endParaRPr lang="en-US" sz="1150" dirty="0"/>
          </a:p>
        </p:txBody>
      </p:sp>
      <p:sp>
        <p:nvSpPr>
          <p:cNvPr id="20" name="write line 2"/>
          <p:cNvSpPr/>
          <p:nvPr/>
        </p:nvSpPr>
        <p:spPr>
          <a:xfrm>
            <a:off x="6620256" y="3419856"/>
            <a:ext cx="4666183" cy="0"/>
          </a:xfrm>
          <a:prstGeom prst="line">
            <a:avLst/>
          </a:prstGeom>
          <a:noFill/>
          <a:ln w="12700">
            <a:solidFill>
              <a:schemeClr val="accent5"/>
            </a:solidFill>
            <a:prstDash val="solid"/>
          </a:ln>
        </p:spPr>
      </p:sp>
      <p:sp>
        <p:nvSpPr>
          <p:cNvPr id="21" name="Text 18"/>
          <p:cNvSpPr txBox="1"/>
          <p:nvPr/>
        </p:nvSpPr>
        <p:spPr>
          <a:xfrm>
            <a:off x="6620256" y="3511296"/>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Tone and sign-off for client and retailer emails:</a:t>
            </a:r>
            <a:endParaRPr lang="en-US" sz="1150" dirty="0"/>
          </a:p>
        </p:txBody>
      </p:sp>
      <p:sp>
        <p:nvSpPr>
          <p:cNvPr id="22" name="write line 3"/>
          <p:cNvSpPr/>
          <p:nvPr/>
        </p:nvSpPr>
        <p:spPr>
          <a:xfrm>
            <a:off x="6620256" y="3941064"/>
            <a:ext cx="4666183" cy="0"/>
          </a:xfrm>
          <a:prstGeom prst="line">
            <a:avLst/>
          </a:prstGeom>
          <a:noFill/>
          <a:ln w="12700">
            <a:solidFill>
              <a:schemeClr val="accent5"/>
            </a:solidFill>
            <a:prstDash val="solid"/>
          </a:ln>
        </p:spPr>
      </p:sp>
      <p:sp>
        <p:nvSpPr>
          <p:cNvPr id="23" name="Text 20"/>
          <p:cNvSpPr txBox="1"/>
          <p:nvPr/>
        </p:nvSpPr>
        <p:spPr>
          <a:xfrm>
            <a:off x="6620256" y="4032504"/>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Decisions the Assistant can make alone:</a:t>
            </a:r>
            <a:endParaRPr lang="en-US" sz="1150" dirty="0"/>
          </a:p>
        </p:txBody>
      </p:sp>
      <p:sp>
        <p:nvSpPr>
          <p:cNvPr id="24" name="write line 4"/>
          <p:cNvSpPr/>
          <p:nvPr/>
        </p:nvSpPr>
        <p:spPr>
          <a:xfrm>
            <a:off x="6620256" y="4462272"/>
            <a:ext cx="4666183" cy="0"/>
          </a:xfrm>
          <a:prstGeom prst="line">
            <a:avLst/>
          </a:prstGeom>
          <a:noFill/>
          <a:ln w="12700">
            <a:solidFill>
              <a:schemeClr val="accent5"/>
            </a:solidFill>
            <a:prstDash val="solid"/>
          </a:ln>
        </p:spPr>
      </p:sp>
      <p:sp>
        <p:nvSpPr>
          <p:cNvPr id="25" name="Text 22"/>
          <p:cNvSpPr txBox="1"/>
          <p:nvPr/>
        </p:nvSpPr>
        <p:spPr>
          <a:xfrm>
            <a:off x="6620256" y="4553712"/>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Pet peeves and must-nots:</a:t>
            </a:r>
            <a:endParaRPr lang="en-US" sz="1150" dirty="0"/>
          </a:p>
        </p:txBody>
      </p:sp>
      <p:sp>
        <p:nvSpPr>
          <p:cNvPr id="26" name="write line 5"/>
          <p:cNvSpPr/>
          <p:nvPr/>
        </p:nvSpPr>
        <p:spPr>
          <a:xfrm>
            <a:off x="6620256" y="4983480"/>
            <a:ext cx="4666183" cy="0"/>
          </a:xfrm>
          <a:prstGeom prst="line">
            <a:avLst/>
          </a:prstGeom>
          <a:noFill/>
          <a:ln w="12700">
            <a:solidFill>
              <a:schemeClr val="accent5"/>
            </a:solidFill>
            <a:prstDash val="solid"/>
          </a:ln>
        </p:spPr>
      </p:sp>
      <p:sp>
        <p:nvSpPr>
          <p:cNvPr id="27" name="Text 24"/>
          <p:cNvSpPr txBox="1"/>
          <p:nvPr/>
        </p:nvSpPr>
        <p:spPr>
          <a:xfrm>
            <a:off x="6620256" y="507492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Assistant’s own goals for the first 6 months:</a:t>
            </a:r>
            <a:endParaRPr lang="en-US" sz="1150" dirty="0"/>
          </a:p>
        </p:txBody>
      </p:sp>
      <p:sp>
        <p:nvSpPr>
          <p:cNvPr id="28" name="write line 6"/>
          <p:cNvSpPr/>
          <p:nvPr/>
        </p:nvSpPr>
        <p:spPr>
          <a:xfrm>
            <a:off x="6620256" y="5504688"/>
            <a:ext cx="4666183" cy="0"/>
          </a:xfrm>
          <a:prstGeom prst="line">
            <a:avLst/>
          </a:prstGeom>
          <a:noFill/>
          <a:ln w="12700">
            <a:solidFill>
              <a:schemeClr val="accent5"/>
            </a:solidFill>
            <a:prstDash val="solid"/>
          </a:ln>
        </p:spPr>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05</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Freedom Scorecard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Are we delivering what we promised? Fill this in at every milestone review.</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474720"/>
                <a:gridCol w="1600200"/>
                <a:gridCol w="1234440"/>
                <a:gridCol w="1234440"/>
                <a:gridCol w="1234440"/>
                <a:gridCol w="2148840"/>
              </a:tblGrid>
              <a:tr h="5029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SME comparison reports sent same day (%)</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SME process steps Tom still does himself</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All</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Report or contract errors caught by Tom per month</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Freedom Stage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1 · Task Delegator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3</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Assistant self-rating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Tom’s satisfaction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486400"/>
            <a:ext cx="10929823" cy="594360"/>
          </a:xfrm>
          <a:prstGeom prst="roundRect">
            <a:avLst>
              <a:gd name="adj" fmla="val 12308"/>
            </a:avLst>
          </a:prstGeom>
          <a:solidFill>
            <a:schemeClr val="accent4"/>
          </a:solidFill>
          <a:ln/>
        </p:spPr>
      </p:sp>
      <p:sp>
        <p:nvSpPr>
          <p:cNvPr id="7" name="Text 4"/>
          <p:cNvSpPr txBox="1"/>
          <p:nvPr/>
        </p:nvSpPr>
        <p:spPr>
          <a:xfrm>
            <a:off x="859536" y="5486400"/>
            <a:ext cx="10472623" cy="594360"/>
          </a:xfrm>
          <a:prstGeom prst="rect">
            <a:avLst/>
          </a:prstGeom>
          <a:noFill/>
          <a:ln/>
        </p:spPr>
        <p:txBody>
          <a:bodyPr wrap="square" lIns="0" tIns="0" rIns="0" bIns="0" rtlCol="0" anchor="ctr"/>
          <a:lstStyle/>
          <a:p>
            <a:pPr indent="0" marL="0">
              <a:buNone/>
            </a:pPr>
            <a:r>
              <a:rPr lang="en-US" sz="1250" b="1" dirty="0">
                <a:solidFill>
                  <a:schemeClr val="accent1"/>
                </a:solidFill>
              </a:rPr>
              <a:t>The goal isn’t just a busy Assistant. It’s the SME process off Tom’s plate, accurate every time, with C&amp;I and solar admin moving without him.</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06</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Skills &amp; Readiness Checklist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Rate each skill at every milestone: NT = Needs Training · D = Developing · C = Confident.</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30936" y="1920240"/>
          <a:ext cx="10929823" cy="914400"/>
        </p:xfrm>
        <a:graphic>
          <a:graphicData uri="http://schemas.openxmlformats.org/drawingml/2006/table">
            <a:tbl>
              <a:tblPr/>
              <a:tblGrid>
                <a:gridCol w="5120640"/>
                <a:gridCol w="1234440"/>
                <a:gridCol w="1143000"/>
                <a:gridCol w="1143000"/>
                <a:gridCol w="1143000"/>
                <a:gridCol w="114300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AREA</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Reading small and large market electricity bills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Bills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Producing accurate SME comparison reports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SME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Preparing contracts and LOAs in DocuSign</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SME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Drafting commission invoices in Xero</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Xero</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Keeping GoHighLevel pipelines and next steps current</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CRM</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Setting up C&amp;I accounts with correct NMI details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C&amp;I</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Gathering and validating data for tenders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C&amp;I</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Coordinating solar suppliers, freight and subcontractors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Solar</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Writing and updating SOPs with worked examples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SOPs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07  ·  DEFINE</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Success Metrics (KPIs)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“good” looks like for this role, and exactly how to check it.</a:t>
            </a:r>
            <a:endParaRPr lang="en-US" sz="1300" dirty="0"/>
          </a:p>
        </p:txBody>
      </p:sp>
      <p:sp>
        <p:nvSpPr>
          <p:cNvPr id="5" name="card"/>
          <p:cNvSpPr/>
          <p:nvPr/>
        </p:nvSpPr>
        <p:spPr>
          <a:xfrm>
            <a:off x="630936" y="1920240"/>
            <a:ext cx="5373472" cy="1965960"/>
          </a:xfrm>
          <a:prstGeom prst="roundRect">
            <a:avLst>
              <a:gd name="adj" fmla="val 3721"/>
            </a:avLst>
          </a:prstGeom>
          <a:solidFill>
            <a:schemeClr val="bg1"/>
          </a:solidFill>
          <a:ln w="12700">
            <a:solidFill>
              <a:schemeClr val="accent5"/>
            </a:solidFill>
            <a:prstDash val="solid"/>
          </a:ln>
        </p:spPr>
      </p:sp>
      <p:sp>
        <p:nvSpPr>
          <p:cNvPr id="6" name="number 1"/>
          <p:cNvSpPr/>
          <p:nvPr/>
        </p:nvSpPr>
        <p:spPr>
          <a:xfrm>
            <a:off x="905256" y="2148840"/>
            <a:ext cx="384048" cy="384048"/>
          </a:xfrm>
          <a:prstGeom prst="ellipse">
            <a:avLst/>
          </a:prstGeom>
          <a:solidFill>
            <a:schemeClr val="accent1"/>
          </a:solidFill>
          <a:ln/>
        </p:spPr>
      </p:sp>
      <p:sp>
        <p:nvSpPr>
          <p:cNvPr id="7" name="Text 5"/>
          <p:cNvSpPr txBox="1"/>
          <p:nvPr/>
        </p:nvSpPr>
        <p:spPr>
          <a:xfrm>
            <a:off x="905256"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Speed to Client</a:t>
            </a:r>
            <a:endParaRPr lang="en-US" sz="1500" dirty="0"/>
          </a:p>
        </p:txBody>
      </p:sp>
      <p:sp>
        <p:nvSpPr>
          <p:cNvPr id="9" name="Text 7"/>
          <p:cNvSpPr txBox="1"/>
          <p:nvPr/>
        </p:nvSpPr>
        <p:spPr>
          <a:xfrm>
            <a:off x="905256"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Comparison reports the same day a bill arrives; LOAs and contracts out the same business day.</a:t>
            </a:r>
            <a:endParaRPr lang="en-US" sz="1200" dirty="0"/>
          </a:p>
        </p:txBody>
      </p:sp>
      <p:sp>
        <p:nvSpPr>
          <p:cNvPr id="10" name="card"/>
          <p:cNvSpPr/>
          <p:nvPr/>
        </p:nvSpPr>
        <p:spPr>
          <a:xfrm>
            <a:off x="905256" y="3291840"/>
            <a:ext cx="4824832" cy="411480"/>
          </a:xfrm>
          <a:prstGeom prst="roundRect">
            <a:avLst>
              <a:gd name="adj" fmla="val 17778"/>
            </a:avLst>
          </a:prstGeom>
          <a:solidFill>
            <a:schemeClr val="accent4"/>
          </a:solidFill>
          <a:ln/>
        </p:spPr>
      </p:sp>
      <p:sp>
        <p:nvSpPr>
          <p:cNvPr id="11" name="Text 9"/>
          <p:cNvSpPr txBox="1"/>
          <p:nvPr/>
        </p:nvSpPr>
        <p:spPr>
          <a:xfrm>
            <a:off x="1042416"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bills or contracts are still waiting?”</a:t>
            </a:r>
            <a:endParaRPr lang="en-US" sz="1150" dirty="0"/>
          </a:p>
        </p:txBody>
      </p:sp>
      <p:sp>
        <p:nvSpPr>
          <p:cNvPr id="12" name="card"/>
          <p:cNvSpPr/>
          <p:nvPr/>
        </p:nvSpPr>
        <p:spPr>
          <a:xfrm>
            <a:off x="6187288" y="1920240"/>
            <a:ext cx="5373472" cy="1965960"/>
          </a:xfrm>
          <a:prstGeom prst="roundRect">
            <a:avLst>
              <a:gd name="adj" fmla="val 3721"/>
            </a:avLst>
          </a:prstGeom>
          <a:solidFill>
            <a:schemeClr val="bg1"/>
          </a:solidFill>
          <a:ln w="12700">
            <a:solidFill>
              <a:schemeClr val="accent5"/>
            </a:solidFill>
            <a:prstDash val="solid"/>
          </a:ln>
        </p:spPr>
      </p:sp>
      <p:sp>
        <p:nvSpPr>
          <p:cNvPr id="13" name="number 2"/>
          <p:cNvSpPr/>
          <p:nvPr/>
        </p:nvSpPr>
        <p:spPr>
          <a:xfrm>
            <a:off x="6461608" y="2148840"/>
            <a:ext cx="384048" cy="384048"/>
          </a:xfrm>
          <a:prstGeom prst="ellipse">
            <a:avLst/>
          </a:prstGeom>
          <a:solidFill>
            <a:schemeClr val="accent1"/>
          </a:solidFill>
          <a:ln/>
        </p:spPr>
      </p:sp>
      <p:sp>
        <p:nvSpPr>
          <p:cNvPr id="14" name="Text 12"/>
          <p:cNvSpPr txBox="1"/>
          <p:nvPr/>
        </p:nvSpPr>
        <p:spPr>
          <a:xfrm>
            <a:off x="6461608"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3"/>
          <p:cNvSpPr txBox="1"/>
          <p:nvPr/>
        </p:nvSpPr>
        <p:spPr>
          <a:xfrm>
            <a:off x="7010248"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Data Accuracy</a:t>
            </a:r>
            <a:endParaRPr lang="en-US" sz="1500" dirty="0"/>
          </a:p>
        </p:txBody>
      </p:sp>
      <p:sp>
        <p:nvSpPr>
          <p:cNvPr id="16" name="Text 14"/>
          <p:cNvSpPr txBox="1"/>
          <p:nvPr/>
        </p:nvSpPr>
        <p:spPr>
          <a:xfrm>
            <a:off x="6461608"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Zero errors in NMI, rate or term fields; no duplicate records across systems.</a:t>
            </a:r>
            <a:endParaRPr lang="en-US" sz="1200" dirty="0"/>
          </a:p>
        </p:txBody>
      </p:sp>
      <p:sp>
        <p:nvSpPr>
          <p:cNvPr id="17" name="card"/>
          <p:cNvSpPr/>
          <p:nvPr/>
        </p:nvSpPr>
        <p:spPr>
          <a:xfrm>
            <a:off x="6461608" y="3291840"/>
            <a:ext cx="4824832" cy="411480"/>
          </a:xfrm>
          <a:prstGeom prst="roundRect">
            <a:avLst>
              <a:gd name="adj" fmla="val 17778"/>
            </a:avLst>
          </a:prstGeom>
          <a:solidFill>
            <a:schemeClr val="accent4"/>
          </a:solidFill>
          <a:ln/>
        </p:spPr>
      </p:sp>
      <p:sp>
        <p:nvSpPr>
          <p:cNvPr id="18" name="Text 16"/>
          <p:cNvSpPr txBox="1"/>
          <p:nvPr/>
        </p:nvSpPr>
        <p:spPr>
          <a:xfrm>
            <a:off x="6598768"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 did you check before sending this?”</a:t>
            </a:r>
            <a:endParaRPr lang="en-US" sz="1150" dirty="0"/>
          </a:p>
        </p:txBody>
      </p:sp>
      <p:sp>
        <p:nvSpPr>
          <p:cNvPr id="19" name="card"/>
          <p:cNvSpPr/>
          <p:nvPr/>
        </p:nvSpPr>
        <p:spPr>
          <a:xfrm>
            <a:off x="630936" y="4069080"/>
            <a:ext cx="5373472" cy="1965960"/>
          </a:xfrm>
          <a:prstGeom prst="roundRect">
            <a:avLst>
              <a:gd name="adj" fmla="val 3721"/>
            </a:avLst>
          </a:prstGeom>
          <a:solidFill>
            <a:schemeClr val="bg1"/>
          </a:solidFill>
          <a:ln w="12700">
            <a:solidFill>
              <a:schemeClr val="accent5"/>
            </a:solidFill>
            <a:prstDash val="solid"/>
          </a:ln>
        </p:spPr>
      </p:sp>
      <p:sp>
        <p:nvSpPr>
          <p:cNvPr id="20" name="number 3"/>
          <p:cNvSpPr/>
          <p:nvPr/>
        </p:nvSpPr>
        <p:spPr>
          <a:xfrm>
            <a:off x="905256" y="4297680"/>
            <a:ext cx="384048" cy="384048"/>
          </a:xfrm>
          <a:prstGeom prst="ellipse">
            <a:avLst/>
          </a:prstGeom>
          <a:solidFill>
            <a:schemeClr val="accent1"/>
          </a:solidFill>
          <a:ln/>
        </p:spPr>
      </p:sp>
      <p:sp>
        <p:nvSpPr>
          <p:cNvPr id="21" name="Text 19"/>
          <p:cNvSpPr txBox="1"/>
          <p:nvPr/>
        </p:nvSpPr>
        <p:spPr>
          <a:xfrm>
            <a:off x="905256"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20"/>
          <p:cNvSpPr txBox="1"/>
          <p:nvPr/>
        </p:nvSpPr>
        <p:spPr>
          <a:xfrm>
            <a:off x="1453896"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Pipeline Follow-Through</a:t>
            </a:r>
            <a:endParaRPr lang="en-US" sz="1500" dirty="0"/>
          </a:p>
        </p:txBody>
      </p:sp>
      <p:sp>
        <p:nvSpPr>
          <p:cNvPr id="23" name="Text 21"/>
          <p:cNvSpPr txBox="1"/>
          <p:nvPr/>
        </p:nvSpPr>
        <p:spPr>
          <a:xfrm>
            <a:off x="905256"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Every live lead has a logged next step; none stalled more than three business days.</a:t>
            </a:r>
            <a:endParaRPr lang="en-US" sz="1200" dirty="0"/>
          </a:p>
        </p:txBody>
      </p:sp>
      <p:sp>
        <p:nvSpPr>
          <p:cNvPr id="24" name="card"/>
          <p:cNvSpPr/>
          <p:nvPr/>
        </p:nvSpPr>
        <p:spPr>
          <a:xfrm>
            <a:off x="905256" y="5440680"/>
            <a:ext cx="4824832" cy="411480"/>
          </a:xfrm>
          <a:prstGeom prst="roundRect">
            <a:avLst>
              <a:gd name="adj" fmla="val 17778"/>
            </a:avLst>
          </a:prstGeom>
          <a:solidFill>
            <a:schemeClr val="accent4"/>
          </a:solidFill>
          <a:ln/>
        </p:spPr>
      </p:sp>
      <p:sp>
        <p:nvSpPr>
          <p:cNvPr id="25" name="Text 23"/>
          <p:cNvSpPr txBox="1"/>
          <p:nvPr/>
        </p:nvSpPr>
        <p:spPr>
          <a:xfrm>
            <a:off x="1042416"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deals haven’t moved this week?”</a:t>
            </a:r>
            <a:endParaRPr lang="en-US" sz="1150" dirty="0"/>
          </a:p>
        </p:txBody>
      </p:sp>
      <p:sp>
        <p:nvSpPr>
          <p:cNvPr id="26" name="card"/>
          <p:cNvSpPr/>
          <p:nvPr/>
        </p:nvSpPr>
        <p:spPr>
          <a:xfrm>
            <a:off x="6187288" y="4069080"/>
            <a:ext cx="5373472" cy="1965960"/>
          </a:xfrm>
          <a:prstGeom prst="roundRect">
            <a:avLst>
              <a:gd name="adj" fmla="val 3721"/>
            </a:avLst>
          </a:prstGeom>
          <a:solidFill>
            <a:schemeClr val="bg1"/>
          </a:solidFill>
          <a:ln w="12700">
            <a:solidFill>
              <a:schemeClr val="accent5"/>
            </a:solidFill>
            <a:prstDash val="solid"/>
          </a:ln>
        </p:spPr>
      </p:sp>
      <p:sp>
        <p:nvSpPr>
          <p:cNvPr id="27" name="number 4"/>
          <p:cNvSpPr/>
          <p:nvPr/>
        </p:nvSpPr>
        <p:spPr>
          <a:xfrm>
            <a:off x="6461608" y="4297680"/>
            <a:ext cx="384048" cy="384048"/>
          </a:xfrm>
          <a:prstGeom prst="ellipse">
            <a:avLst/>
          </a:prstGeom>
          <a:solidFill>
            <a:schemeClr val="accent1"/>
          </a:solidFill>
          <a:ln/>
        </p:spPr>
      </p:sp>
      <p:sp>
        <p:nvSpPr>
          <p:cNvPr id="28" name="Text 26"/>
          <p:cNvSpPr txBox="1"/>
          <p:nvPr/>
        </p:nvSpPr>
        <p:spPr>
          <a:xfrm>
            <a:off x="6461608"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9" name="Text 27"/>
          <p:cNvSpPr txBox="1"/>
          <p:nvPr/>
        </p:nvSpPr>
        <p:spPr>
          <a:xfrm>
            <a:off x="7010248"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C&amp;I &amp; Solar Delivery</a:t>
            </a:r>
            <a:endParaRPr lang="en-US" sz="1500" dirty="0"/>
          </a:p>
        </p:txBody>
      </p:sp>
      <p:sp>
        <p:nvSpPr>
          <p:cNvPr id="30" name="Text 28"/>
          <p:cNvSpPr txBox="1"/>
          <p:nvPr/>
        </p:nvSpPr>
        <p:spPr>
          <a:xfrm>
            <a:off x="6461608"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Tenders sent the same day all data is in; solar deliveries confirmed ahead of installs.</a:t>
            </a:r>
            <a:endParaRPr lang="en-US" sz="1200" dirty="0"/>
          </a:p>
        </p:txBody>
      </p:sp>
      <p:sp>
        <p:nvSpPr>
          <p:cNvPr id="31" name="card"/>
          <p:cNvSpPr/>
          <p:nvPr/>
        </p:nvSpPr>
        <p:spPr>
          <a:xfrm>
            <a:off x="6461608" y="5440680"/>
            <a:ext cx="4824832" cy="411480"/>
          </a:xfrm>
          <a:prstGeom prst="roundRect">
            <a:avLst>
              <a:gd name="adj" fmla="val 17778"/>
            </a:avLst>
          </a:prstGeom>
          <a:solidFill>
            <a:schemeClr val="accent4"/>
          </a:solidFill>
          <a:ln/>
        </p:spPr>
      </p:sp>
      <p:sp>
        <p:nvSpPr>
          <p:cNvPr id="32" name="Text 30"/>
          <p:cNvSpPr txBox="1"/>
          <p:nvPr/>
        </p:nvSpPr>
        <p:spPr>
          <a:xfrm>
            <a:off x="6598768"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“What’s due for the next tender or install?”</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Monthly KPI Check-In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Go through this with your Assistant or Account Manager once a month. Mark each KPI ✓ Met or ✗ Not yet.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246120"/>
                <a:gridCol w="621792"/>
                <a:gridCol w="621792"/>
                <a:gridCol w="621792"/>
                <a:gridCol w="621792"/>
                <a:gridCol w="621792"/>
                <a:gridCol w="621792"/>
                <a:gridCol w="621792"/>
                <a:gridCol w="621792"/>
                <a:gridCol w="621792"/>
                <a:gridCol w="621792"/>
                <a:gridCol w="621792"/>
                <a:gridCol w="621792"/>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KPI</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M7</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M8</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M9</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Speed to Client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Data Accuracy</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Pipeline Follow-Through</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C&amp;I &amp; Solar Delivery</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120640"/>
            <a:ext cx="10929823" cy="548640"/>
          </a:xfrm>
          <a:prstGeom prst="roundRect">
            <a:avLst>
              <a:gd name="adj" fmla="val 13333"/>
            </a:avLst>
          </a:prstGeom>
          <a:solidFill>
            <a:schemeClr val="accent4"/>
          </a:solidFill>
          <a:ln/>
        </p:spPr>
      </p:sp>
      <p:sp>
        <p:nvSpPr>
          <p:cNvPr id="7" name="Text 4"/>
          <p:cNvSpPr txBox="1"/>
          <p:nvPr/>
        </p:nvSpPr>
        <p:spPr>
          <a:xfrm>
            <a:off x="859536" y="51206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Two “Not yet” months in a row? Raise it with your Account Manager. We’ll coach, adjust the plan, or step in.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09</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Delegation List: Now and Next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 running list of what comes off Tom’s plate. Move items across at each review, and add new ones any time.</a:t>
            </a:r>
            <a:endParaRPr lang="en-US" sz="1300" dirty="0"/>
          </a:p>
        </p:txBody>
      </p:sp>
      <p:sp>
        <p:nvSpPr>
          <p:cNvPr id="5" name="card"/>
          <p:cNvSpPr/>
          <p:nvPr/>
        </p:nvSpPr>
        <p:spPr>
          <a:xfrm>
            <a:off x="630936" y="1920240"/>
            <a:ext cx="3521354" cy="3246120"/>
          </a:xfrm>
          <a:prstGeom prst="roundRect">
            <a:avLst>
              <a:gd name="adj" fmla="val 2254"/>
            </a:avLst>
          </a:prstGeom>
          <a:solidFill>
            <a:schemeClr val="accent4"/>
          </a:solidFill>
          <a:ln/>
        </p:spPr>
      </p:sp>
      <p:sp>
        <p:nvSpPr>
          <p:cNvPr id="6" name="Text 4"/>
          <p:cNvSpPr txBox="1"/>
          <p:nvPr/>
        </p:nvSpPr>
        <p:spPr>
          <a:xfrm>
            <a:off x="905256"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DELEGATED</a:t>
            </a:r>
            <a:endParaRPr lang="en-US" sz="1050" dirty="0"/>
          </a:p>
        </p:txBody>
      </p:sp>
      <p:sp>
        <p:nvSpPr>
          <p:cNvPr id="7" name="card"/>
          <p:cNvSpPr/>
          <p:nvPr/>
        </p:nvSpPr>
        <p:spPr>
          <a:xfrm>
            <a:off x="859536" y="2468880"/>
            <a:ext cx="3064154" cy="512064"/>
          </a:xfrm>
          <a:prstGeom prst="roundRect">
            <a:avLst>
              <a:gd name="adj" fmla="val 14286"/>
            </a:avLst>
          </a:prstGeom>
          <a:solidFill>
            <a:schemeClr val="bg1"/>
          </a:solidFill>
          <a:ln w="12700">
            <a:solidFill>
              <a:schemeClr val="accent5"/>
            </a:solidFill>
            <a:prstDash val="solid"/>
          </a:ln>
        </p:spPr>
      </p:sp>
      <p:sp>
        <p:nvSpPr>
          <p:cNvPr id="8" name="Text 6"/>
          <p:cNvSpPr txBox="1"/>
          <p:nvPr/>
        </p:nvSpPr>
        <p:spPr>
          <a:xfrm>
            <a:off x="1042416"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SME comparison reports</a:t>
            </a:r>
            <a:endParaRPr lang="en-US" sz="1200" dirty="0"/>
          </a:p>
        </p:txBody>
      </p:sp>
      <p:sp>
        <p:nvSpPr>
          <p:cNvPr id="9" name="card"/>
          <p:cNvSpPr/>
          <p:nvPr/>
        </p:nvSpPr>
        <p:spPr>
          <a:xfrm>
            <a:off x="859536" y="3090672"/>
            <a:ext cx="3064154" cy="512064"/>
          </a:xfrm>
          <a:prstGeom prst="roundRect">
            <a:avLst>
              <a:gd name="adj" fmla="val 14286"/>
            </a:avLst>
          </a:prstGeom>
          <a:solidFill>
            <a:schemeClr val="bg1"/>
          </a:solidFill>
          <a:ln w="12700">
            <a:solidFill>
              <a:schemeClr val="accent5"/>
            </a:solidFill>
            <a:prstDash val="solid"/>
          </a:ln>
        </p:spPr>
      </p:sp>
      <p:sp>
        <p:nvSpPr>
          <p:cNvPr id="10" name="Text 8"/>
          <p:cNvSpPr txBox="1"/>
          <p:nvPr/>
        </p:nvSpPr>
        <p:spPr>
          <a:xfrm>
            <a:off x="1042416"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Contracts, LOAs &amp; DocuSign</a:t>
            </a:r>
            <a:endParaRPr lang="en-US" sz="1200" dirty="0"/>
          </a:p>
        </p:txBody>
      </p:sp>
      <p:sp>
        <p:nvSpPr>
          <p:cNvPr id="11" name="card"/>
          <p:cNvSpPr/>
          <p:nvPr/>
        </p:nvSpPr>
        <p:spPr>
          <a:xfrm>
            <a:off x="859536" y="3712464"/>
            <a:ext cx="3064154" cy="512064"/>
          </a:xfrm>
          <a:prstGeom prst="roundRect">
            <a:avLst>
              <a:gd name="adj" fmla="val 14286"/>
            </a:avLst>
          </a:prstGeom>
          <a:solidFill>
            <a:schemeClr val="bg1"/>
          </a:solidFill>
          <a:ln w="12700">
            <a:solidFill>
              <a:schemeClr val="accent5"/>
            </a:solidFill>
            <a:prstDash val="solid"/>
          </a:ln>
        </p:spPr>
      </p:sp>
      <p:sp>
        <p:nvSpPr>
          <p:cNvPr id="12" name="Text 10"/>
          <p:cNvSpPr txBox="1"/>
          <p:nvPr/>
        </p:nvSpPr>
        <p:spPr>
          <a:xfrm>
            <a:off x="1042416"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Draft commission invoicing in Xero</a:t>
            </a:r>
            <a:endParaRPr lang="en-US" sz="1200" dirty="0"/>
          </a:p>
        </p:txBody>
      </p:sp>
      <p:sp>
        <p:nvSpPr>
          <p:cNvPr id="13" name="card"/>
          <p:cNvSpPr/>
          <p:nvPr/>
        </p:nvSpPr>
        <p:spPr>
          <a:xfrm>
            <a:off x="4335170" y="1920240"/>
            <a:ext cx="3521354" cy="3246120"/>
          </a:xfrm>
          <a:prstGeom prst="roundRect">
            <a:avLst>
              <a:gd name="adj" fmla="val 2254"/>
            </a:avLst>
          </a:prstGeom>
          <a:solidFill>
            <a:schemeClr val="bg2"/>
          </a:solidFill>
          <a:ln/>
        </p:spPr>
      </p:sp>
      <p:sp>
        <p:nvSpPr>
          <p:cNvPr id="14" name="Text 12"/>
          <p:cNvSpPr txBox="1"/>
          <p:nvPr/>
        </p:nvSpPr>
        <p:spPr>
          <a:xfrm>
            <a:off x="4609490"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IN PROGRESS</a:t>
            </a:r>
            <a:endParaRPr lang="en-US" sz="1050" dirty="0"/>
          </a:p>
        </p:txBody>
      </p:sp>
      <p:sp>
        <p:nvSpPr>
          <p:cNvPr id="15" name="card"/>
          <p:cNvSpPr/>
          <p:nvPr/>
        </p:nvSpPr>
        <p:spPr>
          <a:xfrm>
            <a:off x="4563770" y="2468880"/>
            <a:ext cx="3064154" cy="512064"/>
          </a:xfrm>
          <a:prstGeom prst="roundRect">
            <a:avLst>
              <a:gd name="adj" fmla="val 14286"/>
            </a:avLst>
          </a:prstGeom>
          <a:solidFill>
            <a:schemeClr val="bg1"/>
          </a:solidFill>
          <a:ln w="12700">
            <a:solidFill>
              <a:schemeClr val="accent5"/>
            </a:solidFill>
            <a:prstDash val="solid"/>
          </a:ln>
        </p:spPr>
      </p:sp>
      <p:sp>
        <p:nvSpPr>
          <p:cNvPr id="16" name="Text 14"/>
          <p:cNvSpPr txBox="1"/>
          <p:nvPr/>
        </p:nvSpPr>
        <p:spPr>
          <a:xfrm>
            <a:off x="4746650"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GoHighLevel pipeline updates</a:t>
            </a:r>
            <a:endParaRPr lang="en-US" sz="1200" dirty="0"/>
          </a:p>
        </p:txBody>
      </p:sp>
      <p:sp>
        <p:nvSpPr>
          <p:cNvPr id="17" name="card"/>
          <p:cNvSpPr/>
          <p:nvPr/>
        </p:nvSpPr>
        <p:spPr>
          <a:xfrm>
            <a:off x="4563770" y="3090672"/>
            <a:ext cx="3064154" cy="512064"/>
          </a:xfrm>
          <a:prstGeom prst="roundRect">
            <a:avLst>
              <a:gd name="adj" fmla="val 14286"/>
            </a:avLst>
          </a:prstGeom>
          <a:solidFill>
            <a:schemeClr val="bg1"/>
          </a:solidFill>
          <a:ln w="12700">
            <a:solidFill>
              <a:schemeClr val="accent5"/>
            </a:solidFill>
            <a:prstDash val="solid"/>
          </a:ln>
        </p:spPr>
      </p:sp>
      <p:sp>
        <p:nvSpPr>
          <p:cNvPr id="18" name="Text 16"/>
          <p:cNvSpPr txBox="1"/>
          <p:nvPr/>
        </p:nvSpPr>
        <p:spPr>
          <a:xfrm>
            <a:off x="4746650"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C&amp;I account &amp; data setup</a:t>
            </a:r>
            <a:endParaRPr lang="en-US" sz="1200" dirty="0"/>
          </a:p>
        </p:txBody>
      </p:sp>
      <p:sp>
        <p:nvSpPr>
          <p:cNvPr id="19" name="card"/>
          <p:cNvSpPr/>
          <p:nvPr/>
        </p:nvSpPr>
        <p:spPr>
          <a:xfrm>
            <a:off x="4563770" y="3712464"/>
            <a:ext cx="3064154" cy="512064"/>
          </a:xfrm>
          <a:prstGeom prst="roundRect">
            <a:avLst>
              <a:gd name="adj" fmla="val 14286"/>
            </a:avLst>
          </a:prstGeom>
          <a:solidFill>
            <a:schemeClr val="bg1"/>
          </a:solidFill>
          <a:ln w="12700">
            <a:solidFill>
              <a:schemeClr val="accent5"/>
            </a:solidFill>
            <a:prstDash val="solid"/>
          </a:ln>
        </p:spPr>
      </p:sp>
      <p:sp>
        <p:nvSpPr>
          <p:cNvPr id="20" name="Text 18"/>
          <p:cNvSpPr txBox="1"/>
          <p:nvPr/>
        </p:nvSpPr>
        <p:spPr>
          <a:xfrm>
            <a:off x="4746650"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Retailer &amp; metering data chasing</a:t>
            </a:r>
            <a:endParaRPr lang="en-US" sz="1200" dirty="0"/>
          </a:p>
        </p:txBody>
      </p:sp>
      <p:sp>
        <p:nvSpPr>
          <p:cNvPr id="21" name="card"/>
          <p:cNvSpPr/>
          <p:nvPr/>
        </p:nvSpPr>
        <p:spPr>
          <a:xfrm>
            <a:off x="8039405" y="1920240"/>
            <a:ext cx="3521354" cy="3246120"/>
          </a:xfrm>
          <a:prstGeom prst="roundRect">
            <a:avLst>
              <a:gd name="adj" fmla="val 2254"/>
            </a:avLst>
          </a:prstGeom>
          <a:solidFill>
            <a:schemeClr val="bg1"/>
          </a:solidFill>
          <a:ln w="12700">
            <a:solidFill>
              <a:schemeClr val="accent5"/>
            </a:solidFill>
            <a:prstDash val="solid"/>
          </a:ln>
        </p:spPr>
      </p:sp>
      <p:sp>
        <p:nvSpPr>
          <p:cNvPr id="22" name="Text 20"/>
          <p:cNvSpPr txBox="1"/>
          <p:nvPr/>
        </p:nvSpPr>
        <p:spPr>
          <a:xfrm>
            <a:off x="8313725"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NEXT TO DELEGATE</a:t>
            </a:r>
            <a:endParaRPr lang="en-US" sz="1050" dirty="0"/>
          </a:p>
        </p:txBody>
      </p:sp>
      <p:sp>
        <p:nvSpPr>
          <p:cNvPr id="23" name="card"/>
          <p:cNvSpPr/>
          <p:nvPr/>
        </p:nvSpPr>
        <p:spPr>
          <a:xfrm>
            <a:off x="8268005" y="2468880"/>
            <a:ext cx="3064154" cy="512064"/>
          </a:xfrm>
          <a:prstGeom prst="roundRect">
            <a:avLst>
              <a:gd name="adj" fmla="val 14286"/>
            </a:avLst>
          </a:prstGeom>
          <a:solidFill>
            <a:schemeClr val="bg1"/>
          </a:solidFill>
          <a:ln w="12700">
            <a:solidFill>
              <a:schemeClr val="accent5"/>
            </a:solidFill>
            <a:prstDash val="solid"/>
          </a:ln>
        </p:spPr>
      </p:sp>
      <p:sp>
        <p:nvSpPr>
          <p:cNvPr id="24" name="Text 22"/>
          <p:cNvSpPr txBox="1"/>
          <p:nvPr/>
        </p:nvSpPr>
        <p:spPr>
          <a:xfrm>
            <a:off x="8450885"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C&amp;I tender compilation</a:t>
            </a:r>
            <a:endParaRPr lang="en-US" sz="1200" dirty="0"/>
          </a:p>
        </p:txBody>
      </p:sp>
      <p:sp>
        <p:nvSpPr>
          <p:cNvPr id="25" name="card"/>
          <p:cNvSpPr/>
          <p:nvPr/>
        </p:nvSpPr>
        <p:spPr>
          <a:xfrm>
            <a:off x="8268005" y="3090672"/>
            <a:ext cx="3064154" cy="512064"/>
          </a:xfrm>
          <a:prstGeom prst="roundRect">
            <a:avLst>
              <a:gd name="adj" fmla="val 14286"/>
            </a:avLst>
          </a:prstGeom>
          <a:solidFill>
            <a:schemeClr val="bg1"/>
          </a:solidFill>
          <a:ln w="12700">
            <a:solidFill>
              <a:schemeClr val="accent5"/>
            </a:solidFill>
            <a:prstDash val="solid"/>
          </a:ln>
        </p:spPr>
      </p:sp>
      <p:sp>
        <p:nvSpPr>
          <p:cNvPr id="26" name="Text 24"/>
          <p:cNvSpPr txBox="1"/>
          <p:nvPr/>
        </p:nvSpPr>
        <p:spPr>
          <a:xfrm>
            <a:off x="8450885"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Solar supplier &amp; freight bookings</a:t>
            </a:r>
            <a:endParaRPr lang="en-US" sz="1200" dirty="0"/>
          </a:p>
        </p:txBody>
      </p:sp>
      <p:sp>
        <p:nvSpPr>
          <p:cNvPr id="27" name="card"/>
          <p:cNvSpPr/>
          <p:nvPr/>
        </p:nvSpPr>
        <p:spPr>
          <a:xfrm>
            <a:off x="8268005" y="3712464"/>
            <a:ext cx="3064154" cy="512064"/>
          </a:xfrm>
          <a:prstGeom prst="roundRect">
            <a:avLst>
              <a:gd name="adj" fmla="val 14286"/>
            </a:avLst>
          </a:prstGeom>
          <a:solidFill>
            <a:schemeClr val="bg1"/>
          </a:solidFill>
          <a:ln w="12700">
            <a:solidFill>
              <a:schemeClr val="accent5"/>
            </a:solidFill>
            <a:prstDash val="solid"/>
          </a:ln>
        </p:spPr>
      </p:sp>
      <p:sp>
        <p:nvSpPr>
          <p:cNvPr id="28" name="Text 26"/>
          <p:cNvSpPr txBox="1"/>
          <p:nvPr/>
        </p:nvSpPr>
        <p:spPr>
          <a:xfrm>
            <a:off x="8450885"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First calls to warm SME leads</a:t>
            </a:r>
            <a:endParaRPr lang="en-US" sz="1200" dirty="0"/>
          </a:p>
        </p:txBody>
      </p:sp>
      <p:sp>
        <p:nvSpPr>
          <p:cNvPr id="29" name="card"/>
          <p:cNvSpPr/>
          <p:nvPr/>
        </p:nvSpPr>
        <p:spPr>
          <a:xfrm>
            <a:off x="8268005" y="4334256"/>
            <a:ext cx="3064154" cy="512064"/>
          </a:xfrm>
          <a:prstGeom prst="roundRect">
            <a:avLst>
              <a:gd name="adj" fmla="val 14286"/>
            </a:avLst>
          </a:prstGeom>
          <a:solidFill>
            <a:schemeClr val="bg1"/>
          </a:solidFill>
          <a:ln w="12700">
            <a:solidFill>
              <a:schemeClr val="accent5"/>
            </a:solidFill>
            <a:prstDash val="solid"/>
          </a:ln>
        </p:spPr>
      </p:sp>
      <p:sp>
        <p:nvSpPr>
          <p:cNvPr id="30" name="Text 28"/>
          <p:cNvSpPr txBox="1"/>
          <p:nvPr/>
        </p:nvSpPr>
        <p:spPr>
          <a:xfrm>
            <a:off x="8450885" y="4334256"/>
            <a:ext cx="2698394" cy="512064"/>
          </a:xfrm>
          <a:prstGeom prst="rect">
            <a:avLst/>
          </a:prstGeom>
          <a:noFill/>
          <a:ln/>
        </p:spPr>
        <p:txBody>
          <a:bodyPr wrap="square" lIns="0" tIns="0" rIns="0" bIns="0" rtlCol="0" anchor="ctr"/>
          <a:lstStyle/>
          <a:p>
            <a:pPr indent="0" marL="0">
              <a:buNone/>
            </a:pPr>
            <a:r>
              <a:rPr lang="en-US" sz="1200" i="1" dirty="0">
                <a:solidFill>
                  <a:schemeClr val="accent3"/>
                </a:solidFill>
              </a:rPr>
              <a:t>Add new items here at each review</a:t>
            </a:r>
            <a:endParaRPr lang="en-US" sz="1200" dirty="0"/>
          </a:p>
        </p:txBody>
      </p:sp>
      <p:sp>
        <p:nvSpPr>
          <p:cNvPr id="31" name="callout"/>
          <p:cNvSpPr/>
          <p:nvPr/>
        </p:nvSpPr>
        <p:spPr>
          <a:xfrm>
            <a:off x="630936" y="5394960"/>
            <a:ext cx="10929823" cy="548640"/>
          </a:xfrm>
          <a:prstGeom prst="roundRect">
            <a:avLst>
              <a:gd name="adj" fmla="val 13333"/>
            </a:avLst>
          </a:prstGeom>
          <a:solidFill>
            <a:schemeClr val="accent4"/>
          </a:solidFill>
          <a:ln/>
        </p:spPr>
      </p:sp>
      <p:sp>
        <p:nvSpPr>
          <p:cNvPr id="32" name="Text 30"/>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When “Next to delegate” outgrows one Assistant’s hours, it’s time to talk about a second Angel. We’ll plan it with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10</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SOP &amp; Knowledge Library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Every process your Assistant documents is linked here, with worked examples. Over time this becomes Spinifex’s operating manual, and it protects you if anything changes.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30936" y="2057400"/>
          <a:ext cx="10929823" cy="914400"/>
        </p:xfrm>
        <a:graphic>
          <a:graphicData uri="http://schemas.openxmlformats.org/drawingml/2006/table">
            <a:tbl>
              <a:tblPr/>
              <a:tblGrid>
                <a:gridCol w="4206240"/>
                <a:gridCol w="2194560"/>
                <a:gridCol w="2926080"/>
                <a:gridCol w="160020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LINK TO SOP</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LAST UPDATED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Reading SME and C&amp;I electricity bills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Assistant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SME comparison report &amp; checking</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Assistant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Contracts, LOAs &amp; DocuSign</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Assistant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Xero commission invoicing</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Assistant + Tom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C&amp;I account &amp; NMI setup</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Assistant + Tom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Tender data validation</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Assistant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Solar delivery &amp; freight booking</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Assistant</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Wins Log &amp; Review Notes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Capture the moments that show the plan is working, and what we agreed at each review.</a:t>
            </a:r>
            <a:endParaRPr lang="en-US" sz="1300" dirty="0"/>
          </a:p>
        </p:txBody>
      </p:sp>
      <p:sp>
        <p:nvSpPr>
          <p:cNvPr id="5" name="Text 3"/>
          <p:cNvSpPr txBox="1"/>
          <p:nvPr/>
        </p:nvSpPr>
        <p:spPr>
          <a:xfrm>
            <a:off x="63093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WINS LOG</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30936" y="2194560"/>
          <a:ext cx="5577840" cy="914400"/>
        </p:xfrm>
        <a:graphic>
          <a:graphicData uri="http://schemas.openxmlformats.org/drawingml/2006/table">
            <a:tbl>
              <a:tblPr/>
              <a:tblGrid>
                <a:gridCol w="1005840"/>
                <a:gridCol w="3291840"/>
                <a:gridCol w="128016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ADDED BY</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week with every SME report sent same day</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SME deal run start to finish without Tom</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7" name="Text 4"/>
          <p:cNvSpPr txBox="1"/>
          <p:nvPr/>
        </p:nvSpPr>
        <p:spPr>
          <a:xfrm>
            <a:off x="643737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REVIEW NOTES</a:t>
            </a:r>
            <a:endParaRPr lang="en-US" sz="10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437376" y="2194560"/>
          <a:ext cx="5123383" cy="914400"/>
        </p:xfrm>
        <a:graphic>
          <a:graphicData uri="http://schemas.openxmlformats.org/drawingml/2006/table">
            <a:tbl>
              <a:tblPr/>
              <a:tblGrid>
                <a:gridCol w="1280160"/>
                <a:gridCol w="3843223"/>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WE AGREED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12</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12  ·  ONGOING COLLABORATION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CAX Framework</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“This is where we support you and your Angel.” Not a transaction: the start of a long-term partnership.</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cax C"/>
          <p:cNvSpPr/>
          <p:nvPr/>
        </p:nvSpPr>
        <p:spPr>
          <a:xfrm>
            <a:off x="905256" y="2240280"/>
            <a:ext cx="685800" cy="685800"/>
          </a:xfrm>
          <a:prstGeom prst="roundRect">
            <a:avLst>
              <a:gd name="adj" fmla="val 13333"/>
            </a:avLst>
          </a:prstGeom>
          <a:solidFill>
            <a:schemeClr val="accent1"/>
          </a:solidFill>
          <a:ln/>
        </p:spPr>
      </p:sp>
      <p:sp>
        <p:nvSpPr>
          <p:cNvPr id="7" name="Text 5"/>
          <p:cNvSpPr txBox="1"/>
          <p:nvPr/>
        </p:nvSpPr>
        <p:spPr>
          <a:xfrm>
            <a:off x="905256"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C</a:t>
            </a:r>
            <a:endParaRPr lang="en-US" sz="2600" dirty="0"/>
          </a:p>
        </p:txBody>
      </p:sp>
      <p:sp>
        <p:nvSpPr>
          <p:cNvPr id="8" name="Text 6"/>
          <p:cNvSpPr txBox="1"/>
          <p:nvPr/>
        </p:nvSpPr>
        <p:spPr>
          <a:xfrm>
            <a:off x="1819656"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Clarity</a:t>
            </a:r>
            <a:endParaRPr lang="en-US" sz="1600" dirty="0"/>
          </a:p>
        </p:txBody>
      </p:sp>
      <p:sp>
        <p:nvSpPr>
          <p:cNvPr id="9" name="Text 7"/>
          <p:cNvSpPr txBox="1"/>
          <p:nvPr/>
        </p:nvSpPr>
        <p:spPr>
          <a:xfrm>
            <a:off x="1819656"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Clear priorities across SME, C&amp;I, solar and CRM work, with expectations kept aligned as trust builds.</a:t>
            </a:r>
            <a:endParaRPr lang="en-US" sz="1200" dirty="0"/>
          </a:p>
        </p:txBody>
      </p:sp>
      <p:sp>
        <p:nvSpPr>
          <p:cNvPr id="10"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11" name="cax A"/>
          <p:cNvSpPr/>
          <p:nvPr/>
        </p:nvSpPr>
        <p:spPr>
          <a:xfrm>
            <a:off x="6461608" y="2240280"/>
            <a:ext cx="685800" cy="685800"/>
          </a:xfrm>
          <a:prstGeom prst="roundRect">
            <a:avLst>
              <a:gd name="adj" fmla="val 13333"/>
            </a:avLst>
          </a:prstGeom>
          <a:solidFill>
            <a:schemeClr val="accent1"/>
          </a:solidFill>
          <a:ln/>
        </p:spPr>
      </p:sp>
      <p:sp>
        <p:nvSpPr>
          <p:cNvPr id="12" name="Text 10"/>
          <p:cNvSpPr txBox="1"/>
          <p:nvPr/>
        </p:nvSpPr>
        <p:spPr>
          <a:xfrm>
            <a:off x="6461608"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A</a:t>
            </a:r>
            <a:endParaRPr lang="en-US" sz="2600" dirty="0"/>
          </a:p>
        </p:txBody>
      </p:sp>
      <p:sp>
        <p:nvSpPr>
          <p:cNvPr id="13" name="Text 11"/>
          <p:cNvSpPr txBox="1"/>
          <p:nvPr/>
        </p:nvSpPr>
        <p:spPr>
          <a:xfrm>
            <a:off x="7376008"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Accountability</a:t>
            </a:r>
            <a:endParaRPr lang="en-US" sz="1600" dirty="0"/>
          </a:p>
        </p:txBody>
      </p:sp>
      <p:sp>
        <p:nvSpPr>
          <p:cNvPr id="14" name="Text 12"/>
          <p:cNvSpPr txBox="1"/>
          <p:nvPr/>
        </p:nvSpPr>
        <p:spPr>
          <a:xfrm>
            <a:off x="7376008"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Check-ins that support Tom’s own EOS tracking: speed, accuracy and follow-through. Gaps are coached quickly.</a:t>
            </a:r>
            <a:endParaRPr lang="en-US" sz="1200" dirty="0"/>
          </a:p>
        </p:txBody>
      </p:sp>
      <p:sp>
        <p:nvSpPr>
          <p:cNvPr id="15"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6" name="cax E"/>
          <p:cNvSpPr/>
          <p:nvPr/>
        </p:nvSpPr>
        <p:spPr>
          <a:xfrm>
            <a:off x="905256" y="4114800"/>
            <a:ext cx="685800" cy="685800"/>
          </a:xfrm>
          <a:prstGeom prst="roundRect">
            <a:avLst>
              <a:gd name="adj" fmla="val 13333"/>
            </a:avLst>
          </a:prstGeom>
          <a:solidFill>
            <a:schemeClr val="accent1"/>
          </a:solidFill>
          <a:ln/>
        </p:spPr>
      </p:sp>
      <p:sp>
        <p:nvSpPr>
          <p:cNvPr id="17" name="Text 15"/>
          <p:cNvSpPr txBox="1"/>
          <p:nvPr/>
        </p:nvSpPr>
        <p:spPr>
          <a:xfrm>
            <a:off x="905256"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E</a:t>
            </a:r>
            <a:endParaRPr lang="en-US" sz="2600" dirty="0"/>
          </a:p>
        </p:txBody>
      </p:sp>
      <p:sp>
        <p:nvSpPr>
          <p:cNvPr id="18" name="Text 16"/>
          <p:cNvSpPr txBox="1"/>
          <p:nvPr/>
        </p:nvSpPr>
        <p:spPr>
          <a:xfrm>
            <a:off x="1819656"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Execution</a:t>
            </a:r>
            <a:endParaRPr lang="en-US" sz="1600" dirty="0"/>
          </a:p>
        </p:txBody>
      </p:sp>
      <p:sp>
        <p:nvSpPr>
          <p:cNvPr id="19" name="Text 17"/>
          <p:cNvSpPr txBox="1"/>
          <p:nvPr/>
        </p:nvSpPr>
        <p:spPr>
          <a:xfrm>
            <a:off x="1819656"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Structured workflows and SOPs for every core task, so delivery stays consistent as scope expands.</a:t>
            </a:r>
            <a:endParaRPr lang="en-US" sz="1200" dirty="0"/>
          </a:p>
        </p:txBody>
      </p:sp>
      <p:sp>
        <p:nvSpPr>
          <p:cNvPr id="20"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21" name="cax X"/>
          <p:cNvSpPr/>
          <p:nvPr/>
        </p:nvSpPr>
        <p:spPr>
          <a:xfrm>
            <a:off x="6461608" y="4114800"/>
            <a:ext cx="685800" cy="685800"/>
          </a:xfrm>
          <a:prstGeom prst="roundRect">
            <a:avLst>
              <a:gd name="adj" fmla="val 13333"/>
            </a:avLst>
          </a:prstGeom>
          <a:solidFill>
            <a:schemeClr val="accent1"/>
          </a:solidFill>
          <a:ln/>
        </p:spPr>
      </p:sp>
      <p:sp>
        <p:nvSpPr>
          <p:cNvPr id="22" name="Text 20"/>
          <p:cNvSpPr txBox="1"/>
          <p:nvPr/>
        </p:nvSpPr>
        <p:spPr>
          <a:xfrm>
            <a:off x="6461608"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X</a:t>
            </a:r>
            <a:endParaRPr lang="en-US" sz="2600" dirty="0"/>
          </a:p>
        </p:txBody>
      </p:sp>
      <p:sp>
        <p:nvSpPr>
          <p:cNvPr id="23" name="Text 21"/>
          <p:cNvSpPr txBox="1"/>
          <p:nvPr/>
        </p:nvSpPr>
        <p:spPr>
          <a:xfrm>
            <a:off x="7376008"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Performance Support</a:t>
            </a:r>
            <a:endParaRPr lang="en-US" sz="1600" dirty="0"/>
          </a:p>
        </p:txBody>
      </p:sp>
      <p:sp>
        <p:nvSpPr>
          <p:cNvPr id="24" name="Text 22"/>
          <p:cNvSpPr txBox="1"/>
          <p:nvPr/>
        </p:nvSpPr>
        <p:spPr>
          <a:xfrm>
            <a:off x="7376008"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If needed, targeted coaching and retraining. We step in fast to reset standards.</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13  ·  YOUR TEAM</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Outsourcing Angel Supports You</a:t>
            </a:r>
            <a:endParaRPr lang="en-US" sz="3000" dirty="0"/>
          </a:p>
        </p:txBody>
      </p:sp>
      <p:sp>
        <p:nvSpPr>
          <p:cNvPr id="4" name="card"/>
          <p:cNvSpPr/>
          <p:nvPr/>
        </p:nvSpPr>
        <p:spPr>
          <a:xfrm>
            <a:off x="630936" y="1508760"/>
            <a:ext cx="3521354" cy="3657600"/>
          </a:xfrm>
          <a:prstGeom prst="roundRect">
            <a:avLst>
              <a:gd name="adj" fmla="val 2077"/>
            </a:avLst>
          </a:prstGeom>
          <a:solidFill>
            <a:schemeClr val="bg1"/>
          </a:solidFill>
          <a:ln w="12700">
            <a:solidFill>
              <a:schemeClr val="accent5"/>
            </a:solidFill>
            <a:prstDash val="solid"/>
          </a:ln>
        </p:spPr>
      </p:sp>
      <p:sp>
        <p:nvSpPr>
          <p:cNvPr id="5" name="Text 3"/>
          <p:cNvSpPr txBox="1"/>
          <p:nvPr/>
        </p:nvSpPr>
        <p:spPr>
          <a:xfrm>
            <a:off x="905256"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SUPPORT TEAM</a:t>
            </a:r>
            <a:endParaRPr lang="en-US" sz="1050" dirty="0"/>
          </a:p>
        </p:txBody>
      </p:sp>
      <p:sp>
        <p:nvSpPr>
          <p:cNvPr id="6" name="Text 4"/>
          <p:cNvSpPr txBox="1"/>
          <p:nvPr/>
        </p:nvSpPr>
        <p:spPr>
          <a:xfrm>
            <a:off x="905256"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Account Manager</a:t>
            </a:r>
            <a:endParaRPr lang="en-US" sz="1250" dirty="0"/>
          </a:p>
          <a:p>
            <a:pPr indent="0" marL="0">
              <a:buNone/>
            </a:pPr>
            <a:r>
              <a:rPr lang="en-US" sz="1250" dirty="0">
                <a:solidFill>
                  <a:schemeClr val="accent3"/>
                </a:solidFill>
              </a:rPr>
              <a:t>your main contact for strategy and escalations</a:t>
            </a:r>
            <a:endParaRPr lang="en-US" sz="1250" dirty="0"/>
          </a:p>
        </p:txBody>
      </p:sp>
      <p:sp>
        <p:nvSpPr>
          <p:cNvPr id="7" name="Text 5"/>
          <p:cNvSpPr txBox="1"/>
          <p:nvPr/>
        </p:nvSpPr>
        <p:spPr>
          <a:xfrm>
            <a:off x="905256"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CAX team</a:t>
            </a:r>
            <a:endParaRPr lang="en-US" sz="1250" dirty="0"/>
          </a:p>
          <a:p>
            <a:pPr indent="0" marL="0">
              <a:buNone/>
            </a:pPr>
            <a:r>
              <a:rPr lang="en-US" sz="1250" dirty="0">
                <a:solidFill>
                  <a:schemeClr val="accent3"/>
                </a:solidFill>
              </a:rPr>
              <a:t>check-ins and relationship support</a:t>
            </a:r>
            <a:endParaRPr lang="en-US" sz="1250" dirty="0"/>
          </a:p>
        </p:txBody>
      </p:sp>
      <p:sp>
        <p:nvSpPr>
          <p:cNvPr id="8" name="Text 6"/>
          <p:cNvSpPr txBox="1"/>
          <p:nvPr/>
        </p:nvSpPr>
        <p:spPr>
          <a:xfrm>
            <a:off x="905256"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Team Leader</a:t>
            </a:r>
            <a:endParaRPr lang="en-US" sz="1250" dirty="0"/>
          </a:p>
          <a:p>
            <a:pPr indent="0" marL="0">
              <a:buNone/>
            </a:pPr>
            <a:r>
              <a:rPr lang="en-US" sz="1250" dirty="0">
                <a:solidFill>
                  <a:schemeClr val="accent3"/>
                </a:solidFill>
              </a:rPr>
              <a:t>works with your Assistant directly, including training</a:t>
            </a:r>
            <a:endParaRPr lang="en-US" sz="1250" dirty="0"/>
          </a:p>
        </p:txBody>
      </p:sp>
      <p:sp>
        <p:nvSpPr>
          <p:cNvPr id="9" name="card"/>
          <p:cNvSpPr/>
          <p:nvPr/>
        </p:nvSpPr>
        <p:spPr>
          <a:xfrm>
            <a:off x="4335170" y="1508760"/>
            <a:ext cx="3521354" cy="3657600"/>
          </a:xfrm>
          <a:prstGeom prst="roundRect">
            <a:avLst>
              <a:gd name="adj" fmla="val 2077"/>
            </a:avLst>
          </a:prstGeom>
          <a:solidFill>
            <a:schemeClr val="bg1"/>
          </a:solidFill>
          <a:ln w="12700">
            <a:solidFill>
              <a:schemeClr val="accent5"/>
            </a:solidFill>
            <a:prstDash val="solid"/>
          </a:ln>
        </p:spPr>
      </p:sp>
      <p:sp>
        <p:nvSpPr>
          <p:cNvPr id="10" name="Text 8"/>
          <p:cNvSpPr txBox="1"/>
          <p:nvPr/>
        </p:nvSpPr>
        <p:spPr>
          <a:xfrm>
            <a:off x="4609490"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ISN’T WORKING</a:t>
            </a:r>
            <a:endParaRPr lang="en-US" sz="1050" dirty="0"/>
          </a:p>
        </p:txBody>
      </p:sp>
      <p:sp>
        <p:nvSpPr>
          <p:cNvPr id="11" name="Text 9"/>
          <p:cNvSpPr txBox="1"/>
          <p:nvPr/>
        </p:nvSpPr>
        <p:spPr>
          <a:xfrm>
            <a:off x="4609490"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Raise it any time</a:t>
            </a:r>
            <a:endParaRPr lang="en-US" sz="1250" dirty="0"/>
          </a:p>
          <a:p>
            <a:pPr indent="0" marL="0">
              <a:buNone/>
            </a:pPr>
            <a:r>
              <a:rPr lang="en-US" sz="1250" dirty="0">
                <a:solidFill>
                  <a:schemeClr val="accent3"/>
                </a:solidFill>
              </a:rPr>
              <a:t>no need to wait for a check-in</a:t>
            </a:r>
            <a:endParaRPr lang="en-US" sz="1250" dirty="0"/>
          </a:p>
        </p:txBody>
      </p:sp>
      <p:sp>
        <p:nvSpPr>
          <p:cNvPr id="12" name="Text 10"/>
          <p:cNvSpPr txBox="1"/>
          <p:nvPr/>
        </p:nvSpPr>
        <p:spPr>
          <a:xfrm>
            <a:off x="4609490"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fix it together</a:t>
            </a:r>
            <a:endParaRPr lang="en-US" sz="1250" dirty="0"/>
          </a:p>
          <a:p>
            <a:pPr indent="0" marL="0">
              <a:buNone/>
            </a:pPr>
            <a:r>
              <a:rPr lang="en-US" sz="1250" dirty="0">
                <a:solidFill>
                  <a:schemeClr val="accent3"/>
                </a:solidFill>
              </a:rPr>
              <a:t>investigate, coach and adjust this plan</a:t>
            </a:r>
            <a:endParaRPr lang="en-US" sz="1250" dirty="0"/>
          </a:p>
        </p:txBody>
      </p:sp>
      <p:sp>
        <p:nvSpPr>
          <p:cNvPr id="13" name="Text 11"/>
          <p:cNvSpPr txBox="1"/>
          <p:nvPr/>
        </p:nvSpPr>
        <p:spPr>
          <a:xfrm>
            <a:off x="4609490"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Not the right fit?</a:t>
            </a:r>
            <a:endParaRPr lang="en-US" sz="1250" dirty="0"/>
          </a:p>
          <a:p>
            <a:pPr indent="0" marL="0">
              <a:buNone/>
            </a:pPr>
            <a:r>
              <a:rPr lang="en-US" sz="1250" dirty="0">
                <a:solidFill>
                  <a:schemeClr val="accent3"/>
                </a:solidFill>
              </a:rPr>
              <a:t>free replacement any time, with a 1-week trial</a:t>
            </a:r>
            <a:endParaRPr lang="en-US" sz="1250" dirty="0"/>
          </a:p>
        </p:txBody>
      </p:sp>
      <p:sp>
        <p:nvSpPr>
          <p:cNvPr id="14" name="card"/>
          <p:cNvSpPr/>
          <p:nvPr/>
        </p:nvSpPr>
        <p:spPr>
          <a:xfrm>
            <a:off x="8039405" y="1508760"/>
            <a:ext cx="3521354" cy="3657600"/>
          </a:xfrm>
          <a:prstGeom prst="roundRect">
            <a:avLst>
              <a:gd name="adj" fmla="val 2077"/>
            </a:avLst>
          </a:prstGeom>
          <a:solidFill>
            <a:schemeClr val="accent4"/>
          </a:solidFill>
          <a:ln/>
        </p:spPr>
      </p:sp>
      <p:sp>
        <p:nvSpPr>
          <p:cNvPr id="15" name="Text 13"/>
          <p:cNvSpPr txBox="1"/>
          <p:nvPr/>
        </p:nvSpPr>
        <p:spPr>
          <a:xfrm>
            <a:off x="8313725"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 WORKING</a:t>
            </a:r>
            <a:endParaRPr lang="en-US" sz="1050" dirty="0"/>
          </a:p>
        </p:txBody>
      </p:sp>
      <p:sp>
        <p:nvSpPr>
          <p:cNvPr id="16" name="Text 14"/>
          <p:cNvSpPr txBox="1"/>
          <p:nvPr/>
        </p:nvSpPr>
        <p:spPr>
          <a:xfrm>
            <a:off x="8313725"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build on it</a:t>
            </a:r>
            <a:endParaRPr lang="en-US" sz="1250" dirty="0"/>
          </a:p>
          <a:p>
            <a:pPr indent="0" marL="0">
              <a:buNone/>
            </a:pPr>
            <a:r>
              <a:rPr lang="en-US" sz="1250" dirty="0">
                <a:solidFill>
                  <a:schemeClr val="accent3"/>
                </a:solidFill>
              </a:rPr>
              <a:t>C&amp;I tenders, solar and client calls as trust grows</a:t>
            </a:r>
            <a:endParaRPr lang="en-US" sz="1250" dirty="0"/>
          </a:p>
        </p:txBody>
      </p:sp>
      <p:sp>
        <p:nvSpPr>
          <p:cNvPr id="17" name="Text 15"/>
          <p:cNvSpPr txBox="1"/>
          <p:nvPr/>
        </p:nvSpPr>
        <p:spPr>
          <a:xfrm>
            <a:off x="8313725"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plan growth</a:t>
            </a:r>
            <a:endParaRPr lang="en-US" sz="1250" dirty="0"/>
          </a:p>
          <a:p>
            <a:pPr indent="0" marL="0">
              <a:buNone/>
            </a:pPr>
            <a:r>
              <a:rPr lang="en-US" sz="1250" dirty="0">
                <a:solidFill>
                  <a:schemeClr val="accent3"/>
                </a:solidFill>
              </a:rPr>
              <a:t>a second Angel as Spinifex grows</a:t>
            </a:r>
            <a:endParaRPr lang="en-US" sz="1250" dirty="0"/>
          </a:p>
        </p:txBody>
      </p:sp>
      <p:sp>
        <p:nvSpPr>
          <p:cNvPr id="18" name="Text 16"/>
          <p:cNvSpPr txBox="1"/>
          <p:nvPr/>
        </p:nvSpPr>
        <p:spPr>
          <a:xfrm>
            <a:off x="8313725"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celebrate it</a:t>
            </a:r>
            <a:endParaRPr lang="en-US" sz="1250" dirty="0"/>
          </a:p>
          <a:p>
            <a:pPr indent="0" marL="0">
              <a:buNone/>
            </a:pPr>
            <a:r>
              <a:rPr lang="en-US" sz="1250" dirty="0">
                <a:solidFill>
                  <a:schemeClr val="accent3"/>
                </a:solidFill>
              </a:rPr>
              <a:t>add it to your Wins Log</a:t>
            </a:r>
            <a:endParaRPr lang="en-US" sz="1250" dirty="0"/>
          </a:p>
        </p:txBody>
      </p:sp>
      <p:sp>
        <p:nvSpPr>
          <p:cNvPr id="19" name="callout"/>
          <p:cNvSpPr/>
          <p:nvPr/>
        </p:nvSpPr>
        <p:spPr>
          <a:xfrm>
            <a:off x="630936" y="5394960"/>
            <a:ext cx="10929823" cy="548640"/>
          </a:xfrm>
          <a:prstGeom prst="roundRect">
            <a:avLst>
              <a:gd name="adj" fmla="val 13333"/>
            </a:avLst>
          </a:prstGeom>
          <a:solidFill>
            <a:schemeClr val="accent4"/>
          </a:solidFill>
          <a:ln/>
        </p:spPr>
      </p:sp>
      <p:sp>
        <p:nvSpPr>
          <p:cNvPr id="20" name="Text 18"/>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Included, ongoing: Angel Happiness Lifetime Guarantee, plus payroll, HR and insurance handled for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THE GOAL</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More time to grow Spinifex</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Not someone to just do data entry, but the operational engine of the business. Tom spends his time on clients and growth, while his Assistant keeps every report, contract and delivery accurate.</a:t>
            </a:r>
            <a:endParaRPr lang="en-US" sz="1500" dirty="0"/>
          </a:p>
          <a:p>
            <a:pPr indent="0" marL="0">
              <a:buNone/>
            </a:pPr>
            <a:endParaRPr lang="en-US" sz="1500" dirty="0"/>
          </a:p>
          <a:p>
            <a:pPr indent="0" marL="0">
              <a:buNone/>
            </a:pPr>
            <a:r>
              <a:rPr lang="en-US" sz="1500" dirty="0">
                <a:solidFill>
                  <a:srgbClr val="DBE3E6"/>
                </a:solidFill>
              </a:rPr>
              <a:t>This plan grows with you. See you at Day 30.</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OA Freedom Plan">
  <a:themeElements>
    <a:clrScheme name="OA Freedom Plan">
      <a:dk1>
        <a:srgbClr val="212B35"/>
      </a:dk1>
      <a:lt1>
        <a:srgbClr val="FFFFFF"/>
      </a:lt1>
      <a:dk2>
        <a:srgbClr val="1B2530"/>
      </a:dk2>
      <a:lt2>
        <a:srgbClr val="F4F6F6"/>
      </a:lt2>
      <a:accent1>
        <a:srgbClr val="1F8A6D"/>
      </a:accent1>
      <a:accent2>
        <a:srgbClr val="2FAE8B"/>
      </a:accent2>
      <a:accent3>
        <a:srgbClr val="6B7684"/>
      </a:accent3>
      <a:accent4>
        <a:srgbClr val="E1F3EC"/>
      </a:accent4>
      <a:accent5>
        <a:srgbClr val="E6E9EA"/>
      </a:accent5>
      <a:accent6>
        <a:srgbClr val="E2A53D"/>
      </a:accent6>
      <a:hlink>
        <a:srgbClr val="1F8A6D"/>
      </a:hlink>
      <a:folHlink>
        <a:srgbClr val="6B7684"/>
      </a:folHlink>
    </a:clrScheme>
    <a:fontScheme name="OA Freedom Pl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Freedom Plan: Tom Warriner, EGM Search &amp; Recruit</dc:title>
  <dc:subject>PptxGenJS Presentation</dc:subject>
  <dc:creator>Gail Galima-Mendoza</dc:creator>
  <cp:lastModifiedBy>Gail Galima-Mendoza</cp:lastModifiedBy>
  <cp:revision>1</cp:revision>
  <dcterms:created xsi:type="dcterms:W3CDTF">2026-10-13T04:45:00Z</dcterms:created>
  <dcterms:modified xsi:type="dcterms:W3CDTF">2026-10-13T04:45:00Z</dcterms:modified>
</cp:coreProperties>
</file>