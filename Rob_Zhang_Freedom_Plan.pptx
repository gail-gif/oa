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17e0172-c641-9f94-7c44-aaac5bea8d6c}">
          <p14:sldIdLst>
            <p14:sldId id="256"/>
          </p14:sldIdLst>
        </p14:section>
        <p14:section name="Getting oriented" id="{fb90ef12-b11e-0163-bfcc-ebd09ec4c9f1}">
          <p14:sldIdLst>
            <p14:sldId id="257"/>
          </p14:sldIdLst>
        </p14:section>
        <p14:section name="Part A: Our Recommendation" id="{44ac627f-39ca-05da-1752-eb783245ef15}">
          <p14:sldIdLst>
            <p14:sldId id="258"/>
            <p14:sldId id="259"/>
            <p14:sldId id="260"/>
            <p14:sldId id="261"/>
            <p14:sldId id="262"/>
            <p14:sldId id="263"/>
            <p14:sldId id="264"/>
            <p14:sldId id="265"/>
            <p14:sldId id="266"/>
          </p14:sldIdLst>
        </p14:section>
        <p14:section name="Part B: Your Freedom Playbook" id="{ed8888ad-7452-6a93-a7f1-06a5ab604da6}">
          <p14:sldIdLst>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 of Rob Zhang’s Freedom Plan for the Shopify Customer Service Specialist role at Arova, built from the 4 September 2026 Freedom Audit with Rob and Rachel and the agreed job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‘user manual’ for working with Rob and Rachel. The first column is pre-filled from the Freedom Audit; the rest is completed together in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P 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P Divider">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630936" y="6446520"/>
            <a:ext cx="5486400" cy="228600"/>
          </a:xfrm>
          <a:prstGeom prst="rect">
            <a:avLst/>
          </a:prstGeom>
          <a:noFill/>
          <a:ln/>
        </p:spPr>
        <p:txBody>
          <a:bodyPr wrap="square" lIns="0" tIns="0" rIns="0" bIns="0" rtlCol="0" anchor="ctr"/>
          <a:lstStyle/>
          <a:p>
            <a:pPr indent="0" marL="0">
              <a:buNone/>
            </a:pPr>
            <a:r>
              <a:rPr lang="en-US" sz="800" spc="200" kern="0" dirty="0">
                <a:solidFill>
                  <a:srgbClr val="AEB9BD"/>
                </a:solidFill>
              </a:rPr>
              <a:t>OUTSOURCING ANGEL  ·  THE FREEDOM PLAN™</a:t>
            </a:r>
            <a:endParaRPr lang="en-US" sz="800" dirty="0"/>
          </a:p>
        </p:txBody>
      </p:sp>
      <p:sp>
        <p:nvSpPr>
          <p:cNvPr id="3" name="Text 1"/>
          <p:cNvSpPr/>
          <p:nvPr>
            <p:ph idx="101" type="body" hasCustomPrompt="1"/>
          </p:nvPr>
        </p:nvSpPr>
        <p:spPr>
          <a:xfrm>
            <a:off x="630936" y="2148840"/>
            <a:ext cx="8229600" cy="320040"/>
          </a:xfrm>
          <a:prstGeom prst="rect">
            <a:avLst/>
          </a:prstGeom>
          <a:noFill/>
          <a:ln/>
        </p:spPr>
        <p:txBody>
          <a:bodyPr wrap="square" rtlCol="0"/>
          <a:lstStyle>
            <a:lvl1pPr indent="0" marL="0">
              <a:buNone/>
              <a:defRPr lang="en-US" sz="1200" b="1" spc="300" kern="0" dirty="0">
                <a:solidFill>
                  <a:srgbClr val="7FE0C2"/>
                </a:solidFill>
              </a:defRPr>
            </a:lvl1pPr>
          </a:lstStyle>
          <a:p>
            <a:pPr indent="0" marL="0">
              <a:buNone/>
            </a:pPr>
            <a:endParaRPr lang="en-US" sz="1200" dirty="0"/>
          </a:p>
        </p:txBody>
      </p:sp>
      <p:sp>
        <p:nvSpPr>
          <p:cNvPr id="4" name="Text 1"/>
          <p:cNvSpPr/>
          <p:nvPr>
            <p:ph idx="102" type="title" hasCustomPrompt="1"/>
          </p:nvPr>
        </p:nvSpPr>
        <p:spPr>
          <a:xfrm>
            <a:off x="630936" y="2560320"/>
            <a:ext cx="9144000"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5" name="Text 1"/>
          <p:cNvSpPr/>
          <p:nvPr>
            <p:ph idx="103" type="body" hasCustomPrompt="1"/>
          </p:nvPr>
        </p:nvSpPr>
        <p:spPr>
          <a:xfrm>
            <a:off x="630936" y="3611880"/>
            <a:ext cx="7863840" cy="1005840"/>
          </a:xfrm>
          <a:prstGeom prst="rect">
            <a:avLst/>
          </a:prstGeom>
          <a:noFill/>
          <a:ln/>
        </p:spPr>
        <p:txBody>
          <a:bodyPr wrap="square" rtlCol="0"/>
          <a:lstStyle>
            <a:lvl1pPr indent="0" marL="0">
              <a:buNone/>
              <a:defRPr lang="en-US" sz="1500" dirty="0">
                <a:solidFill>
                  <a:srgbClr val="DBE3E6"/>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P 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630936" y="6446520"/>
            <a:ext cx="5486400" cy="228600"/>
          </a:xfrm>
          <a:prstGeom prst="rect">
            <a:avLst/>
          </a:prstGeom>
          <a:noFill/>
          <a:ln/>
        </p:spPr>
        <p:txBody>
          <a:bodyPr wrap="square" lIns="0" tIns="0" rIns="0" bIns="0" rtlCol="0" anchor="ctr"/>
          <a:lstStyle/>
          <a:p>
            <a:pPr indent="0" marL="0">
              <a:buNone/>
            </a:pPr>
            <a:r>
              <a:rPr lang="en-US" sz="800" spc="200" kern="0" dirty="0">
                <a:solidFill>
                  <a:schemeClr val="accent3"/>
                </a:solidFill>
              </a:rPr>
              <a:t>OUTSOURCING ANGEL  ·  THE FREEDOM PLAN™</a:t>
            </a:r>
            <a:endParaRPr lang="en-US" sz="800" dirty="0"/>
          </a:p>
        </p:txBody>
      </p:sp>
      <p:sp>
        <p:nvSpPr>
          <p:cNvPr id="3" name="Text 1"/>
          <p:cNvSpPr/>
          <p:nvPr>
            <p:ph idx="101" type="body" hasCustomPrompt="1"/>
          </p:nvPr>
        </p:nvSpPr>
        <p:spPr>
          <a:xfrm>
            <a:off x="630936" y="411480"/>
            <a:ext cx="100584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630936" y="731520"/>
            <a:ext cx="10515600" cy="59436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cs.google.com/presentation/d/1YVnSM_New1dSFtjlfWAQl4Olb1pVhQxI/edit?usp=drive_link" TargetMode="External"/><Relationship Id="rId2" Type="http://schemas.openxmlformats.org/officeDocument/2006/relationships/hyperlink" Target="https://docs.google.com/presentation/d/10CxiBdpyOOtz2WFkofYgT070a7c7HXZCWVokDopI6JQ/edit?usp=drive_link" TargetMode="External"/><Relationship Id="rId3" Type="http://schemas.openxmlformats.org/officeDocument/2006/relationships/hyperlink" Target="https://docs.google.com/presentation/d/1MQepGh_rDadIo4dCXz-WCzt21tHI8OXTssv2OKlk6eg/edit?usp=drive_link" TargetMode="External"/><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circle top"/>
          <p:cNvSpPr/>
          <p:nvPr/>
        </p:nvSpPr>
        <p:spPr>
          <a:xfrm>
            <a:off x="9966960" y="-1463040"/>
            <a:ext cx="4023360" cy="4023360"/>
          </a:xfrm>
          <a:prstGeom prst="ellipse">
            <a:avLst/>
          </a:prstGeom>
          <a:solidFill>
            <a:srgbClr val="263240"/>
          </a:solidFill>
          <a:ln/>
        </p:spPr>
      </p:sp>
      <p:sp>
        <p:nvSpPr>
          <p:cNvPr id="3" name="cover circle"/>
          <p:cNvSpPr/>
          <p:nvPr/>
        </p:nvSpPr>
        <p:spPr>
          <a:xfrm>
            <a:off x="-1280160" y="4937760"/>
            <a:ext cx="3291840" cy="3291840"/>
          </a:xfrm>
          <a:prstGeom prst="ellipse">
            <a:avLst/>
          </a:prstGeom>
          <a:solidFill>
            <a:srgbClr val="263240"/>
          </a:solidFill>
          <a:ln/>
        </p:spPr>
      </p:sp>
      <p:sp>
        <p:nvSpPr>
          <p:cNvPr id="4" name="logo plate"/>
          <p:cNvSpPr/>
          <p:nvPr/>
        </p:nvSpPr>
        <p:spPr>
          <a:xfrm>
            <a:off x="630936" y="566928"/>
            <a:ext cx="2468880" cy="502920"/>
          </a:xfrm>
          <a:prstGeom prst="roundRect">
            <a:avLst>
              <a:gd name="adj" fmla="val 14545"/>
            </a:avLst>
          </a:prstGeom>
          <a:solidFill>
            <a:schemeClr val="bg1"/>
          </a:solidFill>
          <a:ln/>
        </p:spPr>
      </p:sp>
      <p:sp>
        <p:nvSpPr>
          <p:cNvPr id="5" name="Text 3"/>
          <p:cNvSpPr txBox="1"/>
          <p:nvPr/>
        </p:nvSpPr>
        <p:spPr>
          <a:xfrm>
            <a:off x="630936" y="566928"/>
            <a:ext cx="2468880" cy="502920"/>
          </a:xfrm>
          <a:prstGeom prst="rect">
            <a:avLst/>
          </a:prstGeom>
          <a:noFill/>
          <a:ln/>
        </p:spPr>
        <p:txBody>
          <a:bodyPr wrap="square" lIns="0" tIns="0" rIns="0" bIns="0" rtlCol="0" anchor="ctr"/>
          <a:lstStyle/>
          <a:p>
            <a:pPr algn="ctr" indent="0" marL="0">
              <a:buNone/>
            </a:pPr>
            <a:r>
              <a:rPr lang="en-US" sz="1300" b="1" dirty="0">
                <a:solidFill>
                  <a:schemeClr val="accent1"/>
                </a:solidFill>
              </a:rPr>
              <a:t>OUTSOURCING</a:t>
            </a:r>
            <a:pPr algn="ctr" indent="0" marL="0">
              <a:buNone/>
            </a:pPr>
            <a:r>
              <a:rPr lang="en-US" sz="1300" b="1" dirty="0">
                <a:solidFill>
                  <a:schemeClr val="tx1"/>
                </a:solidFill>
              </a:rPr>
              <a:t>ANGEL</a:t>
            </a:r>
            <a:endParaRPr lang="en-US" sz="1300" dirty="0"/>
          </a:p>
        </p:txBody>
      </p:sp>
      <p:sp>
        <p:nvSpPr>
          <p:cNvPr id="6" name="Text 4"/>
          <p:cNvSpPr txBox="1"/>
          <p:nvPr/>
        </p:nvSpPr>
        <p:spPr>
          <a:xfrm>
            <a:off x="630936" y="1417320"/>
            <a:ext cx="7315200" cy="274320"/>
          </a:xfrm>
          <a:prstGeom prst="rect">
            <a:avLst/>
          </a:prstGeom>
          <a:noFill/>
          <a:ln/>
        </p:spPr>
        <p:txBody>
          <a:bodyPr wrap="square" lIns="0" tIns="0" rIns="0" bIns="0" rtlCol="0" anchor="ctr"/>
          <a:lstStyle/>
          <a:p>
            <a:pPr indent="0" marL="0">
              <a:buNone/>
            </a:pPr>
            <a:r>
              <a:rPr lang="en-US" sz="1200" b="1" spc="300" kern="0" dirty="0">
                <a:solidFill>
                  <a:srgbClr val="7FE0C2"/>
                </a:solidFill>
              </a:rPr>
              <a:t>A LIVING DOCUMENT  ·  VERSION 1</a:t>
            </a:r>
            <a:endParaRPr lang="en-US" sz="1200" dirty="0"/>
          </a:p>
        </p:txBody>
      </p:sp>
      <p:sp>
        <p:nvSpPr>
          <p:cNvPr id="7" name="Text 5"/>
          <p:cNvSpPr txBox="1"/>
          <p:nvPr/>
        </p:nvSpPr>
        <p:spPr>
          <a:xfrm>
            <a:off x="630936" y="1783080"/>
            <a:ext cx="7315200" cy="141732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THE FREEDOM</a:t>
            </a:r>
            <a:endParaRPr lang="en-US" sz="4800" dirty="0"/>
          </a:p>
          <a:p>
            <a:pPr indent="0" marL="0">
              <a:buNone/>
            </a:pPr>
            <a:r>
              <a:rPr lang="en-US" sz="4800" b="1" dirty="0">
                <a:solidFill>
                  <a:schemeClr val="accent2"/>
                </a:solidFill>
                <a:latin typeface="Cambria" pitchFamily="34" charset="0"/>
                <a:ea typeface="Cambria" pitchFamily="34" charset="-122"/>
                <a:cs typeface="Cambria" pitchFamily="34" charset="-120"/>
              </a:rPr>
              <a:t>PLAN™</a:t>
            </a:r>
            <a:endParaRPr lang="en-US" sz="4800" dirty="0"/>
          </a:p>
        </p:txBody>
      </p:sp>
      <p:sp>
        <p:nvSpPr>
          <p:cNvPr id="8" name="Text 6"/>
          <p:cNvSpPr txBox="1"/>
          <p:nvPr/>
        </p:nvSpPr>
        <p:spPr>
          <a:xfrm>
            <a:off x="630936" y="3383280"/>
            <a:ext cx="8229600" cy="365760"/>
          </a:xfrm>
          <a:prstGeom prst="rect">
            <a:avLst/>
          </a:prstGeom>
          <a:noFill/>
          <a:ln/>
        </p:spPr>
        <p:txBody>
          <a:bodyPr wrap="square" lIns="0" tIns="0" rIns="0" bIns="0" rtlCol="0" anchor="ctr"/>
          <a:lstStyle/>
          <a:p>
            <a:pPr indent="0" marL="0">
              <a:buNone/>
            </a:pPr>
            <a:r>
              <a:rPr lang="en-US" sz="1700" dirty="0">
                <a:solidFill>
                  <a:schemeClr val="bg1"/>
                </a:solidFill>
              </a:rPr>
              <a:t>Prepared for </a:t>
            </a:r>
            <a:pPr indent="0" marL="0">
              <a:buNone/>
            </a:pPr>
            <a:r>
              <a:rPr lang="en-US" sz="1700" b="1" dirty="0">
                <a:solidFill>
                  <a:schemeClr val="bg1"/>
                </a:solidFill>
              </a:rPr>
              <a:t>Rob Zhang</a:t>
            </a:r>
            <a:pPr indent="0" marL="0">
              <a:buNone/>
            </a:pPr>
            <a:r>
              <a:rPr lang="en-US" sz="1700" dirty="0">
                <a:solidFill>
                  <a:schemeClr val="bg1"/>
                </a:solidFill>
              </a:rPr>
              <a:t>  |  </a:t>
            </a:r>
            <a:pPr indent="0" marL="0">
              <a:buNone/>
            </a:pPr>
            <a:r>
              <a:rPr lang="en-US" sz="1700" b="1" dirty="0">
                <a:solidFill>
                  <a:schemeClr val="bg1"/>
                </a:solidFill>
              </a:rPr>
              <a:t>Arova Pty Ltd</a:t>
            </a:r>
            <a:endParaRPr lang="en-US" sz="1700" dirty="0"/>
          </a:p>
        </p:txBody>
      </p:sp>
      <p:sp>
        <p:nvSpPr>
          <p:cNvPr id="9" name="Text 7"/>
          <p:cNvSpPr txBox="1"/>
          <p:nvPr/>
        </p:nvSpPr>
        <p:spPr>
          <a:xfrm>
            <a:off x="630936" y="3931920"/>
            <a:ext cx="7589520" cy="914400"/>
          </a:xfrm>
          <a:prstGeom prst="rect">
            <a:avLst/>
          </a:prstGeom>
          <a:noFill/>
          <a:ln/>
        </p:spPr>
        <p:txBody>
          <a:bodyPr wrap="square" lIns="0" tIns="0" rIns="0" bIns="0" rtlCol="0" anchor="t"/>
          <a:lstStyle/>
          <a:p>
            <a:pPr indent="0" marL="0">
              <a:buNone/>
            </a:pPr>
            <a:r>
              <a:rPr lang="en-US" sz="1300" dirty="0">
                <a:solidFill>
                  <a:srgbClr val="AEB9BD"/>
                </a:solidFill>
              </a:rPr>
              <a:t>Your plan for building a trusted Shopify Customer Service Specialist through Outsourcing Angel’s 5D Freedom Staffing System™. Part A is our recommendation. Part B is your Freedom Playbook: the part you, your Specialist and our team keep using for the whole relationship.</a:t>
            </a:r>
            <a:endParaRPr lang="en-US" sz="1300" dirty="0"/>
          </a:p>
        </p:txBody>
      </p:sp>
      <p:sp>
        <p:nvSpPr>
          <p:cNvPr id="10" name="Text 8"/>
          <p:cNvSpPr txBox="1"/>
          <p:nvPr/>
        </p:nvSpPr>
        <p:spPr>
          <a:xfrm>
            <a:off x="630936" y="6263640"/>
            <a:ext cx="8229600" cy="274320"/>
          </a:xfrm>
          <a:prstGeom prst="rect">
            <a:avLst/>
          </a:prstGeom>
          <a:noFill/>
          <a:ln/>
        </p:spPr>
        <p:txBody>
          <a:bodyPr wrap="square" lIns="0" tIns="0" rIns="0" bIns="0" rtlCol="0" anchor="ctr"/>
          <a:lstStyle/>
          <a:p>
            <a:pPr indent="0" marL="0">
              <a:buNone/>
            </a:pPr>
            <a:r>
              <a:rPr lang="en-US" sz="1000" dirty="0">
                <a:solidFill>
                  <a:srgbClr val="AEB9BD"/>
                </a:solidFill>
              </a:rPr>
              <a:t>Version 1  ·  October 2026  ·  Prepared by Gail Galima-Mendoza, Outsourcing Angel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GETTING ORIENTED</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to use your Freedom Plan</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Built from your Freedom Audit: your time, your bottlenecks and your goals. It has two parts, and one of them grows with you.</a:t>
            </a:r>
            <a:endParaRPr lang="en-US" sz="1300" dirty="0"/>
          </a:p>
        </p:txBody>
      </p:sp>
      <p:sp>
        <p:nvSpPr>
          <p:cNvPr id="5" name="card"/>
          <p:cNvSpPr/>
          <p:nvPr/>
        </p:nvSpPr>
        <p:spPr>
          <a:xfrm>
            <a:off x="630936" y="1965960"/>
            <a:ext cx="5327752" cy="1965960"/>
          </a:xfrm>
          <a:prstGeom prst="roundRect">
            <a:avLst>
              <a:gd name="adj" fmla="val 3721"/>
            </a:avLst>
          </a:prstGeom>
          <a:solidFill>
            <a:schemeClr val="bg1"/>
          </a:solidFill>
          <a:ln w="12700">
            <a:solidFill>
              <a:schemeClr val="accent5"/>
            </a:solidFill>
            <a:prstDash val="solid"/>
          </a:ln>
        </p:spPr>
      </p:sp>
      <p:sp>
        <p:nvSpPr>
          <p:cNvPr id="6" name="Text 4"/>
          <p:cNvSpPr txBox="1"/>
          <p:nvPr/>
        </p:nvSpPr>
        <p:spPr>
          <a:xfrm>
            <a:off x="950976" y="219456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PART A</a:t>
            </a:r>
            <a:endParaRPr lang="en-US" sz="1050" dirty="0"/>
          </a:p>
        </p:txBody>
      </p:sp>
      <p:sp>
        <p:nvSpPr>
          <p:cNvPr id="7" name="Text 5"/>
          <p:cNvSpPr txBox="1"/>
          <p:nvPr/>
        </p:nvSpPr>
        <p:spPr>
          <a:xfrm>
            <a:off x="950976" y="2468880"/>
            <a:ext cx="4687672"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Our Recommendation</a:t>
            </a:r>
            <a:endParaRPr lang="en-US" sz="2000" dirty="0"/>
          </a:p>
        </p:txBody>
      </p:sp>
      <p:sp>
        <p:nvSpPr>
          <p:cNvPr id="8" name="Text 6"/>
          <p:cNvSpPr txBox="1"/>
          <p:nvPr/>
        </p:nvSpPr>
        <p:spPr>
          <a:xfrm>
            <a:off x="950976" y="2971800"/>
            <a:ext cx="4687672" cy="548640"/>
          </a:xfrm>
          <a:prstGeom prst="rect">
            <a:avLst/>
          </a:prstGeom>
          <a:noFill/>
          <a:ln/>
        </p:spPr>
        <p:txBody>
          <a:bodyPr wrap="square" lIns="0" tIns="0" rIns="0" bIns="0" rtlCol="0" anchor="t"/>
          <a:lstStyle/>
          <a:p>
            <a:pPr indent="0" marL="0">
              <a:buNone/>
            </a:pPr>
            <a:r>
              <a:rPr lang="en-US" sz="1250" dirty="0">
                <a:solidFill>
                  <a:schemeClr val="accent3"/>
                </a:solidFill>
              </a:rPr>
              <a:t>What we heard, the role we recommend, your candidates and investment. Read it once, use it to decide.</a:t>
            </a:r>
            <a:endParaRPr lang="en-US" sz="1250" dirty="0"/>
          </a:p>
        </p:txBody>
      </p:sp>
      <p:sp>
        <p:nvSpPr>
          <p:cNvPr id="9" name="Text 7"/>
          <p:cNvSpPr txBox="1"/>
          <p:nvPr/>
        </p:nvSpPr>
        <p:spPr>
          <a:xfrm>
            <a:off x="950976" y="3520440"/>
            <a:ext cx="4687672" cy="274320"/>
          </a:xfrm>
          <a:prstGeom prst="rect">
            <a:avLst/>
          </a:prstGeom>
          <a:noFill/>
          <a:ln/>
        </p:spPr>
        <p:txBody>
          <a:bodyPr wrap="square" lIns="0" tIns="0" rIns="0" bIns="0" rtlCol="0" anchor="ctr"/>
          <a:lstStyle/>
          <a:p>
            <a:pPr indent="0" marL="0">
              <a:buNone/>
            </a:pPr>
            <a:r>
              <a:rPr lang="en-US" sz="1150" b="1" dirty="0">
                <a:solidFill>
                  <a:schemeClr val="accent1"/>
                </a:solidFill>
              </a:rPr>
              <a:t>Used once, before you hire</a:t>
            </a:r>
            <a:endParaRPr lang="en-US" sz="1150" dirty="0"/>
          </a:p>
        </p:txBody>
      </p:sp>
      <p:sp>
        <p:nvSpPr>
          <p:cNvPr id="10" name="card"/>
          <p:cNvSpPr/>
          <p:nvPr/>
        </p:nvSpPr>
        <p:spPr>
          <a:xfrm>
            <a:off x="6233008" y="1965960"/>
            <a:ext cx="5327752" cy="1965960"/>
          </a:xfrm>
          <a:prstGeom prst="roundRect">
            <a:avLst>
              <a:gd name="adj" fmla="val 3721"/>
            </a:avLst>
          </a:prstGeom>
          <a:solidFill>
            <a:schemeClr val="accent4"/>
          </a:solidFill>
          <a:ln/>
        </p:spPr>
      </p:sp>
      <p:sp>
        <p:nvSpPr>
          <p:cNvPr id="11" name="Text 9"/>
          <p:cNvSpPr txBox="1"/>
          <p:nvPr/>
        </p:nvSpPr>
        <p:spPr>
          <a:xfrm>
            <a:off x="6553048" y="219456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PART B</a:t>
            </a:r>
            <a:endParaRPr lang="en-US" sz="1050" dirty="0"/>
          </a:p>
        </p:txBody>
      </p:sp>
      <p:sp>
        <p:nvSpPr>
          <p:cNvPr id="12" name="Text 10"/>
          <p:cNvSpPr txBox="1"/>
          <p:nvPr/>
        </p:nvSpPr>
        <p:spPr>
          <a:xfrm>
            <a:off x="6553048" y="2468880"/>
            <a:ext cx="4687672"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Your Freedom Playbook</a:t>
            </a:r>
            <a:endParaRPr lang="en-US" sz="2000" dirty="0"/>
          </a:p>
        </p:txBody>
      </p:sp>
      <p:sp>
        <p:nvSpPr>
          <p:cNvPr id="13" name="Text 11"/>
          <p:cNvSpPr txBox="1"/>
          <p:nvPr/>
        </p:nvSpPr>
        <p:spPr>
          <a:xfrm>
            <a:off x="6553048" y="2971800"/>
            <a:ext cx="4687672" cy="548640"/>
          </a:xfrm>
          <a:prstGeom prst="rect">
            <a:avLst/>
          </a:prstGeom>
          <a:noFill/>
          <a:ln/>
        </p:spPr>
        <p:txBody>
          <a:bodyPr wrap="square" lIns="0" tIns="0" rIns="0" bIns="0" rtlCol="0" anchor="t"/>
          <a:lstStyle/>
          <a:p>
            <a:pPr indent="0" marL="0">
              <a:buNone/>
            </a:pPr>
            <a:r>
              <a:rPr lang="en-US" sz="1250" dirty="0">
                <a:solidFill>
                  <a:schemeClr val="accent3"/>
                </a:solidFill>
              </a:rPr>
              <a:t>A first-time starter pack, your 12-month journey, scorecard, KPIs, delegation list, SOP library and wins.</a:t>
            </a:r>
            <a:endParaRPr lang="en-US" sz="1250" dirty="0"/>
          </a:p>
        </p:txBody>
      </p:sp>
      <p:sp>
        <p:nvSpPr>
          <p:cNvPr id="14" name="Text 12"/>
          <p:cNvSpPr txBox="1"/>
          <p:nvPr/>
        </p:nvSpPr>
        <p:spPr>
          <a:xfrm>
            <a:off x="6553048" y="3520440"/>
            <a:ext cx="4687672" cy="274320"/>
          </a:xfrm>
          <a:prstGeom prst="rect">
            <a:avLst/>
          </a:prstGeom>
          <a:noFill/>
          <a:ln/>
        </p:spPr>
        <p:txBody>
          <a:bodyPr wrap="square" lIns="0" tIns="0" rIns="0" bIns="0" rtlCol="0" anchor="ctr"/>
          <a:lstStyle/>
          <a:p>
            <a:pPr indent="0" marL="0">
              <a:buNone/>
            </a:pPr>
            <a:r>
              <a:rPr lang="en-US" sz="1150" b="1" dirty="0">
                <a:solidFill>
                  <a:schemeClr val="accent1"/>
                </a:solidFill>
              </a:rPr>
              <a:t>Used for the whole relationship</a:t>
            </a:r>
            <a:endParaRPr lang="en-US" sz="1150" dirty="0"/>
          </a:p>
        </p:txBody>
      </p:sp>
      <p:sp>
        <p:nvSpPr>
          <p:cNvPr id="15" name="Text 13"/>
          <p:cNvSpPr txBox="1"/>
          <p:nvPr/>
        </p:nvSpPr>
        <p:spPr>
          <a:xfrm>
            <a:off x="630936" y="4206240"/>
            <a:ext cx="45720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WHO KEEPS IT ALIVE</a:t>
            </a:r>
            <a:endParaRPr lang="en-US" sz="1050" dirty="0"/>
          </a:p>
        </p:txBody>
      </p:sp>
      <p:sp>
        <p:nvSpPr>
          <p:cNvPr id="16" name="who 1 circle"/>
          <p:cNvSpPr/>
          <p:nvPr/>
        </p:nvSpPr>
        <p:spPr>
          <a:xfrm>
            <a:off x="630936" y="4572000"/>
            <a:ext cx="457200" cy="457200"/>
          </a:xfrm>
          <a:prstGeom prst="ellipse">
            <a:avLst/>
          </a:prstGeom>
          <a:solidFill>
            <a:schemeClr val="accent1"/>
          </a:solidFill>
          <a:ln/>
        </p:spPr>
      </p:sp>
      <p:pic>
        <p:nvPicPr>
          <p:cNvPr id="17" name="who 1" descr="who 1">    </p:cNvPr>
          <p:cNvPicPr>
            <a:picLocks noChangeAspect="1"/>
          </p:cNvPicPr>
          <p:nvPr/>
        </p:nvPicPr>
        <p:blipFill>
          <a:blip r:embed="rId1"/>
          <a:stretch>
            <a:fillRect/>
          </a:stretch>
        </p:blipFill>
        <p:spPr>
          <a:xfrm>
            <a:off x="745236" y="4686300"/>
            <a:ext cx="228600" cy="228600"/>
          </a:xfrm>
          <a:prstGeom prst="rect">
            <a:avLst/>
          </a:prstGeom>
        </p:spPr>
      </p:pic>
      <p:sp>
        <p:nvSpPr>
          <p:cNvPr id="18" name="Text 15"/>
          <p:cNvSpPr txBox="1"/>
          <p:nvPr/>
        </p:nvSpPr>
        <p:spPr>
          <a:xfrm>
            <a:off x="1225296"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Rob &amp; Rachel</a:t>
            </a:r>
            <a:endParaRPr lang="en-US" sz="1300" dirty="0"/>
          </a:p>
        </p:txBody>
      </p:sp>
      <p:sp>
        <p:nvSpPr>
          <p:cNvPr id="19" name="Text 16"/>
          <p:cNvSpPr txBox="1"/>
          <p:nvPr/>
        </p:nvSpPr>
        <p:spPr>
          <a:xfrm>
            <a:off x="1225296"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Brings it to every check-in and adds to the “Next to delegate” list</a:t>
            </a:r>
            <a:endParaRPr lang="en-US" sz="1150" dirty="0"/>
          </a:p>
        </p:txBody>
      </p:sp>
      <p:sp>
        <p:nvSpPr>
          <p:cNvPr id="20" name="who 2 circle"/>
          <p:cNvSpPr/>
          <p:nvPr/>
        </p:nvSpPr>
        <p:spPr>
          <a:xfrm>
            <a:off x="4319930" y="4572000"/>
            <a:ext cx="457200" cy="457200"/>
          </a:xfrm>
          <a:prstGeom prst="ellipse">
            <a:avLst/>
          </a:prstGeom>
          <a:solidFill>
            <a:schemeClr val="accent1"/>
          </a:solidFill>
          <a:ln/>
        </p:spPr>
      </p:sp>
      <p:pic>
        <p:nvPicPr>
          <p:cNvPr id="21" name="who 2" descr="who 2">    </p:cNvPr>
          <p:cNvPicPr>
            <a:picLocks noChangeAspect="1"/>
          </p:cNvPicPr>
          <p:nvPr/>
        </p:nvPicPr>
        <p:blipFill>
          <a:blip r:embed="rId2"/>
          <a:stretch>
            <a:fillRect/>
          </a:stretch>
        </p:blipFill>
        <p:spPr>
          <a:xfrm>
            <a:off x="4434230" y="4686300"/>
            <a:ext cx="228600" cy="228600"/>
          </a:xfrm>
          <a:prstGeom prst="rect">
            <a:avLst/>
          </a:prstGeom>
        </p:spPr>
      </p:pic>
      <p:sp>
        <p:nvSpPr>
          <p:cNvPr id="22" name="Text 18"/>
          <p:cNvSpPr txBox="1"/>
          <p:nvPr/>
        </p:nvSpPr>
        <p:spPr>
          <a:xfrm>
            <a:off x="4914290"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Your Specialist</a:t>
            </a:r>
            <a:endParaRPr lang="en-US" sz="1300" dirty="0"/>
          </a:p>
        </p:txBody>
      </p:sp>
      <p:sp>
        <p:nvSpPr>
          <p:cNvPr id="23" name="Text 19"/>
          <p:cNvSpPr txBox="1"/>
          <p:nvPr/>
        </p:nvSpPr>
        <p:spPr>
          <a:xfrm>
            <a:off x="4914290"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Updates the SOP library and wins log, and self-assesses at each review</a:t>
            </a:r>
            <a:endParaRPr lang="en-US" sz="1150" dirty="0"/>
          </a:p>
        </p:txBody>
      </p:sp>
      <p:sp>
        <p:nvSpPr>
          <p:cNvPr id="24" name="who 3 circle"/>
          <p:cNvSpPr/>
          <p:nvPr/>
        </p:nvSpPr>
        <p:spPr>
          <a:xfrm>
            <a:off x="8008925" y="4572000"/>
            <a:ext cx="457200" cy="457200"/>
          </a:xfrm>
          <a:prstGeom prst="ellipse">
            <a:avLst/>
          </a:prstGeom>
          <a:solidFill>
            <a:schemeClr val="accent1"/>
          </a:solidFill>
          <a:ln/>
        </p:spPr>
      </p:sp>
      <p:pic>
        <p:nvPicPr>
          <p:cNvPr id="25" name="who 3" descr="who 3">    </p:cNvPr>
          <p:cNvPicPr>
            <a:picLocks noChangeAspect="1"/>
          </p:cNvPicPr>
          <p:nvPr/>
        </p:nvPicPr>
        <p:blipFill>
          <a:blip r:embed="rId3"/>
          <a:stretch>
            <a:fillRect/>
          </a:stretch>
        </p:blipFill>
        <p:spPr>
          <a:xfrm>
            <a:off x="8123225" y="4686300"/>
            <a:ext cx="228600" cy="228600"/>
          </a:xfrm>
          <a:prstGeom prst="rect">
            <a:avLst/>
          </a:prstGeom>
        </p:spPr>
      </p:pic>
      <p:sp>
        <p:nvSpPr>
          <p:cNvPr id="26" name="Text 21"/>
          <p:cNvSpPr txBox="1"/>
          <p:nvPr/>
        </p:nvSpPr>
        <p:spPr>
          <a:xfrm>
            <a:off x="8603285"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Outsourcing Angel</a:t>
            </a:r>
            <a:endParaRPr lang="en-US" sz="1300" dirty="0"/>
          </a:p>
        </p:txBody>
      </p:sp>
      <p:sp>
        <p:nvSpPr>
          <p:cNvPr id="27" name="Text 22"/>
          <p:cNvSpPr txBox="1"/>
          <p:nvPr/>
        </p:nvSpPr>
        <p:spPr>
          <a:xfrm>
            <a:off x="8603285"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Leads the Day 30, Day 90, Month 6 and Month 12 reviews and updates the scorecard</a:t>
            </a:r>
            <a:endParaRPr lang="en-US" sz="1150" dirty="0"/>
          </a:p>
        </p:txBody>
      </p:sp>
      <p:sp>
        <p:nvSpPr>
          <p:cNvPr id="28" name="callout"/>
          <p:cNvSpPr/>
          <p:nvPr/>
        </p:nvSpPr>
        <p:spPr>
          <a:xfrm>
            <a:off x="630936" y="5669280"/>
            <a:ext cx="10929823" cy="502920"/>
          </a:xfrm>
          <a:prstGeom prst="roundRect">
            <a:avLst>
              <a:gd name="adj" fmla="val 14545"/>
            </a:avLst>
          </a:prstGeom>
          <a:solidFill>
            <a:schemeClr val="accent4"/>
          </a:solidFill>
          <a:ln/>
        </p:spPr>
      </p:sp>
      <p:sp>
        <p:nvSpPr>
          <p:cNvPr id="29" name="Text 24"/>
          <p:cNvSpPr txBox="1"/>
          <p:nvPr/>
        </p:nvSpPr>
        <p:spPr>
          <a:xfrm>
            <a:off x="859536" y="5669280"/>
            <a:ext cx="10472623" cy="502920"/>
          </a:xfrm>
          <a:prstGeom prst="rect">
            <a:avLst/>
          </a:prstGeom>
          <a:noFill/>
          <a:ln/>
        </p:spPr>
        <p:txBody>
          <a:bodyPr wrap="square" lIns="0" tIns="0" rIns="0" bIns="0" rtlCol="0" anchor="ctr"/>
          <a:lstStyle/>
          <a:p>
            <a:pPr indent="0" marL="0">
              <a:buNone/>
            </a:pPr>
            <a:r>
              <a:rPr lang="en-US" sz="1250" b="1" dirty="0">
                <a:solidFill>
                  <a:schemeClr val="accent1"/>
                </a:solidFill>
              </a:rPr>
              <a:t>Your live copy sits in a shared folder that you, your Specialist and your Outsourcing Angel team can all open and update.</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PART A</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Our Recommendation</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What we heard in your Freedom Audit, the role we recommend, and how we’ll find the right person. Use this part to decide.</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Key Observations</a:t>
            </a:r>
            <a:endParaRPr lang="en-US" sz="3000" dirty="0"/>
          </a:p>
        </p:txBody>
      </p:sp>
      <p:sp>
        <p:nvSpPr>
          <p:cNvPr id="4" name="Text 2"/>
          <p:cNvSpPr txBox="1"/>
          <p:nvPr/>
        </p:nvSpPr>
        <p:spPr>
          <a:xfrm>
            <a:off x="630936" y="1417320"/>
            <a:ext cx="10929823" cy="960120"/>
          </a:xfrm>
          <a:prstGeom prst="rect">
            <a:avLst/>
          </a:prstGeom>
          <a:noFill/>
          <a:ln/>
        </p:spPr>
        <p:txBody>
          <a:bodyPr wrap="square" lIns="0" tIns="0" rIns="0" bIns="0" rtlCol="0" anchor="t"/>
          <a:lstStyle/>
          <a:p>
            <a:pPr indent="0" marL="0">
              <a:buNone/>
            </a:pPr>
            <a:r>
              <a:rPr lang="en-US" sz="1350" dirty="0">
                <a:solidFill>
                  <a:schemeClr val="accent3"/>
                </a:solidFill>
              </a:rPr>
              <a:t>Arova is a Melbourne-based bathroom and kitchen products retailer selling through Shopify, with a warehouse team handling fulfilment. Rob and Rachel are building three full-time roles with Outsourcing Angel at once: recruitment, Shopify e-commerce and customer service. After-sales enquiries need one dedicated owner who works with the warehouse and keeps Australian customers informed.</a:t>
            </a:r>
            <a:endParaRPr lang="en-US" sz="1350" dirty="0"/>
          </a:p>
        </p:txBody>
      </p:sp>
      <p:sp>
        <p:nvSpPr>
          <p:cNvPr id="5" name="card"/>
          <p:cNvSpPr/>
          <p:nvPr/>
        </p:nvSpPr>
        <p:spPr>
          <a:xfrm>
            <a:off x="630936" y="2560320"/>
            <a:ext cx="5327752" cy="2057400"/>
          </a:xfrm>
          <a:prstGeom prst="roundRect">
            <a:avLst>
              <a:gd name="adj" fmla="val 3556"/>
            </a:avLst>
          </a:prstGeom>
          <a:solidFill>
            <a:schemeClr val="bg1"/>
          </a:solidFill>
          <a:ln w="12700">
            <a:solidFill>
              <a:schemeClr val="accent5"/>
            </a:solidFill>
            <a:prstDash val="solid"/>
          </a:ln>
        </p:spPr>
      </p:sp>
      <p:sp>
        <p:nvSpPr>
          <p:cNvPr id="6" name="Text 4"/>
          <p:cNvSpPr txBox="1"/>
          <p:nvPr/>
        </p:nvSpPr>
        <p:spPr>
          <a:xfrm>
            <a:off x="905256" y="2743200"/>
            <a:ext cx="477911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WE HEARD</a:t>
            </a:r>
            <a:endParaRPr lang="en-US" sz="1050" dirty="0"/>
          </a:p>
        </p:txBody>
      </p:sp>
      <p:sp>
        <p:nvSpPr>
          <p:cNvPr id="7" name="Text 5"/>
          <p:cNvSpPr txBox="1"/>
          <p:nvPr/>
        </p:nvSpPr>
        <p:spPr>
          <a:xfrm>
            <a:off x="905256" y="3063240"/>
            <a:ext cx="4779112" cy="1463040"/>
          </a:xfrm>
          <a:prstGeom prst="rect">
            <a:avLst/>
          </a:prstGeom>
          <a:noFill/>
          <a:ln/>
        </p:spPr>
        <p:txBody>
          <a:bodyPr wrap="square" lIns="0" tIns="0" rIns="0" bIns="0" rtlCol="0" anchor="t"/>
          <a:lstStyle/>
          <a:p>
            <a:pPr indent="0" marL="0">
              <a:buNone/>
            </a:pPr>
            <a:r>
              <a:rPr lang="en-US" sz="1250" dirty="0">
                <a:solidFill>
                  <a:schemeClr val="accent3"/>
                </a:solidFill>
              </a:rPr>
              <a:t>Orders, returns, refunds and delivery enquiries all need coordinating with the warehouse · customer details are sensitive, so data security is a priority · Australian customers need clear, easy-to-understand English · a phone service (JustCall) is needed for calls.</a:t>
            </a:r>
            <a:endParaRPr lang="en-US" sz="1250" dirty="0"/>
          </a:p>
        </p:txBody>
      </p:sp>
      <p:sp>
        <p:nvSpPr>
          <p:cNvPr id="8" name="card"/>
          <p:cNvSpPr/>
          <p:nvPr/>
        </p:nvSpPr>
        <p:spPr>
          <a:xfrm>
            <a:off x="6233008" y="2560320"/>
            <a:ext cx="5327752" cy="2057400"/>
          </a:xfrm>
          <a:prstGeom prst="roundRect">
            <a:avLst>
              <a:gd name="adj" fmla="val 3556"/>
            </a:avLst>
          </a:prstGeom>
          <a:solidFill>
            <a:schemeClr val="bg1"/>
          </a:solidFill>
          <a:ln w="12700">
            <a:solidFill>
              <a:schemeClr val="accent5"/>
            </a:solidFill>
            <a:prstDash val="solid"/>
          </a:ln>
        </p:spPr>
      </p:sp>
      <p:sp>
        <p:nvSpPr>
          <p:cNvPr id="9" name="Text 7"/>
          <p:cNvSpPr txBox="1"/>
          <p:nvPr/>
        </p:nvSpPr>
        <p:spPr>
          <a:xfrm>
            <a:off x="6507328" y="2743200"/>
            <a:ext cx="477911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HIRING INSIGHT</a:t>
            </a:r>
            <a:endParaRPr lang="en-US" sz="1050" dirty="0"/>
          </a:p>
        </p:txBody>
      </p:sp>
      <p:sp>
        <p:nvSpPr>
          <p:cNvPr id="10" name="Text 8"/>
          <p:cNvSpPr txBox="1"/>
          <p:nvPr/>
        </p:nvSpPr>
        <p:spPr>
          <a:xfrm>
            <a:off x="6507328" y="3063240"/>
            <a:ext cx="4779112" cy="1463040"/>
          </a:xfrm>
          <a:prstGeom prst="rect">
            <a:avLst/>
          </a:prstGeom>
          <a:noFill/>
          <a:ln/>
        </p:spPr>
        <p:txBody>
          <a:bodyPr wrap="square" lIns="0" tIns="0" rIns="0" bIns="0" rtlCol="0" anchor="t"/>
          <a:lstStyle/>
          <a:p>
            <a:pPr indent="0" marL="0">
              <a:buNone/>
            </a:pPr>
            <a:r>
              <a:rPr lang="en-US" sz="1250" dirty="0">
                <a:solidFill>
                  <a:schemeClr val="accent3"/>
                </a:solidFill>
              </a:rPr>
              <a:t>Rob found us through his own research, comparing a managed service with single-VA platforms, and chose the managed model: a Freedom Plan, KPIs and a support team. He moved quickly, with deposits for all three roles, and asked about buyout options. He’s thinking long term.</a:t>
            </a:r>
            <a:endParaRPr lang="en-US" sz="1250" dirty="0"/>
          </a:p>
        </p:txBody>
      </p:sp>
      <p:sp>
        <p:nvSpPr>
          <p:cNvPr id="11" name="callout"/>
          <p:cNvSpPr/>
          <p:nvPr/>
        </p:nvSpPr>
        <p:spPr>
          <a:xfrm>
            <a:off x="630936" y="4846320"/>
            <a:ext cx="10929823" cy="868680"/>
          </a:xfrm>
          <a:prstGeom prst="roundRect">
            <a:avLst>
              <a:gd name="adj" fmla="val 8421"/>
            </a:avLst>
          </a:prstGeom>
          <a:solidFill>
            <a:schemeClr val="accent4"/>
          </a:solidFill>
          <a:ln/>
        </p:spPr>
      </p:sp>
      <p:sp>
        <p:nvSpPr>
          <p:cNvPr id="12" name="Text 10"/>
          <p:cNvSpPr txBox="1"/>
          <p:nvPr/>
        </p:nvSpPr>
        <p:spPr>
          <a:xfrm>
            <a:off x="859536" y="4846320"/>
            <a:ext cx="10472623" cy="868680"/>
          </a:xfrm>
          <a:prstGeom prst="rect">
            <a:avLst/>
          </a:prstGeom>
          <a:noFill/>
          <a:ln/>
        </p:spPr>
        <p:txBody>
          <a:bodyPr wrap="square" lIns="0" tIns="0" rIns="0" bIns="0" rtlCol="0" anchor="ctr"/>
          <a:lstStyle/>
          <a:p>
            <a:pPr indent="0" marL="0">
              <a:buNone/>
            </a:pPr>
            <a:r>
              <a:rPr lang="en-US" sz="1250" b="1" dirty="0">
                <a:solidFill>
                  <a:schemeClr val="accent1"/>
                </a:solidFill>
              </a:rPr>
              <a:t>Our recommendation: a dedicated Shopify Customer Service Specialist who owns after-sales support end to end (enquiries, returns, refunds, delivery and warehouse follow-up), so customers stay informed and Rob and Rachel don’t have to step in.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02</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Leverage Gap Analysis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Arova’s biggest leverage point: one person who owns every customer issue through to resolution, instead of passing it around.</a:t>
            </a:r>
            <a:endParaRPr lang="en-US" sz="1300" dirty="0"/>
          </a:p>
        </p:txBody>
      </p:sp>
      <p:sp>
        <p:nvSpPr>
          <p:cNvPr id="5" name="card"/>
          <p:cNvSpPr/>
          <p:nvPr/>
        </p:nvSpPr>
        <p:spPr>
          <a:xfrm>
            <a:off x="630936" y="2011680"/>
            <a:ext cx="5327752" cy="3566160"/>
          </a:xfrm>
          <a:prstGeom prst="roundRect">
            <a:avLst>
              <a:gd name="adj" fmla="val 2051"/>
            </a:avLst>
          </a:prstGeom>
          <a:solidFill>
            <a:schemeClr val="bg1"/>
          </a:solidFill>
          <a:ln w="12700">
            <a:solidFill>
              <a:schemeClr val="accent5"/>
            </a:solidFill>
            <a:prstDash val="solid"/>
          </a:ln>
        </p:spPr>
      </p:sp>
      <p:sp>
        <p:nvSpPr>
          <p:cNvPr id="6" name="Text 4"/>
          <p:cNvSpPr txBox="1"/>
          <p:nvPr/>
        </p:nvSpPr>
        <p:spPr>
          <a:xfrm>
            <a:off x="950976" y="224028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TODAY</a:t>
            </a:r>
            <a:endParaRPr lang="en-US" sz="1050" dirty="0"/>
          </a:p>
        </p:txBody>
      </p:sp>
      <p:sp>
        <p:nvSpPr>
          <p:cNvPr id="7" name="Text 5"/>
          <p:cNvSpPr txBox="1"/>
          <p:nvPr/>
        </p:nvSpPr>
        <p:spPr>
          <a:xfrm>
            <a:off x="950976" y="2606040"/>
            <a:ext cx="4687672" cy="2743200"/>
          </a:xfrm>
          <a:prstGeom prst="rect">
            <a:avLst/>
          </a:prstGeom>
          <a:noFill/>
          <a:ln/>
        </p:spPr>
        <p:txBody>
          <a:bodyPr wrap="square" lIns="0" tIns="0" rIns="0" bIns="0" rtlCol="0" anchor="t"/>
          <a:lstStyle/>
          <a:p>
            <a:pPr marL="203200" indent="-203200">
              <a:spcAft>
                <a:spcPts val="1400"/>
              </a:spcAft>
              <a:buSzPct val="100000"/>
              <a:buChar char="•"/>
            </a:pPr>
            <a:r>
              <a:rPr lang="en-US" sz="1350" dirty="0">
                <a:solidFill>
                  <a:schemeClr val="accent3"/>
                </a:solidFill>
              </a:rPr>
              <a:t>No dedicated owner for after-sales enquiries, returns and refunds</a:t>
            </a:r>
            <a:endParaRPr lang="en-US" sz="1350" dirty="0"/>
          </a:p>
          <a:p>
            <a:pPr marL="203200" indent="-203200">
              <a:spcAft>
                <a:spcPts val="1400"/>
              </a:spcAft>
              <a:buSzPct val="100000"/>
              <a:buChar char="•"/>
            </a:pPr>
            <a:r>
              <a:rPr lang="en-US" sz="1350" dirty="0">
                <a:solidFill>
                  <a:schemeClr val="accent3"/>
                </a:solidFill>
              </a:rPr>
              <a:t>Issues can be passed between team members rather than owned to the end</a:t>
            </a:r>
            <a:endParaRPr lang="en-US" sz="1350" dirty="0"/>
          </a:p>
          <a:p>
            <a:pPr marL="203200" indent="-203200">
              <a:spcAft>
                <a:spcPts val="1400"/>
              </a:spcAft>
              <a:buSzPct val="100000"/>
              <a:buChar char="•"/>
            </a:pPr>
            <a:r>
              <a:rPr lang="en-US" sz="1350" dirty="0">
                <a:solidFill>
                  <a:schemeClr val="accent3"/>
                </a:solidFill>
              </a:rPr>
              <a:t>Warehouse follow-up on delayed orders isn’t owned by one person</a:t>
            </a:r>
            <a:endParaRPr lang="en-US" sz="1350" dirty="0"/>
          </a:p>
        </p:txBody>
      </p:sp>
      <p:sp>
        <p:nvSpPr>
          <p:cNvPr id="8" name="card"/>
          <p:cNvSpPr/>
          <p:nvPr/>
        </p:nvSpPr>
        <p:spPr>
          <a:xfrm>
            <a:off x="6233008" y="2011680"/>
            <a:ext cx="5327752" cy="3566160"/>
          </a:xfrm>
          <a:prstGeom prst="roundRect">
            <a:avLst>
              <a:gd name="adj" fmla="val 2051"/>
            </a:avLst>
          </a:prstGeom>
          <a:solidFill>
            <a:schemeClr val="accent4"/>
          </a:solidFill>
          <a:ln/>
        </p:spPr>
      </p:sp>
      <p:sp>
        <p:nvSpPr>
          <p:cNvPr id="9" name="Text 7"/>
          <p:cNvSpPr txBox="1"/>
          <p:nvPr/>
        </p:nvSpPr>
        <p:spPr>
          <a:xfrm>
            <a:off x="6553048" y="224028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WHERE WE’RE GOING</a:t>
            </a:r>
            <a:endParaRPr lang="en-US" sz="1050" dirty="0"/>
          </a:p>
        </p:txBody>
      </p:sp>
      <p:sp>
        <p:nvSpPr>
          <p:cNvPr id="10" name="Text 8"/>
          <p:cNvSpPr txBox="1"/>
          <p:nvPr/>
        </p:nvSpPr>
        <p:spPr>
          <a:xfrm>
            <a:off x="6553048" y="2606040"/>
            <a:ext cx="4687672" cy="2743200"/>
          </a:xfrm>
          <a:prstGeom prst="rect">
            <a:avLst/>
          </a:prstGeom>
          <a:noFill/>
          <a:ln/>
        </p:spPr>
        <p:txBody>
          <a:bodyPr wrap="square" lIns="0" tIns="0" rIns="0" bIns="0" rtlCol="0" anchor="t"/>
          <a:lstStyle/>
          <a:p>
            <a:pPr marL="203200" indent="-203200">
              <a:spcAft>
                <a:spcPts val="1400"/>
              </a:spcAft>
              <a:buSzPct val="100000"/>
              <a:buChar char="•"/>
            </a:pPr>
            <a:r>
              <a:rPr lang="en-US" sz="1350" dirty="0">
                <a:solidFill>
                  <a:schemeClr val="tx1"/>
                </a:solidFill>
              </a:rPr>
              <a:t>A dedicated Specialist responds promptly and owns each enquiry end to end</a:t>
            </a:r>
            <a:endParaRPr lang="en-US" sz="1350" dirty="0"/>
          </a:p>
          <a:p>
            <a:pPr marL="203200" indent="-203200">
              <a:spcAft>
                <a:spcPts val="1400"/>
              </a:spcAft>
              <a:buSzPct val="100000"/>
              <a:buChar char="•"/>
            </a:pPr>
            <a:r>
              <a:rPr lang="en-US" sz="1350" dirty="0">
                <a:solidFill>
                  <a:schemeClr val="tx1"/>
                </a:solidFill>
              </a:rPr>
              <a:t>Returns and refunds handled correctly, every time, per company procedures</a:t>
            </a:r>
            <a:endParaRPr lang="en-US" sz="1350" dirty="0"/>
          </a:p>
          <a:p>
            <a:pPr marL="203200" indent="-203200">
              <a:spcAft>
                <a:spcPts val="1400"/>
              </a:spcAft>
              <a:buSzPct val="100000"/>
              <a:buChar char="•"/>
            </a:pPr>
            <a:r>
              <a:rPr lang="en-US" sz="1350" dirty="0">
                <a:solidFill>
                  <a:schemeClr val="tx1"/>
                </a:solidFill>
              </a:rPr>
              <a:t>Warehouse chased proactively, customers kept informed, escalations kept to a minimum</a:t>
            </a:r>
            <a:endParaRPr lang="en-US" sz="13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03</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Freedom Stage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Where the business is today, and the path this plan takes. We revisit this at every review in Part B.</a:t>
            </a:r>
            <a:endParaRPr lang="en-US" sz="1300" dirty="0"/>
          </a:p>
        </p:txBody>
      </p:sp>
      <p:sp>
        <p:nvSpPr>
          <p:cNvPr id="5" name="stage line"/>
          <p:cNvSpPr/>
          <p:nvPr/>
        </p:nvSpPr>
        <p:spPr>
          <a:xfrm>
            <a:off x="1088136" y="3063240"/>
            <a:ext cx="10015423" cy="0"/>
          </a:xfrm>
          <a:prstGeom prst="line">
            <a:avLst/>
          </a:prstGeom>
          <a:noFill/>
          <a:ln w="38100">
            <a:solidFill>
              <a:schemeClr val="accent5"/>
            </a:solidFill>
            <a:prstDash val="solid"/>
          </a:ln>
        </p:spPr>
      </p:sp>
      <p:sp>
        <p:nvSpPr>
          <p:cNvPr id="6" name="stage 1"/>
          <p:cNvSpPr/>
          <p:nvPr/>
        </p:nvSpPr>
        <p:spPr>
          <a:xfrm>
            <a:off x="768096" y="2743200"/>
            <a:ext cx="640080" cy="640080"/>
          </a:xfrm>
          <a:prstGeom prst="ellipse">
            <a:avLst/>
          </a:prstGeom>
          <a:solidFill>
            <a:schemeClr val="tx1"/>
          </a:solidFill>
          <a:ln w="25400">
            <a:solidFill>
              <a:schemeClr val="tx1"/>
            </a:solidFill>
            <a:prstDash val="solid"/>
          </a:ln>
        </p:spPr>
      </p:sp>
      <p:sp>
        <p:nvSpPr>
          <p:cNvPr id="7" name="Text 5"/>
          <p:cNvSpPr txBox="1"/>
          <p:nvPr/>
        </p:nvSpPr>
        <p:spPr>
          <a:xfrm>
            <a:off x="768096"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173736"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Task Delegator</a:t>
            </a:r>
            <a:endParaRPr lang="en-US" sz="1300" dirty="0"/>
          </a:p>
        </p:txBody>
      </p:sp>
      <p:sp>
        <p:nvSpPr>
          <p:cNvPr id="9" name="Text 7"/>
          <p:cNvSpPr txBox="1"/>
          <p:nvPr/>
        </p:nvSpPr>
        <p:spPr>
          <a:xfrm>
            <a:off x="173736"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3"/>
                </a:solidFill>
              </a:rPr>
              <a:t>TODAY</a:t>
            </a:r>
            <a:endParaRPr lang="en-US" sz="1000" dirty="0"/>
          </a:p>
        </p:txBody>
      </p:sp>
      <p:sp>
        <p:nvSpPr>
          <p:cNvPr id="10" name="stage 2"/>
          <p:cNvSpPr/>
          <p:nvPr/>
        </p:nvSpPr>
        <p:spPr>
          <a:xfrm>
            <a:off x="3271952" y="2743200"/>
            <a:ext cx="640080" cy="640080"/>
          </a:xfrm>
          <a:prstGeom prst="ellipse">
            <a:avLst/>
          </a:prstGeom>
          <a:solidFill>
            <a:schemeClr val="bg1"/>
          </a:solidFill>
          <a:ln w="25400">
            <a:solidFill>
              <a:schemeClr val="accent5"/>
            </a:solidFill>
            <a:prstDash val="solid"/>
          </a:ln>
        </p:spPr>
      </p:sp>
      <p:sp>
        <p:nvSpPr>
          <p:cNvPr id="11" name="Text 9"/>
          <p:cNvSpPr txBox="1"/>
          <p:nvPr/>
        </p:nvSpPr>
        <p:spPr>
          <a:xfrm>
            <a:off x="3271952" y="2743200"/>
            <a:ext cx="640080" cy="640080"/>
          </a:xfrm>
          <a:prstGeom prst="rect">
            <a:avLst/>
          </a:prstGeom>
          <a:noFill/>
          <a:ln/>
        </p:spPr>
        <p:txBody>
          <a:bodyPr wrap="square" lIns="0" tIns="0" rIns="0" bIns="0" rtlCol="0" anchor="ctr"/>
          <a:lstStyle/>
          <a:p>
            <a:pPr algn="ctr" indent="0" marL="0">
              <a:buNone/>
            </a:pPr>
            <a:r>
              <a:rPr lang="en-US" sz="1600" b="1" dirty="0">
                <a:solidFill>
                  <a:schemeClr val="accent3"/>
                </a:solidFill>
              </a:rPr>
              <a:t>2</a:t>
            </a:r>
            <a:endParaRPr lang="en-US" sz="1600" dirty="0"/>
          </a:p>
        </p:txBody>
      </p:sp>
      <p:sp>
        <p:nvSpPr>
          <p:cNvPr id="12" name="Text 10"/>
          <p:cNvSpPr txBox="1"/>
          <p:nvPr/>
        </p:nvSpPr>
        <p:spPr>
          <a:xfrm>
            <a:off x="2677592"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Process Builder</a:t>
            </a:r>
            <a:endParaRPr lang="en-US" sz="1300" dirty="0"/>
          </a:p>
        </p:txBody>
      </p:sp>
      <p:sp>
        <p:nvSpPr>
          <p:cNvPr id="13" name="stage 3"/>
          <p:cNvSpPr/>
          <p:nvPr/>
        </p:nvSpPr>
        <p:spPr>
          <a:xfrm>
            <a:off x="5775808" y="2743200"/>
            <a:ext cx="640080" cy="640080"/>
          </a:xfrm>
          <a:prstGeom prst="ellipse">
            <a:avLst/>
          </a:prstGeom>
          <a:solidFill>
            <a:schemeClr val="accent2"/>
          </a:solidFill>
          <a:ln w="25400">
            <a:solidFill>
              <a:schemeClr val="accent2"/>
            </a:solidFill>
            <a:prstDash val="solid"/>
          </a:ln>
        </p:spPr>
      </p:sp>
      <p:sp>
        <p:nvSpPr>
          <p:cNvPr id="14" name="Text 12"/>
          <p:cNvSpPr txBox="1"/>
          <p:nvPr/>
        </p:nvSpPr>
        <p:spPr>
          <a:xfrm>
            <a:off x="5775808"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5181448"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Outcome Owner</a:t>
            </a:r>
            <a:endParaRPr lang="en-US" sz="1300" dirty="0"/>
          </a:p>
        </p:txBody>
      </p:sp>
      <p:sp>
        <p:nvSpPr>
          <p:cNvPr id="16" name="Text 14"/>
          <p:cNvSpPr txBox="1"/>
          <p:nvPr/>
        </p:nvSpPr>
        <p:spPr>
          <a:xfrm>
            <a:off x="5181448"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DAY 90 TARGET</a:t>
            </a:r>
            <a:endParaRPr lang="en-US" sz="1000" dirty="0"/>
          </a:p>
        </p:txBody>
      </p:sp>
      <p:sp>
        <p:nvSpPr>
          <p:cNvPr id="17" name="stage 4"/>
          <p:cNvSpPr/>
          <p:nvPr/>
        </p:nvSpPr>
        <p:spPr>
          <a:xfrm>
            <a:off x="8279663" y="2743200"/>
            <a:ext cx="640080" cy="640080"/>
          </a:xfrm>
          <a:prstGeom prst="ellipse">
            <a:avLst/>
          </a:prstGeom>
          <a:solidFill>
            <a:schemeClr val="bg1"/>
          </a:solidFill>
          <a:ln w="25400">
            <a:solidFill>
              <a:schemeClr val="accent5"/>
            </a:solidFill>
            <a:prstDash val="solid"/>
          </a:ln>
        </p:spPr>
      </p:sp>
      <p:sp>
        <p:nvSpPr>
          <p:cNvPr id="18" name="Text 16"/>
          <p:cNvSpPr txBox="1"/>
          <p:nvPr/>
        </p:nvSpPr>
        <p:spPr>
          <a:xfrm>
            <a:off x="8279663" y="2743200"/>
            <a:ext cx="640080" cy="640080"/>
          </a:xfrm>
          <a:prstGeom prst="rect">
            <a:avLst/>
          </a:prstGeom>
          <a:noFill/>
          <a:ln/>
        </p:spPr>
        <p:txBody>
          <a:bodyPr wrap="square" lIns="0" tIns="0" rIns="0" bIns="0" rtlCol="0" anchor="ctr"/>
          <a:lstStyle/>
          <a:p>
            <a:pPr algn="ctr" indent="0" marL="0">
              <a:buNone/>
            </a:pPr>
            <a:r>
              <a:rPr lang="en-US" sz="1600" b="1" dirty="0">
                <a:solidFill>
                  <a:schemeClr val="accent3"/>
                </a:solidFill>
              </a:rPr>
              <a:t>4</a:t>
            </a:r>
            <a:endParaRPr lang="en-US" sz="1600" dirty="0"/>
          </a:p>
        </p:txBody>
      </p:sp>
      <p:sp>
        <p:nvSpPr>
          <p:cNvPr id="19" name="Text 17"/>
          <p:cNvSpPr txBox="1"/>
          <p:nvPr/>
        </p:nvSpPr>
        <p:spPr>
          <a:xfrm>
            <a:off x="7685303"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Operator</a:t>
            </a:r>
            <a:endParaRPr lang="en-US" sz="1300" dirty="0"/>
          </a:p>
        </p:txBody>
      </p:sp>
      <p:sp>
        <p:nvSpPr>
          <p:cNvPr id="20" name="stage 5"/>
          <p:cNvSpPr/>
          <p:nvPr/>
        </p:nvSpPr>
        <p:spPr>
          <a:xfrm>
            <a:off x="10783519" y="2743200"/>
            <a:ext cx="640080" cy="640080"/>
          </a:xfrm>
          <a:prstGeom prst="ellipse">
            <a:avLst/>
          </a:prstGeom>
          <a:solidFill>
            <a:schemeClr val="accent1"/>
          </a:solidFill>
          <a:ln w="25400">
            <a:solidFill>
              <a:schemeClr val="accent1"/>
            </a:solidFill>
            <a:prstDash val="solid"/>
          </a:ln>
        </p:spPr>
      </p:sp>
      <p:sp>
        <p:nvSpPr>
          <p:cNvPr id="21" name="Text 19"/>
          <p:cNvSpPr txBox="1"/>
          <p:nvPr/>
        </p:nvSpPr>
        <p:spPr>
          <a:xfrm>
            <a:off x="10783519"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20"/>
          <p:cNvSpPr txBox="1"/>
          <p:nvPr/>
        </p:nvSpPr>
        <p:spPr>
          <a:xfrm>
            <a:off x="10189159"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Freedom</a:t>
            </a:r>
            <a:endParaRPr lang="en-US" sz="1300" dirty="0"/>
          </a:p>
        </p:txBody>
      </p:sp>
      <p:sp>
        <p:nvSpPr>
          <p:cNvPr id="23" name="Text 21"/>
          <p:cNvSpPr txBox="1"/>
          <p:nvPr/>
        </p:nvSpPr>
        <p:spPr>
          <a:xfrm>
            <a:off x="10189159"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MONTH 6 TARGET</a:t>
            </a:r>
            <a:endParaRPr lang="en-US" sz="1000" dirty="0"/>
          </a:p>
        </p:txBody>
      </p:sp>
      <p:sp>
        <p:nvSpPr>
          <p:cNvPr id="24" name="callout"/>
          <p:cNvSpPr/>
          <p:nvPr/>
        </p:nvSpPr>
        <p:spPr>
          <a:xfrm>
            <a:off x="630936" y="4572000"/>
            <a:ext cx="10929823" cy="868680"/>
          </a:xfrm>
          <a:prstGeom prst="roundRect">
            <a:avLst>
              <a:gd name="adj" fmla="val 8421"/>
            </a:avLst>
          </a:prstGeom>
          <a:solidFill>
            <a:schemeClr val="accent4"/>
          </a:solidFill>
          <a:ln/>
        </p:spPr>
      </p:sp>
      <p:sp>
        <p:nvSpPr>
          <p:cNvPr id="25" name="Text 23"/>
          <p:cNvSpPr txBox="1"/>
          <p:nvPr/>
        </p:nvSpPr>
        <p:spPr>
          <a:xfrm>
            <a:off x="859536" y="4572000"/>
            <a:ext cx="10472623" cy="868680"/>
          </a:xfrm>
          <a:prstGeom prst="rect">
            <a:avLst/>
          </a:prstGeom>
          <a:noFill/>
          <a:ln/>
        </p:spPr>
        <p:txBody>
          <a:bodyPr wrap="square" lIns="0" tIns="0" rIns="0" bIns="0" rtlCol="0" anchor="ctr"/>
          <a:lstStyle/>
          <a:p>
            <a:pPr indent="0" marL="0">
              <a:buNone/>
            </a:pPr>
            <a:r>
              <a:rPr lang="en-US" sz="1250" b="1" dirty="0">
                <a:solidFill>
                  <a:schemeClr val="accent1"/>
                </a:solidFill>
              </a:rPr>
              <a:t>Rob wants someone who takes ownership rather than passing issues on. We aim for Outcome Owner by Day 90 and Freedom by Month 6: a Specialist who runs after-sales support independently and escalates only what needs the team.</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04  ·  DESIGN</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Role We Recommend</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 Shopify Customer Service Specialist who owns six areas, so every customer issue has one owner from start to finish.</a:t>
            </a:r>
            <a:endParaRPr lang="en-US" sz="1300" dirty="0"/>
          </a:p>
        </p:txBody>
      </p:sp>
      <p:sp>
        <p:nvSpPr>
          <p:cNvPr id="5" name="card"/>
          <p:cNvSpPr/>
          <p:nvPr/>
        </p:nvSpPr>
        <p:spPr>
          <a:xfrm>
            <a:off x="630936" y="1965960"/>
            <a:ext cx="3521354" cy="1874520"/>
          </a:xfrm>
          <a:prstGeom prst="roundRect">
            <a:avLst>
              <a:gd name="adj" fmla="val 3902"/>
            </a:avLst>
          </a:prstGeom>
          <a:solidFill>
            <a:schemeClr val="bg2"/>
          </a:solidFill>
          <a:ln/>
        </p:spPr>
      </p:sp>
      <p:sp>
        <p:nvSpPr>
          <p:cNvPr id="6" name="area 1 circle"/>
          <p:cNvSpPr/>
          <p:nvPr/>
        </p:nvSpPr>
        <p:spPr>
          <a:xfrm>
            <a:off x="905256" y="2240280"/>
            <a:ext cx="502920" cy="502920"/>
          </a:xfrm>
          <a:prstGeom prst="ellipse">
            <a:avLst/>
          </a:prstGeom>
          <a:solidFill>
            <a:schemeClr val="accent1"/>
          </a:solidFill>
          <a:ln/>
        </p:spPr>
      </p:sp>
      <p:pic>
        <p:nvPicPr>
          <p:cNvPr id="7" name="area 1" descr="area 1">    </p:cNvPr>
          <p:cNvPicPr>
            <a:picLocks noChangeAspect="1"/>
          </p:cNvPicPr>
          <p:nvPr/>
        </p:nvPicPr>
        <p:blipFill>
          <a:blip r:embed="rId1"/>
          <a:stretch>
            <a:fillRect/>
          </a:stretch>
        </p:blipFill>
        <p:spPr>
          <a:xfrm>
            <a:off x="1030986" y="2366010"/>
            <a:ext cx="251460" cy="251460"/>
          </a:xfrm>
          <a:prstGeom prst="rect">
            <a:avLst/>
          </a:prstGeom>
        </p:spPr>
      </p:pic>
      <p:sp>
        <p:nvSpPr>
          <p:cNvPr id="8" name="Text 5"/>
          <p:cNvSpPr txBox="1"/>
          <p:nvPr/>
        </p:nvSpPr>
        <p:spPr>
          <a:xfrm>
            <a:off x="1545336"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Customer Enquiries &amp; After-Sales</a:t>
            </a:r>
            <a:endParaRPr lang="en-US" sz="1400" dirty="0"/>
          </a:p>
        </p:txBody>
      </p:sp>
      <p:sp>
        <p:nvSpPr>
          <p:cNvPr id="9" name="Text 6"/>
          <p:cNvSpPr txBox="1"/>
          <p:nvPr/>
        </p:nvSpPr>
        <p:spPr>
          <a:xfrm>
            <a:off x="905256"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Responding promptly and professionally to every customer, by email and phone.</a:t>
            </a:r>
            <a:endParaRPr lang="en-US" sz="1200" dirty="0"/>
          </a:p>
        </p:txBody>
      </p:sp>
      <p:sp>
        <p:nvSpPr>
          <p:cNvPr id="10" name="card"/>
          <p:cNvSpPr/>
          <p:nvPr/>
        </p:nvSpPr>
        <p:spPr>
          <a:xfrm>
            <a:off x="4335170" y="1965960"/>
            <a:ext cx="3521354" cy="1874520"/>
          </a:xfrm>
          <a:prstGeom prst="roundRect">
            <a:avLst>
              <a:gd name="adj" fmla="val 3902"/>
            </a:avLst>
          </a:prstGeom>
          <a:solidFill>
            <a:schemeClr val="bg2"/>
          </a:solidFill>
          <a:ln/>
        </p:spPr>
      </p:sp>
      <p:sp>
        <p:nvSpPr>
          <p:cNvPr id="11" name="area 2 circle"/>
          <p:cNvSpPr/>
          <p:nvPr/>
        </p:nvSpPr>
        <p:spPr>
          <a:xfrm>
            <a:off x="4609490" y="2240280"/>
            <a:ext cx="502920" cy="502920"/>
          </a:xfrm>
          <a:prstGeom prst="ellipse">
            <a:avLst/>
          </a:prstGeom>
          <a:solidFill>
            <a:schemeClr val="accent1"/>
          </a:solidFill>
          <a:ln/>
        </p:spPr>
      </p:sp>
      <p:pic>
        <p:nvPicPr>
          <p:cNvPr id="12" name="area 2" descr="area 2">    </p:cNvPr>
          <p:cNvPicPr>
            <a:picLocks noChangeAspect="1"/>
          </p:cNvPicPr>
          <p:nvPr/>
        </p:nvPicPr>
        <p:blipFill>
          <a:blip r:embed="rId2"/>
          <a:stretch>
            <a:fillRect/>
          </a:stretch>
        </p:blipFill>
        <p:spPr>
          <a:xfrm>
            <a:off x="4735220" y="2366010"/>
            <a:ext cx="251460" cy="251460"/>
          </a:xfrm>
          <a:prstGeom prst="rect">
            <a:avLst/>
          </a:prstGeom>
        </p:spPr>
      </p:pic>
      <p:sp>
        <p:nvSpPr>
          <p:cNvPr id="13" name="Text 9"/>
          <p:cNvSpPr txBox="1"/>
          <p:nvPr/>
        </p:nvSpPr>
        <p:spPr>
          <a:xfrm>
            <a:off x="5249570"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Orders &amp; Delivery</a:t>
            </a:r>
            <a:endParaRPr lang="en-US" sz="1400" dirty="0"/>
          </a:p>
        </p:txBody>
      </p:sp>
      <p:sp>
        <p:nvSpPr>
          <p:cNvPr id="14" name="Text 10"/>
          <p:cNvSpPr txBox="1"/>
          <p:nvPr/>
        </p:nvSpPr>
        <p:spPr>
          <a:xfrm>
            <a:off x="4609490"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Answering order, delivery and shipment questions with accurate, current information.</a:t>
            </a:r>
            <a:endParaRPr lang="en-US" sz="1200" dirty="0"/>
          </a:p>
        </p:txBody>
      </p:sp>
      <p:sp>
        <p:nvSpPr>
          <p:cNvPr id="15" name="card"/>
          <p:cNvSpPr/>
          <p:nvPr/>
        </p:nvSpPr>
        <p:spPr>
          <a:xfrm>
            <a:off x="8039405" y="1965960"/>
            <a:ext cx="3521354" cy="1874520"/>
          </a:xfrm>
          <a:prstGeom prst="roundRect">
            <a:avLst>
              <a:gd name="adj" fmla="val 3902"/>
            </a:avLst>
          </a:prstGeom>
          <a:solidFill>
            <a:schemeClr val="bg2"/>
          </a:solidFill>
          <a:ln/>
        </p:spPr>
      </p:sp>
      <p:sp>
        <p:nvSpPr>
          <p:cNvPr id="16" name="area 3 circle"/>
          <p:cNvSpPr/>
          <p:nvPr/>
        </p:nvSpPr>
        <p:spPr>
          <a:xfrm>
            <a:off x="8313725" y="2240280"/>
            <a:ext cx="502920" cy="502920"/>
          </a:xfrm>
          <a:prstGeom prst="ellipse">
            <a:avLst/>
          </a:prstGeom>
          <a:solidFill>
            <a:schemeClr val="accent1"/>
          </a:solidFill>
          <a:ln/>
        </p:spPr>
      </p:sp>
      <p:pic>
        <p:nvPicPr>
          <p:cNvPr id="17" name="area 3" descr="area 3">    </p:cNvPr>
          <p:cNvPicPr>
            <a:picLocks noChangeAspect="1"/>
          </p:cNvPicPr>
          <p:nvPr/>
        </p:nvPicPr>
        <p:blipFill>
          <a:blip r:embed="rId3"/>
          <a:stretch>
            <a:fillRect/>
          </a:stretch>
        </p:blipFill>
        <p:spPr>
          <a:xfrm>
            <a:off x="8439455" y="2366010"/>
            <a:ext cx="251460" cy="251460"/>
          </a:xfrm>
          <a:prstGeom prst="rect">
            <a:avLst/>
          </a:prstGeom>
        </p:spPr>
      </p:pic>
      <p:sp>
        <p:nvSpPr>
          <p:cNvPr id="18" name="Text 13"/>
          <p:cNvSpPr txBox="1"/>
          <p:nvPr/>
        </p:nvSpPr>
        <p:spPr>
          <a:xfrm>
            <a:off x="8953805"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Returns &amp; Refunds</a:t>
            </a:r>
            <a:endParaRPr lang="en-US" sz="1400" dirty="0"/>
          </a:p>
        </p:txBody>
      </p:sp>
      <p:sp>
        <p:nvSpPr>
          <p:cNvPr id="19" name="Text 14"/>
          <p:cNvSpPr txBox="1"/>
          <p:nvPr/>
        </p:nvSpPr>
        <p:spPr>
          <a:xfrm>
            <a:off x="8313725"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Processing returns and refunds correctly, according to company procedures.</a:t>
            </a:r>
            <a:endParaRPr lang="en-US" sz="1200" dirty="0"/>
          </a:p>
        </p:txBody>
      </p:sp>
      <p:sp>
        <p:nvSpPr>
          <p:cNvPr id="20" name="card"/>
          <p:cNvSpPr/>
          <p:nvPr/>
        </p:nvSpPr>
        <p:spPr>
          <a:xfrm>
            <a:off x="630936" y="4023360"/>
            <a:ext cx="3521354" cy="1874520"/>
          </a:xfrm>
          <a:prstGeom prst="roundRect">
            <a:avLst>
              <a:gd name="adj" fmla="val 3902"/>
            </a:avLst>
          </a:prstGeom>
          <a:solidFill>
            <a:schemeClr val="bg2"/>
          </a:solidFill>
          <a:ln/>
        </p:spPr>
      </p:sp>
      <p:sp>
        <p:nvSpPr>
          <p:cNvPr id="21" name="area 4 circle"/>
          <p:cNvSpPr/>
          <p:nvPr/>
        </p:nvSpPr>
        <p:spPr>
          <a:xfrm>
            <a:off x="905256" y="4297680"/>
            <a:ext cx="502920" cy="502920"/>
          </a:xfrm>
          <a:prstGeom prst="ellipse">
            <a:avLst/>
          </a:prstGeom>
          <a:solidFill>
            <a:schemeClr val="accent1"/>
          </a:solidFill>
          <a:ln/>
        </p:spPr>
      </p:sp>
      <p:pic>
        <p:nvPicPr>
          <p:cNvPr id="22" name="area 4" descr="area 4">    </p:cNvPr>
          <p:cNvPicPr>
            <a:picLocks noChangeAspect="1"/>
          </p:cNvPicPr>
          <p:nvPr/>
        </p:nvPicPr>
        <p:blipFill>
          <a:blip r:embed="rId4"/>
          <a:stretch>
            <a:fillRect/>
          </a:stretch>
        </p:blipFill>
        <p:spPr>
          <a:xfrm>
            <a:off x="1030986" y="4423410"/>
            <a:ext cx="251460" cy="251460"/>
          </a:xfrm>
          <a:prstGeom prst="rect">
            <a:avLst/>
          </a:prstGeom>
        </p:spPr>
      </p:pic>
      <p:sp>
        <p:nvSpPr>
          <p:cNvPr id="23" name="Text 17"/>
          <p:cNvSpPr txBox="1"/>
          <p:nvPr/>
        </p:nvSpPr>
        <p:spPr>
          <a:xfrm>
            <a:off x="1545336"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Warehouse Coordination</a:t>
            </a:r>
            <a:endParaRPr lang="en-US" sz="1400" dirty="0"/>
          </a:p>
        </p:txBody>
      </p:sp>
      <p:sp>
        <p:nvSpPr>
          <p:cNvPr id="24" name="Text 18"/>
          <p:cNvSpPr txBox="1"/>
          <p:nvPr/>
        </p:nvSpPr>
        <p:spPr>
          <a:xfrm>
            <a:off x="905256"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Working with the warehouse team on customer orders and chasing delayed ones.</a:t>
            </a:r>
            <a:endParaRPr lang="en-US" sz="1200" dirty="0"/>
          </a:p>
        </p:txBody>
      </p:sp>
      <p:sp>
        <p:nvSpPr>
          <p:cNvPr id="25" name="card"/>
          <p:cNvSpPr/>
          <p:nvPr/>
        </p:nvSpPr>
        <p:spPr>
          <a:xfrm>
            <a:off x="4335170" y="4023360"/>
            <a:ext cx="3521354" cy="1874520"/>
          </a:xfrm>
          <a:prstGeom prst="roundRect">
            <a:avLst>
              <a:gd name="adj" fmla="val 3902"/>
            </a:avLst>
          </a:prstGeom>
          <a:solidFill>
            <a:schemeClr val="bg2"/>
          </a:solidFill>
          <a:ln/>
        </p:spPr>
      </p:sp>
      <p:sp>
        <p:nvSpPr>
          <p:cNvPr id="26" name="area 5 circle"/>
          <p:cNvSpPr/>
          <p:nvPr/>
        </p:nvSpPr>
        <p:spPr>
          <a:xfrm>
            <a:off x="4609490" y="4297680"/>
            <a:ext cx="502920" cy="502920"/>
          </a:xfrm>
          <a:prstGeom prst="ellipse">
            <a:avLst/>
          </a:prstGeom>
          <a:solidFill>
            <a:schemeClr val="accent1"/>
          </a:solidFill>
          <a:ln/>
        </p:spPr>
      </p:sp>
      <p:pic>
        <p:nvPicPr>
          <p:cNvPr id="27" name="area 5" descr="area 5">    </p:cNvPr>
          <p:cNvPicPr>
            <a:picLocks noChangeAspect="1"/>
          </p:cNvPicPr>
          <p:nvPr/>
        </p:nvPicPr>
        <p:blipFill>
          <a:blip r:embed="rId5"/>
          <a:stretch>
            <a:fillRect/>
          </a:stretch>
        </p:blipFill>
        <p:spPr>
          <a:xfrm>
            <a:off x="4735220" y="4423410"/>
            <a:ext cx="251460" cy="251460"/>
          </a:xfrm>
          <a:prstGeom prst="rect">
            <a:avLst/>
          </a:prstGeom>
        </p:spPr>
      </p:pic>
      <p:sp>
        <p:nvSpPr>
          <p:cNvPr id="28" name="Text 21"/>
          <p:cNvSpPr txBox="1"/>
          <p:nvPr/>
        </p:nvSpPr>
        <p:spPr>
          <a:xfrm>
            <a:off x="5249570"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Documentation &amp; Follow-Through</a:t>
            </a:r>
            <a:endParaRPr lang="en-US" sz="1400" dirty="0"/>
          </a:p>
        </p:txBody>
      </p:sp>
      <p:sp>
        <p:nvSpPr>
          <p:cNvPr id="29" name="Text 22"/>
          <p:cNvSpPr txBox="1"/>
          <p:nvPr/>
        </p:nvSpPr>
        <p:spPr>
          <a:xfrm>
            <a:off x="4609490"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Logging every issue and following it through to completion.</a:t>
            </a:r>
            <a:endParaRPr lang="en-US" sz="1200" dirty="0"/>
          </a:p>
        </p:txBody>
      </p:sp>
      <p:sp>
        <p:nvSpPr>
          <p:cNvPr id="30" name="card"/>
          <p:cNvSpPr/>
          <p:nvPr/>
        </p:nvSpPr>
        <p:spPr>
          <a:xfrm>
            <a:off x="8039405" y="4023360"/>
            <a:ext cx="3521354" cy="1874520"/>
          </a:xfrm>
          <a:prstGeom prst="roundRect">
            <a:avLst>
              <a:gd name="adj" fmla="val 3902"/>
            </a:avLst>
          </a:prstGeom>
          <a:solidFill>
            <a:schemeClr val="bg2"/>
          </a:solidFill>
          <a:ln/>
        </p:spPr>
      </p:sp>
      <p:sp>
        <p:nvSpPr>
          <p:cNvPr id="31" name="area 6 circle"/>
          <p:cNvSpPr/>
          <p:nvPr/>
        </p:nvSpPr>
        <p:spPr>
          <a:xfrm>
            <a:off x="8313725" y="4297680"/>
            <a:ext cx="502920" cy="502920"/>
          </a:xfrm>
          <a:prstGeom prst="ellipse">
            <a:avLst/>
          </a:prstGeom>
          <a:solidFill>
            <a:schemeClr val="accent1"/>
          </a:solidFill>
          <a:ln/>
        </p:spPr>
      </p:sp>
      <p:pic>
        <p:nvPicPr>
          <p:cNvPr id="32" name="area 6" descr="area 6">    </p:cNvPr>
          <p:cNvPicPr>
            <a:picLocks noChangeAspect="1"/>
          </p:cNvPicPr>
          <p:nvPr/>
        </p:nvPicPr>
        <p:blipFill>
          <a:blip r:embed="rId6"/>
          <a:stretch>
            <a:fillRect/>
          </a:stretch>
        </p:blipFill>
        <p:spPr>
          <a:xfrm>
            <a:off x="8439455" y="4423410"/>
            <a:ext cx="251460" cy="251460"/>
          </a:xfrm>
          <a:prstGeom prst="rect">
            <a:avLst/>
          </a:prstGeom>
        </p:spPr>
      </p:pic>
      <p:sp>
        <p:nvSpPr>
          <p:cNvPr id="33" name="Text 25"/>
          <p:cNvSpPr txBox="1"/>
          <p:nvPr/>
        </p:nvSpPr>
        <p:spPr>
          <a:xfrm>
            <a:off x="8953805"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Escalation &amp; Judgement</a:t>
            </a:r>
            <a:endParaRPr lang="en-US" sz="1400" dirty="0"/>
          </a:p>
        </p:txBody>
      </p:sp>
      <p:sp>
        <p:nvSpPr>
          <p:cNvPr id="34" name="Text 26"/>
          <p:cNvSpPr txBox="1"/>
          <p:nvPr/>
        </p:nvSpPr>
        <p:spPr>
          <a:xfrm>
            <a:off x="8313725"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Resolving what they can alone; escalating the rest with full context.</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05  ·  DISCOVER</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Securing the Right Hire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Recommended role: Shopify Customer Service Specialist (full-time, 40 hrs/week, Mon–Fri 9am–6pm Melbourne time)</a:t>
            </a:r>
            <a:endParaRPr lang="en-US" sz="1300" dirty="0"/>
          </a:p>
        </p:txBody>
      </p:sp>
      <p:sp>
        <p:nvSpPr>
          <p:cNvPr id="5" name="card"/>
          <p:cNvSpPr/>
          <p:nvPr/>
        </p:nvSpPr>
        <p:spPr>
          <a:xfrm>
            <a:off x="630936" y="1965960"/>
            <a:ext cx="5373472" cy="1691640"/>
          </a:xfrm>
          <a:prstGeom prst="roundRect">
            <a:avLst>
              <a:gd name="adj" fmla="val 4324"/>
            </a:avLst>
          </a:prstGeom>
          <a:solidFill>
            <a:schemeClr val="bg1"/>
          </a:solidFill>
          <a:ln w="12700">
            <a:solidFill>
              <a:schemeClr val="accent5"/>
            </a:solidFill>
            <a:prstDash val="solid"/>
          </a:ln>
        </p:spPr>
      </p:sp>
      <p:sp>
        <p:nvSpPr>
          <p:cNvPr id="6" name="Text 4"/>
          <p:cNvSpPr txBox="1"/>
          <p:nvPr/>
        </p:nvSpPr>
        <p:spPr>
          <a:xfrm>
            <a:off x="905256"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EXPERIENCE</a:t>
            </a:r>
            <a:endParaRPr lang="en-US" sz="1050" dirty="0"/>
          </a:p>
        </p:txBody>
      </p:sp>
      <p:sp>
        <p:nvSpPr>
          <p:cNvPr id="7" name="Text 5"/>
          <p:cNvSpPr txBox="1"/>
          <p:nvPr/>
        </p:nvSpPr>
        <p:spPr>
          <a:xfrm>
            <a:off x="905256"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3–5+ years of customer service, including e-commerce support and handling returns, refunds and delivery enquiries. Australian customers an advantage.</a:t>
            </a:r>
            <a:endParaRPr lang="en-US" sz="1250" dirty="0"/>
          </a:p>
        </p:txBody>
      </p:sp>
      <p:sp>
        <p:nvSpPr>
          <p:cNvPr id="8" name="card"/>
          <p:cNvSpPr/>
          <p:nvPr/>
        </p:nvSpPr>
        <p:spPr>
          <a:xfrm>
            <a:off x="6187288" y="1965960"/>
            <a:ext cx="5373472" cy="1691640"/>
          </a:xfrm>
          <a:prstGeom prst="roundRect">
            <a:avLst>
              <a:gd name="adj" fmla="val 4324"/>
            </a:avLst>
          </a:prstGeom>
          <a:solidFill>
            <a:schemeClr val="bg1"/>
          </a:solidFill>
          <a:ln w="12700">
            <a:solidFill>
              <a:schemeClr val="accent5"/>
            </a:solidFill>
            <a:prstDash val="solid"/>
          </a:ln>
        </p:spPr>
      </p:sp>
      <p:sp>
        <p:nvSpPr>
          <p:cNvPr id="9" name="Text 7"/>
          <p:cNvSpPr txBox="1"/>
          <p:nvPr/>
        </p:nvSpPr>
        <p:spPr>
          <a:xfrm>
            <a:off x="6461608"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KEY SKILLS</a:t>
            </a:r>
            <a:endParaRPr lang="en-US" sz="1050" dirty="0"/>
          </a:p>
        </p:txBody>
      </p:sp>
      <p:sp>
        <p:nvSpPr>
          <p:cNvPr id="10" name="Text 8"/>
          <p:cNvSpPr txBox="1"/>
          <p:nvPr/>
        </p:nvSpPr>
        <p:spPr>
          <a:xfrm>
            <a:off x="6461608"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Clear, professional written and spoken English with a neutral, easy-to-understand accent; calm with unhappy customers; organised and detail-oriented.</a:t>
            </a:r>
            <a:endParaRPr lang="en-US" sz="1250" dirty="0"/>
          </a:p>
        </p:txBody>
      </p:sp>
      <p:sp>
        <p:nvSpPr>
          <p:cNvPr id="11" name="card"/>
          <p:cNvSpPr/>
          <p:nvPr/>
        </p:nvSpPr>
        <p:spPr>
          <a:xfrm>
            <a:off x="630936" y="3840480"/>
            <a:ext cx="5373472" cy="1691640"/>
          </a:xfrm>
          <a:prstGeom prst="roundRect">
            <a:avLst>
              <a:gd name="adj" fmla="val 4324"/>
            </a:avLst>
          </a:prstGeom>
          <a:solidFill>
            <a:schemeClr val="bg1"/>
          </a:solidFill>
          <a:ln w="12700">
            <a:solidFill>
              <a:schemeClr val="accent5"/>
            </a:solidFill>
            <a:prstDash val="solid"/>
          </a:ln>
        </p:spPr>
      </p:sp>
      <p:sp>
        <p:nvSpPr>
          <p:cNvPr id="12" name="Text 10"/>
          <p:cNvSpPr txBox="1"/>
          <p:nvPr/>
        </p:nvSpPr>
        <p:spPr>
          <a:xfrm>
            <a:off x="905256"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TOOLS &amp; SYSTEMS</a:t>
            </a:r>
            <a:endParaRPr lang="en-US" sz="1050" dirty="0"/>
          </a:p>
        </p:txBody>
      </p:sp>
      <p:sp>
        <p:nvSpPr>
          <p:cNvPr id="13" name="Text 11"/>
          <p:cNvSpPr txBox="1"/>
          <p:nvPr/>
        </p:nvSpPr>
        <p:spPr>
          <a:xfrm>
            <a:off x="905256"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Shopify (or a similar e-commerce platform), JustCall or a similar phone service, a company email account and a password manager.</a:t>
            </a:r>
            <a:endParaRPr lang="en-US" sz="1250" dirty="0"/>
          </a:p>
        </p:txBody>
      </p:sp>
      <p:sp>
        <p:nvSpPr>
          <p:cNvPr id="14" name="card"/>
          <p:cNvSpPr/>
          <p:nvPr/>
        </p:nvSpPr>
        <p:spPr>
          <a:xfrm>
            <a:off x="6187288" y="3840480"/>
            <a:ext cx="5373472" cy="1691640"/>
          </a:xfrm>
          <a:prstGeom prst="roundRect">
            <a:avLst>
              <a:gd name="adj" fmla="val 4324"/>
            </a:avLst>
          </a:prstGeom>
          <a:solidFill>
            <a:schemeClr val="bg1"/>
          </a:solidFill>
          <a:ln w="12700">
            <a:solidFill>
              <a:schemeClr val="accent5"/>
            </a:solidFill>
            <a:prstDash val="solid"/>
          </a:ln>
        </p:spPr>
      </p:sp>
      <p:sp>
        <p:nvSpPr>
          <p:cNvPr id="15" name="Text 13"/>
          <p:cNvSpPr txBox="1"/>
          <p:nvPr/>
        </p:nvSpPr>
        <p:spPr>
          <a:xfrm>
            <a:off x="6461608"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PERSONALITY &amp; CULTURE FIT</a:t>
            </a:r>
            <a:endParaRPr lang="en-US" sz="1050" dirty="0"/>
          </a:p>
        </p:txBody>
      </p:sp>
      <p:sp>
        <p:nvSpPr>
          <p:cNvPr id="16" name="Text 14"/>
          <p:cNvSpPr txBox="1"/>
          <p:nvPr/>
        </p:nvSpPr>
        <p:spPr>
          <a:xfrm>
            <a:off x="6461608"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Customer-focused, patient and accountable. Takes ownership rather than passing issues on, follows up until resolved, and works without constant supervision.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06  ·  DISCOVER</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Candidates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Shortlisted and shared on 18 September. Mariel was selected on 16 October. Click through to each full profile.</a:t>
            </a:r>
            <a:endParaRPr lang="en-US" sz="1300" dirty="0"/>
          </a:p>
        </p:txBody>
      </p:sp>
      <p:sp>
        <p:nvSpPr>
          <p:cNvPr id="5" name="card"/>
          <p:cNvSpPr/>
          <p:nvPr/>
        </p:nvSpPr>
        <p:spPr>
          <a:xfrm>
            <a:off x="630936" y="1965960"/>
            <a:ext cx="3521354" cy="3383280"/>
          </a:xfrm>
          <a:prstGeom prst="roundRect">
            <a:avLst>
              <a:gd name="adj" fmla="val 2162"/>
            </a:avLst>
          </a:prstGeom>
          <a:solidFill>
            <a:schemeClr val="bg1"/>
          </a:solidFill>
          <a:ln w="12700">
            <a:solidFill>
              <a:schemeClr val="accent5"/>
            </a:solidFill>
            <a:prstDash val="solid"/>
          </a:ln>
        </p:spPr>
      </p:sp>
      <p:sp>
        <p:nvSpPr>
          <p:cNvPr id="6" name="avatar Mariel"/>
          <p:cNvSpPr/>
          <p:nvPr/>
        </p:nvSpPr>
        <p:spPr>
          <a:xfrm>
            <a:off x="905256" y="2240280"/>
            <a:ext cx="594360" cy="594360"/>
          </a:xfrm>
          <a:prstGeom prst="ellipse">
            <a:avLst/>
          </a:prstGeom>
          <a:solidFill>
            <a:schemeClr val="accent4"/>
          </a:solidFill>
          <a:ln/>
        </p:spPr>
      </p:sp>
      <p:sp>
        <p:nvSpPr>
          <p:cNvPr id="7" name="Text 5"/>
          <p:cNvSpPr txBox="1"/>
          <p:nvPr/>
        </p:nvSpPr>
        <p:spPr>
          <a:xfrm>
            <a:off x="905256" y="224028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latin typeface="Cambria" pitchFamily="34" charset="0"/>
                <a:ea typeface="Cambria" pitchFamily="34" charset="-122"/>
                <a:cs typeface="Cambria" pitchFamily="34" charset="-120"/>
              </a:rPr>
              <a:t>M</a:t>
            </a:r>
            <a:endParaRPr lang="en-US" sz="2000" dirty="0"/>
          </a:p>
        </p:txBody>
      </p:sp>
      <p:sp>
        <p:nvSpPr>
          <p:cNvPr id="8" name="Text 6"/>
          <p:cNvSpPr txBox="1"/>
          <p:nvPr/>
        </p:nvSpPr>
        <p:spPr>
          <a:xfrm>
            <a:off x="1636776" y="2240280"/>
            <a:ext cx="2332634" cy="3200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Mariel</a:t>
            </a:r>
            <a:endParaRPr lang="en-US" sz="1600" dirty="0"/>
          </a:p>
        </p:txBody>
      </p:sp>
      <p:sp>
        <p:nvSpPr>
          <p:cNvPr id="9" name="Text 7"/>
          <p:cNvSpPr txBox="1"/>
          <p:nvPr/>
        </p:nvSpPr>
        <p:spPr>
          <a:xfrm>
            <a:off x="1636776" y="2560320"/>
            <a:ext cx="2332634" cy="274320"/>
          </a:xfrm>
          <a:prstGeom prst="rect">
            <a:avLst/>
          </a:prstGeom>
          <a:noFill/>
          <a:ln/>
        </p:spPr>
        <p:txBody>
          <a:bodyPr wrap="square" lIns="0" tIns="0" rIns="0" bIns="0" rtlCol="0" anchor="ctr"/>
          <a:lstStyle/>
          <a:p>
            <a:pPr indent="0" marL="0">
              <a:buNone/>
            </a:pPr>
            <a:r>
              <a:rPr lang="en-US" sz="1150" b="1" dirty="0">
                <a:solidFill>
                  <a:schemeClr val="accent1"/>
                </a:solidFill>
              </a:rPr>
              <a:t>Selected  ·  16 October</a:t>
            </a:r>
            <a:endParaRPr lang="en-US" sz="1150" dirty="0"/>
          </a:p>
        </p:txBody>
      </p:sp>
      <p:sp>
        <p:nvSpPr>
          <p:cNvPr id="10" name="Text 8"/>
          <p:cNvSpPr txBox="1"/>
          <p:nvPr/>
        </p:nvSpPr>
        <p:spPr>
          <a:xfrm>
            <a:off x="905256" y="3063240"/>
            <a:ext cx="2972714" cy="1554480"/>
          </a:xfrm>
          <a:prstGeom prst="rect">
            <a:avLst/>
          </a:prstGeom>
          <a:noFill/>
          <a:ln/>
        </p:spPr>
        <p:txBody>
          <a:bodyPr wrap="square" lIns="0" tIns="0" rIns="0" bIns="0" rtlCol="0" anchor="t"/>
          <a:lstStyle/>
          <a:p>
            <a:pPr indent="0" marL="0">
              <a:buNone/>
            </a:pPr>
            <a:r>
              <a:rPr lang="en-US" sz="1200" dirty="0">
                <a:solidFill>
                  <a:schemeClr val="accent3"/>
                </a:solidFill>
              </a:rPr>
              <a:t>8+ years in customer support, resolving complex enquiries and escalations. E-commerce order processing and returns, and coordinating with warehouse teams.</a:t>
            </a:r>
            <a:endParaRPr lang="en-US" sz="1200" dirty="0"/>
          </a:p>
        </p:txBody>
      </p:sp>
      <p:sp>
        <p:nvSpPr>
          <p:cNvPr id="11" name="Text 9"/>
          <p:cNvSpPr txBox="1"/>
          <p:nvPr/>
        </p:nvSpPr>
        <p:spPr>
          <a:xfrm>
            <a:off x="905256" y="4754880"/>
            <a:ext cx="2972714" cy="320040"/>
          </a:xfrm>
          <a:prstGeom prst="rect">
            <a:avLst/>
          </a:prstGeom>
          <a:noFill/>
          <a:ln/>
        </p:spPr>
        <p:txBody>
          <a:bodyPr wrap="square" lIns="0" tIns="0" rIns="0" bIns="0" rtlCol="0" anchor="ctr"/>
          <a:lstStyle/>
          <a:p>
            <a:pPr indent="0" marL="0">
              <a:buNone/>
            </a:pPr>
            <a:r>
              <a:rPr lang="en-US" sz="1200" b="1"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View full profile →</a:t>
            </a:r>
            <a:endParaRPr lang="en-US" sz="1200" dirty="0"/>
          </a:p>
        </p:txBody>
      </p:sp>
      <p:sp>
        <p:nvSpPr>
          <p:cNvPr id="12" name="card"/>
          <p:cNvSpPr/>
          <p:nvPr/>
        </p:nvSpPr>
        <p:spPr>
          <a:xfrm>
            <a:off x="4335170" y="1965960"/>
            <a:ext cx="3521354" cy="3383280"/>
          </a:xfrm>
          <a:prstGeom prst="roundRect">
            <a:avLst>
              <a:gd name="adj" fmla="val 2162"/>
            </a:avLst>
          </a:prstGeom>
          <a:solidFill>
            <a:schemeClr val="bg1"/>
          </a:solidFill>
          <a:ln w="12700">
            <a:solidFill>
              <a:schemeClr val="accent5"/>
            </a:solidFill>
            <a:prstDash val="solid"/>
          </a:ln>
        </p:spPr>
      </p:sp>
      <p:sp>
        <p:nvSpPr>
          <p:cNvPr id="13" name="avatar Grazielle"/>
          <p:cNvSpPr/>
          <p:nvPr/>
        </p:nvSpPr>
        <p:spPr>
          <a:xfrm>
            <a:off x="4609490" y="2240280"/>
            <a:ext cx="594360" cy="594360"/>
          </a:xfrm>
          <a:prstGeom prst="ellipse">
            <a:avLst/>
          </a:prstGeom>
          <a:solidFill>
            <a:schemeClr val="accent4"/>
          </a:solidFill>
          <a:ln/>
        </p:spPr>
      </p:sp>
      <p:sp>
        <p:nvSpPr>
          <p:cNvPr id="14" name="Text 12"/>
          <p:cNvSpPr txBox="1"/>
          <p:nvPr/>
        </p:nvSpPr>
        <p:spPr>
          <a:xfrm>
            <a:off x="4609490" y="224028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latin typeface="Cambria" pitchFamily="34" charset="0"/>
                <a:ea typeface="Cambria" pitchFamily="34" charset="-122"/>
                <a:cs typeface="Cambria" pitchFamily="34" charset="-120"/>
              </a:rPr>
              <a:t>G</a:t>
            </a:r>
            <a:endParaRPr lang="en-US" sz="2000" dirty="0"/>
          </a:p>
        </p:txBody>
      </p:sp>
      <p:sp>
        <p:nvSpPr>
          <p:cNvPr id="15" name="Text 13"/>
          <p:cNvSpPr txBox="1"/>
          <p:nvPr/>
        </p:nvSpPr>
        <p:spPr>
          <a:xfrm>
            <a:off x="5341010" y="2240280"/>
            <a:ext cx="2332634" cy="3200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Grazielle</a:t>
            </a:r>
            <a:endParaRPr lang="en-US" sz="1600" dirty="0"/>
          </a:p>
        </p:txBody>
      </p:sp>
      <p:sp>
        <p:nvSpPr>
          <p:cNvPr id="16" name="Text 14"/>
          <p:cNvSpPr txBox="1"/>
          <p:nvPr/>
        </p:nvSpPr>
        <p:spPr>
          <a:xfrm>
            <a:off x="5341010" y="2560320"/>
            <a:ext cx="2332634" cy="274320"/>
          </a:xfrm>
          <a:prstGeom prst="rect">
            <a:avLst/>
          </a:prstGeom>
          <a:noFill/>
          <a:ln/>
        </p:spPr>
        <p:txBody>
          <a:bodyPr wrap="square" lIns="0" tIns="0" rIns="0" bIns="0" rtlCol="0" anchor="ctr"/>
          <a:lstStyle/>
          <a:p>
            <a:pPr indent="0" marL="0">
              <a:buNone/>
            </a:pPr>
            <a:r>
              <a:rPr lang="en-US" sz="1150" b="1" dirty="0">
                <a:solidFill>
                  <a:schemeClr val="accent1"/>
                </a:solidFill>
              </a:rPr>
              <a:t>Shortlisted</a:t>
            </a:r>
            <a:endParaRPr lang="en-US" sz="1150" dirty="0"/>
          </a:p>
        </p:txBody>
      </p:sp>
      <p:sp>
        <p:nvSpPr>
          <p:cNvPr id="17" name="Text 15"/>
          <p:cNvSpPr txBox="1"/>
          <p:nvPr/>
        </p:nvSpPr>
        <p:spPr>
          <a:xfrm>
            <a:off x="4609490" y="3063240"/>
            <a:ext cx="2972714" cy="1554480"/>
          </a:xfrm>
          <a:prstGeom prst="rect">
            <a:avLst/>
          </a:prstGeom>
          <a:noFill/>
          <a:ln/>
        </p:spPr>
        <p:txBody>
          <a:bodyPr wrap="square" lIns="0" tIns="0" rIns="0" bIns="0" rtlCol="0" anchor="t"/>
          <a:lstStyle/>
          <a:p>
            <a:pPr indent="0" marL="0">
              <a:buNone/>
            </a:pPr>
            <a:r>
              <a:rPr lang="en-US" sz="1200" dirty="0">
                <a:solidFill>
                  <a:schemeClr val="accent3"/>
                </a:solidFill>
              </a:rPr>
              <a:t>E-commerce customer service and order processing: refunds, returns, replacements, payment enquiries and delivery concerns, with clear, timely updates.</a:t>
            </a:r>
            <a:endParaRPr lang="en-US" sz="1200" dirty="0"/>
          </a:p>
        </p:txBody>
      </p:sp>
      <p:sp>
        <p:nvSpPr>
          <p:cNvPr id="18" name="Text 16"/>
          <p:cNvSpPr txBox="1"/>
          <p:nvPr/>
        </p:nvSpPr>
        <p:spPr>
          <a:xfrm>
            <a:off x="4609490" y="4754880"/>
            <a:ext cx="2972714" cy="320040"/>
          </a:xfrm>
          <a:prstGeom prst="rect">
            <a:avLst/>
          </a:prstGeom>
          <a:noFill/>
          <a:ln/>
        </p:spPr>
        <p:txBody>
          <a:bodyPr wrap="square" lIns="0" tIns="0" rIns="0" bIns="0" rtlCol="0" anchor="ctr"/>
          <a:lstStyle/>
          <a:p>
            <a:pPr indent="0" marL="0">
              <a:buNone/>
            </a:pPr>
            <a:r>
              <a:rPr lang="en-US" sz="120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View full profile →</a:t>
            </a:r>
            <a:endParaRPr lang="en-US" sz="1200" dirty="0"/>
          </a:p>
        </p:txBody>
      </p:sp>
      <p:sp>
        <p:nvSpPr>
          <p:cNvPr id="19" name="card"/>
          <p:cNvSpPr/>
          <p:nvPr/>
        </p:nvSpPr>
        <p:spPr>
          <a:xfrm>
            <a:off x="8039405" y="1965960"/>
            <a:ext cx="3521354" cy="3383280"/>
          </a:xfrm>
          <a:prstGeom prst="roundRect">
            <a:avLst>
              <a:gd name="adj" fmla="val 2162"/>
            </a:avLst>
          </a:prstGeom>
          <a:solidFill>
            <a:schemeClr val="bg1"/>
          </a:solidFill>
          <a:ln w="12700">
            <a:solidFill>
              <a:schemeClr val="accent5"/>
            </a:solidFill>
            <a:prstDash val="solid"/>
          </a:ln>
        </p:spPr>
      </p:sp>
      <p:sp>
        <p:nvSpPr>
          <p:cNvPr id="20" name="avatar Ysabel"/>
          <p:cNvSpPr/>
          <p:nvPr/>
        </p:nvSpPr>
        <p:spPr>
          <a:xfrm>
            <a:off x="8313725" y="2240280"/>
            <a:ext cx="594360" cy="594360"/>
          </a:xfrm>
          <a:prstGeom prst="ellipse">
            <a:avLst/>
          </a:prstGeom>
          <a:solidFill>
            <a:schemeClr val="accent4"/>
          </a:solidFill>
          <a:ln/>
        </p:spPr>
      </p:sp>
      <p:sp>
        <p:nvSpPr>
          <p:cNvPr id="21" name="Text 19"/>
          <p:cNvSpPr txBox="1"/>
          <p:nvPr/>
        </p:nvSpPr>
        <p:spPr>
          <a:xfrm>
            <a:off x="8313725" y="224028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latin typeface="Cambria" pitchFamily="34" charset="0"/>
                <a:ea typeface="Cambria" pitchFamily="34" charset="-122"/>
                <a:cs typeface="Cambria" pitchFamily="34" charset="-120"/>
              </a:rPr>
              <a:t>Y</a:t>
            </a:r>
            <a:endParaRPr lang="en-US" sz="2000" dirty="0"/>
          </a:p>
        </p:txBody>
      </p:sp>
      <p:sp>
        <p:nvSpPr>
          <p:cNvPr id="22" name="Text 20"/>
          <p:cNvSpPr txBox="1"/>
          <p:nvPr/>
        </p:nvSpPr>
        <p:spPr>
          <a:xfrm>
            <a:off x="9045245" y="2240280"/>
            <a:ext cx="2332634" cy="3200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Ysabel</a:t>
            </a:r>
            <a:endParaRPr lang="en-US" sz="1600" dirty="0"/>
          </a:p>
        </p:txBody>
      </p:sp>
      <p:sp>
        <p:nvSpPr>
          <p:cNvPr id="23" name="Text 21"/>
          <p:cNvSpPr txBox="1"/>
          <p:nvPr/>
        </p:nvSpPr>
        <p:spPr>
          <a:xfrm>
            <a:off x="9045245" y="2560320"/>
            <a:ext cx="2332634" cy="274320"/>
          </a:xfrm>
          <a:prstGeom prst="rect">
            <a:avLst/>
          </a:prstGeom>
          <a:noFill/>
          <a:ln/>
        </p:spPr>
        <p:txBody>
          <a:bodyPr wrap="square" lIns="0" tIns="0" rIns="0" bIns="0" rtlCol="0" anchor="ctr"/>
          <a:lstStyle/>
          <a:p>
            <a:pPr indent="0" marL="0">
              <a:buNone/>
            </a:pPr>
            <a:r>
              <a:rPr lang="en-US" sz="1150" b="1" dirty="0">
                <a:solidFill>
                  <a:schemeClr val="accent1"/>
                </a:solidFill>
              </a:rPr>
              <a:t>Shortlisted</a:t>
            </a:r>
            <a:endParaRPr lang="en-US" sz="1150" dirty="0"/>
          </a:p>
        </p:txBody>
      </p:sp>
      <p:sp>
        <p:nvSpPr>
          <p:cNvPr id="24" name="Text 22"/>
          <p:cNvSpPr txBox="1"/>
          <p:nvPr/>
        </p:nvSpPr>
        <p:spPr>
          <a:xfrm>
            <a:off x="8313725" y="3063240"/>
            <a:ext cx="2972714" cy="1554480"/>
          </a:xfrm>
          <a:prstGeom prst="rect">
            <a:avLst/>
          </a:prstGeom>
          <a:noFill/>
          <a:ln/>
        </p:spPr>
        <p:txBody>
          <a:bodyPr wrap="square" lIns="0" tIns="0" rIns="0" bIns="0" rtlCol="0" anchor="t"/>
          <a:lstStyle/>
          <a:p>
            <a:pPr indent="0" marL="0">
              <a:buNone/>
            </a:pPr>
            <a:r>
              <a:rPr lang="en-US" sz="1200" dirty="0">
                <a:solidFill>
                  <a:schemeClr val="accent3"/>
                </a:solidFill>
              </a:rPr>
              <a:t>E-commerce operations and customer support for an Australian retailer: orders, deliveries, returns and refunds across channels, plus Shopify listings.</a:t>
            </a:r>
            <a:endParaRPr lang="en-US" sz="1200" dirty="0"/>
          </a:p>
        </p:txBody>
      </p:sp>
      <p:sp>
        <p:nvSpPr>
          <p:cNvPr id="25" name="Text 23"/>
          <p:cNvSpPr txBox="1"/>
          <p:nvPr/>
        </p:nvSpPr>
        <p:spPr>
          <a:xfrm>
            <a:off x="8313725" y="4754880"/>
            <a:ext cx="2972714" cy="320040"/>
          </a:xfrm>
          <a:prstGeom prst="rect">
            <a:avLst/>
          </a:prstGeom>
          <a:noFill/>
          <a:ln/>
        </p:spPr>
        <p:txBody>
          <a:bodyPr wrap="square" lIns="0" tIns="0" rIns="0" bIns="0" rtlCol="0" anchor="ctr"/>
          <a:lstStyle/>
          <a:p>
            <a:pPr indent="0" marL="0">
              <a:buNone/>
            </a:pPr>
            <a:r>
              <a:rPr lang="en-US" sz="1200" b="1"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View full profile →</a:t>
            </a:r>
            <a:endParaRPr lang="en-US" sz="1200" dirty="0"/>
          </a:p>
        </p:txBody>
      </p:sp>
      <p:sp>
        <p:nvSpPr>
          <p:cNvPr id="26" name="Text 24"/>
          <p:cNvSpPr txBox="1"/>
          <p:nvPr/>
        </p:nvSpPr>
        <p:spPr>
          <a:xfrm>
            <a:off x="630936" y="5577840"/>
            <a:ext cx="10929823" cy="320040"/>
          </a:xfrm>
          <a:prstGeom prst="rect">
            <a:avLst/>
          </a:prstGeom>
          <a:noFill/>
          <a:ln/>
        </p:spPr>
        <p:txBody>
          <a:bodyPr wrap="square" lIns="0" tIns="0" rIns="0" bIns="0" rtlCol="0" anchor="ctr"/>
          <a:lstStyle/>
          <a:p>
            <a:pPr indent="0" marL="0">
              <a:buNone/>
            </a:pPr>
            <a:r>
              <a:rPr lang="en-US" sz="1150" i="1" dirty="0">
                <a:solidFill>
                  <a:schemeClr val="accent3"/>
                </a:solidFill>
              </a:rPr>
              <a:t>Next: confirm Mariel’s start date and work through the Day 1 setup in Part B.</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07</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Investment Overview</a:t>
            </a:r>
            <a:endParaRPr lang="en-US" sz="3000" dirty="0"/>
          </a:p>
        </p:txBody>
      </p:sp>
      <p:sp>
        <p:nvSpPr>
          <p:cNvPr id="4" name="card"/>
          <p:cNvSpPr/>
          <p:nvPr/>
        </p:nvSpPr>
        <p:spPr>
          <a:xfrm>
            <a:off x="630936" y="1508760"/>
            <a:ext cx="5327752" cy="1737360"/>
          </a:xfrm>
          <a:prstGeom prst="roundRect">
            <a:avLst>
              <a:gd name="adj" fmla="val 4211"/>
            </a:avLst>
          </a:prstGeom>
          <a:solidFill>
            <a:schemeClr val="bg1"/>
          </a:solidFill>
          <a:ln w="12700">
            <a:solidFill>
              <a:schemeClr val="accent1"/>
            </a:solidFill>
            <a:prstDash val="solid"/>
          </a:ln>
        </p:spPr>
      </p:sp>
      <p:sp>
        <p:nvSpPr>
          <p:cNvPr id="5" name="Text 3"/>
          <p:cNvSpPr txBox="1"/>
          <p:nvPr/>
        </p:nvSpPr>
        <p:spPr>
          <a:xfrm>
            <a:off x="950976" y="173736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FULL-TIME  ·  THIS ROLE</a:t>
            </a:r>
            <a:endParaRPr lang="en-US" sz="1050" dirty="0"/>
          </a:p>
        </p:txBody>
      </p:sp>
      <p:sp>
        <p:nvSpPr>
          <p:cNvPr id="6" name="Text 4"/>
          <p:cNvSpPr txBox="1"/>
          <p:nvPr/>
        </p:nvSpPr>
        <p:spPr>
          <a:xfrm>
            <a:off x="950976" y="2057400"/>
            <a:ext cx="4687672"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$2,500 – $3,000</a:t>
            </a:r>
            <a:endParaRPr lang="en-US" sz="3200" dirty="0"/>
          </a:p>
        </p:txBody>
      </p:sp>
      <p:sp>
        <p:nvSpPr>
          <p:cNvPr id="7" name="Text 5"/>
          <p:cNvSpPr txBox="1"/>
          <p:nvPr/>
        </p:nvSpPr>
        <p:spPr>
          <a:xfrm>
            <a:off x="950976" y="2697480"/>
            <a:ext cx="4687672" cy="320040"/>
          </a:xfrm>
          <a:prstGeom prst="rect">
            <a:avLst/>
          </a:prstGeom>
          <a:noFill/>
          <a:ln/>
        </p:spPr>
        <p:txBody>
          <a:bodyPr wrap="square" lIns="0" tIns="0" rIns="0" bIns="0" rtlCol="0" anchor="ctr"/>
          <a:lstStyle/>
          <a:p>
            <a:pPr indent="0" marL="0">
              <a:buNone/>
            </a:pPr>
            <a:r>
              <a:rPr lang="en-US" sz="1250" dirty="0">
                <a:solidFill>
                  <a:schemeClr val="accent3"/>
                </a:solidFill>
              </a:rPr>
              <a:t>AUD / month excl. GST  ·  40 hrs/week</a:t>
            </a:r>
            <a:endParaRPr lang="en-US" sz="1250" dirty="0"/>
          </a:p>
        </p:txBody>
      </p:sp>
      <p:sp>
        <p:nvSpPr>
          <p:cNvPr id="8" name="card"/>
          <p:cNvSpPr/>
          <p:nvPr/>
        </p:nvSpPr>
        <p:spPr>
          <a:xfrm>
            <a:off x="6233008" y="1508760"/>
            <a:ext cx="5327752" cy="1737360"/>
          </a:xfrm>
          <a:prstGeom prst="roundRect">
            <a:avLst>
              <a:gd name="adj" fmla="val 4211"/>
            </a:avLst>
          </a:prstGeom>
          <a:solidFill>
            <a:schemeClr val="bg2"/>
          </a:solidFill>
          <a:ln/>
        </p:spPr>
      </p:sp>
      <p:sp>
        <p:nvSpPr>
          <p:cNvPr id="9" name="Text 7"/>
          <p:cNvSpPr txBox="1"/>
          <p:nvPr/>
        </p:nvSpPr>
        <p:spPr>
          <a:xfrm>
            <a:off x="6553048" y="173736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DEPOSIT  ·  PAID 5 SEPTEMBER</a:t>
            </a:r>
            <a:endParaRPr lang="en-US" sz="1050" dirty="0"/>
          </a:p>
        </p:txBody>
      </p:sp>
      <p:sp>
        <p:nvSpPr>
          <p:cNvPr id="10" name="Text 8"/>
          <p:cNvSpPr txBox="1"/>
          <p:nvPr/>
        </p:nvSpPr>
        <p:spPr>
          <a:xfrm>
            <a:off x="6553048" y="2057400"/>
            <a:ext cx="4687672" cy="6400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$500</a:t>
            </a:r>
            <a:endParaRPr lang="en-US" sz="3200" dirty="0"/>
          </a:p>
        </p:txBody>
      </p:sp>
      <p:sp>
        <p:nvSpPr>
          <p:cNvPr id="11" name="Text 9"/>
          <p:cNvSpPr txBox="1"/>
          <p:nvPr/>
        </p:nvSpPr>
        <p:spPr>
          <a:xfrm>
            <a:off x="6553048" y="2697480"/>
            <a:ext cx="4687672" cy="320040"/>
          </a:xfrm>
          <a:prstGeom prst="rect">
            <a:avLst/>
          </a:prstGeom>
          <a:noFill/>
          <a:ln/>
        </p:spPr>
        <p:txBody>
          <a:bodyPr wrap="square" lIns="0" tIns="0" rIns="0" bIns="0" rtlCol="0" anchor="ctr"/>
          <a:lstStyle/>
          <a:p>
            <a:pPr indent="0" marL="0">
              <a:buNone/>
            </a:pPr>
            <a:r>
              <a:rPr lang="en-US" sz="1250" dirty="0">
                <a:solidFill>
                  <a:schemeClr val="accent3"/>
                </a:solidFill>
              </a:rPr>
              <a:t>Refundable  ·  one per role</a:t>
            </a:r>
            <a:endParaRPr lang="en-US" sz="1250" dirty="0"/>
          </a:p>
        </p:txBody>
      </p:sp>
      <p:sp>
        <p:nvSpPr>
          <p:cNvPr id="12" name="card"/>
          <p:cNvSpPr/>
          <p:nvPr/>
        </p:nvSpPr>
        <p:spPr>
          <a:xfrm>
            <a:off x="630936" y="3474720"/>
            <a:ext cx="10929823" cy="1051560"/>
          </a:xfrm>
          <a:prstGeom prst="roundRect">
            <a:avLst>
              <a:gd name="adj" fmla="val 6957"/>
            </a:avLst>
          </a:prstGeom>
          <a:solidFill>
            <a:schemeClr val="bg2"/>
          </a:solidFill>
          <a:ln/>
        </p:spPr>
      </p:sp>
      <p:sp>
        <p:nvSpPr>
          <p:cNvPr id="13" name="Text 11"/>
          <p:cNvSpPr txBox="1"/>
          <p:nvPr/>
        </p:nvSpPr>
        <p:spPr>
          <a:xfrm>
            <a:off x="950976" y="3474720"/>
            <a:ext cx="10289743" cy="1051560"/>
          </a:xfrm>
          <a:prstGeom prst="rect">
            <a:avLst/>
          </a:prstGeom>
          <a:noFill/>
          <a:ln/>
        </p:spPr>
        <p:txBody>
          <a:bodyPr wrap="square" lIns="0" tIns="0" rIns="0" bIns="0" rtlCol="0" anchor="ctr"/>
          <a:lstStyle/>
          <a:p>
            <a:pPr indent="0" marL="0">
              <a:buNone/>
            </a:pPr>
            <a:r>
              <a:rPr lang="en-US" sz="1250" b="1" dirty="0">
                <a:solidFill>
                  <a:schemeClr val="tx1"/>
                </a:solidFill>
              </a:rPr>
              <a:t>Breakdown: </a:t>
            </a:r>
            <a:pPr indent="0" marL="0">
              <a:buNone/>
            </a:pPr>
            <a:r>
              <a:rPr lang="en-US" sz="1250" dirty="0">
                <a:solidFill>
                  <a:schemeClr val="accent3"/>
                </a:solidFill>
              </a:rPr>
              <a:t>the monthly fee covers the Outsourcing Angel agency fee plus your Specialist’s hourly rate. Experienced Angels propose their own rate, which you see before you choose, and it’s paid in full with nothing cut from what they ask for.</a:t>
            </a:r>
            <a:endParaRPr lang="en-US" sz="1250" dirty="0"/>
          </a:p>
        </p:txBody>
      </p:sp>
      <p:sp>
        <p:nvSpPr>
          <p:cNvPr id="14" name="card"/>
          <p:cNvSpPr/>
          <p:nvPr/>
        </p:nvSpPr>
        <p:spPr>
          <a:xfrm>
            <a:off x="630936" y="4709160"/>
            <a:ext cx="10929823" cy="1051560"/>
          </a:xfrm>
          <a:prstGeom prst="roundRect">
            <a:avLst>
              <a:gd name="adj" fmla="val 6957"/>
            </a:avLst>
          </a:prstGeom>
          <a:solidFill>
            <a:schemeClr val="accent4"/>
          </a:solidFill>
          <a:ln/>
        </p:spPr>
      </p:sp>
      <p:sp>
        <p:nvSpPr>
          <p:cNvPr id="15" name="Text 13"/>
          <p:cNvSpPr txBox="1"/>
          <p:nvPr/>
        </p:nvSpPr>
        <p:spPr>
          <a:xfrm>
            <a:off x="950976" y="4709160"/>
            <a:ext cx="10289743" cy="1051560"/>
          </a:xfrm>
          <a:prstGeom prst="rect">
            <a:avLst/>
          </a:prstGeom>
          <a:noFill/>
          <a:ln/>
        </p:spPr>
        <p:txBody>
          <a:bodyPr wrap="square" lIns="0" tIns="0" rIns="0" bIns="0" rtlCol="0" anchor="ctr"/>
          <a:lstStyle/>
          <a:p>
            <a:pPr indent="0" marL="0">
              <a:buNone/>
            </a:pPr>
            <a:r>
              <a:rPr lang="en-US" sz="1250" b="1" dirty="0">
                <a:solidFill>
                  <a:schemeClr val="accent1"/>
                </a:solidFill>
              </a:rPr>
              <a:t>Terms discussed: </a:t>
            </a:r>
            <a:pPr indent="0" marL="0">
              <a:buNone/>
            </a:pPr>
            <a:r>
              <a:rPr lang="en-US" sz="1250" dirty="0">
                <a:solidFill>
                  <a:schemeClr val="tx1"/>
                </a:solidFill>
              </a:rPr>
              <a:t>3-month minimum, then month-to-month with 30-day notice · free replacement any time, with a 1-week trial · buyout options, priced by tenure · Arova provides the phone service (e.g. JustCall); your Specialist has their own hardware.</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08</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Next Steps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We check in at every stage. If something isn’t working, we adjust. If it’s working, we build on it.</a:t>
            </a:r>
            <a:endParaRPr lang="en-US" sz="1300" dirty="0"/>
          </a:p>
        </p:txBody>
      </p:sp>
      <p:sp>
        <p:nvSpPr>
          <p:cNvPr id="5" name="card"/>
          <p:cNvSpPr/>
          <p:nvPr/>
        </p:nvSpPr>
        <p:spPr>
          <a:xfrm>
            <a:off x="630936" y="2011680"/>
            <a:ext cx="10929823" cy="640080"/>
          </a:xfrm>
          <a:prstGeom prst="roundRect">
            <a:avLst>
              <a:gd name="adj" fmla="val 11429"/>
            </a:avLst>
          </a:prstGeom>
          <a:solidFill>
            <a:schemeClr val="bg1"/>
          </a:solidFill>
          <a:ln w="12700">
            <a:solidFill>
              <a:schemeClr val="accent5"/>
            </a:solidFill>
            <a:prstDash val="solid"/>
          </a:ln>
        </p:spPr>
      </p:sp>
      <p:sp>
        <p:nvSpPr>
          <p:cNvPr id="6" name="number 1"/>
          <p:cNvSpPr/>
          <p:nvPr/>
        </p:nvSpPr>
        <p:spPr>
          <a:xfrm>
            <a:off x="859536" y="2139696"/>
            <a:ext cx="384048" cy="384048"/>
          </a:xfrm>
          <a:prstGeom prst="ellipse">
            <a:avLst/>
          </a:prstGeom>
          <a:solidFill>
            <a:schemeClr val="accent1"/>
          </a:solidFill>
          <a:ln/>
        </p:spPr>
      </p:sp>
      <p:sp>
        <p:nvSpPr>
          <p:cNvPr id="7" name="Text 5"/>
          <p:cNvSpPr txBox="1"/>
          <p:nvPr/>
        </p:nvSpPr>
        <p:spPr>
          <a:xfrm>
            <a:off x="859536" y="21396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453896" y="2011680"/>
            <a:ext cx="9832543" cy="640080"/>
          </a:xfrm>
          <a:prstGeom prst="rect">
            <a:avLst/>
          </a:prstGeom>
          <a:noFill/>
          <a:ln/>
        </p:spPr>
        <p:txBody>
          <a:bodyPr wrap="square" lIns="0" tIns="0" rIns="0" bIns="0" rtlCol="0" anchor="ctr"/>
          <a:lstStyle/>
          <a:p>
            <a:pPr indent="0" marL="0">
              <a:buNone/>
            </a:pPr>
            <a:r>
              <a:rPr lang="en-US" sz="1400" dirty="0">
                <a:solidFill>
                  <a:schemeClr val="tx1"/>
                </a:solidFill>
              </a:rPr>
              <a:t>Deposits paid (5 September) and candidate profiles shared (18 September)</a:t>
            </a:r>
            <a:endParaRPr lang="en-US" sz="1400" dirty="0"/>
          </a:p>
        </p:txBody>
      </p:sp>
      <p:sp>
        <p:nvSpPr>
          <p:cNvPr id="9" name="card"/>
          <p:cNvSpPr/>
          <p:nvPr/>
        </p:nvSpPr>
        <p:spPr>
          <a:xfrm>
            <a:off x="630936" y="2788920"/>
            <a:ext cx="10929823" cy="640080"/>
          </a:xfrm>
          <a:prstGeom prst="roundRect">
            <a:avLst>
              <a:gd name="adj" fmla="val 11429"/>
            </a:avLst>
          </a:prstGeom>
          <a:solidFill>
            <a:schemeClr val="bg1"/>
          </a:solidFill>
          <a:ln w="12700">
            <a:solidFill>
              <a:schemeClr val="accent5"/>
            </a:solidFill>
            <a:prstDash val="solid"/>
          </a:ln>
        </p:spPr>
      </p:sp>
      <p:sp>
        <p:nvSpPr>
          <p:cNvPr id="10" name="number 2"/>
          <p:cNvSpPr/>
          <p:nvPr/>
        </p:nvSpPr>
        <p:spPr>
          <a:xfrm>
            <a:off x="859536" y="2916936"/>
            <a:ext cx="384048" cy="384048"/>
          </a:xfrm>
          <a:prstGeom prst="ellipse">
            <a:avLst/>
          </a:prstGeom>
          <a:solidFill>
            <a:schemeClr val="accent1"/>
          </a:solidFill>
          <a:ln/>
        </p:spPr>
      </p:sp>
      <p:sp>
        <p:nvSpPr>
          <p:cNvPr id="11" name="Text 9"/>
          <p:cNvSpPr txBox="1"/>
          <p:nvPr/>
        </p:nvSpPr>
        <p:spPr>
          <a:xfrm>
            <a:off x="859536" y="29169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1453896" y="2788920"/>
            <a:ext cx="9832543" cy="640080"/>
          </a:xfrm>
          <a:prstGeom prst="rect">
            <a:avLst/>
          </a:prstGeom>
          <a:noFill/>
          <a:ln/>
        </p:spPr>
        <p:txBody>
          <a:bodyPr wrap="square" lIns="0" tIns="0" rIns="0" bIns="0" rtlCol="0" anchor="ctr"/>
          <a:lstStyle/>
          <a:p>
            <a:pPr indent="0" marL="0">
              <a:buNone/>
            </a:pPr>
            <a:r>
              <a:rPr lang="en-US" sz="1400" dirty="0">
                <a:solidFill>
                  <a:schemeClr val="tx1"/>
                </a:solidFill>
              </a:rPr>
              <a:t>Rob and Rachel interview and select Mariel (16 October)</a:t>
            </a:r>
            <a:endParaRPr lang="en-US" sz="1400" dirty="0"/>
          </a:p>
        </p:txBody>
      </p:sp>
      <p:sp>
        <p:nvSpPr>
          <p:cNvPr id="13" name="card"/>
          <p:cNvSpPr/>
          <p:nvPr/>
        </p:nvSpPr>
        <p:spPr>
          <a:xfrm>
            <a:off x="630936" y="3566160"/>
            <a:ext cx="10929823" cy="640080"/>
          </a:xfrm>
          <a:prstGeom prst="roundRect">
            <a:avLst>
              <a:gd name="adj" fmla="val 11429"/>
            </a:avLst>
          </a:prstGeom>
          <a:solidFill>
            <a:schemeClr val="bg1"/>
          </a:solidFill>
          <a:ln w="12700">
            <a:solidFill>
              <a:schemeClr val="accent5"/>
            </a:solidFill>
            <a:prstDash val="solid"/>
          </a:ln>
        </p:spPr>
      </p:sp>
      <p:sp>
        <p:nvSpPr>
          <p:cNvPr id="14" name="number 3"/>
          <p:cNvSpPr/>
          <p:nvPr/>
        </p:nvSpPr>
        <p:spPr>
          <a:xfrm>
            <a:off x="859536" y="3694176"/>
            <a:ext cx="384048" cy="384048"/>
          </a:xfrm>
          <a:prstGeom prst="ellipse">
            <a:avLst/>
          </a:prstGeom>
          <a:solidFill>
            <a:schemeClr val="accent1"/>
          </a:solidFill>
          <a:ln/>
        </p:spPr>
      </p:sp>
      <p:sp>
        <p:nvSpPr>
          <p:cNvPr id="15" name="Text 13"/>
          <p:cNvSpPr txBox="1"/>
          <p:nvPr/>
        </p:nvSpPr>
        <p:spPr>
          <a:xfrm>
            <a:off x="859536" y="36941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1453896" y="3566160"/>
            <a:ext cx="9832543" cy="640080"/>
          </a:xfrm>
          <a:prstGeom prst="rect">
            <a:avLst/>
          </a:prstGeom>
          <a:noFill/>
          <a:ln/>
        </p:spPr>
        <p:txBody>
          <a:bodyPr wrap="square" lIns="0" tIns="0" rIns="0" bIns="0" rtlCol="0" anchor="ctr"/>
          <a:lstStyle/>
          <a:p>
            <a:pPr indent="0" marL="0">
              <a:buNone/>
            </a:pPr>
            <a:r>
              <a:rPr lang="en-US" sz="1400" dirty="0">
                <a:solidFill>
                  <a:schemeClr val="tx1"/>
                </a:solidFill>
              </a:rPr>
              <a:t>Confirm the start date and complete the Day 1 setup checklist</a:t>
            </a:r>
            <a:endParaRPr lang="en-US" sz="1400" dirty="0"/>
          </a:p>
        </p:txBody>
      </p:sp>
      <p:sp>
        <p:nvSpPr>
          <p:cNvPr id="17" name="card"/>
          <p:cNvSpPr/>
          <p:nvPr/>
        </p:nvSpPr>
        <p:spPr>
          <a:xfrm>
            <a:off x="630936" y="4343400"/>
            <a:ext cx="10929823" cy="640080"/>
          </a:xfrm>
          <a:prstGeom prst="roundRect">
            <a:avLst>
              <a:gd name="adj" fmla="val 11429"/>
            </a:avLst>
          </a:prstGeom>
          <a:solidFill>
            <a:schemeClr val="bg1"/>
          </a:solidFill>
          <a:ln w="12700">
            <a:solidFill>
              <a:schemeClr val="accent5"/>
            </a:solidFill>
            <a:prstDash val="solid"/>
          </a:ln>
        </p:spPr>
      </p:sp>
      <p:sp>
        <p:nvSpPr>
          <p:cNvPr id="18" name="number 4"/>
          <p:cNvSpPr/>
          <p:nvPr/>
        </p:nvSpPr>
        <p:spPr>
          <a:xfrm>
            <a:off x="859536" y="4471416"/>
            <a:ext cx="384048" cy="384048"/>
          </a:xfrm>
          <a:prstGeom prst="ellipse">
            <a:avLst/>
          </a:prstGeom>
          <a:solidFill>
            <a:schemeClr val="accent1"/>
          </a:solidFill>
          <a:ln/>
        </p:spPr>
      </p:sp>
      <p:sp>
        <p:nvSpPr>
          <p:cNvPr id="19" name="Text 17"/>
          <p:cNvSpPr txBox="1"/>
          <p:nvPr/>
        </p:nvSpPr>
        <p:spPr>
          <a:xfrm>
            <a:off x="859536" y="44714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Text 18"/>
          <p:cNvSpPr txBox="1"/>
          <p:nvPr/>
        </p:nvSpPr>
        <p:spPr>
          <a:xfrm>
            <a:off x="1453896" y="4343400"/>
            <a:ext cx="9832543" cy="640080"/>
          </a:xfrm>
          <a:prstGeom prst="rect">
            <a:avLst/>
          </a:prstGeom>
          <a:noFill/>
          <a:ln/>
        </p:spPr>
        <p:txBody>
          <a:bodyPr wrap="square" lIns="0" tIns="0" rIns="0" bIns="0" rtlCol="0" anchor="ctr"/>
          <a:lstStyle/>
          <a:p>
            <a:pPr indent="0" marL="0">
              <a:buNone/>
            </a:pPr>
            <a:r>
              <a:rPr lang="en-US" sz="1400" b="1" dirty="0">
                <a:solidFill>
                  <a:schemeClr val="tx1"/>
                </a:solidFill>
              </a:rPr>
              <a:t>Kick-off: confirm KPIs and escalation rules, and start Part B together</a:t>
            </a:r>
            <a:endParaRPr lang="en-US" sz="1400" dirty="0"/>
          </a:p>
        </p:txBody>
      </p:sp>
      <p:sp>
        <p:nvSpPr>
          <p:cNvPr id="21" name="callout"/>
          <p:cNvSpPr/>
          <p:nvPr/>
        </p:nvSpPr>
        <p:spPr>
          <a:xfrm>
            <a:off x="630936" y="5257800"/>
            <a:ext cx="10929823" cy="548640"/>
          </a:xfrm>
          <a:prstGeom prst="roundRect">
            <a:avLst>
              <a:gd name="adj" fmla="val 13333"/>
            </a:avLst>
          </a:prstGeom>
          <a:solidFill>
            <a:schemeClr val="accent4"/>
          </a:solidFill>
          <a:ln/>
        </p:spPr>
      </p:sp>
      <p:sp>
        <p:nvSpPr>
          <p:cNvPr id="22" name="Text 20"/>
          <p:cNvSpPr txBox="1"/>
          <p:nvPr/>
        </p:nvSpPr>
        <p:spPr>
          <a:xfrm>
            <a:off x="859536" y="525780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From kick-off onwards, Part B becomes your working plan.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PART B</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Your Freedom Playbook</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The part you keep. Use it at every check-in with your Specialist and your Outsourcing Angel team, from Day 1 to Month 12 and beyond.</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1 OF 4  ·  FIRST-TIME CLIENTS</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Get Ready for Day 1</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Hiring your first offshore team member? These four pages help you start strong. Worked with a VA before? Skim them.</a:t>
            </a:r>
            <a:endParaRPr lang="en-US" sz="1300" dirty="0"/>
          </a:p>
        </p:txBody>
      </p:sp>
      <p:sp>
        <p:nvSpPr>
          <p:cNvPr id="5" name="card"/>
          <p:cNvSpPr/>
          <p:nvPr/>
        </p:nvSpPr>
        <p:spPr>
          <a:xfrm>
            <a:off x="630936" y="1965960"/>
            <a:ext cx="5669280" cy="4160520"/>
          </a:xfrm>
          <a:prstGeom prst="roundRect">
            <a:avLst>
              <a:gd name="adj" fmla="val 1758"/>
            </a:avLst>
          </a:prstGeom>
          <a:solidFill>
            <a:schemeClr val="bg1"/>
          </a:solidFill>
          <a:ln w="12700">
            <a:solidFill>
              <a:schemeClr val="accent5"/>
            </a:solidFill>
            <a:prstDash val="solid"/>
          </a:ln>
        </p:spPr>
      </p:sp>
      <p:sp>
        <p:nvSpPr>
          <p:cNvPr id="6" name="Text 4"/>
          <p:cNvSpPr txBox="1"/>
          <p:nvPr/>
        </p:nvSpPr>
        <p:spPr>
          <a:xfrm>
            <a:off x="905256" y="2148840"/>
            <a:ext cx="512064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SETUP CHECKLIST: BEFORE DAY 1</a:t>
            </a:r>
            <a:endParaRPr lang="en-US" sz="1050" dirty="0"/>
          </a:p>
        </p:txBody>
      </p:sp>
      <p:sp>
        <p:nvSpPr>
          <p:cNvPr id="7" name="Text 5"/>
          <p:cNvSpPr txBox="1"/>
          <p:nvPr/>
        </p:nvSpPr>
        <p:spPr>
          <a:xfrm>
            <a:off x="905256" y="2542032"/>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8" name="Text 6"/>
          <p:cNvSpPr txBox="1"/>
          <p:nvPr/>
        </p:nvSpPr>
        <p:spPr>
          <a:xfrm>
            <a:off x="1316736" y="2542032"/>
            <a:ext cx="4754880" cy="365760"/>
          </a:xfrm>
          <a:prstGeom prst="rect">
            <a:avLst/>
          </a:prstGeom>
          <a:noFill/>
          <a:ln/>
        </p:spPr>
        <p:txBody>
          <a:bodyPr wrap="square" lIns="0" tIns="0" rIns="0" bIns="0" rtlCol="0" anchor="ctr"/>
          <a:lstStyle/>
          <a:p>
            <a:pPr indent="0" marL="0">
              <a:buNone/>
            </a:pPr>
            <a:r>
              <a:rPr lang="en-US" sz="1300" dirty="0">
                <a:solidFill>
                  <a:schemeClr val="tx1"/>
                </a:solidFill>
              </a:rPr>
              <a:t>Company work email set up for your Specialist</a:t>
            </a:r>
            <a:endParaRPr lang="en-US" sz="1300" dirty="0"/>
          </a:p>
        </p:txBody>
      </p:sp>
      <p:sp>
        <p:nvSpPr>
          <p:cNvPr id="9" name="Text 7"/>
          <p:cNvSpPr txBox="1"/>
          <p:nvPr/>
        </p:nvSpPr>
        <p:spPr>
          <a:xfrm>
            <a:off x="905256" y="3035808"/>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0" name="Text 8"/>
          <p:cNvSpPr txBox="1"/>
          <p:nvPr/>
        </p:nvSpPr>
        <p:spPr>
          <a:xfrm>
            <a:off x="1316736" y="3035808"/>
            <a:ext cx="4754880" cy="365760"/>
          </a:xfrm>
          <a:prstGeom prst="rect">
            <a:avLst/>
          </a:prstGeom>
          <a:noFill/>
          <a:ln/>
        </p:spPr>
        <p:txBody>
          <a:bodyPr wrap="square" lIns="0" tIns="0" rIns="0" bIns="0" rtlCol="0" anchor="ctr"/>
          <a:lstStyle/>
          <a:p>
            <a:pPr indent="0" marL="0">
              <a:buNone/>
            </a:pPr>
            <a:r>
              <a:rPr lang="en-US" sz="1300" dirty="0">
                <a:solidFill>
                  <a:schemeClr val="tx1"/>
                </a:solidFill>
              </a:rPr>
              <a:t>Shopify staff account, with the right permissions</a:t>
            </a:r>
            <a:endParaRPr lang="en-US" sz="1300" dirty="0"/>
          </a:p>
        </p:txBody>
      </p:sp>
      <p:sp>
        <p:nvSpPr>
          <p:cNvPr id="11" name="Text 9"/>
          <p:cNvSpPr txBox="1"/>
          <p:nvPr/>
        </p:nvSpPr>
        <p:spPr>
          <a:xfrm>
            <a:off x="905256" y="3529584"/>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2" name="Text 10"/>
          <p:cNvSpPr txBox="1"/>
          <p:nvPr/>
        </p:nvSpPr>
        <p:spPr>
          <a:xfrm>
            <a:off x="1316736" y="3529584"/>
            <a:ext cx="4754880" cy="365760"/>
          </a:xfrm>
          <a:prstGeom prst="rect">
            <a:avLst/>
          </a:prstGeom>
          <a:noFill/>
          <a:ln/>
        </p:spPr>
        <p:txBody>
          <a:bodyPr wrap="square" lIns="0" tIns="0" rIns="0" bIns="0" rtlCol="0" anchor="ctr"/>
          <a:lstStyle/>
          <a:p>
            <a:pPr indent="0" marL="0">
              <a:buNone/>
            </a:pPr>
            <a:r>
              <a:rPr lang="en-US" sz="1300" dirty="0">
                <a:solidFill>
                  <a:schemeClr val="tx1"/>
                </a:solidFill>
              </a:rPr>
              <a:t>A password manager (e.g. LastPass) for safe logins</a:t>
            </a:r>
            <a:endParaRPr lang="en-US" sz="1300" dirty="0"/>
          </a:p>
        </p:txBody>
      </p:sp>
      <p:sp>
        <p:nvSpPr>
          <p:cNvPr id="13" name="Text 11"/>
          <p:cNvSpPr txBox="1"/>
          <p:nvPr/>
        </p:nvSpPr>
        <p:spPr>
          <a:xfrm>
            <a:off x="905256" y="4023360"/>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4" name="Text 12"/>
          <p:cNvSpPr txBox="1"/>
          <p:nvPr/>
        </p:nvSpPr>
        <p:spPr>
          <a:xfrm>
            <a:off x="1316736" y="4023360"/>
            <a:ext cx="4754880" cy="365760"/>
          </a:xfrm>
          <a:prstGeom prst="rect">
            <a:avLst/>
          </a:prstGeom>
          <a:noFill/>
          <a:ln/>
        </p:spPr>
        <p:txBody>
          <a:bodyPr wrap="square" lIns="0" tIns="0" rIns="0" bIns="0" rtlCol="0" anchor="ctr"/>
          <a:lstStyle/>
          <a:p>
            <a:pPr indent="0" marL="0">
              <a:buNone/>
            </a:pPr>
            <a:r>
              <a:rPr lang="en-US" sz="1300" dirty="0">
                <a:solidFill>
                  <a:schemeClr val="tx1"/>
                </a:solidFill>
              </a:rPr>
              <a:t>Two-factor authentication switched on</a:t>
            </a:r>
            <a:endParaRPr lang="en-US" sz="1300" dirty="0"/>
          </a:p>
        </p:txBody>
      </p:sp>
      <p:sp>
        <p:nvSpPr>
          <p:cNvPr id="15" name="Text 13"/>
          <p:cNvSpPr txBox="1"/>
          <p:nvPr/>
        </p:nvSpPr>
        <p:spPr>
          <a:xfrm>
            <a:off x="905256" y="4517136"/>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6" name="Text 14"/>
          <p:cNvSpPr txBox="1"/>
          <p:nvPr/>
        </p:nvSpPr>
        <p:spPr>
          <a:xfrm>
            <a:off x="1316736" y="4517136"/>
            <a:ext cx="4754880" cy="365760"/>
          </a:xfrm>
          <a:prstGeom prst="rect">
            <a:avLst/>
          </a:prstGeom>
          <a:noFill/>
          <a:ln/>
        </p:spPr>
        <p:txBody>
          <a:bodyPr wrap="square" lIns="0" tIns="0" rIns="0" bIns="0" rtlCol="0" anchor="ctr"/>
          <a:lstStyle/>
          <a:p>
            <a:pPr indent="0" marL="0">
              <a:buNone/>
            </a:pPr>
            <a:r>
              <a:rPr lang="en-US" sz="1300" dirty="0">
                <a:solidFill>
                  <a:schemeClr val="tx1"/>
                </a:solidFill>
              </a:rPr>
              <a:t>Returns, refunds and delivery policies shared</a:t>
            </a:r>
            <a:endParaRPr lang="en-US" sz="1300" dirty="0"/>
          </a:p>
        </p:txBody>
      </p:sp>
      <p:sp>
        <p:nvSpPr>
          <p:cNvPr id="17" name="Text 15"/>
          <p:cNvSpPr txBox="1"/>
          <p:nvPr/>
        </p:nvSpPr>
        <p:spPr>
          <a:xfrm>
            <a:off x="905256" y="5010912"/>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8" name="Text 16"/>
          <p:cNvSpPr txBox="1"/>
          <p:nvPr/>
        </p:nvSpPr>
        <p:spPr>
          <a:xfrm>
            <a:off x="1316736" y="5010912"/>
            <a:ext cx="4754880" cy="365760"/>
          </a:xfrm>
          <a:prstGeom prst="rect">
            <a:avLst/>
          </a:prstGeom>
          <a:noFill/>
          <a:ln/>
        </p:spPr>
        <p:txBody>
          <a:bodyPr wrap="square" lIns="0" tIns="0" rIns="0" bIns="0" rtlCol="0" anchor="ctr"/>
          <a:lstStyle/>
          <a:p>
            <a:pPr indent="0" marL="0">
              <a:buNone/>
            </a:pPr>
            <a:r>
              <a:rPr lang="en-US" sz="1300" dirty="0">
                <a:solidFill>
                  <a:schemeClr val="tx1"/>
                </a:solidFill>
              </a:rPr>
              <a:t>Phone service (e.g. JustCall) set up for calls</a:t>
            </a:r>
            <a:endParaRPr lang="en-US" sz="1300" dirty="0"/>
          </a:p>
        </p:txBody>
      </p:sp>
      <p:sp>
        <p:nvSpPr>
          <p:cNvPr id="19" name="Text 17"/>
          <p:cNvSpPr txBox="1"/>
          <p:nvPr/>
        </p:nvSpPr>
        <p:spPr>
          <a:xfrm>
            <a:off x="905256" y="5504688"/>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20" name="Text 18"/>
          <p:cNvSpPr txBox="1"/>
          <p:nvPr/>
        </p:nvSpPr>
        <p:spPr>
          <a:xfrm>
            <a:off x="1316736" y="5504688"/>
            <a:ext cx="4754880" cy="365760"/>
          </a:xfrm>
          <a:prstGeom prst="rect">
            <a:avLst/>
          </a:prstGeom>
          <a:noFill/>
          <a:ln/>
        </p:spPr>
        <p:txBody>
          <a:bodyPr wrap="square" lIns="0" tIns="0" rIns="0" bIns="0" rtlCol="0" anchor="ctr"/>
          <a:lstStyle/>
          <a:p>
            <a:pPr indent="0" marL="0">
              <a:buNone/>
            </a:pPr>
            <a:r>
              <a:rPr lang="en-US" sz="1300" dirty="0">
                <a:solidFill>
                  <a:schemeClr val="tx1"/>
                </a:solidFill>
              </a:rPr>
              <a:t>Warehouse contact and escalation path agreed</a:t>
            </a:r>
            <a:endParaRPr lang="en-US" sz="1300" dirty="0"/>
          </a:p>
        </p:txBody>
      </p:sp>
      <p:sp>
        <p:nvSpPr>
          <p:cNvPr id="21" name="card"/>
          <p:cNvSpPr/>
          <p:nvPr/>
        </p:nvSpPr>
        <p:spPr>
          <a:xfrm>
            <a:off x="6528816" y="1965960"/>
            <a:ext cx="5031943" cy="1920240"/>
          </a:xfrm>
          <a:prstGeom prst="roundRect">
            <a:avLst>
              <a:gd name="adj" fmla="val 3810"/>
            </a:avLst>
          </a:prstGeom>
          <a:solidFill>
            <a:schemeClr val="accent4"/>
          </a:solidFill>
          <a:ln/>
        </p:spPr>
      </p:sp>
      <p:sp>
        <p:nvSpPr>
          <p:cNvPr id="22" name="Text 20"/>
          <p:cNvSpPr txBox="1"/>
          <p:nvPr/>
        </p:nvSpPr>
        <p:spPr>
          <a:xfrm>
            <a:off x="6803136" y="2148840"/>
            <a:ext cx="448330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TIME COMMITMENT</a:t>
            </a:r>
            <a:endParaRPr lang="en-US" sz="1050" dirty="0"/>
          </a:p>
        </p:txBody>
      </p:sp>
      <p:sp>
        <p:nvSpPr>
          <p:cNvPr id="23" name="Text 21"/>
          <p:cNvSpPr txBox="1"/>
          <p:nvPr/>
        </p:nvSpPr>
        <p:spPr>
          <a:xfrm>
            <a:off x="6803136" y="2468880"/>
            <a:ext cx="4483303"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30 minutes a day</a:t>
            </a:r>
            <a:endParaRPr lang="en-US" sz="2400" dirty="0"/>
          </a:p>
        </p:txBody>
      </p:sp>
      <p:sp>
        <p:nvSpPr>
          <p:cNvPr id="24" name="Text 22"/>
          <p:cNvSpPr txBox="1"/>
          <p:nvPr/>
        </p:nvSpPr>
        <p:spPr>
          <a:xfrm>
            <a:off x="6803136" y="3017520"/>
            <a:ext cx="4483303" cy="731520"/>
          </a:xfrm>
          <a:prstGeom prst="rect">
            <a:avLst/>
          </a:prstGeom>
          <a:noFill/>
          <a:ln/>
        </p:spPr>
        <p:txBody>
          <a:bodyPr wrap="square" lIns="0" tIns="0" rIns="0" bIns="0" rtlCol="0" anchor="t"/>
          <a:lstStyle/>
          <a:p>
            <a:pPr indent="0" marL="0">
              <a:buNone/>
            </a:pPr>
            <a:r>
              <a:rPr lang="en-US" sz="1250" dirty="0">
                <a:solidFill>
                  <a:schemeClr val="tx1"/>
                </a:solidFill>
              </a:rPr>
              <a:t>for the first 2 weeks: briefing, answering questions and reviewing work. It pays back many times over.</a:t>
            </a:r>
            <a:endParaRPr lang="en-US" sz="1250" dirty="0"/>
          </a:p>
        </p:txBody>
      </p:sp>
      <p:sp>
        <p:nvSpPr>
          <p:cNvPr id="25" name="card"/>
          <p:cNvSpPr/>
          <p:nvPr/>
        </p:nvSpPr>
        <p:spPr>
          <a:xfrm>
            <a:off x="6528816" y="4069080"/>
            <a:ext cx="5031943" cy="2057400"/>
          </a:xfrm>
          <a:prstGeom prst="roundRect">
            <a:avLst>
              <a:gd name="adj" fmla="val 3556"/>
            </a:avLst>
          </a:prstGeom>
          <a:solidFill>
            <a:schemeClr val="bg1"/>
          </a:solidFill>
          <a:ln w="12700">
            <a:solidFill>
              <a:schemeClr val="accent5"/>
            </a:solidFill>
            <a:prstDash val="solid"/>
          </a:ln>
        </p:spPr>
      </p:sp>
      <p:sp>
        <p:nvSpPr>
          <p:cNvPr id="26" name="Text 24"/>
          <p:cNvSpPr txBox="1"/>
          <p:nvPr/>
        </p:nvSpPr>
        <p:spPr>
          <a:xfrm>
            <a:off x="6803136" y="4251960"/>
            <a:ext cx="448330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HOURS, TIME ZONES &amp; LEAVE</a:t>
            </a:r>
            <a:endParaRPr lang="en-US" sz="1050" dirty="0"/>
          </a:p>
        </p:txBody>
      </p:sp>
      <p:sp>
        <p:nvSpPr>
          <p:cNvPr id="27" name="Text 25"/>
          <p:cNvSpPr txBox="1"/>
          <p:nvPr/>
        </p:nvSpPr>
        <p:spPr>
          <a:xfrm>
            <a:off x="6803136" y="4572000"/>
            <a:ext cx="4483303" cy="822960"/>
          </a:xfrm>
          <a:prstGeom prst="rect">
            <a:avLst/>
          </a:prstGeom>
          <a:noFill/>
          <a:ln/>
        </p:spPr>
        <p:txBody>
          <a:bodyPr wrap="square" lIns="0" tIns="0" rIns="0" bIns="0" rtlCol="0" anchor="t"/>
          <a:lstStyle/>
          <a:p>
            <a:pPr indent="0" marL="0">
              <a:buNone/>
            </a:pPr>
            <a:r>
              <a:rPr lang="en-US" sz="1250" dirty="0">
                <a:solidFill>
                  <a:schemeClr val="accent3"/>
                </a:solidFill>
              </a:rPr>
              <a:t>Shift: Mon–Fri, 9am–6pm Melbourne time, with a 1-hour unpaid lunch. Check Philippine public holidays, and request leave cover in advance through your Account Manager.</a:t>
            </a:r>
            <a:endParaRPr lang="en-US" sz="1250" dirty="0"/>
          </a:p>
        </p:txBody>
      </p:sp>
      <p:sp>
        <p:nvSpPr>
          <p:cNvPr id="28" name="Text 26"/>
          <p:cNvSpPr txBox="1"/>
          <p:nvPr/>
        </p:nvSpPr>
        <p:spPr>
          <a:xfrm>
            <a:off x="6803136" y="5577840"/>
            <a:ext cx="4483303" cy="320040"/>
          </a:xfrm>
          <a:prstGeom prst="rect">
            <a:avLst/>
          </a:prstGeom>
          <a:noFill/>
          <a:ln/>
        </p:spPr>
        <p:txBody>
          <a:bodyPr wrap="square" lIns="0" tIns="0" rIns="0" bIns="0" rtlCol="0" anchor="ctr"/>
          <a:lstStyle/>
          <a:p>
            <a:pPr indent="0" marL="0">
              <a:buNone/>
            </a:pPr>
            <a:r>
              <a:rPr lang="en-US" sz="1200" b="1" dirty="0">
                <a:solidFill>
                  <a:schemeClr val="tx1"/>
                </a:solidFill>
              </a:rPr>
              <a:t>Lunch break: </a:t>
            </a:r>
            <a:pPr indent="0" marL="0">
              <a:buNone/>
            </a:pPr>
            <a:r>
              <a:rPr lang="en-US" sz="1200" dirty="0">
                <a:solidFill>
                  <a:schemeClr val="accent3"/>
                </a:solidFill>
              </a:rPr>
              <a:t>________________     </a:t>
            </a:r>
            <a:pPr indent="0" marL="0">
              <a:buNone/>
            </a:pPr>
            <a:r>
              <a:rPr lang="en-US" sz="1200" b="1" dirty="0">
                <a:solidFill>
                  <a:schemeClr val="tx1"/>
                </a:solidFill>
              </a:rPr>
              <a:t>Escalate to: </a:t>
            </a:r>
            <a:pPr indent="0" marL="0">
              <a:buNone/>
            </a:pPr>
            <a:r>
              <a:rPr lang="en-US" sz="1200" dirty="0">
                <a:solidFill>
                  <a:schemeClr val="accent3"/>
                </a:solidFill>
              </a:rPr>
              <a:t>____________</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2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to Delegate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Clear briefs are the single biggest factor in a great first month.</a:t>
            </a:r>
            <a:endParaRPr lang="en-US" sz="1300" dirty="0"/>
          </a:p>
        </p:txBody>
      </p:sp>
      <p:sp>
        <p:nvSpPr>
          <p:cNvPr id="5" name="card"/>
          <p:cNvSpPr/>
          <p:nvPr/>
        </p:nvSpPr>
        <p:spPr>
          <a:xfrm>
            <a:off x="630936" y="1920240"/>
            <a:ext cx="5120640" cy="3383280"/>
          </a:xfrm>
          <a:prstGeom prst="roundRect">
            <a:avLst>
              <a:gd name="adj" fmla="val 2162"/>
            </a:avLst>
          </a:prstGeom>
          <a:solidFill>
            <a:schemeClr val="bg1"/>
          </a:solidFill>
          <a:ln w="12700">
            <a:solidFill>
              <a:schemeClr val="accent5"/>
            </a:solidFill>
            <a:prstDash val="solid"/>
          </a:ln>
        </p:spPr>
      </p:sp>
      <p:sp>
        <p:nvSpPr>
          <p:cNvPr id="6" name="Text 4"/>
          <p:cNvSpPr txBox="1"/>
          <p:nvPr/>
        </p:nvSpPr>
        <p:spPr>
          <a:xfrm>
            <a:off x="905256" y="2103120"/>
            <a:ext cx="45720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THE 5-PART BRIEF: USE IT FOR EVERY TASK</a:t>
            </a:r>
            <a:endParaRPr lang="en-US" sz="1050" dirty="0"/>
          </a:p>
        </p:txBody>
      </p:sp>
      <p:sp>
        <p:nvSpPr>
          <p:cNvPr id="7" name="number 1"/>
          <p:cNvSpPr/>
          <p:nvPr/>
        </p:nvSpPr>
        <p:spPr>
          <a:xfrm>
            <a:off x="905256" y="2514600"/>
            <a:ext cx="365760" cy="365760"/>
          </a:xfrm>
          <a:prstGeom prst="ellipse">
            <a:avLst/>
          </a:prstGeom>
          <a:solidFill>
            <a:schemeClr val="accent1"/>
          </a:solidFill>
          <a:ln/>
        </p:spPr>
      </p:sp>
      <p:sp>
        <p:nvSpPr>
          <p:cNvPr id="8" name="Text 6"/>
          <p:cNvSpPr txBox="1"/>
          <p:nvPr/>
        </p:nvSpPr>
        <p:spPr>
          <a:xfrm>
            <a:off x="905256" y="25146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7"/>
          <p:cNvSpPr txBox="1"/>
          <p:nvPr/>
        </p:nvSpPr>
        <p:spPr>
          <a:xfrm>
            <a:off x="1408176" y="251460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Outcome: </a:t>
            </a:r>
            <a:pPr indent="0" marL="0">
              <a:buNone/>
            </a:pPr>
            <a:r>
              <a:rPr lang="en-US" sz="1300" dirty="0">
                <a:solidFill>
                  <a:schemeClr val="accent3"/>
                </a:solidFill>
              </a:rPr>
              <a:t>what “done” looks like</a:t>
            </a:r>
            <a:endParaRPr lang="en-US" sz="1300" dirty="0"/>
          </a:p>
        </p:txBody>
      </p:sp>
      <p:sp>
        <p:nvSpPr>
          <p:cNvPr id="10" name="number 2"/>
          <p:cNvSpPr/>
          <p:nvPr/>
        </p:nvSpPr>
        <p:spPr>
          <a:xfrm>
            <a:off x="905256" y="3063240"/>
            <a:ext cx="365760" cy="365760"/>
          </a:xfrm>
          <a:prstGeom prst="ellipse">
            <a:avLst/>
          </a:prstGeom>
          <a:solidFill>
            <a:schemeClr val="accent1"/>
          </a:solidFill>
          <a:ln/>
        </p:spPr>
      </p:sp>
      <p:sp>
        <p:nvSpPr>
          <p:cNvPr id="11" name="Text 9"/>
          <p:cNvSpPr txBox="1"/>
          <p:nvPr/>
        </p:nvSpPr>
        <p:spPr>
          <a:xfrm>
            <a:off x="905256" y="30632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1408176" y="306324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Context: </a:t>
            </a:r>
            <a:pPr indent="0" marL="0">
              <a:buNone/>
            </a:pPr>
            <a:r>
              <a:rPr lang="en-US" sz="1300" dirty="0">
                <a:solidFill>
                  <a:schemeClr val="accent3"/>
                </a:solidFill>
              </a:rPr>
              <a:t>why it matters</a:t>
            </a:r>
            <a:endParaRPr lang="en-US" sz="1300" dirty="0"/>
          </a:p>
        </p:txBody>
      </p:sp>
      <p:sp>
        <p:nvSpPr>
          <p:cNvPr id="13" name="number 3"/>
          <p:cNvSpPr/>
          <p:nvPr/>
        </p:nvSpPr>
        <p:spPr>
          <a:xfrm>
            <a:off x="905256" y="3611880"/>
            <a:ext cx="365760" cy="365760"/>
          </a:xfrm>
          <a:prstGeom prst="ellipse">
            <a:avLst/>
          </a:prstGeom>
          <a:solidFill>
            <a:schemeClr val="accent1"/>
          </a:solidFill>
          <a:ln/>
        </p:spPr>
      </p:sp>
      <p:sp>
        <p:nvSpPr>
          <p:cNvPr id="14" name="Text 12"/>
          <p:cNvSpPr txBox="1"/>
          <p:nvPr/>
        </p:nvSpPr>
        <p:spPr>
          <a:xfrm>
            <a:off x="905256" y="36118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3"/>
          <p:cNvSpPr txBox="1"/>
          <p:nvPr/>
        </p:nvSpPr>
        <p:spPr>
          <a:xfrm>
            <a:off x="1408176" y="361188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Deadline: </a:t>
            </a:r>
            <a:pPr indent="0" marL="0">
              <a:buNone/>
            </a:pPr>
            <a:r>
              <a:rPr lang="en-US" sz="1300" dirty="0">
                <a:solidFill>
                  <a:schemeClr val="accent3"/>
                </a:solidFill>
              </a:rPr>
              <a:t>when you need it</a:t>
            </a:r>
            <a:endParaRPr lang="en-US" sz="1300" dirty="0"/>
          </a:p>
        </p:txBody>
      </p:sp>
      <p:sp>
        <p:nvSpPr>
          <p:cNvPr id="16" name="number 4"/>
          <p:cNvSpPr/>
          <p:nvPr/>
        </p:nvSpPr>
        <p:spPr>
          <a:xfrm>
            <a:off x="905256" y="4160520"/>
            <a:ext cx="365760" cy="365760"/>
          </a:xfrm>
          <a:prstGeom prst="ellipse">
            <a:avLst/>
          </a:prstGeom>
          <a:solidFill>
            <a:schemeClr val="accent1"/>
          </a:solidFill>
          <a:ln/>
        </p:spPr>
      </p:sp>
      <p:sp>
        <p:nvSpPr>
          <p:cNvPr id="17" name="Text 15"/>
          <p:cNvSpPr txBox="1"/>
          <p:nvPr/>
        </p:nvSpPr>
        <p:spPr>
          <a:xfrm>
            <a:off x="905256" y="41605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1408176" y="416052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Example: </a:t>
            </a:r>
            <a:pPr indent="0" marL="0">
              <a:buNone/>
            </a:pPr>
            <a:r>
              <a:rPr lang="en-US" sz="1300" dirty="0">
                <a:solidFill>
                  <a:schemeClr val="accent3"/>
                </a:solidFill>
              </a:rPr>
              <a:t>show what good looks like</a:t>
            </a:r>
            <a:endParaRPr lang="en-US" sz="1300" dirty="0"/>
          </a:p>
        </p:txBody>
      </p:sp>
      <p:sp>
        <p:nvSpPr>
          <p:cNvPr id="19" name="number 5"/>
          <p:cNvSpPr/>
          <p:nvPr/>
        </p:nvSpPr>
        <p:spPr>
          <a:xfrm>
            <a:off x="905256" y="4709160"/>
            <a:ext cx="365760" cy="365760"/>
          </a:xfrm>
          <a:prstGeom prst="ellipse">
            <a:avLst/>
          </a:prstGeom>
          <a:solidFill>
            <a:schemeClr val="accent1"/>
          </a:solidFill>
          <a:ln/>
        </p:spPr>
      </p:sp>
      <p:sp>
        <p:nvSpPr>
          <p:cNvPr id="20" name="Text 18"/>
          <p:cNvSpPr txBox="1"/>
          <p:nvPr/>
        </p:nvSpPr>
        <p:spPr>
          <a:xfrm>
            <a:off x="905256" y="4709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Text 19"/>
          <p:cNvSpPr txBox="1"/>
          <p:nvPr/>
        </p:nvSpPr>
        <p:spPr>
          <a:xfrm>
            <a:off x="1408176" y="470916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Who to ask: </a:t>
            </a:r>
            <a:pPr indent="0" marL="0">
              <a:buNone/>
            </a:pPr>
            <a:r>
              <a:rPr lang="en-US" sz="1300" dirty="0">
                <a:solidFill>
                  <a:schemeClr val="accent3"/>
                </a:solidFill>
              </a:rPr>
              <a:t>if they get stuck</a:t>
            </a:r>
            <a:endParaRPr lang="en-US" sz="1300" dirty="0"/>
          </a:p>
        </p:txBody>
      </p:sp>
      <p:sp>
        <p:nvSpPr>
          <p:cNvPr id="22" name="callout"/>
          <p:cNvSpPr/>
          <p:nvPr/>
        </p:nvSpPr>
        <p:spPr>
          <a:xfrm>
            <a:off x="630936" y="5440680"/>
            <a:ext cx="5120640" cy="731520"/>
          </a:xfrm>
          <a:prstGeom prst="roundRect">
            <a:avLst>
              <a:gd name="adj" fmla="val 10000"/>
            </a:avLst>
          </a:prstGeom>
          <a:solidFill>
            <a:schemeClr val="accent4"/>
          </a:solidFill>
          <a:ln/>
        </p:spPr>
      </p:sp>
      <p:sp>
        <p:nvSpPr>
          <p:cNvPr id="23" name="Text 21"/>
          <p:cNvSpPr txBox="1"/>
          <p:nvPr/>
        </p:nvSpPr>
        <p:spPr>
          <a:xfrm>
            <a:off x="859536" y="5440680"/>
            <a:ext cx="4663440" cy="731520"/>
          </a:xfrm>
          <a:prstGeom prst="rect">
            <a:avLst/>
          </a:prstGeom>
          <a:noFill/>
          <a:ln/>
        </p:spPr>
        <p:txBody>
          <a:bodyPr wrap="square" lIns="0" tIns="0" rIns="0" bIns="0" rtlCol="0" anchor="ctr"/>
          <a:lstStyle/>
          <a:p>
            <a:pPr indent="0" marL="0">
              <a:buNone/>
            </a:pPr>
            <a:r>
              <a:rPr lang="en-US" sz="1250" b="1" dirty="0">
                <a:solidFill>
                  <a:schemeClr val="accent1"/>
                </a:solidFill>
              </a:rPr>
              <a:t>Golden rule: record yourself doing a task once (Loom or a screen recording). Your Specialist turns it into an SOP for your library.</a:t>
            </a:r>
            <a:endParaRPr lang="en-US" sz="1250" dirty="0"/>
          </a:p>
        </p:txBody>
      </p:sp>
      <p:sp>
        <p:nvSpPr>
          <p:cNvPr id="24" name="card"/>
          <p:cNvSpPr/>
          <p:nvPr/>
        </p:nvSpPr>
        <p:spPr>
          <a:xfrm>
            <a:off x="5980176" y="1920240"/>
            <a:ext cx="5580583" cy="4251960"/>
          </a:xfrm>
          <a:prstGeom prst="roundRect">
            <a:avLst>
              <a:gd name="adj" fmla="val 1720"/>
            </a:avLst>
          </a:prstGeom>
          <a:solidFill>
            <a:schemeClr val="bg2"/>
          </a:solidFill>
          <a:ln/>
        </p:spPr>
      </p:sp>
      <p:sp>
        <p:nvSpPr>
          <p:cNvPr id="25" name="Text 23"/>
          <p:cNvSpPr txBox="1"/>
          <p:nvPr/>
        </p:nvSpPr>
        <p:spPr>
          <a:xfrm>
            <a:off x="6254496" y="2103120"/>
            <a:ext cx="503194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FIRST 10 TASKS: QUICK WINS FOR WEEK 1</a:t>
            </a:r>
            <a:endParaRPr lang="en-US" sz="1050" dirty="0"/>
          </a:p>
        </p:txBody>
      </p:sp>
      <p:sp>
        <p:nvSpPr>
          <p:cNvPr id="26" name="task 1"/>
          <p:cNvSpPr/>
          <p:nvPr/>
        </p:nvSpPr>
        <p:spPr>
          <a:xfrm>
            <a:off x="6254496" y="2514600"/>
            <a:ext cx="2424532" cy="603504"/>
          </a:xfrm>
          <a:prstGeom prst="roundRect">
            <a:avLst>
              <a:gd name="adj" fmla="val 12121"/>
            </a:avLst>
          </a:prstGeom>
          <a:solidFill>
            <a:schemeClr val="bg1"/>
          </a:solidFill>
          <a:ln w="12700">
            <a:solidFill>
              <a:schemeClr val="accent5"/>
            </a:solidFill>
            <a:prstDash val="solid"/>
          </a:ln>
        </p:spPr>
      </p:sp>
      <p:sp>
        <p:nvSpPr>
          <p:cNvPr id="27" name="Text 25"/>
          <p:cNvSpPr txBox="1"/>
          <p:nvPr/>
        </p:nvSpPr>
        <p:spPr>
          <a:xfrm>
            <a:off x="6364224" y="2514600"/>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1</a:t>
            </a:r>
            <a:endParaRPr lang="en-US" sz="1400" dirty="0"/>
          </a:p>
        </p:txBody>
      </p:sp>
      <p:sp>
        <p:nvSpPr>
          <p:cNvPr id="28" name="Text 26"/>
          <p:cNvSpPr txBox="1"/>
          <p:nvPr/>
        </p:nvSpPr>
        <p:spPr>
          <a:xfrm>
            <a:off x="6711696" y="2514600"/>
            <a:ext cx="1875892" cy="603504"/>
          </a:xfrm>
          <a:prstGeom prst="rect">
            <a:avLst/>
          </a:prstGeom>
          <a:noFill/>
          <a:ln/>
        </p:spPr>
        <p:txBody>
          <a:bodyPr wrap="square" lIns="0" tIns="0" rIns="0" bIns="0" rtlCol="0" anchor="ctr"/>
          <a:lstStyle/>
          <a:p>
            <a:pPr indent="0" marL="0">
              <a:buNone/>
            </a:pPr>
            <a:r>
              <a:rPr lang="en-US" sz="1150" dirty="0">
                <a:solidFill>
                  <a:schemeClr val="tx1"/>
                </a:solidFill>
              </a:rPr>
              <a:t>Read the returns, refunds and delivery policies</a:t>
            </a:r>
            <a:endParaRPr lang="en-US" sz="1150" dirty="0"/>
          </a:p>
        </p:txBody>
      </p:sp>
      <p:sp>
        <p:nvSpPr>
          <p:cNvPr id="29" name="task 2"/>
          <p:cNvSpPr/>
          <p:nvPr/>
        </p:nvSpPr>
        <p:spPr>
          <a:xfrm>
            <a:off x="6254496" y="3227832"/>
            <a:ext cx="2424532" cy="603504"/>
          </a:xfrm>
          <a:prstGeom prst="roundRect">
            <a:avLst>
              <a:gd name="adj" fmla="val 12121"/>
            </a:avLst>
          </a:prstGeom>
          <a:solidFill>
            <a:schemeClr val="bg1"/>
          </a:solidFill>
          <a:ln w="12700">
            <a:solidFill>
              <a:schemeClr val="accent5"/>
            </a:solidFill>
            <a:prstDash val="solid"/>
          </a:ln>
        </p:spPr>
      </p:sp>
      <p:sp>
        <p:nvSpPr>
          <p:cNvPr id="30" name="Text 28"/>
          <p:cNvSpPr txBox="1"/>
          <p:nvPr/>
        </p:nvSpPr>
        <p:spPr>
          <a:xfrm>
            <a:off x="6364224" y="3227832"/>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2</a:t>
            </a:r>
            <a:endParaRPr lang="en-US" sz="1400" dirty="0"/>
          </a:p>
        </p:txBody>
      </p:sp>
      <p:sp>
        <p:nvSpPr>
          <p:cNvPr id="31" name="Text 29"/>
          <p:cNvSpPr txBox="1"/>
          <p:nvPr/>
        </p:nvSpPr>
        <p:spPr>
          <a:xfrm>
            <a:off x="6711696" y="3227832"/>
            <a:ext cx="1875892" cy="603504"/>
          </a:xfrm>
          <a:prstGeom prst="rect">
            <a:avLst/>
          </a:prstGeom>
          <a:noFill/>
          <a:ln/>
        </p:spPr>
        <p:txBody>
          <a:bodyPr wrap="square" lIns="0" tIns="0" rIns="0" bIns="0" rtlCol="0" anchor="ctr"/>
          <a:lstStyle/>
          <a:p>
            <a:pPr indent="0" marL="0">
              <a:buNone/>
            </a:pPr>
            <a:r>
              <a:rPr lang="en-US" sz="1150" dirty="0">
                <a:solidFill>
                  <a:schemeClr val="tx1"/>
                </a:solidFill>
              </a:rPr>
              <a:t>Shadow a day of live customer enquiries</a:t>
            </a:r>
            <a:endParaRPr lang="en-US" sz="1150" dirty="0"/>
          </a:p>
        </p:txBody>
      </p:sp>
      <p:sp>
        <p:nvSpPr>
          <p:cNvPr id="32" name="task 3"/>
          <p:cNvSpPr/>
          <p:nvPr/>
        </p:nvSpPr>
        <p:spPr>
          <a:xfrm>
            <a:off x="6254496" y="3941064"/>
            <a:ext cx="2424532" cy="603504"/>
          </a:xfrm>
          <a:prstGeom prst="roundRect">
            <a:avLst>
              <a:gd name="adj" fmla="val 12121"/>
            </a:avLst>
          </a:prstGeom>
          <a:solidFill>
            <a:schemeClr val="bg1"/>
          </a:solidFill>
          <a:ln w="12700">
            <a:solidFill>
              <a:schemeClr val="accent5"/>
            </a:solidFill>
            <a:prstDash val="solid"/>
          </a:ln>
        </p:spPr>
      </p:sp>
      <p:sp>
        <p:nvSpPr>
          <p:cNvPr id="33" name="Text 31"/>
          <p:cNvSpPr txBox="1"/>
          <p:nvPr/>
        </p:nvSpPr>
        <p:spPr>
          <a:xfrm>
            <a:off x="6364224" y="3941064"/>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3</a:t>
            </a:r>
            <a:endParaRPr lang="en-US" sz="1400" dirty="0"/>
          </a:p>
        </p:txBody>
      </p:sp>
      <p:sp>
        <p:nvSpPr>
          <p:cNvPr id="34" name="Text 32"/>
          <p:cNvSpPr txBox="1"/>
          <p:nvPr/>
        </p:nvSpPr>
        <p:spPr>
          <a:xfrm>
            <a:off x="6711696" y="3941064"/>
            <a:ext cx="1875892" cy="603504"/>
          </a:xfrm>
          <a:prstGeom prst="rect">
            <a:avLst/>
          </a:prstGeom>
          <a:noFill/>
          <a:ln/>
        </p:spPr>
        <p:txBody>
          <a:bodyPr wrap="square" lIns="0" tIns="0" rIns="0" bIns="0" rtlCol="0" anchor="ctr"/>
          <a:lstStyle/>
          <a:p>
            <a:pPr indent="0" marL="0">
              <a:buNone/>
            </a:pPr>
            <a:r>
              <a:rPr lang="en-US" sz="1150" dirty="0">
                <a:solidFill>
                  <a:schemeClr val="tx1"/>
                </a:solidFill>
              </a:rPr>
              <a:t>List every open enquiry and its status</a:t>
            </a:r>
            <a:endParaRPr lang="en-US" sz="1150" dirty="0"/>
          </a:p>
        </p:txBody>
      </p:sp>
      <p:sp>
        <p:nvSpPr>
          <p:cNvPr id="35" name="task 4"/>
          <p:cNvSpPr/>
          <p:nvPr/>
        </p:nvSpPr>
        <p:spPr>
          <a:xfrm>
            <a:off x="6254496" y="4654296"/>
            <a:ext cx="2424532" cy="603504"/>
          </a:xfrm>
          <a:prstGeom prst="roundRect">
            <a:avLst>
              <a:gd name="adj" fmla="val 12121"/>
            </a:avLst>
          </a:prstGeom>
          <a:solidFill>
            <a:schemeClr val="bg1"/>
          </a:solidFill>
          <a:ln w="12700">
            <a:solidFill>
              <a:schemeClr val="accent5"/>
            </a:solidFill>
            <a:prstDash val="solid"/>
          </a:ln>
        </p:spPr>
      </p:sp>
      <p:sp>
        <p:nvSpPr>
          <p:cNvPr id="36" name="Text 34"/>
          <p:cNvSpPr txBox="1"/>
          <p:nvPr/>
        </p:nvSpPr>
        <p:spPr>
          <a:xfrm>
            <a:off x="6364224" y="4654296"/>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4</a:t>
            </a:r>
            <a:endParaRPr lang="en-US" sz="1400" dirty="0"/>
          </a:p>
        </p:txBody>
      </p:sp>
      <p:sp>
        <p:nvSpPr>
          <p:cNvPr id="37" name="Text 35"/>
          <p:cNvSpPr txBox="1"/>
          <p:nvPr/>
        </p:nvSpPr>
        <p:spPr>
          <a:xfrm>
            <a:off x="6711696" y="4654296"/>
            <a:ext cx="1875892" cy="603504"/>
          </a:xfrm>
          <a:prstGeom prst="rect">
            <a:avLst/>
          </a:prstGeom>
          <a:noFill/>
          <a:ln/>
        </p:spPr>
        <p:txBody>
          <a:bodyPr wrap="square" lIns="0" tIns="0" rIns="0" bIns="0" rtlCol="0" anchor="ctr"/>
          <a:lstStyle/>
          <a:p>
            <a:pPr indent="0" marL="0">
              <a:buNone/>
            </a:pPr>
            <a:r>
              <a:rPr lang="en-US" sz="1150" dirty="0">
                <a:solidFill>
                  <a:schemeClr val="tx1"/>
                </a:solidFill>
              </a:rPr>
              <a:t>Draft replies to routine enquiries for review</a:t>
            </a:r>
            <a:endParaRPr lang="en-US" sz="1150" dirty="0"/>
          </a:p>
        </p:txBody>
      </p:sp>
      <p:sp>
        <p:nvSpPr>
          <p:cNvPr id="38" name="task 5"/>
          <p:cNvSpPr/>
          <p:nvPr/>
        </p:nvSpPr>
        <p:spPr>
          <a:xfrm>
            <a:off x="6254496" y="5367528"/>
            <a:ext cx="2424532" cy="603504"/>
          </a:xfrm>
          <a:prstGeom prst="roundRect">
            <a:avLst>
              <a:gd name="adj" fmla="val 12121"/>
            </a:avLst>
          </a:prstGeom>
          <a:solidFill>
            <a:schemeClr val="bg1"/>
          </a:solidFill>
          <a:ln w="12700">
            <a:solidFill>
              <a:schemeClr val="accent5"/>
            </a:solidFill>
            <a:prstDash val="solid"/>
          </a:ln>
        </p:spPr>
      </p:sp>
      <p:sp>
        <p:nvSpPr>
          <p:cNvPr id="39" name="Text 37"/>
          <p:cNvSpPr txBox="1"/>
          <p:nvPr/>
        </p:nvSpPr>
        <p:spPr>
          <a:xfrm>
            <a:off x="6364224" y="5367528"/>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5</a:t>
            </a:r>
            <a:endParaRPr lang="en-US" sz="1400" dirty="0"/>
          </a:p>
        </p:txBody>
      </p:sp>
      <p:sp>
        <p:nvSpPr>
          <p:cNvPr id="40" name="Text 38"/>
          <p:cNvSpPr txBox="1"/>
          <p:nvPr/>
        </p:nvSpPr>
        <p:spPr>
          <a:xfrm>
            <a:off x="6711696" y="5367528"/>
            <a:ext cx="1875892" cy="603504"/>
          </a:xfrm>
          <a:prstGeom prst="rect">
            <a:avLst/>
          </a:prstGeom>
          <a:noFill/>
          <a:ln/>
        </p:spPr>
        <p:txBody>
          <a:bodyPr wrap="square" lIns="0" tIns="0" rIns="0" bIns="0" rtlCol="0" anchor="ctr"/>
          <a:lstStyle/>
          <a:p>
            <a:pPr indent="0" marL="0">
              <a:buNone/>
            </a:pPr>
            <a:r>
              <a:rPr lang="en-US" sz="1150" dirty="0">
                <a:solidFill>
                  <a:schemeClr val="tx1"/>
                </a:solidFill>
              </a:rPr>
              <a:t>Learn the Shopify order and refund screens</a:t>
            </a:r>
            <a:endParaRPr lang="en-US" sz="1150" dirty="0"/>
          </a:p>
        </p:txBody>
      </p:sp>
      <p:sp>
        <p:nvSpPr>
          <p:cNvPr id="41" name="task 6"/>
          <p:cNvSpPr/>
          <p:nvPr/>
        </p:nvSpPr>
        <p:spPr>
          <a:xfrm>
            <a:off x="8861908" y="2514600"/>
            <a:ext cx="2424532" cy="603504"/>
          </a:xfrm>
          <a:prstGeom prst="roundRect">
            <a:avLst>
              <a:gd name="adj" fmla="val 12121"/>
            </a:avLst>
          </a:prstGeom>
          <a:solidFill>
            <a:schemeClr val="bg1"/>
          </a:solidFill>
          <a:ln w="12700">
            <a:solidFill>
              <a:schemeClr val="accent5"/>
            </a:solidFill>
            <a:prstDash val="solid"/>
          </a:ln>
        </p:spPr>
      </p:sp>
      <p:sp>
        <p:nvSpPr>
          <p:cNvPr id="42" name="Text 40"/>
          <p:cNvSpPr txBox="1"/>
          <p:nvPr/>
        </p:nvSpPr>
        <p:spPr>
          <a:xfrm>
            <a:off x="8971636" y="2514600"/>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6</a:t>
            </a:r>
            <a:endParaRPr lang="en-US" sz="1400" dirty="0"/>
          </a:p>
        </p:txBody>
      </p:sp>
      <p:sp>
        <p:nvSpPr>
          <p:cNvPr id="43" name="Text 41"/>
          <p:cNvSpPr txBox="1"/>
          <p:nvPr/>
        </p:nvSpPr>
        <p:spPr>
          <a:xfrm>
            <a:off x="9319108" y="2514600"/>
            <a:ext cx="1875892" cy="603504"/>
          </a:xfrm>
          <a:prstGeom prst="rect">
            <a:avLst/>
          </a:prstGeom>
          <a:noFill/>
          <a:ln/>
        </p:spPr>
        <p:txBody>
          <a:bodyPr wrap="square" lIns="0" tIns="0" rIns="0" bIns="0" rtlCol="0" anchor="ctr"/>
          <a:lstStyle/>
          <a:p>
            <a:pPr indent="0" marL="0">
              <a:buNone/>
            </a:pPr>
            <a:r>
              <a:rPr lang="en-US" sz="1150" dirty="0">
                <a:solidFill>
                  <a:schemeClr val="tx1"/>
                </a:solidFill>
              </a:rPr>
              <a:t>Meet the warehouse team and agree a routine</a:t>
            </a:r>
            <a:endParaRPr lang="en-US" sz="1150" dirty="0"/>
          </a:p>
        </p:txBody>
      </p:sp>
      <p:sp>
        <p:nvSpPr>
          <p:cNvPr id="44" name="task 7"/>
          <p:cNvSpPr/>
          <p:nvPr/>
        </p:nvSpPr>
        <p:spPr>
          <a:xfrm>
            <a:off x="8861908" y="3227832"/>
            <a:ext cx="2424532" cy="603504"/>
          </a:xfrm>
          <a:prstGeom prst="roundRect">
            <a:avLst>
              <a:gd name="adj" fmla="val 12121"/>
            </a:avLst>
          </a:prstGeom>
          <a:solidFill>
            <a:schemeClr val="bg1"/>
          </a:solidFill>
          <a:ln w="12700">
            <a:solidFill>
              <a:schemeClr val="accent5"/>
            </a:solidFill>
            <a:prstDash val="solid"/>
          </a:ln>
        </p:spPr>
      </p:sp>
      <p:sp>
        <p:nvSpPr>
          <p:cNvPr id="45" name="Text 43"/>
          <p:cNvSpPr txBox="1"/>
          <p:nvPr/>
        </p:nvSpPr>
        <p:spPr>
          <a:xfrm>
            <a:off x="8971636" y="3227832"/>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7</a:t>
            </a:r>
            <a:endParaRPr lang="en-US" sz="1400" dirty="0"/>
          </a:p>
        </p:txBody>
      </p:sp>
      <p:sp>
        <p:nvSpPr>
          <p:cNvPr id="46" name="Text 44"/>
          <p:cNvSpPr txBox="1"/>
          <p:nvPr/>
        </p:nvSpPr>
        <p:spPr>
          <a:xfrm>
            <a:off x="9319108" y="3227832"/>
            <a:ext cx="1875892" cy="603504"/>
          </a:xfrm>
          <a:prstGeom prst="rect">
            <a:avLst/>
          </a:prstGeom>
          <a:noFill/>
          <a:ln/>
        </p:spPr>
        <p:txBody>
          <a:bodyPr wrap="square" lIns="0" tIns="0" rIns="0" bIns="0" rtlCol="0" anchor="ctr"/>
          <a:lstStyle/>
          <a:p>
            <a:pPr indent="0" marL="0">
              <a:buNone/>
            </a:pPr>
            <a:r>
              <a:rPr lang="en-US" sz="1150" dirty="0">
                <a:solidFill>
                  <a:schemeClr val="tx1"/>
                </a:solidFill>
              </a:rPr>
              <a:t>List delayed or unresolved orders to chase</a:t>
            </a:r>
            <a:endParaRPr lang="en-US" sz="1150" dirty="0"/>
          </a:p>
        </p:txBody>
      </p:sp>
      <p:sp>
        <p:nvSpPr>
          <p:cNvPr id="47" name="task 8"/>
          <p:cNvSpPr/>
          <p:nvPr/>
        </p:nvSpPr>
        <p:spPr>
          <a:xfrm>
            <a:off x="8861908" y="3941064"/>
            <a:ext cx="2424532" cy="603504"/>
          </a:xfrm>
          <a:prstGeom prst="roundRect">
            <a:avLst>
              <a:gd name="adj" fmla="val 12121"/>
            </a:avLst>
          </a:prstGeom>
          <a:solidFill>
            <a:schemeClr val="bg1"/>
          </a:solidFill>
          <a:ln w="12700">
            <a:solidFill>
              <a:schemeClr val="accent5"/>
            </a:solidFill>
            <a:prstDash val="solid"/>
          </a:ln>
        </p:spPr>
      </p:sp>
      <p:sp>
        <p:nvSpPr>
          <p:cNvPr id="48" name="Text 46"/>
          <p:cNvSpPr txBox="1"/>
          <p:nvPr/>
        </p:nvSpPr>
        <p:spPr>
          <a:xfrm>
            <a:off x="8971636" y="3941064"/>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8</a:t>
            </a:r>
            <a:endParaRPr lang="en-US" sz="1400" dirty="0"/>
          </a:p>
        </p:txBody>
      </p:sp>
      <p:sp>
        <p:nvSpPr>
          <p:cNvPr id="49" name="Text 47"/>
          <p:cNvSpPr txBox="1"/>
          <p:nvPr/>
        </p:nvSpPr>
        <p:spPr>
          <a:xfrm>
            <a:off x="9319108" y="3941064"/>
            <a:ext cx="1875892" cy="603504"/>
          </a:xfrm>
          <a:prstGeom prst="rect">
            <a:avLst/>
          </a:prstGeom>
          <a:noFill/>
          <a:ln/>
        </p:spPr>
        <p:txBody>
          <a:bodyPr wrap="square" lIns="0" tIns="0" rIns="0" bIns="0" rtlCol="0" anchor="ctr"/>
          <a:lstStyle/>
          <a:p>
            <a:pPr indent="0" marL="0">
              <a:buNone/>
            </a:pPr>
            <a:r>
              <a:rPr lang="en-US" sz="1150" dirty="0">
                <a:solidFill>
                  <a:schemeClr val="tx1"/>
                </a:solidFill>
              </a:rPr>
              <a:t>Build saved replies for common questions</a:t>
            </a:r>
            <a:endParaRPr lang="en-US" sz="1150" dirty="0"/>
          </a:p>
        </p:txBody>
      </p:sp>
      <p:sp>
        <p:nvSpPr>
          <p:cNvPr id="50" name="task 9"/>
          <p:cNvSpPr/>
          <p:nvPr/>
        </p:nvSpPr>
        <p:spPr>
          <a:xfrm>
            <a:off x="8861908" y="4654296"/>
            <a:ext cx="2424532" cy="603504"/>
          </a:xfrm>
          <a:prstGeom prst="roundRect">
            <a:avLst>
              <a:gd name="adj" fmla="val 12121"/>
            </a:avLst>
          </a:prstGeom>
          <a:solidFill>
            <a:schemeClr val="bg1"/>
          </a:solidFill>
          <a:ln w="12700">
            <a:solidFill>
              <a:schemeClr val="accent5"/>
            </a:solidFill>
            <a:prstDash val="solid"/>
          </a:ln>
        </p:spPr>
      </p:sp>
      <p:sp>
        <p:nvSpPr>
          <p:cNvPr id="51" name="Text 49"/>
          <p:cNvSpPr txBox="1"/>
          <p:nvPr/>
        </p:nvSpPr>
        <p:spPr>
          <a:xfrm>
            <a:off x="8971636" y="4654296"/>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9</a:t>
            </a:r>
            <a:endParaRPr lang="en-US" sz="1400" dirty="0"/>
          </a:p>
        </p:txBody>
      </p:sp>
      <p:sp>
        <p:nvSpPr>
          <p:cNvPr id="52" name="Text 50"/>
          <p:cNvSpPr txBox="1"/>
          <p:nvPr/>
        </p:nvSpPr>
        <p:spPr>
          <a:xfrm>
            <a:off x="9319108" y="4654296"/>
            <a:ext cx="1875892" cy="603504"/>
          </a:xfrm>
          <a:prstGeom prst="rect">
            <a:avLst/>
          </a:prstGeom>
          <a:noFill/>
          <a:ln/>
        </p:spPr>
        <p:txBody>
          <a:bodyPr wrap="square" lIns="0" tIns="0" rIns="0" bIns="0" rtlCol="0" anchor="ctr"/>
          <a:lstStyle/>
          <a:p>
            <a:pPr indent="0" marL="0">
              <a:buNone/>
            </a:pPr>
            <a:r>
              <a:rPr lang="en-US" sz="1150" dirty="0">
                <a:solidFill>
                  <a:schemeClr val="tx1"/>
                </a:solidFill>
              </a:rPr>
              <a:t>Agree escalation rules with Rob and Rachel</a:t>
            </a:r>
            <a:endParaRPr lang="en-US" sz="1150" dirty="0"/>
          </a:p>
        </p:txBody>
      </p:sp>
      <p:sp>
        <p:nvSpPr>
          <p:cNvPr id="53" name="task 10"/>
          <p:cNvSpPr/>
          <p:nvPr/>
        </p:nvSpPr>
        <p:spPr>
          <a:xfrm>
            <a:off x="8861908" y="5367528"/>
            <a:ext cx="2424532" cy="603504"/>
          </a:xfrm>
          <a:prstGeom prst="roundRect">
            <a:avLst>
              <a:gd name="adj" fmla="val 12121"/>
            </a:avLst>
          </a:prstGeom>
          <a:solidFill>
            <a:schemeClr val="bg1"/>
          </a:solidFill>
          <a:ln w="12700">
            <a:solidFill>
              <a:schemeClr val="accent5"/>
            </a:solidFill>
            <a:prstDash val="solid"/>
          </a:ln>
        </p:spPr>
      </p:sp>
      <p:sp>
        <p:nvSpPr>
          <p:cNvPr id="54" name="Text 52"/>
          <p:cNvSpPr txBox="1"/>
          <p:nvPr/>
        </p:nvSpPr>
        <p:spPr>
          <a:xfrm>
            <a:off x="8971636" y="5367528"/>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10</a:t>
            </a:r>
            <a:endParaRPr lang="en-US" sz="1400" dirty="0"/>
          </a:p>
        </p:txBody>
      </p:sp>
      <p:sp>
        <p:nvSpPr>
          <p:cNvPr id="55" name="Text 53"/>
          <p:cNvSpPr txBox="1"/>
          <p:nvPr/>
        </p:nvSpPr>
        <p:spPr>
          <a:xfrm>
            <a:off x="9319108" y="5367528"/>
            <a:ext cx="1875892" cy="603504"/>
          </a:xfrm>
          <a:prstGeom prst="rect">
            <a:avLst/>
          </a:prstGeom>
          <a:noFill/>
          <a:ln/>
        </p:spPr>
        <p:txBody>
          <a:bodyPr wrap="square" lIns="0" tIns="0" rIns="0" bIns="0" rtlCol="0" anchor="ctr"/>
          <a:lstStyle/>
          <a:p>
            <a:pPr indent="0" marL="0">
              <a:buNone/>
            </a:pPr>
            <a:r>
              <a:rPr lang="en-US" sz="1150" dirty="0">
                <a:solidFill>
                  <a:schemeClr val="tx1"/>
                </a:solidFill>
              </a:rPr>
              <a:t>List recurring tasks to turn into SOPs</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3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First Month</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What to expect, how to read your daily report, and how to give feedback.</a:t>
            </a:r>
            <a:endParaRPr lang="en-US" sz="1300" dirty="0"/>
          </a:p>
        </p:txBody>
      </p:sp>
      <p:sp>
        <p:nvSpPr>
          <p:cNvPr id="5" name="Text 3"/>
          <p:cNvSpPr txBox="1"/>
          <p:nvPr/>
        </p:nvSpPr>
        <p:spPr>
          <a:xfrm>
            <a:off x="630936" y="1828800"/>
            <a:ext cx="54864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THE HONEST FIRST MONTH</a:t>
            </a:r>
            <a:endParaRPr lang="en-US" sz="1050" dirty="0"/>
          </a:p>
        </p:txBody>
      </p:sp>
      <p:sp>
        <p:nvSpPr>
          <p:cNvPr id="6" name="card"/>
          <p:cNvSpPr/>
          <p:nvPr/>
        </p:nvSpPr>
        <p:spPr>
          <a:xfrm>
            <a:off x="630936" y="2148840"/>
            <a:ext cx="3521354" cy="1417320"/>
          </a:xfrm>
          <a:prstGeom prst="roundRect">
            <a:avLst>
              <a:gd name="adj" fmla="val 5161"/>
            </a:avLst>
          </a:prstGeom>
          <a:solidFill>
            <a:schemeClr val="bg1"/>
          </a:solidFill>
          <a:ln w="12700">
            <a:solidFill>
              <a:schemeClr val="accent5"/>
            </a:solidFill>
            <a:prstDash val="solid"/>
          </a:ln>
        </p:spPr>
      </p:sp>
      <p:sp>
        <p:nvSpPr>
          <p:cNvPr id="7" name="Text 5"/>
          <p:cNvSpPr txBox="1"/>
          <p:nvPr/>
        </p:nvSpPr>
        <p:spPr>
          <a:xfrm>
            <a:off x="905256" y="228600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1</a:t>
            </a:r>
            <a:endParaRPr lang="en-US" sz="1050" dirty="0"/>
          </a:p>
        </p:txBody>
      </p:sp>
      <p:sp>
        <p:nvSpPr>
          <p:cNvPr id="8" name="Text 6"/>
          <p:cNvSpPr txBox="1"/>
          <p:nvPr/>
        </p:nvSpPr>
        <p:spPr>
          <a:xfrm>
            <a:off x="905256" y="256032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Exciting</a:t>
            </a:r>
            <a:endParaRPr lang="en-US" sz="1500" dirty="0"/>
          </a:p>
        </p:txBody>
      </p:sp>
      <p:sp>
        <p:nvSpPr>
          <p:cNvPr id="9" name="Text 7"/>
          <p:cNvSpPr txBox="1"/>
          <p:nvPr/>
        </p:nvSpPr>
        <p:spPr>
          <a:xfrm>
            <a:off x="905256" y="295351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New energy, lots of setup and learning your style.</a:t>
            </a:r>
            <a:endParaRPr lang="en-US" sz="1150" dirty="0"/>
          </a:p>
        </p:txBody>
      </p:sp>
      <p:sp>
        <p:nvSpPr>
          <p:cNvPr id="10" name="card"/>
          <p:cNvSpPr/>
          <p:nvPr/>
        </p:nvSpPr>
        <p:spPr>
          <a:xfrm>
            <a:off x="4335170" y="2423160"/>
            <a:ext cx="3521354" cy="1417320"/>
          </a:xfrm>
          <a:prstGeom prst="roundRect">
            <a:avLst>
              <a:gd name="adj" fmla="val 5161"/>
            </a:avLst>
          </a:prstGeom>
          <a:solidFill>
            <a:schemeClr val="bg2"/>
          </a:solidFill>
          <a:ln/>
        </p:spPr>
      </p:sp>
      <p:sp>
        <p:nvSpPr>
          <p:cNvPr id="11" name="Text 9"/>
          <p:cNvSpPr txBox="1"/>
          <p:nvPr/>
        </p:nvSpPr>
        <p:spPr>
          <a:xfrm>
            <a:off x="4609490" y="2560320"/>
            <a:ext cx="2972714" cy="256032"/>
          </a:xfrm>
          <a:prstGeom prst="rect">
            <a:avLst/>
          </a:prstGeom>
          <a:noFill/>
          <a:ln/>
        </p:spPr>
        <p:txBody>
          <a:bodyPr wrap="square" lIns="0" tIns="0" rIns="0" bIns="0" rtlCol="0" anchor="ctr"/>
          <a:lstStyle/>
          <a:p>
            <a:pPr indent="0" marL="0">
              <a:buNone/>
            </a:pPr>
            <a:r>
              <a:rPr lang="en-US" sz="1050" b="1" spc="200" kern="0" dirty="0">
                <a:solidFill>
                  <a:srgbClr val="A86A12"/>
                </a:solidFill>
              </a:rPr>
              <a:t>WEEKS 2–3</a:t>
            </a:r>
            <a:endParaRPr lang="en-US" sz="1050" dirty="0"/>
          </a:p>
        </p:txBody>
      </p:sp>
      <p:sp>
        <p:nvSpPr>
          <p:cNvPr id="12" name="Text 10"/>
          <p:cNvSpPr txBox="1"/>
          <p:nvPr/>
        </p:nvSpPr>
        <p:spPr>
          <a:xfrm>
            <a:off x="4609490" y="283464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Feels slower. That’s normal!</a:t>
            </a:r>
            <a:endParaRPr lang="en-US" sz="1500" dirty="0"/>
          </a:p>
        </p:txBody>
      </p:sp>
      <p:sp>
        <p:nvSpPr>
          <p:cNvPr id="13" name="Text 11"/>
          <p:cNvSpPr txBox="1"/>
          <p:nvPr/>
        </p:nvSpPr>
        <p:spPr>
          <a:xfrm>
            <a:off x="4609490" y="322783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Briefing takes time and it can feel quicker to do it yourself. Stick with it.</a:t>
            </a:r>
            <a:endParaRPr lang="en-US" sz="1150" dirty="0"/>
          </a:p>
        </p:txBody>
      </p:sp>
      <p:sp>
        <p:nvSpPr>
          <p:cNvPr id="14" name="card"/>
          <p:cNvSpPr/>
          <p:nvPr/>
        </p:nvSpPr>
        <p:spPr>
          <a:xfrm>
            <a:off x="8039405" y="2148840"/>
            <a:ext cx="3521354" cy="1417320"/>
          </a:xfrm>
          <a:prstGeom prst="roundRect">
            <a:avLst>
              <a:gd name="adj" fmla="val 5161"/>
            </a:avLst>
          </a:prstGeom>
          <a:solidFill>
            <a:schemeClr val="accent4"/>
          </a:solidFill>
          <a:ln/>
        </p:spPr>
      </p:sp>
      <p:sp>
        <p:nvSpPr>
          <p:cNvPr id="15" name="Text 13"/>
          <p:cNvSpPr txBox="1"/>
          <p:nvPr/>
        </p:nvSpPr>
        <p:spPr>
          <a:xfrm>
            <a:off x="8313725" y="228600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4+</a:t>
            </a:r>
            <a:endParaRPr lang="en-US" sz="1050" dirty="0"/>
          </a:p>
        </p:txBody>
      </p:sp>
      <p:sp>
        <p:nvSpPr>
          <p:cNvPr id="16" name="Text 14"/>
          <p:cNvSpPr txBox="1"/>
          <p:nvPr/>
        </p:nvSpPr>
        <p:spPr>
          <a:xfrm>
            <a:off x="8313725" y="256032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It starts to click</a:t>
            </a:r>
            <a:endParaRPr lang="en-US" sz="1500" dirty="0"/>
          </a:p>
        </p:txBody>
      </p:sp>
      <p:sp>
        <p:nvSpPr>
          <p:cNvPr id="17" name="Text 15"/>
          <p:cNvSpPr txBox="1"/>
          <p:nvPr/>
        </p:nvSpPr>
        <p:spPr>
          <a:xfrm>
            <a:off x="8313725" y="295351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Routines form, briefs get shorter, and time starts coming back.</a:t>
            </a:r>
            <a:endParaRPr lang="en-US" sz="1150" dirty="0"/>
          </a:p>
        </p:txBody>
      </p:sp>
      <p:sp>
        <p:nvSpPr>
          <p:cNvPr id="18" name="card"/>
          <p:cNvSpPr/>
          <p:nvPr/>
        </p:nvSpPr>
        <p:spPr>
          <a:xfrm>
            <a:off x="630936" y="4069080"/>
            <a:ext cx="5373472" cy="2103120"/>
          </a:xfrm>
          <a:prstGeom prst="roundRect">
            <a:avLst>
              <a:gd name="adj" fmla="val 3478"/>
            </a:avLst>
          </a:prstGeom>
          <a:solidFill>
            <a:schemeClr val="bg1"/>
          </a:solidFill>
          <a:ln w="12700">
            <a:solidFill>
              <a:schemeClr val="accent5"/>
            </a:solidFill>
            <a:prstDash val="solid"/>
          </a:ln>
        </p:spPr>
      </p:sp>
      <p:sp>
        <p:nvSpPr>
          <p:cNvPr id="19" name="Text 17"/>
          <p:cNvSpPr txBox="1"/>
          <p:nvPr/>
        </p:nvSpPr>
        <p:spPr>
          <a:xfrm>
            <a:off x="905256" y="420624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READING YOUR DAILY EOD REPORT</a:t>
            </a:r>
            <a:endParaRPr lang="en-US" sz="1050" dirty="0"/>
          </a:p>
        </p:txBody>
      </p:sp>
      <p:sp>
        <p:nvSpPr>
          <p:cNvPr id="20" name="Text 18"/>
          <p:cNvSpPr txBox="1"/>
          <p:nvPr/>
        </p:nvSpPr>
        <p:spPr>
          <a:xfrm>
            <a:off x="905256" y="4498848"/>
            <a:ext cx="4824832" cy="274320"/>
          </a:xfrm>
          <a:prstGeom prst="rect">
            <a:avLst/>
          </a:prstGeom>
          <a:noFill/>
          <a:ln/>
        </p:spPr>
        <p:txBody>
          <a:bodyPr wrap="square" lIns="0" tIns="0" rIns="0" bIns="0" rtlCol="0" anchor="ctr"/>
          <a:lstStyle/>
          <a:p>
            <a:pPr indent="0" marL="0">
              <a:buNone/>
            </a:pPr>
            <a:r>
              <a:rPr lang="en-US" sz="1200" dirty="0">
                <a:solidFill>
                  <a:schemeClr val="accent3"/>
                </a:solidFill>
              </a:rPr>
              <a:t>Your Specialist sends one every working day:</a:t>
            </a:r>
            <a:endParaRPr lang="en-US" sz="1200" dirty="0"/>
          </a:p>
        </p:txBody>
      </p:sp>
      <p:sp>
        <p:nvSpPr>
          <p:cNvPr id="21" name="Text 19"/>
          <p:cNvSpPr txBox="1"/>
          <p:nvPr/>
        </p:nvSpPr>
        <p:spPr>
          <a:xfrm>
            <a:off x="905256" y="484632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Done today</a:t>
            </a:r>
            <a:endParaRPr lang="en-US" sz="1150" dirty="0"/>
          </a:p>
          <a:p>
            <a:pPr indent="0" marL="0">
              <a:buNone/>
            </a:pPr>
            <a:r>
              <a:rPr lang="en-US" sz="1150" dirty="0">
                <a:solidFill>
                  <a:schemeClr val="accent3"/>
                </a:solidFill>
              </a:rPr>
              <a:t>check it matches priorities</a:t>
            </a:r>
            <a:endParaRPr lang="en-US" sz="1150" dirty="0"/>
          </a:p>
        </p:txBody>
      </p:sp>
      <p:sp>
        <p:nvSpPr>
          <p:cNvPr id="22" name="Text 20"/>
          <p:cNvSpPr txBox="1"/>
          <p:nvPr/>
        </p:nvSpPr>
        <p:spPr>
          <a:xfrm>
            <a:off x="3317672" y="484632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In progress</a:t>
            </a:r>
            <a:endParaRPr lang="en-US" sz="1150" dirty="0"/>
          </a:p>
          <a:p>
            <a:pPr indent="0" marL="0">
              <a:buNone/>
            </a:pPr>
            <a:r>
              <a:rPr lang="en-US" sz="1150" dirty="0">
                <a:solidFill>
                  <a:schemeClr val="accent3"/>
                </a:solidFill>
              </a:rPr>
              <a:t>spot anything stuck</a:t>
            </a:r>
            <a:endParaRPr lang="en-US" sz="1150" dirty="0"/>
          </a:p>
        </p:txBody>
      </p:sp>
      <p:sp>
        <p:nvSpPr>
          <p:cNvPr id="23" name="Text 21"/>
          <p:cNvSpPr txBox="1"/>
          <p:nvPr/>
        </p:nvSpPr>
        <p:spPr>
          <a:xfrm>
            <a:off x="905256" y="539496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Questions</a:t>
            </a:r>
            <a:endParaRPr lang="en-US" sz="1150" dirty="0"/>
          </a:p>
          <a:p>
            <a:pPr indent="0" marL="0">
              <a:buNone/>
            </a:pPr>
            <a:r>
              <a:rPr lang="en-US" sz="1150" dirty="0">
                <a:solidFill>
                  <a:schemeClr val="accent3"/>
                </a:solidFill>
              </a:rPr>
              <a:t>reply within 24 hours</a:t>
            </a:r>
            <a:endParaRPr lang="en-US" sz="1150" dirty="0"/>
          </a:p>
        </p:txBody>
      </p:sp>
      <p:sp>
        <p:nvSpPr>
          <p:cNvPr id="24" name="Text 22"/>
          <p:cNvSpPr txBox="1"/>
          <p:nvPr/>
        </p:nvSpPr>
        <p:spPr>
          <a:xfrm>
            <a:off x="3317672" y="539496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Tomorrow</a:t>
            </a:r>
            <a:endParaRPr lang="en-US" sz="1150" dirty="0"/>
          </a:p>
          <a:p>
            <a:pPr indent="0" marL="0">
              <a:buNone/>
            </a:pPr>
            <a:r>
              <a:rPr lang="en-US" sz="1150" dirty="0">
                <a:solidFill>
                  <a:schemeClr val="accent3"/>
                </a:solidFill>
              </a:rPr>
              <a:t>adjust if priorities changed</a:t>
            </a:r>
            <a:endParaRPr lang="en-US" sz="1150" dirty="0"/>
          </a:p>
        </p:txBody>
      </p:sp>
      <p:sp>
        <p:nvSpPr>
          <p:cNvPr id="25" name="card"/>
          <p:cNvSpPr/>
          <p:nvPr/>
        </p:nvSpPr>
        <p:spPr>
          <a:xfrm>
            <a:off x="6187288" y="4069080"/>
            <a:ext cx="5373472" cy="2103120"/>
          </a:xfrm>
          <a:prstGeom prst="roundRect">
            <a:avLst>
              <a:gd name="adj" fmla="val 3478"/>
            </a:avLst>
          </a:prstGeom>
          <a:solidFill>
            <a:schemeClr val="accent4"/>
          </a:solidFill>
          <a:ln/>
        </p:spPr>
      </p:sp>
      <p:sp>
        <p:nvSpPr>
          <p:cNvPr id="26" name="Text 24"/>
          <p:cNvSpPr txBox="1"/>
          <p:nvPr/>
        </p:nvSpPr>
        <p:spPr>
          <a:xfrm>
            <a:off x="6461608" y="420624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GIVING FEEDBACK: 3 STEPS</a:t>
            </a:r>
            <a:endParaRPr lang="en-US" sz="1050" dirty="0"/>
          </a:p>
        </p:txBody>
      </p:sp>
      <p:sp>
        <p:nvSpPr>
          <p:cNvPr id="27" name="number 1"/>
          <p:cNvSpPr/>
          <p:nvPr/>
        </p:nvSpPr>
        <p:spPr>
          <a:xfrm>
            <a:off x="6461608" y="4572000"/>
            <a:ext cx="329184" cy="329184"/>
          </a:xfrm>
          <a:prstGeom prst="ellipse">
            <a:avLst/>
          </a:prstGeom>
          <a:solidFill>
            <a:schemeClr val="accent1"/>
          </a:solidFill>
          <a:ln/>
        </p:spPr>
      </p:sp>
      <p:sp>
        <p:nvSpPr>
          <p:cNvPr id="28" name="Text 26"/>
          <p:cNvSpPr txBox="1"/>
          <p:nvPr/>
        </p:nvSpPr>
        <p:spPr>
          <a:xfrm>
            <a:off x="6461608" y="4572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9" name="Text 27"/>
          <p:cNvSpPr txBox="1"/>
          <p:nvPr/>
        </p:nvSpPr>
        <p:spPr>
          <a:xfrm>
            <a:off x="6918808" y="4572000"/>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Say what worked</a:t>
            </a:r>
            <a:endParaRPr lang="en-US" sz="1300" dirty="0"/>
          </a:p>
        </p:txBody>
      </p:sp>
      <p:sp>
        <p:nvSpPr>
          <p:cNvPr id="30" name="number 2"/>
          <p:cNvSpPr/>
          <p:nvPr/>
        </p:nvSpPr>
        <p:spPr>
          <a:xfrm>
            <a:off x="6461608" y="5001768"/>
            <a:ext cx="329184" cy="329184"/>
          </a:xfrm>
          <a:prstGeom prst="ellipse">
            <a:avLst/>
          </a:prstGeom>
          <a:solidFill>
            <a:schemeClr val="accent1"/>
          </a:solidFill>
          <a:ln/>
        </p:spPr>
      </p:sp>
      <p:sp>
        <p:nvSpPr>
          <p:cNvPr id="31" name="Text 29"/>
          <p:cNvSpPr txBox="1"/>
          <p:nvPr/>
        </p:nvSpPr>
        <p:spPr>
          <a:xfrm>
            <a:off x="6461608" y="50017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2" name="Text 30"/>
          <p:cNvSpPr txBox="1"/>
          <p:nvPr/>
        </p:nvSpPr>
        <p:spPr>
          <a:xfrm>
            <a:off x="6918808" y="5001768"/>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Say what to change</a:t>
            </a:r>
            <a:endParaRPr lang="en-US" sz="1300" dirty="0"/>
          </a:p>
        </p:txBody>
      </p:sp>
      <p:sp>
        <p:nvSpPr>
          <p:cNvPr id="33" name="number 3"/>
          <p:cNvSpPr/>
          <p:nvPr/>
        </p:nvSpPr>
        <p:spPr>
          <a:xfrm>
            <a:off x="6461608" y="5431536"/>
            <a:ext cx="329184" cy="329184"/>
          </a:xfrm>
          <a:prstGeom prst="ellipse">
            <a:avLst/>
          </a:prstGeom>
          <a:solidFill>
            <a:schemeClr val="accent1"/>
          </a:solidFill>
          <a:ln/>
        </p:spPr>
      </p:sp>
      <p:sp>
        <p:nvSpPr>
          <p:cNvPr id="34" name="Text 32"/>
          <p:cNvSpPr txBox="1"/>
          <p:nvPr/>
        </p:nvSpPr>
        <p:spPr>
          <a:xfrm>
            <a:off x="6461608" y="543153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5" name="Text 33"/>
          <p:cNvSpPr txBox="1"/>
          <p:nvPr/>
        </p:nvSpPr>
        <p:spPr>
          <a:xfrm>
            <a:off x="6918808" y="5431536"/>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Agree the next step</a:t>
            </a:r>
            <a:endParaRPr lang="en-US" sz="1300" dirty="0"/>
          </a:p>
        </p:txBody>
      </p:sp>
      <p:sp>
        <p:nvSpPr>
          <p:cNvPr id="36" name="Text 34"/>
          <p:cNvSpPr txBox="1"/>
          <p:nvPr/>
        </p:nvSpPr>
        <p:spPr>
          <a:xfrm>
            <a:off x="6461608" y="5833872"/>
            <a:ext cx="4824832" cy="274320"/>
          </a:xfrm>
          <a:prstGeom prst="rect">
            <a:avLst/>
          </a:prstGeom>
          <a:noFill/>
          <a:ln/>
        </p:spPr>
        <p:txBody>
          <a:bodyPr wrap="square" lIns="0" tIns="0" rIns="0" bIns="0" rtlCol="0" anchor="ctr"/>
          <a:lstStyle/>
          <a:p>
            <a:pPr indent="0" marL="0">
              <a:buNone/>
            </a:pPr>
            <a:r>
              <a:rPr lang="en-US" sz="1150" b="1" dirty="0">
                <a:solidFill>
                  <a:schemeClr val="accent1"/>
                </a:solidFill>
              </a:rPr>
              <a:t>Give feedback early and often. Stuck? Bring in your CAX team.</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4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Working Well Together</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Small habits that build a great long-term relationship, plus quick answers for the moments that worry first-time clients.</a:t>
            </a:r>
            <a:endParaRPr lang="en-US" sz="1300" dirty="0"/>
          </a:p>
        </p:txBody>
      </p:sp>
      <p:sp>
        <p:nvSpPr>
          <p:cNvPr id="5" name="card"/>
          <p:cNvSpPr/>
          <p:nvPr/>
        </p:nvSpPr>
        <p:spPr>
          <a:xfrm>
            <a:off x="630936" y="1965960"/>
            <a:ext cx="3521354" cy="4206240"/>
          </a:xfrm>
          <a:prstGeom prst="roundRect">
            <a:avLst>
              <a:gd name="adj" fmla="val 2077"/>
            </a:avLst>
          </a:prstGeom>
          <a:solidFill>
            <a:schemeClr val="accent4"/>
          </a:solidFill>
          <a:ln/>
        </p:spPr>
      </p:sp>
      <p:sp>
        <p:nvSpPr>
          <p:cNvPr id="6" name="Text 4"/>
          <p:cNvSpPr txBox="1"/>
          <p:nvPr/>
        </p:nvSpPr>
        <p:spPr>
          <a:xfrm>
            <a:off x="905256" y="214884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WORKING WELL WITH YOUR ANGEL</a:t>
            </a:r>
            <a:endParaRPr lang="en-US" sz="1050" dirty="0"/>
          </a:p>
        </p:txBody>
      </p:sp>
      <p:sp>
        <p:nvSpPr>
          <p:cNvPr id="7" name="Text 5"/>
          <p:cNvSpPr txBox="1"/>
          <p:nvPr/>
        </p:nvSpPr>
        <p:spPr>
          <a:xfrm>
            <a:off x="905256" y="2560320"/>
            <a:ext cx="2972714" cy="777240"/>
          </a:xfrm>
          <a:prstGeom prst="rect">
            <a:avLst/>
          </a:prstGeom>
          <a:noFill/>
          <a:ln/>
        </p:spPr>
        <p:txBody>
          <a:bodyPr wrap="square" lIns="0" tIns="0" rIns="0" bIns="0" rtlCol="0" anchor="t"/>
          <a:lstStyle/>
          <a:p>
            <a:pPr indent="0" marL="0">
              <a:buNone/>
            </a:pPr>
            <a:r>
              <a:rPr lang="en-US" sz="1250" b="1" dirty="0">
                <a:solidFill>
                  <a:schemeClr val="tx1"/>
                </a:solidFill>
              </a:rPr>
              <a:t>Invite questions. </a:t>
            </a:r>
            <a:pPr indent="0" marL="0">
              <a:buNone/>
            </a:pPr>
            <a:r>
              <a:rPr lang="en-US" sz="1250" dirty="0">
                <a:solidFill>
                  <a:schemeClr val="accent3"/>
                </a:solidFill>
              </a:rPr>
              <a:t>Many Angels won’t say “I don’t understand” unless asked.</a:t>
            </a:r>
            <a:endParaRPr lang="en-US" sz="1250" dirty="0"/>
          </a:p>
        </p:txBody>
      </p:sp>
      <p:sp>
        <p:nvSpPr>
          <p:cNvPr id="8" name="Text 6"/>
          <p:cNvSpPr txBox="1"/>
          <p:nvPr/>
        </p:nvSpPr>
        <p:spPr>
          <a:xfrm>
            <a:off x="905256" y="3429000"/>
            <a:ext cx="2972714" cy="777240"/>
          </a:xfrm>
          <a:prstGeom prst="rect">
            <a:avLst/>
          </a:prstGeom>
          <a:noFill/>
          <a:ln/>
        </p:spPr>
        <p:txBody>
          <a:bodyPr wrap="square" lIns="0" tIns="0" rIns="0" bIns="0" rtlCol="0" anchor="t"/>
          <a:lstStyle/>
          <a:p>
            <a:pPr indent="0" marL="0">
              <a:buNone/>
            </a:pPr>
            <a:r>
              <a:rPr lang="en-US" sz="1250" b="1" dirty="0">
                <a:solidFill>
                  <a:schemeClr val="tx1"/>
                </a:solidFill>
              </a:rPr>
              <a:t>Ask open questions. </a:t>
            </a:r>
            <a:pPr indent="0" marL="0">
              <a:buNone/>
            </a:pPr>
            <a:r>
              <a:rPr lang="en-US" sz="1250" dirty="0">
                <a:solidFill>
                  <a:schemeClr val="accent3"/>
                </a:solidFill>
              </a:rPr>
              <a:t>“How would you approach this?” beats “Is that okay?”</a:t>
            </a:r>
            <a:endParaRPr lang="en-US" sz="1250" dirty="0"/>
          </a:p>
        </p:txBody>
      </p:sp>
      <p:sp>
        <p:nvSpPr>
          <p:cNvPr id="9" name="Text 7"/>
          <p:cNvSpPr txBox="1"/>
          <p:nvPr/>
        </p:nvSpPr>
        <p:spPr>
          <a:xfrm>
            <a:off x="905256" y="4297680"/>
            <a:ext cx="2972714" cy="777240"/>
          </a:xfrm>
          <a:prstGeom prst="rect">
            <a:avLst/>
          </a:prstGeom>
          <a:noFill/>
          <a:ln/>
        </p:spPr>
        <p:txBody>
          <a:bodyPr wrap="square" lIns="0" tIns="0" rIns="0" bIns="0" rtlCol="0" anchor="t"/>
          <a:lstStyle/>
          <a:p>
            <a:pPr indent="0" marL="0">
              <a:buNone/>
            </a:pPr>
            <a:r>
              <a:rPr lang="en-US" sz="1250" b="1" dirty="0">
                <a:solidFill>
                  <a:schemeClr val="tx1"/>
                </a:solidFill>
              </a:rPr>
              <a:t>Recognise good work, </a:t>
            </a:r>
            <a:pPr indent="0" marL="0">
              <a:buNone/>
            </a:pPr>
            <a:r>
              <a:rPr lang="en-US" sz="1250" dirty="0">
                <a:solidFill>
                  <a:schemeClr val="accent3"/>
                </a:solidFill>
              </a:rPr>
              <a:t>out loud and often.</a:t>
            </a:r>
            <a:endParaRPr lang="en-US" sz="1250" dirty="0"/>
          </a:p>
        </p:txBody>
      </p:sp>
      <p:sp>
        <p:nvSpPr>
          <p:cNvPr id="10" name="Text 8"/>
          <p:cNvSpPr txBox="1"/>
          <p:nvPr/>
        </p:nvSpPr>
        <p:spPr>
          <a:xfrm>
            <a:off x="905256" y="5166360"/>
            <a:ext cx="2972714" cy="777240"/>
          </a:xfrm>
          <a:prstGeom prst="rect">
            <a:avLst/>
          </a:prstGeom>
          <a:noFill/>
          <a:ln/>
        </p:spPr>
        <p:txBody>
          <a:bodyPr wrap="square" lIns="0" tIns="0" rIns="0" bIns="0" rtlCol="0" anchor="t"/>
          <a:lstStyle/>
          <a:p>
            <a:pPr indent="0" marL="0">
              <a:buNone/>
            </a:pPr>
            <a:r>
              <a:rPr lang="en-US" sz="1250" b="1" dirty="0">
                <a:solidFill>
                  <a:schemeClr val="tx1"/>
                </a:solidFill>
              </a:rPr>
              <a:t>Get to know them: </a:t>
            </a:r>
            <a:pPr indent="0" marL="0">
              <a:buNone/>
            </a:pPr>
            <a:r>
              <a:rPr lang="en-US" sz="1250" dirty="0">
                <a:solidFill>
                  <a:schemeClr val="accent3"/>
                </a:solidFill>
              </a:rPr>
              <a:t>their holidays, family and goals.</a:t>
            </a:r>
            <a:endParaRPr lang="en-US" sz="1250" dirty="0"/>
          </a:p>
        </p:txBody>
      </p:sp>
      <p:sp>
        <p:nvSpPr>
          <p:cNvPr id="11" name="card"/>
          <p:cNvSpPr/>
          <p:nvPr/>
        </p:nvSpPr>
        <p:spPr>
          <a:xfrm>
            <a:off x="4335170" y="1965960"/>
            <a:ext cx="3521354" cy="4206240"/>
          </a:xfrm>
          <a:prstGeom prst="roundRect">
            <a:avLst>
              <a:gd name="adj" fmla="val 2077"/>
            </a:avLst>
          </a:prstGeom>
          <a:solidFill>
            <a:schemeClr val="bg1"/>
          </a:solidFill>
          <a:ln w="12700">
            <a:solidFill>
              <a:schemeClr val="accent5"/>
            </a:solidFill>
            <a:prstDash val="solid"/>
          </a:ln>
        </p:spPr>
      </p:sp>
      <p:sp>
        <p:nvSpPr>
          <p:cNvPr id="12" name="Text 10"/>
          <p:cNvSpPr txBox="1"/>
          <p:nvPr/>
        </p:nvSpPr>
        <p:spPr>
          <a:xfrm>
            <a:off x="4609490" y="214884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IF…?</a:t>
            </a:r>
            <a:endParaRPr lang="en-US" sz="1050" dirty="0"/>
          </a:p>
        </p:txBody>
      </p:sp>
      <p:sp>
        <p:nvSpPr>
          <p:cNvPr id="13" name="Text 11"/>
          <p:cNvSpPr txBox="1"/>
          <p:nvPr/>
        </p:nvSpPr>
        <p:spPr>
          <a:xfrm>
            <a:off x="4609490" y="2514600"/>
            <a:ext cx="2972714" cy="685800"/>
          </a:xfrm>
          <a:prstGeom prst="rect">
            <a:avLst/>
          </a:prstGeom>
          <a:noFill/>
          <a:ln/>
        </p:spPr>
        <p:txBody>
          <a:bodyPr wrap="square" lIns="0" tIns="0" rIns="0" bIns="0" rtlCol="0" anchor="t"/>
          <a:lstStyle/>
          <a:p>
            <a:pPr indent="0" marL="0">
              <a:buNone/>
            </a:pPr>
            <a:r>
              <a:rPr lang="en-US" sz="1150" b="1" dirty="0">
                <a:solidFill>
                  <a:schemeClr val="tx1"/>
                </a:solidFill>
              </a:rPr>
              <a:t>My Angel is sick or offline?</a:t>
            </a:r>
            <a:endParaRPr lang="en-US" sz="1150" dirty="0"/>
          </a:p>
          <a:p>
            <a:pPr indent="0" marL="0">
              <a:buNone/>
            </a:pPr>
            <a:r>
              <a:rPr lang="en-US" sz="1150" dirty="0">
                <a:solidFill>
                  <a:schemeClr val="accent3"/>
                </a:solidFill>
              </a:rPr>
              <a:t>They’ll tell you as early as possible, and your Account Manager helps keep priorities covered.</a:t>
            </a:r>
            <a:endParaRPr lang="en-US" sz="1150" dirty="0"/>
          </a:p>
        </p:txBody>
      </p:sp>
      <p:sp>
        <p:nvSpPr>
          <p:cNvPr id="14" name="Text 12"/>
          <p:cNvSpPr txBox="1"/>
          <p:nvPr/>
        </p:nvSpPr>
        <p:spPr>
          <a:xfrm>
            <a:off x="4609490" y="3227832"/>
            <a:ext cx="2972714" cy="685800"/>
          </a:xfrm>
          <a:prstGeom prst="rect">
            <a:avLst/>
          </a:prstGeom>
          <a:noFill/>
          <a:ln/>
        </p:spPr>
        <p:txBody>
          <a:bodyPr wrap="square" lIns="0" tIns="0" rIns="0" bIns="0" rtlCol="0" anchor="t"/>
          <a:lstStyle/>
          <a:p>
            <a:pPr indent="0" marL="0">
              <a:buNone/>
            </a:pPr>
            <a:r>
              <a:rPr lang="en-US" sz="1150" b="1" dirty="0">
                <a:solidFill>
                  <a:schemeClr val="tx1"/>
                </a:solidFill>
              </a:rPr>
              <a:t>I’m not happy?</a:t>
            </a:r>
            <a:endParaRPr lang="en-US" sz="1150" dirty="0"/>
          </a:p>
          <a:p>
            <a:pPr indent="0" marL="0">
              <a:buNone/>
            </a:pPr>
            <a:r>
              <a:rPr lang="en-US" sz="1150" dirty="0">
                <a:solidFill>
                  <a:schemeClr val="accent3"/>
                </a:solidFill>
              </a:rPr>
              <a:t>Tell your Account Manager any time. Free replacement, with a 1-week trial.</a:t>
            </a:r>
            <a:endParaRPr lang="en-US" sz="1150" dirty="0"/>
          </a:p>
        </p:txBody>
      </p:sp>
      <p:sp>
        <p:nvSpPr>
          <p:cNvPr id="15" name="Text 13"/>
          <p:cNvSpPr txBox="1"/>
          <p:nvPr/>
        </p:nvSpPr>
        <p:spPr>
          <a:xfrm>
            <a:off x="4609490" y="3941064"/>
            <a:ext cx="2972714" cy="685800"/>
          </a:xfrm>
          <a:prstGeom prst="rect">
            <a:avLst/>
          </a:prstGeom>
          <a:noFill/>
          <a:ln/>
        </p:spPr>
        <p:txBody>
          <a:bodyPr wrap="square" lIns="0" tIns="0" rIns="0" bIns="0" rtlCol="0" anchor="t"/>
          <a:lstStyle/>
          <a:p>
            <a:pPr indent="0" marL="0">
              <a:buNone/>
            </a:pPr>
            <a:r>
              <a:rPr lang="en-US" sz="1150" b="1" dirty="0">
                <a:solidFill>
                  <a:schemeClr val="tx1"/>
                </a:solidFill>
              </a:rPr>
              <a:t>I need more help?</a:t>
            </a:r>
            <a:endParaRPr lang="en-US" sz="1150" dirty="0"/>
          </a:p>
          <a:p>
            <a:pPr indent="0" marL="0">
              <a:buNone/>
            </a:pPr>
            <a:r>
              <a:rPr lang="en-US" sz="1150" dirty="0">
                <a:solidFill>
                  <a:schemeClr val="accent3"/>
                </a:solidFill>
              </a:rPr>
              <a:t>Ask your Account Manager about a second Angel.</a:t>
            </a:r>
            <a:endParaRPr lang="en-US" sz="1150" dirty="0"/>
          </a:p>
        </p:txBody>
      </p:sp>
      <p:sp>
        <p:nvSpPr>
          <p:cNvPr id="16" name="Text 14"/>
          <p:cNvSpPr txBox="1"/>
          <p:nvPr/>
        </p:nvSpPr>
        <p:spPr>
          <a:xfrm>
            <a:off x="4609490" y="4654296"/>
            <a:ext cx="2972714" cy="685800"/>
          </a:xfrm>
          <a:prstGeom prst="rect">
            <a:avLst/>
          </a:prstGeom>
          <a:noFill/>
          <a:ln/>
        </p:spPr>
        <p:txBody>
          <a:bodyPr wrap="square" lIns="0" tIns="0" rIns="0" bIns="0" rtlCol="0" anchor="t"/>
          <a:lstStyle/>
          <a:p>
            <a:pPr indent="0" marL="0">
              <a:buNone/>
            </a:pPr>
            <a:r>
              <a:rPr lang="en-US" sz="1150" b="1" dirty="0">
                <a:solidFill>
                  <a:schemeClr val="tx1"/>
                </a:solidFill>
              </a:rPr>
              <a:t>I’m on holiday?</a:t>
            </a:r>
            <a:endParaRPr lang="en-US" sz="1150" dirty="0"/>
          </a:p>
          <a:p>
            <a:pPr indent="0" marL="0">
              <a:buNone/>
            </a:pPr>
            <a:r>
              <a:rPr lang="en-US" sz="1150" dirty="0">
                <a:solidFill>
                  <a:schemeClr val="accent3"/>
                </a:solidFill>
              </a:rPr>
              <a:t>Leave a priority list. Your Angel keeps things moving.</a:t>
            </a:r>
            <a:endParaRPr lang="en-US" sz="1150" dirty="0"/>
          </a:p>
        </p:txBody>
      </p:sp>
      <p:sp>
        <p:nvSpPr>
          <p:cNvPr id="17" name="Text 15"/>
          <p:cNvSpPr txBox="1"/>
          <p:nvPr/>
        </p:nvSpPr>
        <p:spPr>
          <a:xfrm>
            <a:off x="4609490" y="5367528"/>
            <a:ext cx="2972714" cy="685800"/>
          </a:xfrm>
          <a:prstGeom prst="rect">
            <a:avLst/>
          </a:prstGeom>
          <a:noFill/>
          <a:ln/>
        </p:spPr>
        <p:txBody>
          <a:bodyPr wrap="square" lIns="0" tIns="0" rIns="0" bIns="0" rtlCol="0" anchor="t"/>
          <a:lstStyle/>
          <a:p>
            <a:pPr indent="0" marL="0">
              <a:buNone/>
            </a:pPr>
            <a:r>
              <a:rPr lang="en-US" sz="1150" b="1" dirty="0">
                <a:solidFill>
                  <a:schemeClr val="tx1"/>
                </a:solidFill>
              </a:rPr>
              <a:t>I have billing questions?</a:t>
            </a:r>
            <a:endParaRPr lang="en-US" sz="1150" dirty="0"/>
          </a:p>
          <a:p>
            <a:pPr indent="0" marL="0">
              <a:buNone/>
            </a:pPr>
            <a:r>
              <a:rPr lang="en-US" sz="1150" dirty="0">
                <a:solidFill>
                  <a:schemeClr val="accent3"/>
                </a:solidFill>
              </a:rPr>
              <a:t>Your Account Manager walks you through it at kick-off.</a:t>
            </a:r>
            <a:endParaRPr lang="en-US" sz="1150" dirty="0"/>
          </a:p>
        </p:txBody>
      </p:sp>
      <p:sp>
        <p:nvSpPr>
          <p:cNvPr id="18" name="card"/>
          <p:cNvSpPr/>
          <p:nvPr/>
        </p:nvSpPr>
        <p:spPr>
          <a:xfrm>
            <a:off x="8039405" y="1965960"/>
            <a:ext cx="3521354" cy="4206240"/>
          </a:xfrm>
          <a:prstGeom prst="roundRect">
            <a:avLst>
              <a:gd name="adj" fmla="val 2077"/>
            </a:avLst>
          </a:prstGeom>
          <a:solidFill>
            <a:schemeClr val="bg2"/>
          </a:solidFill>
          <a:ln/>
        </p:spPr>
      </p:sp>
      <p:sp>
        <p:nvSpPr>
          <p:cNvPr id="19" name="Text 17"/>
          <p:cNvSpPr txBox="1"/>
          <p:nvPr/>
        </p:nvSpPr>
        <p:spPr>
          <a:xfrm>
            <a:off x="8313725" y="2148840"/>
            <a:ext cx="2972714" cy="256032"/>
          </a:xfrm>
          <a:prstGeom prst="rect">
            <a:avLst/>
          </a:prstGeom>
          <a:noFill/>
          <a:ln/>
        </p:spPr>
        <p:txBody>
          <a:bodyPr wrap="square" lIns="0" tIns="0" rIns="0" bIns="0" rtlCol="0" anchor="ctr"/>
          <a:lstStyle/>
          <a:p>
            <a:pPr indent="0" marL="0">
              <a:buNone/>
            </a:pPr>
            <a:r>
              <a:rPr lang="en-US" sz="1050" b="1" spc="200" kern="0" dirty="0">
                <a:solidFill>
                  <a:srgbClr val="A86A12"/>
                </a:solidFill>
              </a:rPr>
              <a:t>FIRST-TIME MISTAKES TO AVOID</a:t>
            </a:r>
            <a:endParaRPr lang="en-US" sz="1050" dirty="0"/>
          </a:p>
        </p:txBody>
      </p:sp>
      <p:sp>
        <p:nvSpPr>
          <p:cNvPr id="20" name="mistake 1"/>
          <p:cNvSpPr/>
          <p:nvPr/>
        </p:nvSpPr>
        <p:spPr>
          <a:xfrm>
            <a:off x="8313725" y="2606040"/>
            <a:ext cx="329184" cy="329184"/>
          </a:xfrm>
          <a:prstGeom prst="ellipse">
            <a:avLst/>
          </a:prstGeom>
          <a:solidFill>
            <a:schemeClr val="bg1"/>
          </a:solidFill>
          <a:ln w="19050">
            <a:solidFill>
              <a:schemeClr val="accent6"/>
            </a:solidFill>
            <a:prstDash val="solid"/>
          </a:ln>
        </p:spPr>
      </p:sp>
      <p:sp>
        <p:nvSpPr>
          <p:cNvPr id="21" name="Text 19"/>
          <p:cNvSpPr txBox="1"/>
          <p:nvPr/>
        </p:nvSpPr>
        <p:spPr>
          <a:xfrm>
            <a:off x="8313725" y="26060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2" name="Text 20"/>
          <p:cNvSpPr txBox="1"/>
          <p:nvPr/>
        </p:nvSpPr>
        <p:spPr>
          <a:xfrm>
            <a:off x="8770925" y="25603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Vague instructions</a:t>
            </a:r>
            <a:endParaRPr lang="en-US" sz="1250" dirty="0"/>
          </a:p>
        </p:txBody>
      </p:sp>
      <p:sp>
        <p:nvSpPr>
          <p:cNvPr id="23" name="mistake 2"/>
          <p:cNvSpPr/>
          <p:nvPr/>
        </p:nvSpPr>
        <p:spPr>
          <a:xfrm>
            <a:off x="8313725" y="3291840"/>
            <a:ext cx="329184" cy="329184"/>
          </a:xfrm>
          <a:prstGeom prst="ellipse">
            <a:avLst/>
          </a:prstGeom>
          <a:solidFill>
            <a:schemeClr val="bg1"/>
          </a:solidFill>
          <a:ln w="19050">
            <a:solidFill>
              <a:schemeClr val="accent6"/>
            </a:solidFill>
            <a:prstDash val="solid"/>
          </a:ln>
        </p:spPr>
      </p:sp>
      <p:sp>
        <p:nvSpPr>
          <p:cNvPr id="24" name="Text 22"/>
          <p:cNvSpPr txBox="1"/>
          <p:nvPr/>
        </p:nvSpPr>
        <p:spPr>
          <a:xfrm>
            <a:off x="8313725" y="32918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5" name="Text 23"/>
          <p:cNvSpPr txBox="1"/>
          <p:nvPr/>
        </p:nvSpPr>
        <p:spPr>
          <a:xfrm>
            <a:off x="8770925" y="32461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No access on Day 1</a:t>
            </a:r>
            <a:endParaRPr lang="en-US" sz="1250" dirty="0"/>
          </a:p>
        </p:txBody>
      </p:sp>
      <p:sp>
        <p:nvSpPr>
          <p:cNvPr id="26" name="mistake 3"/>
          <p:cNvSpPr/>
          <p:nvPr/>
        </p:nvSpPr>
        <p:spPr>
          <a:xfrm>
            <a:off x="8313725" y="3977640"/>
            <a:ext cx="329184" cy="329184"/>
          </a:xfrm>
          <a:prstGeom prst="ellipse">
            <a:avLst/>
          </a:prstGeom>
          <a:solidFill>
            <a:schemeClr val="bg1"/>
          </a:solidFill>
          <a:ln w="19050">
            <a:solidFill>
              <a:schemeClr val="accent6"/>
            </a:solidFill>
            <a:prstDash val="solid"/>
          </a:ln>
        </p:spPr>
      </p:sp>
      <p:sp>
        <p:nvSpPr>
          <p:cNvPr id="27" name="Text 25"/>
          <p:cNvSpPr txBox="1"/>
          <p:nvPr/>
        </p:nvSpPr>
        <p:spPr>
          <a:xfrm>
            <a:off x="8313725" y="39776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8" name="Text 26"/>
          <p:cNvSpPr txBox="1"/>
          <p:nvPr/>
        </p:nvSpPr>
        <p:spPr>
          <a:xfrm>
            <a:off x="8770925" y="39319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Doing it yourself “because it’s faster”</a:t>
            </a:r>
            <a:endParaRPr lang="en-US" sz="1250" dirty="0"/>
          </a:p>
        </p:txBody>
      </p:sp>
      <p:sp>
        <p:nvSpPr>
          <p:cNvPr id="29" name="mistake 4"/>
          <p:cNvSpPr/>
          <p:nvPr/>
        </p:nvSpPr>
        <p:spPr>
          <a:xfrm>
            <a:off x="8313725" y="4663440"/>
            <a:ext cx="329184" cy="329184"/>
          </a:xfrm>
          <a:prstGeom prst="ellipse">
            <a:avLst/>
          </a:prstGeom>
          <a:solidFill>
            <a:schemeClr val="bg1"/>
          </a:solidFill>
          <a:ln w="19050">
            <a:solidFill>
              <a:schemeClr val="accent6"/>
            </a:solidFill>
            <a:prstDash val="solid"/>
          </a:ln>
        </p:spPr>
      </p:sp>
      <p:sp>
        <p:nvSpPr>
          <p:cNvPr id="30" name="Text 28"/>
          <p:cNvSpPr txBox="1"/>
          <p:nvPr/>
        </p:nvSpPr>
        <p:spPr>
          <a:xfrm>
            <a:off x="8313725" y="46634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31" name="Text 29"/>
          <p:cNvSpPr txBox="1"/>
          <p:nvPr/>
        </p:nvSpPr>
        <p:spPr>
          <a:xfrm>
            <a:off x="8770925" y="46177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Not reading the EOD reports</a:t>
            </a:r>
            <a:endParaRPr lang="en-US" sz="1250" dirty="0"/>
          </a:p>
        </p:txBody>
      </p:sp>
      <p:sp>
        <p:nvSpPr>
          <p:cNvPr id="32" name="mistake 5"/>
          <p:cNvSpPr/>
          <p:nvPr/>
        </p:nvSpPr>
        <p:spPr>
          <a:xfrm>
            <a:off x="8313725" y="5349240"/>
            <a:ext cx="329184" cy="329184"/>
          </a:xfrm>
          <a:prstGeom prst="ellipse">
            <a:avLst/>
          </a:prstGeom>
          <a:solidFill>
            <a:schemeClr val="bg1"/>
          </a:solidFill>
          <a:ln w="19050">
            <a:solidFill>
              <a:schemeClr val="accent6"/>
            </a:solidFill>
            <a:prstDash val="solid"/>
          </a:ln>
        </p:spPr>
      </p:sp>
      <p:sp>
        <p:nvSpPr>
          <p:cNvPr id="33" name="Text 31"/>
          <p:cNvSpPr txBox="1"/>
          <p:nvPr/>
        </p:nvSpPr>
        <p:spPr>
          <a:xfrm>
            <a:off x="8313725" y="53492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34" name="Text 32"/>
          <p:cNvSpPr txBox="1"/>
          <p:nvPr/>
        </p:nvSpPr>
        <p:spPr>
          <a:xfrm>
            <a:off x="8770925" y="53035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Saving feedback until you’re frustrated</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12-Month Journey</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Four milestone reviews. At each one we update your Freedom Scorecard, KPIs and “Next to delegate” list.</a:t>
            </a:r>
            <a:endParaRPr lang="en-US" sz="1300" dirty="0"/>
          </a:p>
        </p:txBody>
      </p:sp>
      <p:sp>
        <p:nvSpPr>
          <p:cNvPr id="5" name="journey line"/>
          <p:cNvSpPr/>
          <p:nvPr/>
        </p:nvSpPr>
        <p:spPr>
          <a:xfrm>
            <a:off x="905256" y="2423160"/>
            <a:ext cx="10381183" cy="0"/>
          </a:xfrm>
          <a:prstGeom prst="line">
            <a:avLst/>
          </a:prstGeom>
          <a:noFill/>
          <a:ln w="38100">
            <a:solidFill>
              <a:schemeClr val="accent2"/>
            </a:solidFill>
            <a:prstDash val="solid"/>
          </a:ln>
        </p:spPr>
      </p:sp>
      <p:sp>
        <p:nvSpPr>
          <p:cNvPr id="6" name="milestone 1"/>
          <p:cNvSpPr/>
          <p:nvPr/>
        </p:nvSpPr>
        <p:spPr>
          <a:xfrm>
            <a:off x="722376" y="2221992"/>
            <a:ext cx="402336" cy="402336"/>
          </a:xfrm>
          <a:prstGeom prst="ellipse">
            <a:avLst/>
          </a:prstGeom>
          <a:solidFill>
            <a:schemeClr val="bg1"/>
          </a:solidFill>
          <a:ln w="38100">
            <a:solidFill>
              <a:schemeClr val="accent1"/>
            </a:solidFill>
            <a:prstDash val="solid"/>
          </a:ln>
        </p:spPr>
      </p:sp>
      <p:sp>
        <p:nvSpPr>
          <p:cNvPr id="7" name="card"/>
          <p:cNvSpPr/>
          <p:nvPr/>
        </p:nvSpPr>
        <p:spPr>
          <a:xfrm>
            <a:off x="630936" y="2834640"/>
            <a:ext cx="2595296" cy="2377440"/>
          </a:xfrm>
          <a:prstGeom prst="roundRect">
            <a:avLst>
              <a:gd name="adj" fmla="val 3077"/>
            </a:avLst>
          </a:prstGeom>
          <a:solidFill>
            <a:schemeClr val="bg1"/>
          </a:solidFill>
          <a:ln w="12700">
            <a:solidFill>
              <a:schemeClr val="accent5"/>
            </a:solidFill>
            <a:prstDash val="solid"/>
          </a:ln>
        </p:spPr>
      </p:sp>
      <p:sp>
        <p:nvSpPr>
          <p:cNvPr id="8" name="Text 6"/>
          <p:cNvSpPr txBox="1"/>
          <p:nvPr/>
        </p:nvSpPr>
        <p:spPr>
          <a:xfrm>
            <a:off x="859536"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 30</a:t>
            </a:r>
            <a:endParaRPr lang="en-US" sz="1050" dirty="0"/>
          </a:p>
        </p:txBody>
      </p:sp>
      <p:sp>
        <p:nvSpPr>
          <p:cNvPr id="9" name="Text 7"/>
          <p:cNvSpPr txBox="1"/>
          <p:nvPr/>
        </p:nvSpPr>
        <p:spPr>
          <a:xfrm>
            <a:off x="859536"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First check-in</a:t>
            </a:r>
            <a:endParaRPr lang="en-US" sz="1600" dirty="0"/>
          </a:p>
        </p:txBody>
      </p:sp>
      <p:sp>
        <p:nvSpPr>
          <p:cNvPr id="10" name="Text 8"/>
          <p:cNvSpPr txBox="1"/>
          <p:nvPr/>
        </p:nvSpPr>
        <p:spPr>
          <a:xfrm>
            <a:off x="859536"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Routine enquiries handled, with replies reviewed. First skills and KPI check-in.</a:t>
            </a:r>
            <a:endParaRPr lang="en-US" sz="1200" dirty="0"/>
          </a:p>
        </p:txBody>
      </p:sp>
      <p:sp>
        <p:nvSpPr>
          <p:cNvPr id="11" name="milestone 2"/>
          <p:cNvSpPr/>
          <p:nvPr/>
        </p:nvSpPr>
        <p:spPr>
          <a:xfrm>
            <a:off x="3500552" y="2221992"/>
            <a:ext cx="402336" cy="402336"/>
          </a:xfrm>
          <a:prstGeom prst="ellipse">
            <a:avLst/>
          </a:prstGeom>
          <a:solidFill>
            <a:schemeClr val="bg1"/>
          </a:solidFill>
          <a:ln w="38100">
            <a:solidFill>
              <a:schemeClr val="accent1"/>
            </a:solidFill>
            <a:prstDash val="solid"/>
          </a:ln>
        </p:spPr>
      </p:sp>
      <p:sp>
        <p:nvSpPr>
          <p:cNvPr id="12" name="card"/>
          <p:cNvSpPr/>
          <p:nvPr/>
        </p:nvSpPr>
        <p:spPr>
          <a:xfrm>
            <a:off x="3409112" y="2834640"/>
            <a:ext cx="2595296" cy="2377440"/>
          </a:xfrm>
          <a:prstGeom prst="roundRect">
            <a:avLst>
              <a:gd name="adj" fmla="val 3077"/>
            </a:avLst>
          </a:prstGeom>
          <a:solidFill>
            <a:schemeClr val="bg1"/>
          </a:solidFill>
          <a:ln w="12700">
            <a:solidFill>
              <a:schemeClr val="accent5"/>
            </a:solidFill>
            <a:prstDash val="solid"/>
          </a:ln>
        </p:spPr>
      </p:sp>
      <p:sp>
        <p:nvSpPr>
          <p:cNvPr id="13" name="Text 11"/>
          <p:cNvSpPr txBox="1"/>
          <p:nvPr/>
        </p:nvSpPr>
        <p:spPr>
          <a:xfrm>
            <a:off x="3637712"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 90</a:t>
            </a:r>
            <a:endParaRPr lang="en-US" sz="1050" dirty="0"/>
          </a:p>
        </p:txBody>
      </p:sp>
      <p:sp>
        <p:nvSpPr>
          <p:cNvPr id="14" name="Text 12"/>
          <p:cNvSpPr txBox="1"/>
          <p:nvPr/>
        </p:nvSpPr>
        <p:spPr>
          <a:xfrm>
            <a:off x="3637712"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Onboarding review</a:t>
            </a:r>
            <a:endParaRPr lang="en-US" sz="1600" dirty="0"/>
          </a:p>
        </p:txBody>
      </p:sp>
      <p:sp>
        <p:nvSpPr>
          <p:cNvPr id="15" name="Text 13"/>
          <p:cNvSpPr txBox="1"/>
          <p:nvPr/>
        </p:nvSpPr>
        <p:spPr>
          <a:xfrm>
            <a:off x="3637712"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Resolving most issues alone, with few escalations. Target: Stage 3, Outcome Owner.</a:t>
            </a:r>
            <a:endParaRPr lang="en-US" sz="1200" dirty="0"/>
          </a:p>
        </p:txBody>
      </p:sp>
      <p:sp>
        <p:nvSpPr>
          <p:cNvPr id="16" name="milestone 3"/>
          <p:cNvSpPr/>
          <p:nvPr/>
        </p:nvSpPr>
        <p:spPr>
          <a:xfrm>
            <a:off x="6278728" y="2221992"/>
            <a:ext cx="402336" cy="402336"/>
          </a:xfrm>
          <a:prstGeom prst="ellipse">
            <a:avLst/>
          </a:prstGeom>
          <a:solidFill>
            <a:schemeClr val="bg1"/>
          </a:solidFill>
          <a:ln w="38100">
            <a:solidFill>
              <a:schemeClr val="accent1"/>
            </a:solidFill>
            <a:prstDash val="solid"/>
          </a:ln>
        </p:spPr>
      </p:sp>
      <p:sp>
        <p:nvSpPr>
          <p:cNvPr id="17" name="card"/>
          <p:cNvSpPr/>
          <p:nvPr/>
        </p:nvSpPr>
        <p:spPr>
          <a:xfrm>
            <a:off x="6187288" y="2834640"/>
            <a:ext cx="2595296" cy="2377440"/>
          </a:xfrm>
          <a:prstGeom prst="roundRect">
            <a:avLst>
              <a:gd name="adj" fmla="val 3077"/>
            </a:avLst>
          </a:prstGeom>
          <a:solidFill>
            <a:schemeClr val="bg1"/>
          </a:solidFill>
          <a:ln w="12700">
            <a:solidFill>
              <a:schemeClr val="accent5"/>
            </a:solidFill>
            <a:prstDash val="solid"/>
          </a:ln>
        </p:spPr>
      </p:sp>
      <p:sp>
        <p:nvSpPr>
          <p:cNvPr id="18" name="Text 16"/>
          <p:cNvSpPr txBox="1"/>
          <p:nvPr/>
        </p:nvSpPr>
        <p:spPr>
          <a:xfrm>
            <a:off x="6415888"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MONTH 6</a:t>
            </a:r>
            <a:endParaRPr lang="en-US" sz="1050" dirty="0"/>
          </a:p>
        </p:txBody>
      </p:sp>
      <p:sp>
        <p:nvSpPr>
          <p:cNvPr id="19" name="Text 17"/>
          <p:cNvSpPr txBox="1"/>
          <p:nvPr/>
        </p:nvSpPr>
        <p:spPr>
          <a:xfrm>
            <a:off x="6415888"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Freedom Review</a:t>
            </a:r>
            <a:endParaRPr lang="en-US" sz="1600" dirty="0"/>
          </a:p>
        </p:txBody>
      </p:sp>
      <p:sp>
        <p:nvSpPr>
          <p:cNvPr id="20" name="Text 18"/>
          <p:cNvSpPr txBox="1"/>
          <p:nvPr/>
        </p:nvSpPr>
        <p:spPr>
          <a:xfrm>
            <a:off x="6415888"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After-sales support runs without Rob or Rachel’s input. Target: Stage 5, Freedom.</a:t>
            </a:r>
            <a:endParaRPr lang="en-US" sz="1200" dirty="0"/>
          </a:p>
        </p:txBody>
      </p:sp>
      <p:sp>
        <p:nvSpPr>
          <p:cNvPr id="21" name="milestone 4"/>
          <p:cNvSpPr/>
          <p:nvPr/>
        </p:nvSpPr>
        <p:spPr>
          <a:xfrm>
            <a:off x="9056903" y="2221992"/>
            <a:ext cx="402336" cy="402336"/>
          </a:xfrm>
          <a:prstGeom prst="ellipse">
            <a:avLst/>
          </a:prstGeom>
          <a:solidFill>
            <a:schemeClr val="accent1"/>
          </a:solidFill>
          <a:ln w="38100">
            <a:solidFill>
              <a:schemeClr val="accent1"/>
            </a:solidFill>
            <a:prstDash val="solid"/>
          </a:ln>
        </p:spPr>
      </p:sp>
      <p:sp>
        <p:nvSpPr>
          <p:cNvPr id="22" name="card"/>
          <p:cNvSpPr/>
          <p:nvPr/>
        </p:nvSpPr>
        <p:spPr>
          <a:xfrm>
            <a:off x="8965463" y="2834640"/>
            <a:ext cx="2595296" cy="2377440"/>
          </a:xfrm>
          <a:prstGeom prst="roundRect">
            <a:avLst>
              <a:gd name="adj" fmla="val 3077"/>
            </a:avLst>
          </a:prstGeom>
          <a:solidFill>
            <a:schemeClr val="accent4"/>
          </a:solidFill>
          <a:ln/>
        </p:spPr>
      </p:sp>
      <p:sp>
        <p:nvSpPr>
          <p:cNvPr id="23" name="Text 21"/>
          <p:cNvSpPr txBox="1"/>
          <p:nvPr/>
        </p:nvSpPr>
        <p:spPr>
          <a:xfrm>
            <a:off x="9194063"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MONTH 12</a:t>
            </a:r>
            <a:endParaRPr lang="en-US" sz="1050" dirty="0"/>
          </a:p>
        </p:txBody>
      </p:sp>
      <p:sp>
        <p:nvSpPr>
          <p:cNvPr id="24" name="Text 22"/>
          <p:cNvSpPr txBox="1"/>
          <p:nvPr/>
        </p:nvSpPr>
        <p:spPr>
          <a:xfrm>
            <a:off x="9194063"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Anniversary review</a:t>
            </a:r>
            <a:endParaRPr lang="en-US" sz="1600" dirty="0"/>
          </a:p>
        </p:txBody>
      </p:sp>
      <p:sp>
        <p:nvSpPr>
          <p:cNvPr id="25" name="Text 23"/>
          <p:cNvSpPr txBox="1"/>
          <p:nvPr/>
        </p:nvSpPr>
        <p:spPr>
          <a:xfrm>
            <a:off x="9194063"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Celebrate the year, measure hours back, and plan the next stage of growth together.</a:t>
            </a:r>
            <a:endParaRPr lang="en-US" sz="1200" dirty="0"/>
          </a:p>
        </p:txBody>
      </p:sp>
      <p:sp>
        <p:nvSpPr>
          <p:cNvPr id="26" name="Text 24"/>
          <p:cNvSpPr txBox="1"/>
          <p:nvPr/>
        </p:nvSpPr>
        <p:spPr>
          <a:xfrm>
            <a:off x="630936" y="5806440"/>
            <a:ext cx="10929823" cy="365760"/>
          </a:xfrm>
          <a:prstGeom prst="rect">
            <a:avLst/>
          </a:prstGeom>
          <a:noFill/>
          <a:ln/>
        </p:spPr>
        <p:txBody>
          <a:bodyPr wrap="square" lIns="0" tIns="0" rIns="0" bIns="0" rtlCol="0" anchor="ctr"/>
          <a:lstStyle/>
          <a:p>
            <a:pPr indent="0" marL="0">
              <a:buNone/>
            </a:pPr>
            <a:r>
              <a:rPr lang="en-US" sz="1200" b="1" dirty="0">
                <a:solidFill>
                  <a:schemeClr val="accent1"/>
                </a:solidFill>
              </a:rPr>
              <a:t>Every week: </a:t>
            </a:r>
            <a:pPr indent="0" marL="0">
              <a:buNone/>
            </a:pPr>
            <a:r>
              <a:rPr lang="en-US" sz="1200" dirty="0">
                <a:solidFill>
                  <a:schemeClr val="accent3"/>
                </a:solidFill>
              </a:rPr>
              <a:t>quick check-in with your Specialist.   </a:t>
            </a:r>
            <a:pPr indent="0" marL="0">
              <a:buNone/>
            </a:pPr>
            <a:r>
              <a:rPr lang="en-US" sz="1200" b="1" dirty="0">
                <a:solidFill>
                  <a:schemeClr val="accent1"/>
                </a:solidFill>
              </a:rPr>
              <a:t>Every month: </a:t>
            </a:r>
            <a:pPr indent="0" marL="0">
              <a:buNone/>
            </a:pPr>
            <a:r>
              <a:rPr lang="en-US" sz="1200" dirty="0">
                <a:solidFill>
                  <a:schemeClr val="accent3"/>
                </a:solidFill>
              </a:rPr>
              <a:t>KPI check-in.   </a:t>
            </a:r>
            <a:pPr indent="0" marL="0">
              <a:buNone/>
            </a:pPr>
            <a:r>
              <a:rPr lang="en-US" sz="1200" b="1" dirty="0">
                <a:solidFill>
                  <a:schemeClr val="accent1"/>
                </a:solidFill>
              </a:rPr>
              <a:t>Any time: </a:t>
            </a:r>
            <a:pPr indent="0" marL="0">
              <a:buNone/>
            </a:pPr>
            <a:r>
              <a:rPr lang="en-US" sz="1200" dirty="0">
                <a:solidFill>
                  <a:schemeClr val="accent3"/>
                </a:solidFill>
              </a:rPr>
              <a:t>raise anything with your Account Manager.</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02</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First 90 Days</a:t>
            </a:r>
            <a:endParaRPr lang="en-US" sz="3000" dirty="0"/>
          </a:p>
        </p:txBody>
      </p:sp>
      <p:sp>
        <p:nvSpPr>
          <p:cNvPr id="4" name="card"/>
          <p:cNvSpPr/>
          <p:nvPr/>
        </p:nvSpPr>
        <p:spPr>
          <a:xfrm>
            <a:off x="630936" y="1463040"/>
            <a:ext cx="10929823" cy="1463040"/>
          </a:xfrm>
          <a:prstGeom prst="roundRect">
            <a:avLst>
              <a:gd name="adj" fmla="val 5000"/>
            </a:avLst>
          </a:prstGeom>
          <a:solidFill>
            <a:schemeClr val="bg1"/>
          </a:solidFill>
          <a:ln w="12700">
            <a:solidFill>
              <a:schemeClr val="accent5"/>
            </a:solidFill>
            <a:prstDash val="solid"/>
          </a:ln>
        </p:spPr>
      </p:sp>
      <p:sp>
        <p:nvSpPr>
          <p:cNvPr id="5" name="Text 3"/>
          <p:cNvSpPr txBox="1"/>
          <p:nvPr/>
        </p:nvSpPr>
        <p:spPr>
          <a:xfrm>
            <a:off x="905256" y="16459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1–30</a:t>
            </a:r>
            <a:endParaRPr lang="en-US" sz="1050" dirty="0"/>
          </a:p>
        </p:txBody>
      </p:sp>
      <p:sp>
        <p:nvSpPr>
          <p:cNvPr id="6" name="Text 4"/>
          <p:cNvSpPr txBox="1"/>
          <p:nvPr/>
        </p:nvSpPr>
        <p:spPr>
          <a:xfrm>
            <a:off x="905256" y="19202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Learn Arova’s products, policies, Shopify order flow and warehouse process. Shadow live enquiries, then take over routine order and delivery enquiries with replies reviewed, logging every issue.</a:t>
            </a:r>
            <a:endParaRPr lang="en-US" sz="1200" dirty="0"/>
          </a:p>
        </p:txBody>
      </p:sp>
      <p:sp>
        <p:nvSpPr>
          <p:cNvPr id="7" name="card"/>
          <p:cNvSpPr/>
          <p:nvPr/>
        </p:nvSpPr>
        <p:spPr>
          <a:xfrm>
            <a:off x="905256" y="2423160"/>
            <a:ext cx="10381183" cy="365760"/>
          </a:xfrm>
          <a:prstGeom prst="roundRect">
            <a:avLst>
              <a:gd name="adj" fmla="val 20000"/>
            </a:avLst>
          </a:prstGeom>
          <a:solidFill>
            <a:schemeClr val="accent4"/>
          </a:solidFill>
          <a:ln/>
        </p:spPr>
      </p:sp>
      <p:sp>
        <p:nvSpPr>
          <p:cNvPr id="8" name="Text 6"/>
          <p:cNvSpPr txBox="1"/>
          <p:nvPr/>
        </p:nvSpPr>
        <p:spPr>
          <a:xfrm>
            <a:off x="1088136" y="24231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Customers get prompt replies, and every open issue is logged and visible.</a:t>
            </a:r>
            <a:endParaRPr lang="en-US" sz="1150" dirty="0"/>
          </a:p>
        </p:txBody>
      </p:sp>
      <p:sp>
        <p:nvSpPr>
          <p:cNvPr id="9" name="card"/>
          <p:cNvSpPr/>
          <p:nvPr/>
        </p:nvSpPr>
        <p:spPr>
          <a:xfrm>
            <a:off x="630936" y="3063240"/>
            <a:ext cx="10929823" cy="1463040"/>
          </a:xfrm>
          <a:prstGeom prst="roundRect">
            <a:avLst>
              <a:gd name="adj" fmla="val 5000"/>
            </a:avLst>
          </a:prstGeom>
          <a:solidFill>
            <a:schemeClr val="bg1"/>
          </a:solidFill>
          <a:ln w="12700">
            <a:solidFill>
              <a:schemeClr val="accent5"/>
            </a:solidFill>
            <a:prstDash val="solid"/>
          </a:ln>
        </p:spPr>
      </p:sp>
      <p:sp>
        <p:nvSpPr>
          <p:cNvPr id="10" name="Text 8"/>
          <p:cNvSpPr txBox="1"/>
          <p:nvPr/>
        </p:nvSpPr>
        <p:spPr>
          <a:xfrm>
            <a:off x="905256" y="32461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31–60</a:t>
            </a:r>
            <a:endParaRPr lang="en-US" sz="1050" dirty="0"/>
          </a:p>
        </p:txBody>
      </p:sp>
      <p:sp>
        <p:nvSpPr>
          <p:cNvPr id="11" name="Text 9"/>
          <p:cNvSpPr txBox="1"/>
          <p:nvPr/>
        </p:nvSpPr>
        <p:spPr>
          <a:xfrm>
            <a:off x="905256" y="35204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Own returns, refunds and delivery enquiries end to end. Run a daily follow-up with the warehouse on delayed orders, and escalate only what needs the team.</a:t>
            </a:r>
            <a:endParaRPr lang="en-US" sz="1200" dirty="0"/>
          </a:p>
        </p:txBody>
      </p:sp>
      <p:sp>
        <p:nvSpPr>
          <p:cNvPr id="12" name="card"/>
          <p:cNvSpPr/>
          <p:nvPr/>
        </p:nvSpPr>
        <p:spPr>
          <a:xfrm>
            <a:off x="905256" y="4023360"/>
            <a:ext cx="10381183" cy="365760"/>
          </a:xfrm>
          <a:prstGeom prst="roundRect">
            <a:avLst>
              <a:gd name="adj" fmla="val 20000"/>
            </a:avLst>
          </a:prstGeom>
          <a:solidFill>
            <a:schemeClr val="accent4"/>
          </a:solidFill>
          <a:ln/>
        </p:spPr>
      </p:sp>
      <p:sp>
        <p:nvSpPr>
          <p:cNvPr id="13" name="Text 11"/>
          <p:cNvSpPr txBox="1"/>
          <p:nvPr/>
        </p:nvSpPr>
        <p:spPr>
          <a:xfrm>
            <a:off x="1088136" y="40233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Most enquiries resolved independently, with escalations reducing week on week.</a:t>
            </a:r>
            <a:endParaRPr lang="en-US" sz="1150" dirty="0"/>
          </a:p>
        </p:txBody>
      </p:sp>
      <p:sp>
        <p:nvSpPr>
          <p:cNvPr id="14" name="card"/>
          <p:cNvSpPr/>
          <p:nvPr/>
        </p:nvSpPr>
        <p:spPr>
          <a:xfrm>
            <a:off x="630936" y="4663440"/>
            <a:ext cx="10929823" cy="1463040"/>
          </a:xfrm>
          <a:prstGeom prst="roundRect">
            <a:avLst>
              <a:gd name="adj" fmla="val 5000"/>
            </a:avLst>
          </a:prstGeom>
          <a:solidFill>
            <a:schemeClr val="bg1"/>
          </a:solidFill>
          <a:ln w="12700">
            <a:solidFill>
              <a:schemeClr val="accent5"/>
            </a:solidFill>
            <a:prstDash val="solid"/>
          </a:ln>
        </p:spPr>
      </p:sp>
      <p:sp>
        <p:nvSpPr>
          <p:cNvPr id="15" name="Text 13"/>
          <p:cNvSpPr txBox="1"/>
          <p:nvPr/>
        </p:nvSpPr>
        <p:spPr>
          <a:xfrm>
            <a:off x="905256" y="48463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61–90</a:t>
            </a:r>
            <a:endParaRPr lang="en-US" sz="1050" dirty="0"/>
          </a:p>
        </p:txBody>
      </p:sp>
      <p:sp>
        <p:nvSpPr>
          <p:cNvPr id="16" name="Text 14"/>
          <p:cNvSpPr txBox="1"/>
          <p:nvPr/>
        </p:nvSpPr>
        <p:spPr>
          <a:xfrm>
            <a:off x="905256" y="51206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Operate as Arova’s after-sales owner: prompt replies, accurate returns and refunds, proactive warehouse follow-up and customers kept informed.</a:t>
            </a:r>
            <a:endParaRPr lang="en-US" sz="1200" dirty="0"/>
          </a:p>
        </p:txBody>
      </p:sp>
      <p:sp>
        <p:nvSpPr>
          <p:cNvPr id="17" name="card"/>
          <p:cNvSpPr/>
          <p:nvPr/>
        </p:nvSpPr>
        <p:spPr>
          <a:xfrm>
            <a:off x="905256" y="5623560"/>
            <a:ext cx="10381183" cy="365760"/>
          </a:xfrm>
          <a:prstGeom prst="roundRect">
            <a:avLst>
              <a:gd name="adj" fmla="val 20000"/>
            </a:avLst>
          </a:prstGeom>
          <a:solidFill>
            <a:schemeClr val="accent4"/>
          </a:solidFill>
          <a:ln/>
        </p:spPr>
      </p:sp>
      <p:sp>
        <p:nvSpPr>
          <p:cNvPr id="18" name="Text 16"/>
          <p:cNvSpPr txBox="1"/>
          <p:nvPr/>
        </p:nvSpPr>
        <p:spPr>
          <a:xfrm>
            <a:off x="1088136" y="56235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Rob and Rachel no longer need to step into day-to-day customer service.</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03</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Hours, Timezone &amp; Training</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Full-time from Day 1: Mon–Fri, 9am–6pm Melbourne time, 40 hrs/week with a 1-hour unpaid lunch. Customer-facing by email and phone.</a:t>
            </a:r>
            <a:endParaRPr lang="en-US" sz="1300" dirty="0"/>
          </a:p>
        </p:txBody>
      </p:sp>
      <p:sp>
        <p:nvSpPr>
          <p:cNvPr id="5" name="card"/>
          <p:cNvSpPr/>
          <p:nvPr/>
        </p:nvSpPr>
        <p:spPr>
          <a:xfrm>
            <a:off x="630936" y="2103120"/>
            <a:ext cx="2595296" cy="3017520"/>
          </a:xfrm>
          <a:prstGeom prst="roundRect">
            <a:avLst>
              <a:gd name="adj" fmla="val 2819"/>
            </a:avLst>
          </a:prstGeom>
          <a:solidFill>
            <a:schemeClr val="bg2"/>
          </a:solidFill>
          <a:ln/>
        </p:spPr>
      </p:sp>
      <p:sp>
        <p:nvSpPr>
          <p:cNvPr id="6" name="Text 4"/>
          <p:cNvSpPr txBox="1"/>
          <p:nvPr/>
        </p:nvSpPr>
        <p:spPr>
          <a:xfrm>
            <a:off x="859536"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1</a:t>
            </a:r>
            <a:endParaRPr lang="en-US" sz="1050" dirty="0"/>
          </a:p>
        </p:txBody>
      </p:sp>
      <p:sp>
        <p:nvSpPr>
          <p:cNvPr id="7" name="Text 5"/>
          <p:cNvSpPr txBox="1"/>
          <p:nvPr/>
        </p:nvSpPr>
        <p:spPr>
          <a:xfrm>
            <a:off x="859536"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Products &amp; Policies Immersion</a:t>
            </a:r>
            <a:endParaRPr lang="en-US" sz="1500" dirty="0"/>
          </a:p>
        </p:txBody>
      </p:sp>
      <p:sp>
        <p:nvSpPr>
          <p:cNvPr id="8" name="Text 6"/>
          <p:cNvSpPr txBox="1"/>
          <p:nvPr/>
        </p:nvSpPr>
        <p:spPr>
          <a:xfrm>
            <a:off x="859536"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Learn Arova’s products, policies, Shopify order flow and tone of voice.</a:t>
            </a:r>
            <a:endParaRPr lang="en-US" sz="1200" dirty="0"/>
          </a:p>
        </p:txBody>
      </p:sp>
      <p:sp>
        <p:nvSpPr>
          <p:cNvPr id="9" name="card"/>
          <p:cNvSpPr/>
          <p:nvPr/>
        </p:nvSpPr>
        <p:spPr>
          <a:xfrm>
            <a:off x="3409112" y="2103120"/>
            <a:ext cx="2595296" cy="3017520"/>
          </a:xfrm>
          <a:prstGeom prst="roundRect">
            <a:avLst>
              <a:gd name="adj" fmla="val 2819"/>
            </a:avLst>
          </a:prstGeom>
          <a:solidFill>
            <a:schemeClr val="bg2"/>
          </a:solidFill>
          <a:ln/>
        </p:spPr>
      </p:sp>
      <p:sp>
        <p:nvSpPr>
          <p:cNvPr id="10" name="Text 8"/>
          <p:cNvSpPr txBox="1"/>
          <p:nvPr/>
        </p:nvSpPr>
        <p:spPr>
          <a:xfrm>
            <a:off x="3637712"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2</a:t>
            </a:r>
            <a:endParaRPr lang="en-US" sz="1050" dirty="0"/>
          </a:p>
        </p:txBody>
      </p:sp>
      <p:sp>
        <p:nvSpPr>
          <p:cNvPr id="11" name="Text 9"/>
          <p:cNvSpPr txBox="1"/>
          <p:nvPr/>
        </p:nvSpPr>
        <p:spPr>
          <a:xfrm>
            <a:off x="3637712"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Order &amp; Delivery Enquiries</a:t>
            </a:r>
            <a:endParaRPr lang="en-US" sz="1500" dirty="0"/>
          </a:p>
        </p:txBody>
      </p:sp>
      <p:sp>
        <p:nvSpPr>
          <p:cNvPr id="12" name="Text 10"/>
          <p:cNvSpPr txBox="1"/>
          <p:nvPr/>
        </p:nvSpPr>
        <p:spPr>
          <a:xfrm>
            <a:off x="3637712"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Handle routine order and delivery enquiries, with replies reviewed.</a:t>
            </a:r>
            <a:endParaRPr lang="en-US" sz="1200" dirty="0"/>
          </a:p>
        </p:txBody>
      </p:sp>
      <p:sp>
        <p:nvSpPr>
          <p:cNvPr id="13" name="card"/>
          <p:cNvSpPr/>
          <p:nvPr/>
        </p:nvSpPr>
        <p:spPr>
          <a:xfrm>
            <a:off x="6187288" y="2103120"/>
            <a:ext cx="2595296" cy="3017520"/>
          </a:xfrm>
          <a:prstGeom prst="roundRect">
            <a:avLst>
              <a:gd name="adj" fmla="val 2819"/>
            </a:avLst>
          </a:prstGeom>
          <a:solidFill>
            <a:schemeClr val="bg2"/>
          </a:solidFill>
          <a:ln/>
        </p:spPr>
      </p:sp>
      <p:sp>
        <p:nvSpPr>
          <p:cNvPr id="14" name="Text 12"/>
          <p:cNvSpPr txBox="1"/>
          <p:nvPr/>
        </p:nvSpPr>
        <p:spPr>
          <a:xfrm>
            <a:off x="6415888"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3</a:t>
            </a:r>
            <a:endParaRPr lang="en-US" sz="1050" dirty="0"/>
          </a:p>
        </p:txBody>
      </p:sp>
      <p:sp>
        <p:nvSpPr>
          <p:cNvPr id="15" name="Text 13"/>
          <p:cNvSpPr txBox="1"/>
          <p:nvPr/>
        </p:nvSpPr>
        <p:spPr>
          <a:xfrm>
            <a:off x="6415888"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Returns &amp; Refunds Ramp-Up</a:t>
            </a:r>
            <a:endParaRPr lang="en-US" sz="1500" dirty="0"/>
          </a:p>
        </p:txBody>
      </p:sp>
      <p:sp>
        <p:nvSpPr>
          <p:cNvPr id="16" name="Text 14"/>
          <p:cNvSpPr txBox="1"/>
          <p:nvPr/>
        </p:nvSpPr>
        <p:spPr>
          <a:xfrm>
            <a:off x="6415888"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Process returns and refunds per company procedures, with sign-off.</a:t>
            </a:r>
            <a:endParaRPr lang="en-US" sz="1200" dirty="0"/>
          </a:p>
        </p:txBody>
      </p:sp>
      <p:sp>
        <p:nvSpPr>
          <p:cNvPr id="17" name="card"/>
          <p:cNvSpPr/>
          <p:nvPr/>
        </p:nvSpPr>
        <p:spPr>
          <a:xfrm>
            <a:off x="8965463" y="2103120"/>
            <a:ext cx="2595296" cy="3017520"/>
          </a:xfrm>
          <a:prstGeom prst="roundRect">
            <a:avLst>
              <a:gd name="adj" fmla="val 2819"/>
            </a:avLst>
          </a:prstGeom>
          <a:solidFill>
            <a:schemeClr val="bg2"/>
          </a:solidFill>
          <a:ln/>
        </p:spPr>
      </p:sp>
      <p:sp>
        <p:nvSpPr>
          <p:cNvPr id="18" name="Text 16"/>
          <p:cNvSpPr txBox="1"/>
          <p:nvPr/>
        </p:nvSpPr>
        <p:spPr>
          <a:xfrm>
            <a:off x="9194063"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4</a:t>
            </a:r>
            <a:endParaRPr lang="en-US" sz="1050" dirty="0"/>
          </a:p>
        </p:txBody>
      </p:sp>
      <p:sp>
        <p:nvSpPr>
          <p:cNvPr id="19" name="Text 17"/>
          <p:cNvSpPr txBox="1"/>
          <p:nvPr/>
        </p:nvSpPr>
        <p:spPr>
          <a:xfrm>
            <a:off x="9194063"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Warehouse Follow-Up &amp; Ownership</a:t>
            </a:r>
            <a:endParaRPr lang="en-US" sz="1500" dirty="0"/>
          </a:p>
        </p:txBody>
      </p:sp>
      <p:sp>
        <p:nvSpPr>
          <p:cNvPr id="20" name="Text 18"/>
          <p:cNvSpPr txBox="1"/>
          <p:nvPr/>
        </p:nvSpPr>
        <p:spPr>
          <a:xfrm>
            <a:off x="9194063"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Run the daily warehouse follow-up and own issues to resolution.</a:t>
            </a:r>
            <a:endParaRPr lang="en-US" sz="1200" dirty="0"/>
          </a:p>
        </p:txBody>
      </p:sp>
      <p:sp>
        <p:nvSpPr>
          <p:cNvPr id="21" name="callout"/>
          <p:cNvSpPr/>
          <p:nvPr/>
        </p:nvSpPr>
        <p:spPr>
          <a:xfrm>
            <a:off x="630936" y="5349240"/>
            <a:ext cx="10929823" cy="548640"/>
          </a:xfrm>
          <a:prstGeom prst="roundRect">
            <a:avLst>
              <a:gd name="adj" fmla="val 13333"/>
            </a:avLst>
          </a:prstGeom>
          <a:solidFill>
            <a:schemeClr val="accent4"/>
          </a:solidFill>
          <a:ln/>
        </p:spPr>
      </p:sp>
      <p:sp>
        <p:nvSpPr>
          <p:cNvPr id="22" name="Text 20"/>
          <p:cNvSpPr txBox="1"/>
          <p:nvPr/>
        </p:nvSpPr>
        <p:spPr>
          <a:xfrm>
            <a:off x="859536" y="534924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Review scope at each milestone. As order volume grows, we can add other Shopify-related tasks or plan a second Angel.</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Working with Rob &amp; Rachel</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Written together by Rob, Rachel and their Specialist in Week 1, and updated as they learn each other’s style.</a:t>
            </a:r>
            <a:endParaRPr lang="en-US" sz="1300" dirty="0"/>
          </a:p>
        </p:txBody>
      </p:sp>
      <p:sp>
        <p:nvSpPr>
          <p:cNvPr id="6" name="card"/>
          <p:cNvSpPr/>
          <p:nvPr/>
        </p:nvSpPr>
        <p:spPr>
          <a:xfrm>
            <a:off x="630936" y="1965960"/>
            <a:ext cx="5486400" cy="1143000"/>
          </a:xfrm>
          <a:prstGeom prst="roundRect">
            <a:avLst>
              <a:gd name="adj" fmla="val 6400"/>
            </a:avLst>
          </a:prstGeom>
          <a:solidFill>
            <a:schemeClr val="bg2"/>
          </a:solidFill>
          <a:ln/>
        </p:spPr>
      </p:sp>
      <p:sp>
        <p:nvSpPr>
          <p:cNvPr id="7" name="Text 4"/>
          <p:cNvSpPr txBox="1"/>
          <p:nvPr/>
        </p:nvSpPr>
        <p:spPr>
          <a:xfrm>
            <a:off x="905256" y="210312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HOW ROB &amp; RACHEL WORK</a:t>
            </a:r>
            <a:endParaRPr lang="en-US" sz="1050" dirty="0"/>
          </a:p>
        </p:txBody>
      </p:sp>
      <p:sp>
        <p:nvSpPr>
          <p:cNvPr id="8" name="Text 5"/>
          <p:cNvSpPr txBox="1"/>
          <p:nvPr/>
        </p:nvSpPr>
        <p:spPr>
          <a:xfrm>
            <a:off x="905256" y="237744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Rob leads; Rachel is closely involved in operations and hiring. The warehouse team handles fulfilment; anything outside procedure goes to the internal team.</a:t>
            </a:r>
            <a:endParaRPr lang="en-US" sz="1200" dirty="0"/>
          </a:p>
        </p:txBody>
      </p:sp>
      <p:sp>
        <p:nvSpPr>
          <p:cNvPr id="9" name="card"/>
          <p:cNvSpPr/>
          <p:nvPr/>
        </p:nvSpPr>
        <p:spPr>
          <a:xfrm>
            <a:off x="630936" y="3246120"/>
            <a:ext cx="5486400" cy="1143000"/>
          </a:xfrm>
          <a:prstGeom prst="roundRect">
            <a:avLst>
              <a:gd name="adj" fmla="val 6400"/>
            </a:avLst>
          </a:prstGeom>
          <a:solidFill>
            <a:schemeClr val="bg2"/>
          </a:solidFill>
          <a:ln/>
        </p:spPr>
      </p:sp>
      <p:sp>
        <p:nvSpPr>
          <p:cNvPr id="10" name="Text 7"/>
          <p:cNvSpPr txBox="1"/>
          <p:nvPr/>
        </p:nvSpPr>
        <p:spPr>
          <a:xfrm>
            <a:off x="905256" y="338328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MATTERS MOST</a:t>
            </a:r>
            <a:endParaRPr lang="en-US" sz="1050" dirty="0"/>
          </a:p>
        </p:txBody>
      </p:sp>
      <p:sp>
        <p:nvSpPr>
          <p:cNvPr id="11" name="Text 8"/>
          <p:cNvSpPr txBox="1"/>
          <p:nvPr/>
        </p:nvSpPr>
        <p:spPr>
          <a:xfrm>
            <a:off x="905256" y="365760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Customer data kept secure. Clear, professional English Australian customers understand easily. Every issue owned and followed through, not passed on.</a:t>
            </a:r>
            <a:endParaRPr lang="en-US" sz="1200" dirty="0"/>
          </a:p>
        </p:txBody>
      </p:sp>
      <p:sp>
        <p:nvSpPr>
          <p:cNvPr id="12" name="card"/>
          <p:cNvSpPr/>
          <p:nvPr/>
        </p:nvSpPr>
        <p:spPr>
          <a:xfrm>
            <a:off x="630936" y="4526280"/>
            <a:ext cx="5486400" cy="1143000"/>
          </a:xfrm>
          <a:prstGeom prst="roundRect">
            <a:avLst>
              <a:gd name="adj" fmla="val 6400"/>
            </a:avLst>
          </a:prstGeom>
          <a:solidFill>
            <a:schemeClr val="bg2"/>
          </a:solidFill>
          <a:ln/>
        </p:spPr>
      </p:sp>
      <p:sp>
        <p:nvSpPr>
          <p:cNvPr id="13" name="Text 10"/>
          <p:cNvSpPr txBox="1"/>
          <p:nvPr/>
        </p:nvSpPr>
        <p:spPr>
          <a:xfrm>
            <a:off x="905256" y="466344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BUSIEST TIMES</a:t>
            </a:r>
            <a:endParaRPr lang="en-US" sz="1050" dirty="0"/>
          </a:p>
        </p:txBody>
      </p:sp>
      <p:sp>
        <p:nvSpPr>
          <p:cNvPr id="14" name="Text 11"/>
          <p:cNvSpPr txBox="1"/>
          <p:nvPr/>
        </p:nvSpPr>
        <p:spPr>
          <a:xfrm>
            <a:off x="905256" y="493776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To confirm in Week 1: peak order, delivery and returns periods, and how Rob and Rachel want to be updated during them.</a:t>
            </a:r>
            <a:endParaRPr lang="en-US" sz="1200" dirty="0"/>
          </a:p>
        </p:txBody>
      </p:sp>
      <p:sp>
        <p:nvSpPr>
          <p:cNvPr id="15" name="card"/>
          <p:cNvSpPr/>
          <p:nvPr/>
        </p:nvSpPr>
        <p:spPr>
          <a:xfrm>
            <a:off x="6345936" y="1965960"/>
            <a:ext cx="5214823" cy="3703320"/>
          </a:xfrm>
          <a:prstGeom prst="roundRect">
            <a:avLst>
              <a:gd name="adj" fmla="val 1975"/>
            </a:avLst>
          </a:prstGeom>
          <a:solidFill>
            <a:schemeClr val="bg1"/>
          </a:solidFill>
          <a:ln w="12700">
            <a:solidFill>
              <a:schemeClr val="accent5"/>
            </a:solidFill>
            <a:prstDash val="solid"/>
          </a:ln>
        </p:spPr>
      </p:sp>
      <p:sp>
        <p:nvSpPr>
          <p:cNvPr id="16" name="Text 13"/>
          <p:cNvSpPr txBox="1"/>
          <p:nvPr/>
        </p:nvSpPr>
        <p:spPr>
          <a:xfrm>
            <a:off x="6620256" y="2103120"/>
            <a:ext cx="466618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COMPLETE TOGETHER IN WEEK 1</a:t>
            </a:r>
            <a:endParaRPr lang="en-US" sz="1050" dirty="0"/>
          </a:p>
        </p:txBody>
      </p:sp>
      <p:sp>
        <p:nvSpPr>
          <p:cNvPr id="17" name="Text 14"/>
          <p:cNvSpPr txBox="1"/>
          <p:nvPr/>
        </p:nvSpPr>
        <p:spPr>
          <a:xfrm>
            <a:off x="6620256" y="2468880"/>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Preferred update format and time of day:</a:t>
            </a:r>
            <a:endParaRPr lang="en-US" sz="1150" dirty="0"/>
          </a:p>
        </p:txBody>
      </p:sp>
      <p:sp>
        <p:nvSpPr>
          <p:cNvPr id="18" name="write line 1"/>
          <p:cNvSpPr/>
          <p:nvPr/>
        </p:nvSpPr>
        <p:spPr>
          <a:xfrm>
            <a:off x="6620256" y="2898648"/>
            <a:ext cx="4666183" cy="0"/>
          </a:xfrm>
          <a:prstGeom prst="line">
            <a:avLst/>
          </a:prstGeom>
          <a:noFill/>
          <a:ln w="12700">
            <a:solidFill>
              <a:schemeClr val="accent5"/>
            </a:solidFill>
            <a:prstDash val="solid"/>
          </a:ln>
        </p:spPr>
      </p:sp>
      <p:sp>
        <p:nvSpPr>
          <p:cNvPr id="19" name="Text 16"/>
          <p:cNvSpPr txBox="1"/>
          <p:nvPr/>
        </p:nvSpPr>
        <p:spPr>
          <a:xfrm>
            <a:off x="6620256" y="2990088"/>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When to interrupt, and when to wait:</a:t>
            </a:r>
            <a:endParaRPr lang="en-US" sz="1150" dirty="0"/>
          </a:p>
        </p:txBody>
      </p:sp>
      <p:sp>
        <p:nvSpPr>
          <p:cNvPr id="20" name="write line 2"/>
          <p:cNvSpPr/>
          <p:nvPr/>
        </p:nvSpPr>
        <p:spPr>
          <a:xfrm>
            <a:off x="6620256" y="3419856"/>
            <a:ext cx="4666183" cy="0"/>
          </a:xfrm>
          <a:prstGeom prst="line">
            <a:avLst/>
          </a:prstGeom>
          <a:noFill/>
          <a:ln w="12700">
            <a:solidFill>
              <a:schemeClr val="accent5"/>
            </a:solidFill>
            <a:prstDash val="solid"/>
          </a:ln>
        </p:spPr>
      </p:sp>
      <p:sp>
        <p:nvSpPr>
          <p:cNvPr id="21" name="Text 18"/>
          <p:cNvSpPr txBox="1"/>
          <p:nvPr/>
        </p:nvSpPr>
        <p:spPr>
          <a:xfrm>
            <a:off x="6620256" y="3511296"/>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Tone and sign-off for customer replies:</a:t>
            </a:r>
            <a:endParaRPr lang="en-US" sz="1150" dirty="0"/>
          </a:p>
        </p:txBody>
      </p:sp>
      <p:sp>
        <p:nvSpPr>
          <p:cNvPr id="22" name="write line 3"/>
          <p:cNvSpPr/>
          <p:nvPr/>
        </p:nvSpPr>
        <p:spPr>
          <a:xfrm>
            <a:off x="6620256" y="3941064"/>
            <a:ext cx="4666183" cy="0"/>
          </a:xfrm>
          <a:prstGeom prst="line">
            <a:avLst/>
          </a:prstGeom>
          <a:noFill/>
          <a:ln w="12700">
            <a:solidFill>
              <a:schemeClr val="accent5"/>
            </a:solidFill>
            <a:prstDash val="solid"/>
          </a:ln>
        </p:spPr>
      </p:sp>
      <p:sp>
        <p:nvSpPr>
          <p:cNvPr id="23" name="Text 20"/>
          <p:cNvSpPr txBox="1"/>
          <p:nvPr/>
        </p:nvSpPr>
        <p:spPr>
          <a:xfrm>
            <a:off x="6620256" y="4032504"/>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Returns and refunds the Specialist can approve alone:</a:t>
            </a:r>
            <a:endParaRPr lang="en-US" sz="1150" dirty="0"/>
          </a:p>
        </p:txBody>
      </p:sp>
      <p:sp>
        <p:nvSpPr>
          <p:cNvPr id="24" name="write line 4"/>
          <p:cNvSpPr/>
          <p:nvPr/>
        </p:nvSpPr>
        <p:spPr>
          <a:xfrm>
            <a:off x="6620256" y="4462272"/>
            <a:ext cx="4666183" cy="0"/>
          </a:xfrm>
          <a:prstGeom prst="line">
            <a:avLst/>
          </a:prstGeom>
          <a:noFill/>
          <a:ln w="12700">
            <a:solidFill>
              <a:schemeClr val="accent5"/>
            </a:solidFill>
            <a:prstDash val="solid"/>
          </a:ln>
        </p:spPr>
      </p:sp>
      <p:sp>
        <p:nvSpPr>
          <p:cNvPr id="25" name="Text 22"/>
          <p:cNvSpPr txBox="1"/>
          <p:nvPr/>
        </p:nvSpPr>
        <p:spPr>
          <a:xfrm>
            <a:off x="6620256" y="4553712"/>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Pet peeves and must-nots:</a:t>
            </a:r>
            <a:endParaRPr lang="en-US" sz="1150" dirty="0"/>
          </a:p>
        </p:txBody>
      </p:sp>
      <p:sp>
        <p:nvSpPr>
          <p:cNvPr id="26" name="write line 5"/>
          <p:cNvSpPr/>
          <p:nvPr/>
        </p:nvSpPr>
        <p:spPr>
          <a:xfrm>
            <a:off x="6620256" y="4983480"/>
            <a:ext cx="4666183" cy="0"/>
          </a:xfrm>
          <a:prstGeom prst="line">
            <a:avLst/>
          </a:prstGeom>
          <a:noFill/>
          <a:ln w="12700">
            <a:solidFill>
              <a:schemeClr val="accent5"/>
            </a:solidFill>
            <a:prstDash val="solid"/>
          </a:ln>
        </p:spPr>
      </p:sp>
      <p:sp>
        <p:nvSpPr>
          <p:cNvPr id="27" name="Text 24"/>
          <p:cNvSpPr txBox="1"/>
          <p:nvPr/>
        </p:nvSpPr>
        <p:spPr>
          <a:xfrm>
            <a:off x="6620256" y="5074920"/>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Specialist’s own goals for the first 6 months:</a:t>
            </a:r>
            <a:endParaRPr lang="en-US" sz="1150" dirty="0"/>
          </a:p>
        </p:txBody>
      </p:sp>
      <p:sp>
        <p:nvSpPr>
          <p:cNvPr id="28" name="write line 6"/>
          <p:cNvSpPr/>
          <p:nvPr/>
        </p:nvSpPr>
        <p:spPr>
          <a:xfrm>
            <a:off x="6620256" y="5504688"/>
            <a:ext cx="4666183" cy="0"/>
          </a:xfrm>
          <a:prstGeom prst="line">
            <a:avLst/>
          </a:prstGeom>
          <a:noFill/>
          <a:ln w="12700">
            <a:solidFill>
              <a:schemeClr val="accent5"/>
            </a:solidFill>
            <a:prstDash val="solid"/>
          </a:ln>
        </p:spPr>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05</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Freedom Scorecard</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Are we delivering what we promised? Fill this in at every milestone review.</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30936" y="1965960"/>
          <a:ext cx="10929823" cy="914400"/>
        </p:xfrm>
        <a:graphic>
          <a:graphicData uri="http://schemas.openxmlformats.org/drawingml/2006/table">
            <a:tbl>
              <a:tblPr/>
              <a:tblGrid>
                <a:gridCol w="3474720"/>
                <a:gridCol w="1600200"/>
                <a:gridCol w="1234440"/>
                <a:gridCol w="1234440"/>
                <a:gridCol w="1234440"/>
                <a:gridCol w="2148840"/>
              </a:tblGrid>
              <a:tr h="5029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MEASURE</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START</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90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Hours Rob and Rachel spend on customer service per week</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To confirm</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Average first response time to customers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To confirm</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Enquiries escalated to the internal team per week</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To confirm</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Freedom Stage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1 · Task Delegator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Target: 3</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Target: 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Specialist self-rating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Rob and Rachel’s satisfaction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6" name="callout"/>
          <p:cNvSpPr/>
          <p:nvPr/>
        </p:nvSpPr>
        <p:spPr>
          <a:xfrm>
            <a:off x="630936" y="5486400"/>
            <a:ext cx="10929823" cy="594360"/>
          </a:xfrm>
          <a:prstGeom prst="roundRect">
            <a:avLst>
              <a:gd name="adj" fmla="val 12308"/>
            </a:avLst>
          </a:prstGeom>
          <a:solidFill>
            <a:schemeClr val="accent4"/>
          </a:solidFill>
          <a:ln/>
        </p:spPr>
      </p:sp>
      <p:sp>
        <p:nvSpPr>
          <p:cNvPr id="7" name="Text 4"/>
          <p:cNvSpPr txBox="1"/>
          <p:nvPr/>
        </p:nvSpPr>
        <p:spPr>
          <a:xfrm>
            <a:off x="859536" y="5486400"/>
            <a:ext cx="10472623" cy="594360"/>
          </a:xfrm>
          <a:prstGeom prst="rect">
            <a:avLst/>
          </a:prstGeom>
          <a:noFill/>
          <a:ln/>
        </p:spPr>
        <p:txBody>
          <a:bodyPr wrap="square" lIns="0" tIns="0" rIns="0" bIns="0" rtlCol="0" anchor="ctr"/>
          <a:lstStyle/>
          <a:p>
            <a:pPr indent="0" marL="0">
              <a:buNone/>
            </a:pPr>
            <a:r>
              <a:rPr lang="en-US" sz="1250" b="1" dirty="0">
                <a:solidFill>
                  <a:schemeClr val="accent1"/>
                </a:solidFill>
              </a:rPr>
              <a:t>The goal isn’t just a busy Specialist. It’s after-sales support Rob and Rachel no longer think about, and customers who feel looked after.</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06</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Skills &amp; Readiness Checklist</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Rate each skill at every milestone: NT = Needs Training · D = Developing · C = Confident.</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30936" y="1920240"/>
          <a:ext cx="10929823" cy="914400"/>
        </p:xfrm>
        <a:graphic>
          <a:graphicData uri="http://schemas.openxmlformats.org/drawingml/2006/table">
            <a:tbl>
              <a:tblPr/>
              <a:tblGrid>
                <a:gridCol w="5120640"/>
                <a:gridCol w="1234440"/>
                <a:gridCol w="1143000"/>
                <a:gridCol w="1143000"/>
                <a:gridCol w="1143000"/>
                <a:gridCol w="1143000"/>
              </a:tblGrid>
              <a:tr h="41148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SKILL</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AREA</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90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Responding to customer enquiries promptly and professionally</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Enquiries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Handling order-related questions in Shopify</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Orders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Processing returns according to company procedures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Returns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Processing refunds accurately</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Refunds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Handling delivery and shipment enquiries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Delivery</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Coordinating with the warehouse on customer orders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Warehouse</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Following up delayed or unresolved orders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Follow-up</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Documenting issues through to completion</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Records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Calming unhappy customers and knowing when to escalate</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Judgement</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07  ·  DEFINE</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Success Metrics (KPIs)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What “good” looks like for this role, and exactly how to check it.</a:t>
            </a:r>
            <a:endParaRPr lang="en-US" sz="1300" dirty="0"/>
          </a:p>
        </p:txBody>
      </p:sp>
      <p:sp>
        <p:nvSpPr>
          <p:cNvPr id="5" name="card"/>
          <p:cNvSpPr/>
          <p:nvPr/>
        </p:nvSpPr>
        <p:spPr>
          <a:xfrm>
            <a:off x="630936" y="1920240"/>
            <a:ext cx="5373472" cy="1965960"/>
          </a:xfrm>
          <a:prstGeom prst="roundRect">
            <a:avLst>
              <a:gd name="adj" fmla="val 3721"/>
            </a:avLst>
          </a:prstGeom>
          <a:solidFill>
            <a:schemeClr val="bg1"/>
          </a:solidFill>
          <a:ln w="12700">
            <a:solidFill>
              <a:schemeClr val="accent5"/>
            </a:solidFill>
            <a:prstDash val="solid"/>
          </a:ln>
        </p:spPr>
      </p:sp>
      <p:sp>
        <p:nvSpPr>
          <p:cNvPr id="6" name="number 1"/>
          <p:cNvSpPr/>
          <p:nvPr/>
        </p:nvSpPr>
        <p:spPr>
          <a:xfrm>
            <a:off x="905256" y="2148840"/>
            <a:ext cx="384048" cy="384048"/>
          </a:xfrm>
          <a:prstGeom prst="ellipse">
            <a:avLst/>
          </a:prstGeom>
          <a:solidFill>
            <a:schemeClr val="accent1"/>
          </a:solidFill>
          <a:ln/>
        </p:spPr>
      </p:sp>
      <p:sp>
        <p:nvSpPr>
          <p:cNvPr id="7" name="Text 5"/>
          <p:cNvSpPr txBox="1"/>
          <p:nvPr/>
        </p:nvSpPr>
        <p:spPr>
          <a:xfrm>
            <a:off x="905256" y="21488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453896" y="214884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Response Time</a:t>
            </a:r>
            <a:endParaRPr lang="en-US" sz="1500" dirty="0"/>
          </a:p>
        </p:txBody>
      </p:sp>
      <p:sp>
        <p:nvSpPr>
          <p:cNvPr id="9" name="Text 7"/>
          <p:cNvSpPr txBox="1"/>
          <p:nvPr/>
        </p:nvSpPr>
        <p:spPr>
          <a:xfrm>
            <a:off x="905256" y="265176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Customers get a prompt, professional reply; nothing sits unanswered.</a:t>
            </a:r>
            <a:endParaRPr lang="en-US" sz="1200" dirty="0"/>
          </a:p>
        </p:txBody>
      </p:sp>
      <p:sp>
        <p:nvSpPr>
          <p:cNvPr id="10" name="card"/>
          <p:cNvSpPr/>
          <p:nvPr/>
        </p:nvSpPr>
        <p:spPr>
          <a:xfrm>
            <a:off x="905256" y="3291840"/>
            <a:ext cx="4824832" cy="411480"/>
          </a:xfrm>
          <a:prstGeom prst="roundRect">
            <a:avLst>
              <a:gd name="adj" fmla="val 17778"/>
            </a:avLst>
          </a:prstGeom>
          <a:solidFill>
            <a:schemeClr val="accent4"/>
          </a:solidFill>
          <a:ln/>
        </p:spPr>
      </p:sp>
      <p:sp>
        <p:nvSpPr>
          <p:cNvPr id="11" name="Text 9"/>
          <p:cNvSpPr txBox="1"/>
          <p:nvPr/>
        </p:nvSpPr>
        <p:spPr>
          <a:xfrm>
            <a:off x="1042416" y="329184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“What’s waiting for a reply right now?”</a:t>
            </a:r>
            <a:endParaRPr lang="en-US" sz="1150" dirty="0"/>
          </a:p>
        </p:txBody>
      </p:sp>
      <p:sp>
        <p:nvSpPr>
          <p:cNvPr id="12" name="card"/>
          <p:cNvSpPr/>
          <p:nvPr/>
        </p:nvSpPr>
        <p:spPr>
          <a:xfrm>
            <a:off x="6187288" y="1920240"/>
            <a:ext cx="5373472" cy="1965960"/>
          </a:xfrm>
          <a:prstGeom prst="roundRect">
            <a:avLst>
              <a:gd name="adj" fmla="val 3721"/>
            </a:avLst>
          </a:prstGeom>
          <a:solidFill>
            <a:schemeClr val="bg1"/>
          </a:solidFill>
          <a:ln w="12700">
            <a:solidFill>
              <a:schemeClr val="accent5"/>
            </a:solidFill>
            <a:prstDash val="solid"/>
          </a:ln>
        </p:spPr>
      </p:sp>
      <p:sp>
        <p:nvSpPr>
          <p:cNvPr id="13" name="number 2"/>
          <p:cNvSpPr/>
          <p:nvPr/>
        </p:nvSpPr>
        <p:spPr>
          <a:xfrm>
            <a:off x="6461608" y="2148840"/>
            <a:ext cx="384048" cy="384048"/>
          </a:xfrm>
          <a:prstGeom prst="ellipse">
            <a:avLst/>
          </a:prstGeom>
          <a:solidFill>
            <a:schemeClr val="accent1"/>
          </a:solidFill>
          <a:ln/>
        </p:spPr>
      </p:sp>
      <p:sp>
        <p:nvSpPr>
          <p:cNvPr id="14" name="Text 12"/>
          <p:cNvSpPr txBox="1"/>
          <p:nvPr/>
        </p:nvSpPr>
        <p:spPr>
          <a:xfrm>
            <a:off x="6461608" y="21488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3"/>
          <p:cNvSpPr txBox="1"/>
          <p:nvPr/>
        </p:nvSpPr>
        <p:spPr>
          <a:xfrm>
            <a:off x="7010248" y="214884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Returns &amp; Refunds Accuracy</a:t>
            </a:r>
            <a:endParaRPr lang="en-US" sz="1500" dirty="0"/>
          </a:p>
        </p:txBody>
      </p:sp>
      <p:sp>
        <p:nvSpPr>
          <p:cNvPr id="16" name="Text 14"/>
          <p:cNvSpPr txBox="1"/>
          <p:nvPr/>
        </p:nvSpPr>
        <p:spPr>
          <a:xfrm>
            <a:off x="6461608" y="265176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Every return and refund handled correctly, according to company procedures.</a:t>
            </a:r>
            <a:endParaRPr lang="en-US" sz="1200" dirty="0"/>
          </a:p>
        </p:txBody>
      </p:sp>
      <p:sp>
        <p:nvSpPr>
          <p:cNvPr id="17" name="card"/>
          <p:cNvSpPr/>
          <p:nvPr/>
        </p:nvSpPr>
        <p:spPr>
          <a:xfrm>
            <a:off x="6461608" y="3291840"/>
            <a:ext cx="4824832" cy="411480"/>
          </a:xfrm>
          <a:prstGeom prst="roundRect">
            <a:avLst>
              <a:gd name="adj" fmla="val 17778"/>
            </a:avLst>
          </a:prstGeom>
          <a:solidFill>
            <a:schemeClr val="accent4"/>
          </a:solidFill>
          <a:ln/>
        </p:spPr>
      </p:sp>
      <p:sp>
        <p:nvSpPr>
          <p:cNvPr id="18" name="Text 16"/>
          <p:cNvSpPr txBox="1"/>
          <p:nvPr/>
        </p:nvSpPr>
        <p:spPr>
          <a:xfrm>
            <a:off x="6598768" y="329184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“Any returns or refunds pending or reversed?”</a:t>
            </a:r>
            <a:endParaRPr lang="en-US" sz="1150" dirty="0"/>
          </a:p>
        </p:txBody>
      </p:sp>
      <p:sp>
        <p:nvSpPr>
          <p:cNvPr id="19" name="card"/>
          <p:cNvSpPr/>
          <p:nvPr/>
        </p:nvSpPr>
        <p:spPr>
          <a:xfrm>
            <a:off x="630936" y="4069080"/>
            <a:ext cx="5373472" cy="1965960"/>
          </a:xfrm>
          <a:prstGeom prst="roundRect">
            <a:avLst>
              <a:gd name="adj" fmla="val 3721"/>
            </a:avLst>
          </a:prstGeom>
          <a:solidFill>
            <a:schemeClr val="bg1"/>
          </a:solidFill>
          <a:ln w="12700">
            <a:solidFill>
              <a:schemeClr val="accent5"/>
            </a:solidFill>
            <a:prstDash val="solid"/>
          </a:ln>
        </p:spPr>
      </p:sp>
      <p:sp>
        <p:nvSpPr>
          <p:cNvPr id="20" name="number 3"/>
          <p:cNvSpPr/>
          <p:nvPr/>
        </p:nvSpPr>
        <p:spPr>
          <a:xfrm>
            <a:off x="905256" y="4297680"/>
            <a:ext cx="384048" cy="384048"/>
          </a:xfrm>
          <a:prstGeom prst="ellipse">
            <a:avLst/>
          </a:prstGeom>
          <a:solidFill>
            <a:schemeClr val="accent1"/>
          </a:solidFill>
          <a:ln/>
        </p:spPr>
      </p:sp>
      <p:sp>
        <p:nvSpPr>
          <p:cNvPr id="21" name="Text 19"/>
          <p:cNvSpPr txBox="1"/>
          <p:nvPr/>
        </p:nvSpPr>
        <p:spPr>
          <a:xfrm>
            <a:off x="905256" y="4297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Text 20"/>
          <p:cNvSpPr txBox="1"/>
          <p:nvPr/>
        </p:nvSpPr>
        <p:spPr>
          <a:xfrm>
            <a:off x="1453896" y="429768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Resolution &amp; Escalation</a:t>
            </a:r>
            <a:endParaRPr lang="en-US" sz="1500" dirty="0"/>
          </a:p>
        </p:txBody>
      </p:sp>
      <p:sp>
        <p:nvSpPr>
          <p:cNvPr id="23" name="Text 21"/>
          <p:cNvSpPr txBox="1"/>
          <p:nvPr/>
        </p:nvSpPr>
        <p:spPr>
          <a:xfrm>
            <a:off x="905256" y="480060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Enquiries resolved accurately and independently; escalated only when needed.</a:t>
            </a:r>
            <a:endParaRPr lang="en-US" sz="1200" dirty="0"/>
          </a:p>
        </p:txBody>
      </p:sp>
      <p:sp>
        <p:nvSpPr>
          <p:cNvPr id="24" name="card"/>
          <p:cNvSpPr/>
          <p:nvPr/>
        </p:nvSpPr>
        <p:spPr>
          <a:xfrm>
            <a:off x="905256" y="5440680"/>
            <a:ext cx="4824832" cy="411480"/>
          </a:xfrm>
          <a:prstGeom prst="roundRect">
            <a:avLst>
              <a:gd name="adj" fmla="val 17778"/>
            </a:avLst>
          </a:prstGeom>
          <a:solidFill>
            <a:schemeClr val="accent4"/>
          </a:solidFill>
          <a:ln/>
        </p:spPr>
      </p:sp>
      <p:sp>
        <p:nvSpPr>
          <p:cNvPr id="25" name="Text 23"/>
          <p:cNvSpPr txBox="1"/>
          <p:nvPr/>
        </p:nvSpPr>
        <p:spPr>
          <a:xfrm>
            <a:off x="1042416" y="544068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“What did you escalate this week, and why?”</a:t>
            </a:r>
            <a:endParaRPr lang="en-US" sz="1150" dirty="0"/>
          </a:p>
        </p:txBody>
      </p:sp>
      <p:sp>
        <p:nvSpPr>
          <p:cNvPr id="26" name="card"/>
          <p:cNvSpPr/>
          <p:nvPr/>
        </p:nvSpPr>
        <p:spPr>
          <a:xfrm>
            <a:off x="6187288" y="4069080"/>
            <a:ext cx="5373472" cy="1965960"/>
          </a:xfrm>
          <a:prstGeom prst="roundRect">
            <a:avLst>
              <a:gd name="adj" fmla="val 3721"/>
            </a:avLst>
          </a:prstGeom>
          <a:solidFill>
            <a:schemeClr val="bg1"/>
          </a:solidFill>
          <a:ln w="12700">
            <a:solidFill>
              <a:schemeClr val="accent5"/>
            </a:solidFill>
            <a:prstDash val="solid"/>
          </a:ln>
        </p:spPr>
      </p:sp>
      <p:sp>
        <p:nvSpPr>
          <p:cNvPr id="27" name="number 4"/>
          <p:cNvSpPr/>
          <p:nvPr/>
        </p:nvSpPr>
        <p:spPr>
          <a:xfrm>
            <a:off x="6461608" y="4297680"/>
            <a:ext cx="384048" cy="384048"/>
          </a:xfrm>
          <a:prstGeom prst="ellipse">
            <a:avLst/>
          </a:prstGeom>
          <a:solidFill>
            <a:schemeClr val="accent1"/>
          </a:solidFill>
          <a:ln/>
        </p:spPr>
      </p:sp>
      <p:sp>
        <p:nvSpPr>
          <p:cNvPr id="28" name="Text 26"/>
          <p:cNvSpPr txBox="1"/>
          <p:nvPr/>
        </p:nvSpPr>
        <p:spPr>
          <a:xfrm>
            <a:off x="6461608" y="4297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9" name="Text 27"/>
          <p:cNvSpPr txBox="1"/>
          <p:nvPr/>
        </p:nvSpPr>
        <p:spPr>
          <a:xfrm>
            <a:off x="7010248" y="429768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Follow-Up &amp; Customer Updates</a:t>
            </a:r>
            <a:endParaRPr lang="en-US" sz="1500" dirty="0"/>
          </a:p>
        </p:txBody>
      </p:sp>
      <p:sp>
        <p:nvSpPr>
          <p:cNvPr id="30" name="Text 28"/>
          <p:cNvSpPr txBox="1"/>
          <p:nvPr/>
        </p:nvSpPr>
        <p:spPr>
          <a:xfrm>
            <a:off x="6461608" y="480060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Delayed orders chased with the warehouse; customers kept informed until resolved.</a:t>
            </a:r>
            <a:endParaRPr lang="en-US" sz="1200" dirty="0"/>
          </a:p>
        </p:txBody>
      </p:sp>
      <p:sp>
        <p:nvSpPr>
          <p:cNvPr id="31" name="card"/>
          <p:cNvSpPr/>
          <p:nvPr/>
        </p:nvSpPr>
        <p:spPr>
          <a:xfrm>
            <a:off x="6461608" y="5440680"/>
            <a:ext cx="4824832" cy="411480"/>
          </a:xfrm>
          <a:prstGeom prst="roundRect">
            <a:avLst>
              <a:gd name="adj" fmla="val 17778"/>
            </a:avLst>
          </a:prstGeom>
          <a:solidFill>
            <a:schemeClr val="accent4"/>
          </a:solidFill>
          <a:ln/>
        </p:spPr>
      </p:sp>
      <p:sp>
        <p:nvSpPr>
          <p:cNvPr id="32" name="Text 30"/>
          <p:cNvSpPr txBox="1"/>
          <p:nvPr/>
        </p:nvSpPr>
        <p:spPr>
          <a:xfrm>
            <a:off x="6598768" y="544068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“Which orders are still open with the warehouse?”</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08</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Monthly KPI Check-In</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Go through this with your Specialist or Account Manager once a month. Mark each KPI ✓ Met or ✗ Not yet.</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30936" y="1965960"/>
          <a:ext cx="10929823" cy="914400"/>
        </p:xfrm>
        <a:graphic>
          <a:graphicData uri="http://schemas.openxmlformats.org/drawingml/2006/table">
            <a:tbl>
              <a:tblPr/>
              <a:tblGrid>
                <a:gridCol w="3246120"/>
                <a:gridCol w="621792"/>
                <a:gridCol w="621792"/>
                <a:gridCol w="621792"/>
                <a:gridCol w="621792"/>
                <a:gridCol w="621792"/>
                <a:gridCol w="621792"/>
                <a:gridCol w="621792"/>
                <a:gridCol w="621792"/>
                <a:gridCol w="621792"/>
                <a:gridCol w="621792"/>
                <a:gridCol w="621792"/>
                <a:gridCol w="621792"/>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KPI</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M3</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M5</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M7</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M8</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M9</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M11</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Response Time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Returns &amp; Refunds Accuracy</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Resolution &amp; Escalation</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Follow-Up &amp; Customer Updates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6" name="callout"/>
          <p:cNvSpPr/>
          <p:nvPr/>
        </p:nvSpPr>
        <p:spPr>
          <a:xfrm>
            <a:off x="630936" y="5120640"/>
            <a:ext cx="10929823" cy="548640"/>
          </a:xfrm>
          <a:prstGeom prst="roundRect">
            <a:avLst>
              <a:gd name="adj" fmla="val 13333"/>
            </a:avLst>
          </a:prstGeom>
          <a:solidFill>
            <a:schemeClr val="accent4"/>
          </a:solidFill>
          <a:ln/>
        </p:spPr>
      </p:sp>
      <p:sp>
        <p:nvSpPr>
          <p:cNvPr id="7" name="Text 4"/>
          <p:cNvSpPr txBox="1"/>
          <p:nvPr/>
        </p:nvSpPr>
        <p:spPr>
          <a:xfrm>
            <a:off x="859536" y="512064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Two “Not yet” months in a row? Raise it with your Account Manager. We’ll coach, adjust the plan, or step in.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09</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Delegation List: Now and Next</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 running list of what your Specialist owns. Move items across at each review, and add new ones any time.</a:t>
            </a:r>
            <a:endParaRPr lang="en-US" sz="1300" dirty="0"/>
          </a:p>
        </p:txBody>
      </p:sp>
      <p:sp>
        <p:nvSpPr>
          <p:cNvPr id="5" name="card"/>
          <p:cNvSpPr/>
          <p:nvPr/>
        </p:nvSpPr>
        <p:spPr>
          <a:xfrm>
            <a:off x="630936" y="1920240"/>
            <a:ext cx="3521354" cy="3246120"/>
          </a:xfrm>
          <a:prstGeom prst="roundRect">
            <a:avLst>
              <a:gd name="adj" fmla="val 2254"/>
            </a:avLst>
          </a:prstGeom>
          <a:solidFill>
            <a:schemeClr val="accent4"/>
          </a:solidFill>
          <a:ln/>
        </p:spPr>
      </p:sp>
      <p:sp>
        <p:nvSpPr>
          <p:cNvPr id="6" name="Text 4"/>
          <p:cNvSpPr txBox="1"/>
          <p:nvPr/>
        </p:nvSpPr>
        <p:spPr>
          <a:xfrm>
            <a:off x="905256"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DELEGATED</a:t>
            </a:r>
            <a:endParaRPr lang="en-US" sz="1050" dirty="0"/>
          </a:p>
        </p:txBody>
      </p:sp>
      <p:sp>
        <p:nvSpPr>
          <p:cNvPr id="7" name="card"/>
          <p:cNvSpPr/>
          <p:nvPr/>
        </p:nvSpPr>
        <p:spPr>
          <a:xfrm>
            <a:off x="859536" y="2468880"/>
            <a:ext cx="3064154" cy="512064"/>
          </a:xfrm>
          <a:prstGeom prst="roundRect">
            <a:avLst>
              <a:gd name="adj" fmla="val 14286"/>
            </a:avLst>
          </a:prstGeom>
          <a:solidFill>
            <a:schemeClr val="bg1"/>
          </a:solidFill>
          <a:ln w="12700">
            <a:solidFill>
              <a:schemeClr val="accent5"/>
            </a:solidFill>
            <a:prstDash val="solid"/>
          </a:ln>
        </p:spPr>
      </p:sp>
      <p:sp>
        <p:nvSpPr>
          <p:cNvPr id="8" name="Text 6"/>
          <p:cNvSpPr txBox="1"/>
          <p:nvPr/>
        </p:nvSpPr>
        <p:spPr>
          <a:xfrm>
            <a:off x="1042416"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Customer enquiries &amp; after-sales support</a:t>
            </a:r>
            <a:endParaRPr lang="en-US" sz="1200" dirty="0"/>
          </a:p>
        </p:txBody>
      </p:sp>
      <p:sp>
        <p:nvSpPr>
          <p:cNvPr id="9" name="card"/>
          <p:cNvSpPr/>
          <p:nvPr/>
        </p:nvSpPr>
        <p:spPr>
          <a:xfrm>
            <a:off x="859536" y="3090672"/>
            <a:ext cx="3064154" cy="512064"/>
          </a:xfrm>
          <a:prstGeom prst="roundRect">
            <a:avLst>
              <a:gd name="adj" fmla="val 14286"/>
            </a:avLst>
          </a:prstGeom>
          <a:solidFill>
            <a:schemeClr val="bg1"/>
          </a:solidFill>
          <a:ln w="12700">
            <a:solidFill>
              <a:schemeClr val="accent5"/>
            </a:solidFill>
            <a:prstDash val="solid"/>
          </a:ln>
        </p:spPr>
      </p:sp>
      <p:sp>
        <p:nvSpPr>
          <p:cNvPr id="10" name="Text 8"/>
          <p:cNvSpPr txBox="1"/>
          <p:nvPr/>
        </p:nvSpPr>
        <p:spPr>
          <a:xfrm>
            <a:off x="1042416"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Order &amp; delivery enquiries</a:t>
            </a:r>
            <a:endParaRPr lang="en-US" sz="1200" dirty="0"/>
          </a:p>
        </p:txBody>
      </p:sp>
      <p:sp>
        <p:nvSpPr>
          <p:cNvPr id="11" name="card"/>
          <p:cNvSpPr/>
          <p:nvPr/>
        </p:nvSpPr>
        <p:spPr>
          <a:xfrm>
            <a:off x="859536" y="3712464"/>
            <a:ext cx="3064154" cy="512064"/>
          </a:xfrm>
          <a:prstGeom prst="roundRect">
            <a:avLst>
              <a:gd name="adj" fmla="val 14286"/>
            </a:avLst>
          </a:prstGeom>
          <a:solidFill>
            <a:schemeClr val="bg1"/>
          </a:solidFill>
          <a:ln w="12700">
            <a:solidFill>
              <a:schemeClr val="accent5"/>
            </a:solidFill>
            <a:prstDash val="solid"/>
          </a:ln>
        </p:spPr>
      </p:sp>
      <p:sp>
        <p:nvSpPr>
          <p:cNvPr id="12" name="Text 10"/>
          <p:cNvSpPr txBox="1"/>
          <p:nvPr/>
        </p:nvSpPr>
        <p:spPr>
          <a:xfrm>
            <a:off x="1042416"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Issue logging &amp; documentation</a:t>
            </a:r>
            <a:endParaRPr lang="en-US" sz="1200" dirty="0"/>
          </a:p>
        </p:txBody>
      </p:sp>
      <p:sp>
        <p:nvSpPr>
          <p:cNvPr id="13" name="card"/>
          <p:cNvSpPr/>
          <p:nvPr/>
        </p:nvSpPr>
        <p:spPr>
          <a:xfrm>
            <a:off x="4335170" y="1920240"/>
            <a:ext cx="3521354" cy="3246120"/>
          </a:xfrm>
          <a:prstGeom prst="roundRect">
            <a:avLst>
              <a:gd name="adj" fmla="val 2254"/>
            </a:avLst>
          </a:prstGeom>
          <a:solidFill>
            <a:schemeClr val="bg2"/>
          </a:solidFill>
          <a:ln/>
        </p:spPr>
      </p:sp>
      <p:sp>
        <p:nvSpPr>
          <p:cNvPr id="14" name="Text 12"/>
          <p:cNvSpPr txBox="1"/>
          <p:nvPr/>
        </p:nvSpPr>
        <p:spPr>
          <a:xfrm>
            <a:off x="4609490"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IN PROGRESS</a:t>
            </a:r>
            <a:endParaRPr lang="en-US" sz="1050" dirty="0"/>
          </a:p>
        </p:txBody>
      </p:sp>
      <p:sp>
        <p:nvSpPr>
          <p:cNvPr id="15" name="card"/>
          <p:cNvSpPr/>
          <p:nvPr/>
        </p:nvSpPr>
        <p:spPr>
          <a:xfrm>
            <a:off x="4563770" y="2468880"/>
            <a:ext cx="3064154" cy="512064"/>
          </a:xfrm>
          <a:prstGeom prst="roundRect">
            <a:avLst>
              <a:gd name="adj" fmla="val 14286"/>
            </a:avLst>
          </a:prstGeom>
          <a:solidFill>
            <a:schemeClr val="bg1"/>
          </a:solidFill>
          <a:ln w="12700">
            <a:solidFill>
              <a:schemeClr val="accent5"/>
            </a:solidFill>
            <a:prstDash val="solid"/>
          </a:ln>
        </p:spPr>
      </p:sp>
      <p:sp>
        <p:nvSpPr>
          <p:cNvPr id="16" name="Text 14"/>
          <p:cNvSpPr txBox="1"/>
          <p:nvPr/>
        </p:nvSpPr>
        <p:spPr>
          <a:xfrm>
            <a:off x="4746650"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Returns &amp; refund processing</a:t>
            </a:r>
            <a:endParaRPr lang="en-US" sz="1200" dirty="0"/>
          </a:p>
        </p:txBody>
      </p:sp>
      <p:sp>
        <p:nvSpPr>
          <p:cNvPr id="17" name="card"/>
          <p:cNvSpPr/>
          <p:nvPr/>
        </p:nvSpPr>
        <p:spPr>
          <a:xfrm>
            <a:off x="4563770" y="3090672"/>
            <a:ext cx="3064154" cy="512064"/>
          </a:xfrm>
          <a:prstGeom prst="roundRect">
            <a:avLst>
              <a:gd name="adj" fmla="val 14286"/>
            </a:avLst>
          </a:prstGeom>
          <a:solidFill>
            <a:schemeClr val="bg1"/>
          </a:solidFill>
          <a:ln w="12700">
            <a:solidFill>
              <a:schemeClr val="accent5"/>
            </a:solidFill>
            <a:prstDash val="solid"/>
          </a:ln>
        </p:spPr>
      </p:sp>
      <p:sp>
        <p:nvSpPr>
          <p:cNvPr id="18" name="Text 16"/>
          <p:cNvSpPr txBox="1"/>
          <p:nvPr/>
        </p:nvSpPr>
        <p:spPr>
          <a:xfrm>
            <a:off x="4746650"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Warehouse follow-up on delayed orders</a:t>
            </a:r>
            <a:endParaRPr lang="en-US" sz="1200" dirty="0"/>
          </a:p>
        </p:txBody>
      </p:sp>
      <p:sp>
        <p:nvSpPr>
          <p:cNvPr id="19" name="card"/>
          <p:cNvSpPr/>
          <p:nvPr/>
        </p:nvSpPr>
        <p:spPr>
          <a:xfrm>
            <a:off x="4563770" y="3712464"/>
            <a:ext cx="3064154" cy="512064"/>
          </a:xfrm>
          <a:prstGeom prst="roundRect">
            <a:avLst>
              <a:gd name="adj" fmla="val 14286"/>
            </a:avLst>
          </a:prstGeom>
          <a:solidFill>
            <a:schemeClr val="bg1"/>
          </a:solidFill>
          <a:ln w="12700">
            <a:solidFill>
              <a:schemeClr val="accent5"/>
            </a:solidFill>
            <a:prstDash val="solid"/>
          </a:ln>
        </p:spPr>
      </p:sp>
      <p:sp>
        <p:nvSpPr>
          <p:cNvPr id="20" name="Text 18"/>
          <p:cNvSpPr txBox="1"/>
          <p:nvPr/>
        </p:nvSpPr>
        <p:spPr>
          <a:xfrm>
            <a:off x="4746650"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Escalation handling</a:t>
            </a:r>
            <a:endParaRPr lang="en-US" sz="1200" dirty="0"/>
          </a:p>
        </p:txBody>
      </p:sp>
      <p:sp>
        <p:nvSpPr>
          <p:cNvPr id="21" name="card"/>
          <p:cNvSpPr/>
          <p:nvPr/>
        </p:nvSpPr>
        <p:spPr>
          <a:xfrm>
            <a:off x="8039405" y="1920240"/>
            <a:ext cx="3521354" cy="3246120"/>
          </a:xfrm>
          <a:prstGeom prst="roundRect">
            <a:avLst>
              <a:gd name="adj" fmla="val 2254"/>
            </a:avLst>
          </a:prstGeom>
          <a:solidFill>
            <a:schemeClr val="bg1"/>
          </a:solidFill>
          <a:ln w="12700">
            <a:solidFill>
              <a:schemeClr val="accent5"/>
            </a:solidFill>
            <a:prstDash val="solid"/>
          </a:ln>
        </p:spPr>
      </p:sp>
      <p:sp>
        <p:nvSpPr>
          <p:cNvPr id="22" name="Text 20"/>
          <p:cNvSpPr txBox="1"/>
          <p:nvPr/>
        </p:nvSpPr>
        <p:spPr>
          <a:xfrm>
            <a:off x="8313725"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NEXT TO DELEGATE</a:t>
            </a:r>
            <a:endParaRPr lang="en-US" sz="1050" dirty="0"/>
          </a:p>
        </p:txBody>
      </p:sp>
      <p:sp>
        <p:nvSpPr>
          <p:cNvPr id="23" name="card"/>
          <p:cNvSpPr/>
          <p:nvPr/>
        </p:nvSpPr>
        <p:spPr>
          <a:xfrm>
            <a:off x="8268005" y="2468880"/>
            <a:ext cx="3064154" cy="512064"/>
          </a:xfrm>
          <a:prstGeom prst="roundRect">
            <a:avLst>
              <a:gd name="adj" fmla="val 14286"/>
            </a:avLst>
          </a:prstGeom>
          <a:solidFill>
            <a:schemeClr val="bg1"/>
          </a:solidFill>
          <a:ln w="12700">
            <a:solidFill>
              <a:schemeClr val="accent5"/>
            </a:solidFill>
            <a:prstDash val="solid"/>
          </a:ln>
        </p:spPr>
      </p:sp>
      <p:sp>
        <p:nvSpPr>
          <p:cNvPr id="24" name="Text 22"/>
          <p:cNvSpPr txBox="1"/>
          <p:nvPr/>
        </p:nvSpPr>
        <p:spPr>
          <a:xfrm>
            <a:off x="8450885"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Phone support via JustCall</a:t>
            </a:r>
            <a:endParaRPr lang="en-US" sz="1200" dirty="0"/>
          </a:p>
        </p:txBody>
      </p:sp>
      <p:sp>
        <p:nvSpPr>
          <p:cNvPr id="25" name="card"/>
          <p:cNvSpPr/>
          <p:nvPr/>
        </p:nvSpPr>
        <p:spPr>
          <a:xfrm>
            <a:off x="8268005" y="3090672"/>
            <a:ext cx="3064154" cy="512064"/>
          </a:xfrm>
          <a:prstGeom prst="roundRect">
            <a:avLst>
              <a:gd name="adj" fmla="val 14286"/>
            </a:avLst>
          </a:prstGeom>
          <a:solidFill>
            <a:schemeClr val="bg1"/>
          </a:solidFill>
          <a:ln w="12700">
            <a:solidFill>
              <a:schemeClr val="accent5"/>
            </a:solidFill>
            <a:prstDash val="solid"/>
          </a:ln>
        </p:spPr>
      </p:sp>
      <p:sp>
        <p:nvSpPr>
          <p:cNvPr id="26" name="Text 24"/>
          <p:cNvSpPr txBox="1"/>
          <p:nvPr/>
        </p:nvSpPr>
        <p:spPr>
          <a:xfrm>
            <a:off x="8450885"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Other Shopify-related tasks</a:t>
            </a:r>
            <a:endParaRPr lang="en-US" sz="1200" dirty="0"/>
          </a:p>
        </p:txBody>
      </p:sp>
      <p:sp>
        <p:nvSpPr>
          <p:cNvPr id="27" name="card"/>
          <p:cNvSpPr/>
          <p:nvPr/>
        </p:nvSpPr>
        <p:spPr>
          <a:xfrm>
            <a:off x="8268005" y="3712464"/>
            <a:ext cx="3064154" cy="512064"/>
          </a:xfrm>
          <a:prstGeom prst="roundRect">
            <a:avLst>
              <a:gd name="adj" fmla="val 14286"/>
            </a:avLst>
          </a:prstGeom>
          <a:solidFill>
            <a:schemeClr val="bg1"/>
          </a:solidFill>
          <a:ln w="12700">
            <a:solidFill>
              <a:schemeClr val="accent5"/>
            </a:solidFill>
            <a:prstDash val="solid"/>
          </a:ln>
        </p:spPr>
      </p:sp>
      <p:sp>
        <p:nvSpPr>
          <p:cNvPr id="28" name="Text 26"/>
          <p:cNvSpPr txBox="1"/>
          <p:nvPr/>
        </p:nvSpPr>
        <p:spPr>
          <a:xfrm>
            <a:off x="8450885"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Other customer service tasks</a:t>
            </a:r>
            <a:endParaRPr lang="en-US" sz="1200" dirty="0"/>
          </a:p>
        </p:txBody>
      </p:sp>
      <p:sp>
        <p:nvSpPr>
          <p:cNvPr id="29" name="card"/>
          <p:cNvSpPr/>
          <p:nvPr/>
        </p:nvSpPr>
        <p:spPr>
          <a:xfrm>
            <a:off x="8268005" y="4334256"/>
            <a:ext cx="3064154" cy="512064"/>
          </a:xfrm>
          <a:prstGeom prst="roundRect">
            <a:avLst>
              <a:gd name="adj" fmla="val 14286"/>
            </a:avLst>
          </a:prstGeom>
          <a:solidFill>
            <a:schemeClr val="bg1"/>
          </a:solidFill>
          <a:ln w="12700">
            <a:solidFill>
              <a:schemeClr val="accent5"/>
            </a:solidFill>
            <a:prstDash val="solid"/>
          </a:ln>
        </p:spPr>
      </p:sp>
      <p:sp>
        <p:nvSpPr>
          <p:cNvPr id="30" name="Text 28"/>
          <p:cNvSpPr txBox="1"/>
          <p:nvPr/>
        </p:nvSpPr>
        <p:spPr>
          <a:xfrm>
            <a:off x="8450885" y="4334256"/>
            <a:ext cx="2698394" cy="512064"/>
          </a:xfrm>
          <a:prstGeom prst="rect">
            <a:avLst/>
          </a:prstGeom>
          <a:noFill/>
          <a:ln/>
        </p:spPr>
        <p:txBody>
          <a:bodyPr wrap="square" lIns="0" tIns="0" rIns="0" bIns="0" rtlCol="0" anchor="ctr"/>
          <a:lstStyle/>
          <a:p>
            <a:pPr indent="0" marL="0">
              <a:buNone/>
            </a:pPr>
            <a:r>
              <a:rPr lang="en-US" sz="1200" i="1" dirty="0">
                <a:solidFill>
                  <a:schemeClr val="accent3"/>
                </a:solidFill>
              </a:rPr>
              <a:t>Add new items here at each review</a:t>
            </a:r>
            <a:endParaRPr lang="en-US" sz="1200" dirty="0"/>
          </a:p>
        </p:txBody>
      </p:sp>
      <p:sp>
        <p:nvSpPr>
          <p:cNvPr id="31" name="callout"/>
          <p:cNvSpPr/>
          <p:nvPr/>
        </p:nvSpPr>
        <p:spPr>
          <a:xfrm>
            <a:off x="630936" y="5394960"/>
            <a:ext cx="10929823" cy="548640"/>
          </a:xfrm>
          <a:prstGeom prst="roundRect">
            <a:avLst>
              <a:gd name="adj" fmla="val 13333"/>
            </a:avLst>
          </a:prstGeom>
          <a:solidFill>
            <a:schemeClr val="accent4"/>
          </a:solidFill>
          <a:ln/>
        </p:spPr>
      </p:sp>
      <p:sp>
        <p:nvSpPr>
          <p:cNvPr id="32" name="Text 30"/>
          <p:cNvSpPr txBox="1"/>
          <p:nvPr/>
        </p:nvSpPr>
        <p:spPr>
          <a:xfrm>
            <a:off x="859536" y="539496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When “Next to delegate” outgrows one Specialist’s hours, it’s time to talk about a second Angel. We’ll plan it with you.</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10</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SOP &amp; Knowledge Library</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Every process your Specialist documents is linked here. Over time this becomes Arova’s customer service manual, and it protects you if anything ever changes.</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30936" y="2057400"/>
          <a:ext cx="10929823" cy="914400"/>
        </p:xfrm>
        <a:graphic>
          <a:graphicData uri="http://schemas.openxmlformats.org/drawingml/2006/table">
            <a:tbl>
              <a:tblPr/>
              <a:tblGrid>
                <a:gridCol w="4206240"/>
                <a:gridCol w="2194560"/>
                <a:gridCol w="2926080"/>
                <a:gridCol w="160020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PROCESS</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LINK TO SOP</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LAST UPDATED</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Enquiry standards &amp; saved replies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Specialist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Order &amp; delivery enquiry process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Specialist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Customer data &amp; security rules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Specialist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Returns procedure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Specialist + Rob/Rachel</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Refunds procedure &amp; approval limits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Specialist + Rob/Rachel</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Escalation rules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Specialist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Warehouse follow-up routine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Specialist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Wins Log &amp; Review Notes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Capture the moments that show the plan is working, and what we agreed at each review.</a:t>
            </a:r>
            <a:endParaRPr lang="en-US" sz="1300" dirty="0"/>
          </a:p>
        </p:txBody>
      </p:sp>
      <p:sp>
        <p:nvSpPr>
          <p:cNvPr id="5" name="Text 3"/>
          <p:cNvSpPr txBox="1"/>
          <p:nvPr/>
        </p:nvSpPr>
        <p:spPr>
          <a:xfrm>
            <a:off x="630936" y="1874520"/>
            <a:ext cx="36576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WINS LOG</a:t>
            </a:r>
            <a:endParaRPr lang="en-US" sz="10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30936" y="2194560"/>
          <a:ext cx="5577840" cy="914400"/>
        </p:xfrm>
        <a:graphic>
          <a:graphicData uri="http://schemas.openxmlformats.org/drawingml/2006/table">
            <a:tbl>
              <a:tblPr/>
              <a:tblGrid>
                <a:gridCol w="1005840"/>
                <a:gridCol w="3291840"/>
                <a:gridCol w="128016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DATE</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WIN</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ADDED BY</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50" dirty="0">
                          <a:solidFill>
                            <a:srgbClr val="6B7684"/>
                          </a:solidFill>
                          <a:latin typeface="Calibri" pitchFamily="34" charset="0"/>
                          <a:ea typeface="Calibri" pitchFamily="34" charset="-122"/>
                          <a:cs typeface="Calibri" pitchFamily="34" charset="-120"/>
                        </a:rPr>
                        <a:t>e.g. First week with every enquiry answered same day</a:t>
                      </a: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50" dirty="0">
                          <a:solidFill>
                            <a:srgbClr val="6B7684"/>
                          </a:solidFill>
                          <a:latin typeface="Calibri" pitchFamily="34" charset="0"/>
                          <a:ea typeface="Calibri" pitchFamily="34" charset="-122"/>
                          <a:cs typeface="Calibri" pitchFamily="34" charset="-120"/>
                        </a:rPr>
                        <a:t>e.g. First month with no refund errors</a:t>
                      </a: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7" name="Text 4"/>
          <p:cNvSpPr txBox="1"/>
          <p:nvPr/>
        </p:nvSpPr>
        <p:spPr>
          <a:xfrm>
            <a:off x="6437376" y="1874520"/>
            <a:ext cx="36576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REVIEW NOTES</a:t>
            </a:r>
            <a:endParaRPr lang="en-US" sz="105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437376" y="2194560"/>
          <a:ext cx="5123383" cy="914400"/>
        </p:xfrm>
        <a:graphic>
          <a:graphicData uri="http://schemas.openxmlformats.org/drawingml/2006/table">
            <a:tbl>
              <a:tblPr/>
              <a:tblGrid>
                <a:gridCol w="1280160"/>
                <a:gridCol w="3843223"/>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REVIEW</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WE AGREED</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Day 30</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Day 90</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Month 6</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Month 12</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12  ·  ONGOING COLLABORATION</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CAX Framework</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“This is where we support you and your Angel.” Not a transaction: the start of a long-term partnership.</a:t>
            </a:r>
            <a:endParaRPr lang="en-US" sz="1300" dirty="0"/>
          </a:p>
        </p:txBody>
      </p:sp>
      <p:sp>
        <p:nvSpPr>
          <p:cNvPr id="5" name="card"/>
          <p:cNvSpPr/>
          <p:nvPr/>
        </p:nvSpPr>
        <p:spPr>
          <a:xfrm>
            <a:off x="630936" y="1965960"/>
            <a:ext cx="5373472" cy="1691640"/>
          </a:xfrm>
          <a:prstGeom prst="roundRect">
            <a:avLst>
              <a:gd name="adj" fmla="val 4324"/>
            </a:avLst>
          </a:prstGeom>
          <a:solidFill>
            <a:schemeClr val="bg1"/>
          </a:solidFill>
          <a:ln w="12700">
            <a:solidFill>
              <a:schemeClr val="accent5"/>
            </a:solidFill>
            <a:prstDash val="solid"/>
          </a:ln>
        </p:spPr>
      </p:sp>
      <p:sp>
        <p:nvSpPr>
          <p:cNvPr id="6" name="cax C"/>
          <p:cNvSpPr/>
          <p:nvPr/>
        </p:nvSpPr>
        <p:spPr>
          <a:xfrm>
            <a:off x="905256" y="2240280"/>
            <a:ext cx="685800" cy="685800"/>
          </a:xfrm>
          <a:prstGeom prst="roundRect">
            <a:avLst>
              <a:gd name="adj" fmla="val 13333"/>
            </a:avLst>
          </a:prstGeom>
          <a:solidFill>
            <a:schemeClr val="accent1"/>
          </a:solidFill>
          <a:ln/>
        </p:spPr>
      </p:sp>
      <p:sp>
        <p:nvSpPr>
          <p:cNvPr id="7" name="Text 5"/>
          <p:cNvSpPr txBox="1"/>
          <p:nvPr/>
        </p:nvSpPr>
        <p:spPr>
          <a:xfrm>
            <a:off x="905256" y="22402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C</a:t>
            </a:r>
            <a:endParaRPr lang="en-US" sz="2600" dirty="0"/>
          </a:p>
        </p:txBody>
      </p:sp>
      <p:sp>
        <p:nvSpPr>
          <p:cNvPr id="8" name="Text 6"/>
          <p:cNvSpPr txBox="1"/>
          <p:nvPr/>
        </p:nvSpPr>
        <p:spPr>
          <a:xfrm>
            <a:off x="1819656" y="224028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Clarity</a:t>
            </a:r>
            <a:endParaRPr lang="en-US" sz="1600" dirty="0"/>
          </a:p>
        </p:txBody>
      </p:sp>
      <p:sp>
        <p:nvSpPr>
          <p:cNvPr id="9" name="Text 7"/>
          <p:cNvSpPr txBox="1"/>
          <p:nvPr/>
        </p:nvSpPr>
        <p:spPr>
          <a:xfrm>
            <a:off x="1819656" y="265176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Clear priorities across enquiries, returns, refunds and warehouse follow-up, with expectations kept aligned as trust builds.</a:t>
            </a:r>
            <a:endParaRPr lang="en-US" sz="1200" dirty="0"/>
          </a:p>
        </p:txBody>
      </p:sp>
      <p:sp>
        <p:nvSpPr>
          <p:cNvPr id="10" name="card"/>
          <p:cNvSpPr/>
          <p:nvPr/>
        </p:nvSpPr>
        <p:spPr>
          <a:xfrm>
            <a:off x="6187288" y="1965960"/>
            <a:ext cx="5373472" cy="1691640"/>
          </a:xfrm>
          <a:prstGeom prst="roundRect">
            <a:avLst>
              <a:gd name="adj" fmla="val 4324"/>
            </a:avLst>
          </a:prstGeom>
          <a:solidFill>
            <a:schemeClr val="bg1"/>
          </a:solidFill>
          <a:ln w="12700">
            <a:solidFill>
              <a:schemeClr val="accent5"/>
            </a:solidFill>
            <a:prstDash val="solid"/>
          </a:ln>
        </p:spPr>
      </p:sp>
      <p:sp>
        <p:nvSpPr>
          <p:cNvPr id="11" name="cax A"/>
          <p:cNvSpPr/>
          <p:nvPr/>
        </p:nvSpPr>
        <p:spPr>
          <a:xfrm>
            <a:off x="6461608" y="2240280"/>
            <a:ext cx="685800" cy="685800"/>
          </a:xfrm>
          <a:prstGeom prst="roundRect">
            <a:avLst>
              <a:gd name="adj" fmla="val 13333"/>
            </a:avLst>
          </a:prstGeom>
          <a:solidFill>
            <a:schemeClr val="accent1"/>
          </a:solidFill>
          <a:ln/>
        </p:spPr>
      </p:sp>
      <p:sp>
        <p:nvSpPr>
          <p:cNvPr id="12" name="Text 10"/>
          <p:cNvSpPr txBox="1"/>
          <p:nvPr/>
        </p:nvSpPr>
        <p:spPr>
          <a:xfrm>
            <a:off x="6461608" y="22402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A</a:t>
            </a:r>
            <a:endParaRPr lang="en-US" sz="2600" dirty="0"/>
          </a:p>
        </p:txBody>
      </p:sp>
      <p:sp>
        <p:nvSpPr>
          <p:cNvPr id="13" name="Text 11"/>
          <p:cNvSpPr txBox="1"/>
          <p:nvPr/>
        </p:nvSpPr>
        <p:spPr>
          <a:xfrm>
            <a:off x="7376008" y="224028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Accountability</a:t>
            </a:r>
            <a:endParaRPr lang="en-US" sz="1600" dirty="0"/>
          </a:p>
        </p:txBody>
      </p:sp>
      <p:sp>
        <p:nvSpPr>
          <p:cNvPr id="14" name="Text 12"/>
          <p:cNvSpPr txBox="1"/>
          <p:nvPr/>
        </p:nvSpPr>
        <p:spPr>
          <a:xfrm>
            <a:off x="7376008" y="265176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Regular check-ins on response time, refund accuracy and escalations. Gaps are addressed quickly through coaching.</a:t>
            </a:r>
            <a:endParaRPr lang="en-US" sz="1200" dirty="0"/>
          </a:p>
        </p:txBody>
      </p:sp>
      <p:sp>
        <p:nvSpPr>
          <p:cNvPr id="15" name="card"/>
          <p:cNvSpPr/>
          <p:nvPr/>
        </p:nvSpPr>
        <p:spPr>
          <a:xfrm>
            <a:off x="630936" y="3840480"/>
            <a:ext cx="5373472" cy="1691640"/>
          </a:xfrm>
          <a:prstGeom prst="roundRect">
            <a:avLst>
              <a:gd name="adj" fmla="val 4324"/>
            </a:avLst>
          </a:prstGeom>
          <a:solidFill>
            <a:schemeClr val="bg1"/>
          </a:solidFill>
          <a:ln w="12700">
            <a:solidFill>
              <a:schemeClr val="accent5"/>
            </a:solidFill>
            <a:prstDash val="solid"/>
          </a:ln>
        </p:spPr>
      </p:sp>
      <p:sp>
        <p:nvSpPr>
          <p:cNvPr id="16" name="cax E"/>
          <p:cNvSpPr/>
          <p:nvPr/>
        </p:nvSpPr>
        <p:spPr>
          <a:xfrm>
            <a:off x="905256" y="4114800"/>
            <a:ext cx="685800" cy="685800"/>
          </a:xfrm>
          <a:prstGeom prst="roundRect">
            <a:avLst>
              <a:gd name="adj" fmla="val 13333"/>
            </a:avLst>
          </a:prstGeom>
          <a:solidFill>
            <a:schemeClr val="accent1"/>
          </a:solidFill>
          <a:ln/>
        </p:spPr>
      </p:sp>
      <p:sp>
        <p:nvSpPr>
          <p:cNvPr id="17" name="Text 15"/>
          <p:cNvSpPr txBox="1"/>
          <p:nvPr/>
        </p:nvSpPr>
        <p:spPr>
          <a:xfrm>
            <a:off x="905256" y="4114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E</a:t>
            </a:r>
            <a:endParaRPr lang="en-US" sz="2600" dirty="0"/>
          </a:p>
        </p:txBody>
      </p:sp>
      <p:sp>
        <p:nvSpPr>
          <p:cNvPr id="18" name="Text 16"/>
          <p:cNvSpPr txBox="1"/>
          <p:nvPr/>
        </p:nvSpPr>
        <p:spPr>
          <a:xfrm>
            <a:off x="1819656" y="411480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Execution</a:t>
            </a:r>
            <a:endParaRPr lang="en-US" sz="1600" dirty="0"/>
          </a:p>
        </p:txBody>
      </p:sp>
      <p:sp>
        <p:nvSpPr>
          <p:cNvPr id="19" name="Text 17"/>
          <p:cNvSpPr txBox="1"/>
          <p:nvPr/>
        </p:nvSpPr>
        <p:spPr>
          <a:xfrm>
            <a:off x="1819656" y="452628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Structured workflows for enquiries, returns, refunds and follow-up, so delivery stays consistent as volume grows.</a:t>
            </a:r>
            <a:endParaRPr lang="en-US" sz="1200" dirty="0"/>
          </a:p>
        </p:txBody>
      </p:sp>
      <p:sp>
        <p:nvSpPr>
          <p:cNvPr id="20" name="card"/>
          <p:cNvSpPr/>
          <p:nvPr/>
        </p:nvSpPr>
        <p:spPr>
          <a:xfrm>
            <a:off x="6187288" y="3840480"/>
            <a:ext cx="5373472" cy="1691640"/>
          </a:xfrm>
          <a:prstGeom prst="roundRect">
            <a:avLst>
              <a:gd name="adj" fmla="val 4324"/>
            </a:avLst>
          </a:prstGeom>
          <a:solidFill>
            <a:schemeClr val="bg1"/>
          </a:solidFill>
          <a:ln w="12700">
            <a:solidFill>
              <a:schemeClr val="accent5"/>
            </a:solidFill>
            <a:prstDash val="solid"/>
          </a:ln>
        </p:spPr>
      </p:sp>
      <p:sp>
        <p:nvSpPr>
          <p:cNvPr id="21" name="cax X"/>
          <p:cNvSpPr/>
          <p:nvPr/>
        </p:nvSpPr>
        <p:spPr>
          <a:xfrm>
            <a:off x="6461608" y="4114800"/>
            <a:ext cx="685800" cy="685800"/>
          </a:xfrm>
          <a:prstGeom prst="roundRect">
            <a:avLst>
              <a:gd name="adj" fmla="val 13333"/>
            </a:avLst>
          </a:prstGeom>
          <a:solidFill>
            <a:schemeClr val="accent1"/>
          </a:solidFill>
          <a:ln/>
        </p:spPr>
      </p:sp>
      <p:sp>
        <p:nvSpPr>
          <p:cNvPr id="22" name="Text 20"/>
          <p:cNvSpPr txBox="1"/>
          <p:nvPr/>
        </p:nvSpPr>
        <p:spPr>
          <a:xfrm>
            <a:off x="6461608" y="4114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X</a:t>
            </a:r>
            <a:endParaRPr lang="en-US" sz="2600" dirty="0"/>
          </a:p>
        </p:txBody>
      </p:sp>
      <p:sp>
        <p:nvSpPr>
          <p:cNvPr id="23" name="Text 21"/>
          <p:cNvSpPr txBox="1"/>
          <p:nvPr/>
        </p:nvSpPr>
        <p:spPr>
          <a:xfrm>
            <a:off x="7376008" y="411480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Performance Support</a:t>
            </a:r>
            <a:endParaRPr lang="en-US" sz="1600" dirty="0"/>
          </a:p>
        </p:txBody>
      </p:sp>
      <p:sp>
        <p:nvSpPr>
          <p:cNvPr id="24" name="Text 22"/>
          <p:cNvSpPr txBox="1"/>
          <p:nvPr/>
        </p:nvSpPr>
        <p:spPr>
          <a:xfrm>
            <a:off x="7376008" y="452628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If needed, targeted coaching and retraining. We step in fast to reset standards.</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13  ·  YOUR TEAM</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Outsourcing Angel Supports You</a:t>
            </a:r>
            <a:endParaRPr lang="en-US" sz="3000" dirty="0"/>
          </a:p>
        </p:txBody>
      </p:sp>
      <p:sp>
        <p:nvSpPr>
          <p:cNvPr id="4" name="card"/>
          <p:cNvSpPr/>
          <p:nvPr/>
        </p:nvSpPr>
        <p:spPr>
          <a:xfrm>
            <a:off x="630936" y="1508760"/>
            <a:ext cx="3521354" cy="3657600"/>
          </a:xfrm>
          <a:prstGeom prst="roundRect">
            <a:avLst>
              <a:gd name="adj" fmla="val 2077"/>
            </a:avLst>
          </a:prstGeom>
          <a:solidFill>
            <a:schemeClr val="bg1"/>
          </a:solidFill>
          <a:ln w="12700">
            <a:solidFill>
              <a:schemeClr val="accent5"/>
            </a:solidFill>
            <a:prstDash val="solid"/>
          </a:ln>
        </p:spPr>
      </p:sp>
      <p:sp>
        <p:nvSpPr>
          <p:cNvPr id="5" name="Text 3"/>
          <p:cNvSpPr txBox="1"/>
          <p:nvPr/>
        </p:nvSpPr>
        <p:spPr>
          <a:xfrm>
            <a:off x="905256"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SUPPORT TEAM</a:t>
            </a:r>
            <a:endParaRPr lang="en-US" sz="1050" dirty="0"/>
          </a:p>
        </p:txBody>
      </p:sp>
      <p:sp>
        <p:nvSpPr>
          <p:cNvPr id="6" name="Text 4"/>
          <p:cNvSpPr txBox="1"/>
          <p:nvPr/>
        </p:nvSpPr>
        <p:spPr>
          <a:xfrm>
            <a:off x="905256"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Account Manager</a:t>
            </a:r>
            <a:endParaRPr lang="en-US" sz="1250" dirty="0"/>
          </a:p>
          <a:p>
            <a:pPr indent="0" marL="0">
              <a:buNone/>
            </a:pPr>
            <a:r>
              <a:rPr lang="en-US" sz="1250" dirty="0">
                <a:solidFill>
                  <a:schemeClr val="accent3"/>
                </a:solidFill>
              </a:rPr>
              <a:t>your main contact for strategy and escalations</a:t>
            </a:r>
            <a:endParaRPr lang="en-US" sz="1250" dirty="0"/>
          </a:p>
        </p:txBody>
      </p:sp>
      <p:sp>
        <p:nvSpPr>
          <p:cNvPr id="7" name="Text 5"/>
          <p:cNvSpPr txBox="1"/>
          <p:nvPr/>
        </p:nvSpPr>
        <p:spPr>
          <a:xfrm>
            <a:off x="905256"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CAX team</a:t>
            </a:r>
            <a:endParaRPr lang="en-US" sz="1250" dirty="0"/>
          </a:p>
          <a:p>
            <a:pPr indent="0" marL="0">
              <a:buNone/>
            </a:pPr>
            <a:r>
              <a:rPr lang="en-US" sz="1250" dirty="0">
                <a:solidFill>
                  <a:schemeClr val="accent3"/>
                </a:solidFill>
              </a:rPr>
              <a:t>check-ins and relationship support</a:t>
            </a:r>
            <a:endParaRPr lang="en-US" sz="1250" dirty="0"/>
          </a:p>
        </p:txBody>
      </p:sp>
      <p:sp>
        <p:nvSpPr>
          <p:cNvPr id="8" name="Text 6"/>
          <p:cNvSpPr txBox="1"/>
          <p:nvPr/>
        </p:nvSpPr>
        <p:spPr>
          <a:xfrm>
            <a:off x="905256"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Team Leader</a:t>
            </a:r>
            <a:endParaRPr lang="en-US" sz="1250" dirty="0"/>
          </a:p>
          <a:p>
            <a:pPr indent="0" marL="0">
              <a:buNone/>
            </a:pPr>
            <a:r>
              <a:rPr lang="en-US" sz="1250" dirty="0">
                <a:solidFill>
                  <a:schemeClr val="accent3"/>
                </a:solidFill>
              </a:rPr>
              <a:t>works with your Specialist directly, including training</a:t>
            </a:r>
            <a:endParaRPr lang="en-US" sz="1250" dirty="0"/>
          </a:p>
        </p:txBody>
      </p:sp>
      <p:sp>
        <p:nvSpPr>
          <p:cNvPr id="9" name="card"/>
          <p:cNvSpPr/>
          <p:nvPr/>
        </p:nvSpPr>
        <p:spPr>
          <a:xfrm>
            <a:off x="4335170" y="1508760"/>
            <a:ext cx="3521354" cy="3657600"/>
          </a:xfrm>
          <a:prstGeom prst="roundRect">
            <a:avLst>
              <a:gd name="adj" fmla="val 2077"/>
            </a:avLst>
          </a:prstGeom>
          <a:solidFill>
            <a:schemeClr val="bg1"/>
          </a:solidFill>
          <a:ln w="12700">
            <a:solidFill>
              <a:schemeClr val="accent5"/>
            </a:solidFill>
            <a:prstDash val="solid"/>
          </a:ln>
        </p:spPr>
      </p:sp>
      <p:sp>
        <p:nvSpPr>
          <p:cNvPr id="10" name="Text 8"/>
          <p:cNvSpPr txBox="1"/>
          <p:nvPr/>
        </p:nvSpPr>
        <p:spPr>
          <a:xfrm>
            <a:off x="4609490"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IF SOMETHING ISN’T WORKING</a:t>
            </a:r>
            <a:endParaRPr lang="en-US" sz="1050" dirty="0"/>
          </a:p>
        </p:txBody>
      </p:sp>
      <p:sp>
        <p:nvSpPr>
          <p:cNvPr id="11" name="Text 9"/>
          <p:cNvSpPr txBox="1"/>
          <p:nvPr/>
        </p:nvSpPr>
        <p:spPr>
          <a:xfrm>
            <a:off x="4609490"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Raise it any time</a:t>
            </a:r>
            <a:endParaRPr lang="en-US" sz="1250" dirty="0"/>
          </a:p>
          <a:p>
            <a:pPr indent="0" marL="0">
              <a:buNone/>
            </a:pPr>
            <a:r>
              <a:rPr lang="en-US" sz="1250" dirty="0">
                <a:solidFill>
                  <a:schemeClr val="accent3"/>
                </a:solidFill>
              </a:rPr>
              <a:t>no need to wait for a check-in</a:t>
            </a:r>
            <a:endParaRPr lang="en-US" sz="1250" dirty="0"/>
          </a:p>
        </p:txBody>
      </p:sp>
      <p:sp>
        <p:nvSpPr>
          <p:cNvPr id="12" name="Text 10"/>
          <p:cNvSpPr txBox="1"/>
          <p:nvPr/>
        </p:nvSpPr>
        <p:spPr>
          <a:xfrm>
            <a:off x="4609490"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fix it together</a:t>
            </a:r>
            <a:endParaRPr lang="en-US" sz="1250" dirty="0"/>
          </a:p>
          <a:p>
            <a:pPr indent="0" marL="0">
              <a:buNone/>
            </a:pPr>
            <a:r>
              <a:rPr lang="en-US" sz="1250" dirty="0">
                <a:solidFill>
                  <a:schemeClr val="accent3"/>
                </a:solidFill>
              </a:rPr>
              <a:t>investigate, coach and adjust this plan</a:t>
            </a:r>
            <a:endParaRPr lang="en-US" sz="1250" dirty="0"/>
          </a:p>
        </p:txBody>
      </p:sp>
      <p:sp>
        <p:nvSpPr>
          <p:cNvPr id="13" name="Text 11"/>
          <p:cNvSpPr txBox="1"/>
          <p:nvPr/>
        </p:nvSpPr>
        <p:spPr>
          <a:xfrm>
            <a:off x="4609490"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Not the right fit?</a:t>
            </a:r>
            <a:endParaRPr lang="en-US" sz="1250" dirty="0"/>
          </a:p>
          <a:p>
            <a:pPr indent="0" marL="0">
              <a:buNone/>
            </a:pPr>
            <a:r>
              <a:rPr lang="en-US" sz="1250" dirty="0">
                <a:solidFill>
                  <a:schemeClr val="accent3"/>
                </a:solidFill>
              </a:rPr>
              <a:t>free replacement any time, with a 1-week trial</a:t>
            </a:r>
            <a:endParaRPr lang="en-US" sz="1250" dirty="0"/>
          </a:p>
        </p:txBody>
      </p:sp>
      <p:sp>
        <p:nvSpPr>
          <p:cNvPr id="14" name="card"/>
          <p:cNvSpPr/>
          <p:nvPr/>
        </p:nvSpPr>
        <p:spPr>
          <a:xfrm>
            <a:off x="8039405" y="1508760"/>
            <a:ext cx="3521354" cy="3657600"/>
          </a:xfrm>
          <a:prstGeom prst="roundRect">
            <a:avLst>
              <a:gd name="adj" fmla="val 2077"/>
            </a:avLst>
          </a:prstGeom>
          <a:solidFill>
            <a:schemeClr val="accent4"/>
          </a:solidFill>
          <a:ln/>
        </p:spPr>
      </p:sp>
      <p:sp>
        <p:nvSpPr>
          <p:cNvPr id="15" name="Text 13"/>
          <p:cNvSpPr txBox="1"/>
          <p:nvPr/>
        </p:nvSpPr>
        <p:spPr>
          <a:xfrm>
            <a:off x="8313725"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IF SOMETHING IS WORKING</a:t>
            </a:r>
            <a:endParaRPr lang="en-US" sz="1050" dirty="0"/>
          </a:p>
        </p:txBody>
      </p:sp>
      <p:sp>
        <p:nvSpPr>
          <p:cNvPr id="16" name="Text 14"/>
          <p:cNvSpPr txBox="1"/>
          <p:nvPr/>
        </p:nvSpPr>
        <p:spPr>
          <a:xfrm>
            <a:off x="8313725"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build on it</a:t>
            </a:r>
            <a:endParaRPr lang="en-US" sz="1250" dirty="0"/>
          </a:p>
          <a:p>
            <a:pPr indent="0" marL="0">
              <a:buNone/>
            </a:pPr>
            <a:r>
              <a:rPr lang="en-US" sz="1250" dirty="0">
                <a:solidFill>
                  <a:schemeClr val="accent3"/>
                </a:solidFill>
              </a:rPr>
              <a:t>phone support and Shopify tasks as trust grows</a:t>
            </a:r>
            <a:endParaRPr lang="en-US" sz="1250" dirty="0"/>
          </a:p>
        </p:txBody>
      </p:sp>
      <p:sp>
        <p:nvSpPr>
          <p:cNvPr id="17" name="Text 15"/>
          <p:cNvSpPr txBox="1"/>
          <p:nvPr/>
        </p:nvSpPr>
        <p:spPr>
          <a:xfrm>
            <a:off x="8313725"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plan growth</a:t>
            </a:r>
            <a:endParaRPr lang="en-US" sz="1250" dirty="0"/>
          </a:p>
          <a:p>
            <a:pPr indent="0" marL="0">
              <a:buNone/>
            </a:pPr>
            <a:r>
              <a:rPr lang="en-US" sz="1250" dirty="0">
                <a:solidFill>
                  <a:schemeClr val="accent3"/>
                </a:solidFill>
              </a:rPr>
              <a:t>a second Angel as Arova grows</a:t>
            </a:r>
            <a:endParaRPr lang="en-US" sz="1250" dirty="0"/>
          </a:p>
        </p:txBody>
      </p:sp>
      <p:sp>
        <p:nvSpPr>
          <p:cNvPr id="18" name="Text 16"/>
          <p:cNvSpPr txBox="1"/>
          <p:nvPr/>
        </p:nvSpPr>
        <p:spPr>
          <a:xfrm>
            <a:off x="8313725"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celebrate it</a:t>
            </a:r>
            <a:endParaRPr lang="en-US" sz="1250" dirty="0"/>
          </a:p>
          <a:p>
            <a:pPr indent="0" marL="0">
              <a:buNone/>
            </a:pPr>
            <a:r>
              <a:rPr lang="en-US" sz="1250" dirty="0">
                <a:solidFill>
                  <a:schemeClr val="accent3"/>
                </a:solidFill>
              </a:rPr>
              <a:t>add it to your Wins Log</a:t>
            </a:r>
            <a:endParaRPr lang="en-US" sz="1250" dirty="0"/>
          </a:p>
        </p:txBody>
      </p:sp>
      <p:sp>
        <p:nvSpPr>
          <p:cNvPr id="19" name="callout"/>
          <p:cNvSpPr/>
          <p:nvPr/>
        </p:nvSpPr>
        <p:spPr>
          <a:xfrm>
            <a:off x="630936" y="5394960"/>
            <a:ext cx="10929823" cy="548640"/>
          </a:xfrm>
          <a:prstGeom prst="roundRect">
            <a:avLst>
              <a:gd name="adj" fmla="val 13333"/>
            </a:avLst>
          </a:prstGeom>
          <a:solidFill>
            <a:schemeClr val="accent4"/>
          </a:solidFill>
          <a:ln/>
        </p:spPr>
      </p:sp>
      <p:sp>
        <p:nvSpPr>
          <p:cNvPr id="20" name="Text 18"/>
          <p:cNvSpPr txBox="1"/>
          <p:nvPr/>
        </p:nvSpPr>
        <p:spPr>
          <a:xfrm>
            <a:off x="859536" y="539496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Included, ongoing: Angel Happiness Lifetime Guarantee, plus payroll, HR and insurance handled for you.</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THE GOAL</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More time to grow Arova</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Not someone to just answer emails, but an owner for every customer issue. Rob and Rachel spend their time growing Arova, while their Specialist keeps customers informed and looked after.</a:t>
            </a:r>
            <a:endParaRPr lang="en-US" sz="1500" dirty="0"/>
          </a:p>
          <a:p>
            <a:pPr indent="0" marL="0">
              <a:buNone/>
            </a:pPr>
            <a:endParaRPr lang="en-US" sz="1500" dirty="0"/>
          </a:p>
          <a:p>
            <a:pPr indent="0" marL="0">
              <a:buNone/>
            </a:pPr>
            <a:r>
              <a:rPr lang="en-US" sz="1500" dirty="0">
                <a:solidFill>
                  <a:srgbClr val="DBE3E6"/>
                </a:solidFill>
              </a:rPr>
              <a:t>This plan grows with you. See you at Day 30.</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OA Freedom Plan">
  <a:themeElements>
    <a:clrScheme name="OA Freedom Plan">
      <a:dk1>
        <a:srgbClr val="212B35"/>
      </a:dk1>
      <a:lt1>
        <a:srgbClr val="FFFFFF"/>
      </a:lt1>
      <a:dk2>
        <a:srgbClr val="1B2530"/>
      </a:dk2>
      <a:lt2>
        <a:srgbClr val="F4F6F6"/>
      </a:lt2>
      <a:accent1>
        <a:srgbClr val="1F8A6D"/>
      </a:accent1>
      <a:accent2>
        <a:srgbClr val="2FAE8B"/>
      </a:accent2>
      <a:accent3>
        <a:srgbClr val="6B7684"/>
      </a:accent3>
      <a:accent4>
        <a:srgbClr val="E1F3EC"/>
      </a:accent4>
      <a:accent5>
        <a:srgbClr val="E6E9EA"/>
      </a:accent5>
      <a:accent6>
        <a:srgbClr val="E2A53D"/>
      </a:accent6>
      <a:hlink>
        <a:srgbClr val="1F8A6D"/>
      </a:hlink>
      <a:folHlink>
        <a:srgbClr val="6B7684"/>
      </a:folHlink>
    </a:clrScheme>
    <a:fontScheme name="OA Freedom Pl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Outsourcing Angel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Freedom Plan: Rob Zhang, EGM Search &amp; Recruit</dc:title>
  <dc:subject>PptxGenJS Presentation</dc:subject>
  <dc:creator>Gail Galima-Mendoza</dc:creator>
  <cp:lastModifiedBy>Gail Galima-Mendoza</cp:lastModifiedBy>
  <cp:revision>1</cp:revision>
  <dcterms:created xsi:type="dcterms:W3CDTF">2026-10-13T04:45:00Z</dcterms:created>
  <dcterms:modified xsi:type="dcterms:W3CDTF">2026-10-13T04:45:00Z</dcterms:modified>
</cp:coreProperties>
</file>